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1"/>
  </p:sldMasterIdLst>
  <p:notesMasterIdLst>
    <p:notesMasterId r:id="rId40"/>
  </p:notesMasterIdLst>
  <p:sldIdLst>
    <p:sldId id="836" r:id="rId2"/>
    <p:sldId id="837" r:id="rId3"/>
    <p:sldId id="838" r:id="rId4"/>
    <p:sldId id="839" r:id="rId5"/>
    <p:sldId id="840" r:id="rId6"/>
    <p:sldId id="841" r:id="rId7"/>
    <p:sldId id="842" r:id="rId8"/>
    <p:sldId id="843" r:id="rId9"/>
    <p:sldId id="844" r:id="rId10"/>
    <p:sldId id="845" r:id="rId11"/>
    <p:sldId id="846" r:id="rId12"/>
    <p:sldId id="847" r:id="rId13"/>
    <p:sldId id="849" r:id="rId14"/>
    <p:sldId id="851" r:id="rId15"/>
    <p:sldId id="772" r:id="rId16"/>
    <p:sldId id="965" r:id="rId17"/>
    <p:sldId id="773" r:id="rId18"/>
    <p:sldId id="778" r:id="rId19"/>
    <p:sldId id="832" r:id="rId20"/>
    <p:sldId id="774" r:id="rId21"/>
    <p:sldId id="775" r:id="rId22"/>
    <p:sldId id="776" r:id="rId23"/>
    <p:sldId id="963" r:id="rId24"/>
    <p:sldId id="777" r:id="rId25"/>
    <p:sldId id="954" r:id="rId26"/>
    <p:sldId id="955" r:id="rId27"/>
    <p:sldId id="956" r:id="rId28"/>
    <p:sldId id="957" r:id="rId29"/>
    <p:sldId id="959" r:id="rId30"/>
    <p:sldId id="958" r:id="rId31"/>
    <p:sldId id="961" r:id="rId32"/>
    <p:sldId id="960" r:id="rId33"/>
    <p:sldId id="779" r:id="rId34"/>
    <p:sldId id="780" r:id="rId35"/>
    <p:sldId id="782" r:id="rId36"/>
    <p:sldId id="783" r:id="rId37"/>
    <p:sldId id="966" r:id="rId38"/>
    <p:sldId id="96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66"/>
    <a:srgbClr val="00FF00"/>
    <a:srgbClr val="3399FF"/>
    <a:srgbClr val="FF0000"/>
    <a:srgbClr val="FF00FF"/>
    <a:srgbClr val="3399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80" autoAdjust="0"/>
    <p:restoredTop sz="86486" autoAdjust="0"/>
  </p:normalViewPr>
  <p:slideViewPr>
    <p:cSldViewPr>
      <p:cViewPr varScale="1">
        <p:scale>
          <a:sx n="97" d="100"/>
          <a:sy n="97" d="100"/>
        </p:scale>
        <p:origin x="1884" y="9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482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_rels/viewProps.xml.rels><?xml version="1.0" encoding="UTF-8" standalone="yes"?>
<Relationships xmlns="http://schemas.openxmlformats.org/package/2006/relationships"><Relationship Id="rId1"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471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86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71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471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4A06642B-1D29-4E0B-AB48-E4B7182D1F4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a:t>
            </a:r>
            <a:r>
              <a:rPr lang="en-US" dirty="0" err="1"/>
              <a:t>shmaddr</a:t>
            </a:r>
            <a:r>
              <a:rPr lang="en-US" dirty="0"/>
              <a:t> = </a:t>
            </a:r>
            <a:r>
              <a:rPr lang="en-US" dirty="0" err="1"/>
              <a:t>NULL,the</a:t>
            </a:r>
            <a:r>
              <a:rPr lang="en-US" baseline="0" dirty="0"/>
              <a:t> system chooses a suitable (unused) address at which to attach the segment</a:t>
            </a:r>
          </a:p>
          <a:p>
            <a:r>
              <a:rPr lang="en-US" dirty="0"/>
              <a:t>If </a:t>
            </a:r>
            <a:r>
              <a:rPr lang="en-US" i="1" dirty="0" err="1"/>
              <a:t>shmaddr</a:t>
            </a:r>
            <a:r>
              <a:rPr lang="en-US" dirty="0"/>
              <a:t> isn't NULL and </a:t>
            </a:r>
            <a:r>
              <a:rPr lang="en-US" b="1" dirty="0"/>
              <a:t>SHM_RND</a:t>
            </a:r>
            <a:r>
              <a:rPr lang="en-US" dirty="0"/>
              <a:t> is specified in </a:t>
            </a:r>
            <a:r>
              <a:rPr lang="en-US" i="1" dirty="0" err="1"/>
              <a:t>shmflg</a:t>
            </a:r>
            <a:r>
              <a:rPr lang="en-US" dirty="0"/>
              <a:t>, the attach occurs at the address equal to </a:t>
            </a:r>
            <a:r>
              <a:rPr lang="en-US" i="1" dirty="0" err="1"/>
              <a:t>shmaddr</a:t>
            </a:r>
            <a:r>
              <a:rPr lang="en-US" dirty="0"/>
              <a:t> rounded down to the nearest multiple of </a:t>
            </a:r>
            <a:r>
              <a:rPr lang="en-US" b="1" dirty="0"/>
              <a:t>SHMLBA</a:t>
            </a:r>
            <a:r>
              <a:rPr lang="en-US" dirty="0"/>
              <a:t>. Otherwise </a:t>
            </a:r>
            <a:r>
              <a:rPr lang="en-US" i="1" dirty="0" err="1"/>
              <a:t>shmaddr</a:t>
            </a:r>
            <a:r>
              <a:rPr lang="en-US" dirty="0"/>
              <a:t> must be a page-aligned address at which the attach occurs</a:t>
            </a:r>
          </a:p>
          <a:p>
            <a:r>
              <a:rPr lang="en-US" dirty="0"/>
              <a:t>If </a:t>
            </a:r>
            <a:r>
              <a:rPr lang="en-US" b="1" dirty="0"/>
              <a:t>SHM_RDONLY</a:t>
            </a:r>
            <a:r>
              <a:rPr lang="en-US" dirty="0"/>
              <a:t> is specified in </a:t>
            </a:r>
            <a:r>
              <a:rPr lang="en-US" i="1" dirty="0" err="1"/>
              <a:t>shmflg</a:t>
            </a:r>
            <a:r>
              <a:rPr lang="en-US" dirty="0"/>
              <a:t>, the segment is attached for reading and the process must have read permission for the segment. Otherwise the segment is attached for read and write and the process must have read and write permission for the segment. There is no notion of a write-only shared memory segment. </a:t>
            </a:r>
          </a:p>
          <a:p>
            <a:r>
              <a:rPr lang="en-US" b="1" dirty="0"/>
              <a:t>Return Value</a:t>
            </a:r>
          </a:p>
          <a:p>
            <a:r>
              <a:rPr lang="en-US" dirty="0"/>
              <a:t>On success </a:t>
            </a:r>
            <a:r>
              <a:rPr lang="en-US" b="1" dirty="0" err="1"/>
              <a:t>shmat</a:t>
            </a:r>
            <a:r>
              <a:rPr lang="en-US" dirty="0"/>
              <a:t>() returns the address of the attached shared memory segment; on error </a:t>
            </a:r>
            <a:r>
              <a:rPr lang="en-US" i="1" dirty="0"/>
              <a:t>(void *) -1</a:t>
            </a:r>
            <a:r>
              <a:rPr lang="en-US" dirty="0"/>
              <a:t> is returned, and </a:t>
            </a:r>
            <a:r>
              <a:rPr lang="en-US" i="1" dirty="0" err="1"/>
              <a:t>errno</a:t>
            </a:r>
            <a:r>
              <a:rPr lang="en-US" dirty="0"/>
              <a:t> is set to indicate the cause of the error.</a:t>
            </a:r>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err="1"/>
              <a:t>shm_perm</a:t>
            </a:r>
            <a:r>
              <a:rPr lang="en-US" dirty="0"/>
              <a:t> This is an instance of the </a:t>
            </a:r>
            <a:r>
              <a:rPr lang="en-US" dirty="0" err="1"/>
              <a:t>ipc_perm</a:t>
            </a:r>
            <a:r>
              <a:rPr lang="en-US" dirty="0"/>
              <a:t> structure, which is defined for us in </a:t>
            </a:r>
            <a:r>
              <a:rPr lang="en-US" dirty="0" err="1"/>
              <a:t>linux</a:t>
            </a:r>
            <a:r>
              <a:rPr lang="en-US" dirty="0"/>
              <a:t>/</a:t>
            </a:r>
            <a:r>
              <a:rPr lang="en-US" dirty="0" err="1"/>
              <a:t>ipc.h</a:t>
            </a:r>
            <a:r>
              <a:rPr lang="en-US" dirty="0"/>
              <a:t>. This holds the permission information for the segment, including the access permissions, and information about the creator of the segment (</a:t>
            </a:r>
            <a:r>
              <a:rPr lang="en-US" dirty="0" err="1"/>
              <a:t>uid</a:t>
            </a:r>
            <a:r>
              <a:rPr lang="en-US" dirty="0"/>
              <a:t>, etc). </a:t>
            </a:r>
          </a:p>
          <a:p>
            <a:r>
              <a:rPr lang="en-US" b="1" dirty="0" err="1"/>
              <a:t>shm_segsz</a:t>
            </a:r>
            <a:r>
              <a:rPr lang="en-US" dirty="0"/>
              <a:t> Size of the segment (measured in bytes). </a:t>
            </a:r>
          </a:p>
          <a:p>
            <a:r>
              <a:rPr lang="en-US" b="1" dirty="0" err="1"/>
              <a:t>shm_atime</a:t>
            </a:r>
            <a:r>
              <a:rPr lang="en-US" dirty="0"/>
              <a:t> Time the last process attached the segment. </a:t>
            </a:r>
          </a:p>
          <a:p>
            <a:r>
              <a:rPr lang="en-US" b="1" dirty="0" err="1"/>
              <a:t>shm_dtime</a:t>
            </a:r>
            <a:r>
              <a:rPr lang="en-US" dirty="0"/>
              <a:t> Time the last process detached the segment. </a:t>
            </a:r>
          </a:p>
          <a:p>
            <a:r>
              <a:rPr lang="en-US" b="1" dirty="0" err="1"/>
              <a:t>shm_ctime</a:t>
            </a:r>
            <a:r>
              <a:rPr lang="en-US" dirty="0"/>
              <a:t> Time of the last change to this structure (mode change, etc). </a:t>
            </a:r>
          </a:p>
          <a:p>
            <a:r>
              <a:rPr lang="en-US" b="1" dirty="0" err="1"/>
              <a:t>shm_cpid</a:t>
            </a:r>
            <a:r>
              <a:rPr lang="en-US" dirty="0"/>
              <a:t> The PID of the creating process. </a:t>
            </a:r>
          </a:p>
          <a:p>
            <a:r>
              <a:rPr lang="en-US" b="1" dirty="0" err="1"/>
              <a:t>shm_lpid</a:t>
            </a:r>
            <a:r>
              <a:rPr lang="en-US" dirty="0"/>
              <a:t> The PID of the last process to operate on the segment. </a:t>
            </a:r>
          </a:p>
          <a:p>
            <a:r>
              <a:rPr lang="en-US" b="1" dirty="0" err="1"/>
              <a:t>shm_nattch</a:t>
            </a:r>
            <a:r>
              <a:rPr lang="en-US" dirty="0"/>
              <a:t> Number of processes currently attached to the segment. </a:t>
            </a:r>
          </a:p>
          <a:p>
            <a:endParaRPr lang="en-US" dirty="0"/>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they are counters used to provide controlled access to shared data structures for multiple processes.</a:t>
            </a:r>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semaphore </a:t>
            </a:r>
            <a:r>
              <a:rPr lang="en-US" dirty="0">
                <a:solidFill>
                  <a:srgbClr val="FF0000"/>
                </a:solidFill>
              </a:rPr>
              <a:t>value is positive if the protected resource is available</a:t>
            </a:r>
            <a:r>
              <a:rPr lang="en-US" dirty="0"/>
              <a:t>, and 0 if the protected resource is currently not available. A process that wants to access the resource tries to decrease the semaphore value; the kernel, however, blocks the process until the operation on the semaphore yields a positive value. When a process relinquishes a protected resource, it increases its semaphore value; in doing so, any other process waiting for the semaphore is woken up</a:t>
            </a:r>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17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semop</a:t>
            </a:r>
            <a:r>
              <a:rPr lang="en-US" dirty="0"/>
              <a:t>() function is used to perform atomically an array of semaphore operations on the set of semaphores associated with the semaphore identifier specified by </a:t>
            </a:r>
            <a:r>
              <a:rPr lang="en-US" i="1" dirty="0" err="1"/>
              <a:t>semid</a:t>
            </a:r>
            <a:endParaRPr lang="en-US" dirty="0"/>
          </a:p>
        </p:txBody>
      </p:sp>
      <p:sp>
        <p:nvSpPr>
          <p:cNvPr id="4" name="Slide Number Placeholder 3"/>
          <p:cNvSpPr>
            <a:spLocks noGrp="1"/>
          </p:cNvSpPr>
          <p:nvPr>
            <p:ph type="sldNum" sz="quarter" idx="10"/>
          </p:nvPr>
        </p:nvSpPr>
        <p:spPr/>
        <p:txBody>
          <a:bodyPr/>
          <a:lstStyle/>
          <a:p>
            <a:pPr>
              <a:defRPr/>
            </a:pPr>
            <a:fld id="{4A06642B-1D29-4E0B-AB48-E4B7182D1F46}" type="slidenum">
              <a:rPr lang="en-US" smtClean="0"/>
              <a:pPr>
                <a:defRPr/>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53C1-5747-4B78-A259-9BC8B23B322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0A383B5-6E28-494E-9B57-9124FA63346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9FBF36-049D-425B-A906-E9F0F0ACACD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0A34A73-3D3B-44BB-AC3E-33047D3A4CF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65A1D70-B856-4BBA-B093-0835131915BB}"/>
              </a:ext>
            </a:extLst>
          </p:cNvPr>
          <p:cNvSpPr>
            <a:spLocks noGrp="1"/>
          </p:cNvSpPr>
          <p:nvPr>
            <p:ph type="sldNum" sz="quarter" idx="12"/>
          </p:nvPr>
        </p:nvSpPr>
        <p:spPr/>
        <p:txBody>
          <a:bodyPr/>
          <a:lstStyle/>
          <a:p>
            <a:pPr>
              <a:defRPr/>
            </a:pPr>
            <a:fld id="{CD4A6237-0A5F-42BC-910E-51D2322750C2}" type="slidenum">
              <a:rPr lang="en-US" smtClean="0"/>
              <a:pPr>
                <a:defRPr/>
              </a:pPr>
              <a:t>‹#›</a:t>
            </a:fld>
            <a:endParaRPr lang="en-US"/>
          </a:p>
        </p:txBody>
      </p:sp>
    </p:spTree>
    <p:extLst>
      <p:ext uri="{BB962C8B-B14F-4D97-AF65-F5344CB8AC3E}">
        <p14:creationId xmlns:p14="http://schemas.microsoft.com/office/powerpoint/2010/main" val="3545719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9DCDB-A42B-44A0-8C30-5E84A04A36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F2F599-A5BE-42DD-BE13-81C4605D63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056A2E-C89C-444F-80F2-19FA84793D39}"/>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3BAD6903-F2EA-4F39-8BB0-143A696BB06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E73DF22-E231-4274-8D6C-EF3EAEDB85F7}"/>
              </a:ext>
            </a:extLst>
          </p:cNvPr>
          <p:cNvSpPr>
            <a:spLocks noGrp="1"/>
          </p:cNvSpPr>
          <p:nvPr>
            <p:ph type="sldNum" sz="quarter" idx="12"/>
          </p:nvPr>
        </p:nvSpPr>
        <p:spPr/>
        <p:txBody>
          <a:bodyPr/>
          <a:lstStyle/>
          <a:p>
            <a:pPr>
              <a:defRPr/>
            </a:pPr>
            <a:fld id="{916AD72C-C9BF-43FA-8646-3E5E011CFA5E}" type="slidenum">
              <a:rPr lang="en-US" smtClean="0"/>
              <a:pPr>
                <a:defRPr/>
              </a:pPr>
              <a:t>‹#›</a:t>
            </a:fld>
            <a:endParaRPr lang="en-US"/>
          </a:p>
        </p:txBody>
      </p:sp>
    </p:spTree>
    <p:extLst>
      <p:ext uri="{BB962C8B-B14F-4D97-AF65-F5344CB8AC3E}">
        <p14:creationId xmlns:p14="http://schemas.microsoft.com/office/powerpoint/2010/main" val="988739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D6EA-1A91-4B9D-A448-9A2E856A9C8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F54F32-AE26-4620-A9B2-3BB96D017BE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877994-2383-4A3D-8422-252AC732DF7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E69CD59-ED41-4678-A49E-E7B26796F67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EEE7E31-F325-42D5-A542-FFBADB9354EF}"/>
              </a:ext>
            </a:extLst>
          </p:cNvPr>
          <p:cNvSpPr>
            <a:spLocks noGrp="1"/>
          </p:cNvSpPr>
          <p:nvPr>
            <p:ph type="sldNum" sz="quarter" idx="12"/>
          </p:nvPr>
        </p:nvSpPr>
        <p:spPr/>
        <p:txBody>
          <a:bodyPr/>
          <a:lstStyle/>
          <a:p>
            <a:pPr>
              <a:defRPr/>
            </a:pPr>
            <a:fld id="{9C5297C2-EA89-45EB-97F9-79F224F57BD2}" type="slidenum">
              <a:rPr lang="en-US" smtClean="0"/>
              <a:pPr>
                <a:defRPr/>
              </a:pPr>
              <a:t>‹#›</a:t>
            </a:fld>
            <a:endParaRPr lang="en-US"/>
          </a:p>
        </p:txBody>
      </p:sp>
    </p:spTree>
    <p:extLst>
      <p:ext uri="{BB962C8B-B14F-4D97-AF65-F5344CB8AC3E}">
        <p14:creationId xmlns:p14="http://schemas.microsoft.com/office/powerpoint/2010/main" val="2883966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C02F-19F0-4165-B0B1-6A9C7697AF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A40E7C-C1D9-4EDD-BDDA-78CFBB7E460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27B7D1-C705-4AD3-A619-DA6FFC7F4A5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891864-74C2-42DA-9E58-6DE0BB68DA9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0EAB84A8-1F53-4FA3-8FFB-D0BB9A1EAA3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FC6B3E2-937F-436B-9F96-1E7EBCE141F2}"/>
              </a:ext>
            </a:extLst>
          </p:cNvPr>
          <p:cNvSpPr>
            <a:spLocks noGrp="1"/>
          </p:cNvSpPr>
          <p:nvPr>
            <p:ph type="sldNum" sz="quarter" idx="12"/>
          </p:nvPr>
        </p:nvSpPr>
        <p:spPr/>
        <p:txBody>
          <a:bodyPr/>
          <a:lstStyle/>
          <a:p>
            <a:pPr>
              <a:defRPr/>
            </a:pPr>
            <a:fld id="{894ECD91-4445-40AD-BB08-A4CB96F51624}" type="slidenum">
              <a:rPr lang="en-US" smtClean="0"/>
              <a:pPr>
                <a:defRPr/>
              </a:pPr>
              <a:t>‹#›</a:t>
            </a:fld>
            <a:endParaRPr lang="en-US"/>
          </a:p>
        </p:txBody>
      </p:sp>
    </p:spTree>
    <p:extLst>
      <p:ext uri="{BB962C8B-B14F-4D97-AF65-F5344CB8AC3E}">
        <p14:creationId xmlns:p14="http://schemas.microsoft.com/office/powerpoint/2010/main" val="1764480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D676-8F9D-4552-8761-B567DAEB9BE7}"/>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CD5394-35C2-46A2-80FB-50E5FD1216B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EDA4E99-18FE-4B2A-9F2A-7CE9BC8ADA4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18C935-843B-4D8E-8CE5-7073C8485D3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C7EF319-9BFD-47C3-968B-96507C1F661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6A2D30-BFD7-475B-AD12-11EF33CFA2B1}"/>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0A669FAF-DCDF-46B6-A256-27B63C125FA6}"/>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9E34D8CD-2FD1-445B-9078-34BAFFF5C503}"/>
              </a:ext>
            </a:extLst>
          </p:cNvPr>
          <p:cNvSpPr>
            <a:spLocks noGrp="1"/>
          </p:cNvSpPr>
          <p:nvPr>
            <p:ph type="sldNum" sz="quarter" idx="12"/>
          </p:nvPr>
        </p:nvSpPr>
        <p:spPr/>
        <p:txBody>
          <a:bodyPr/>
          <a:lstStyle/>
          <a:p>
            <a:pPr>
              <a:defRPr/>
            </a:pPr>
            <a:fld id="{996EC7A4-9ADF-49FB-9971-B0330EA2D2B2}" type="slidenum">
              <a:rPr lang="en-US" smtClean="0"/>
              <a:pPr>
                <a:defRPr/>
              </a:pPr>
              <a:t>‹#›</a:t>
            </a:fld>
            <a:endParaRPr lang="en-US"/>
          </a:p>
        </p:txBody>
      </p:sp>
    </p:spTree>
    <p:extLst>
      <p:ext uri="{BB962C8B-B14F-4D97-AF65-F5344CB8AC3E}">
        <p14:creationId xmlns:p14="http://schemas.microsoft.com/office/powerpoint/2010/main" val="2029076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D28E-4DB2-4FCB-877A-B824B9157B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8A9420-8471-463B-AFE0-06D512518B7F}"/>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E04A2F46-049B-47DE-A55C-F7133AE73A53}"/>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D81A4F8-4F21-44C2-998F-8F7C99A7ACE9}"/>
              </a:ext>
            </a:extLst>
          </p:cNvPr>
          <p:cNvSpPr>
            <a:spLocks noGrp="1"/>
          </p:cNvSpPr>
          <p:nvPr>
            <p:ph type="sldNum" sz="quarter" idx="12"/>
          </p:nvPr>
        </p:nvSpPr>
        <p:spPr/>
        <p:txBody>
          <a:bodyPr/>
          <a:lstStyle/>
          <a:p>
            <a:pPr>
              <a:defRPr/>
            </a:pPr>
            <a:fld id="{91A21EC3-A3DB-44AC-882D-DFC849C5F437}" type="slidenum">
              <a:rPr lang="en-US" smtClean="0"/>
              <a:pPr>
                <a:defRPr/>
              </a:pPr>
              <a:t>‹#›</a:t>
            </a:fld>
            <a:endParaRPr lang="en-US"/>
          </a:p>
        </p:txBody>
      </p:sp>
    </p:spTree>
    <p:extLst>
      <p:ext uri="{BB962C8B-B14F-4D97-AF65-F5344CB8AC3E}">
        <p14:creationId xmlns:p14="http://schemas.microsoft.com/office/powerpoint/2010/main" val="1873764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BDA665-EB9F-4B2A-A775-1752DE81AC54}"/>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8FA6EED0-39D2-4ABA-9AE4-1878A8AB4EC1}"/>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59FDE622-77EC-41EE-8601-18A306607529}"/>
              </a:ext>
            </a:extLst>
          </p:cNvPr>
          <p:cNvSpPr>
            <a:spLocks noGrp="1"/>
          </p:cNvSpPr>
          <p:nvPr>
            <p:ph type="sldNum" sz="quarter" idx="12"/>
          </p:nvPr>
        </p:nvSpPr>
        <p:spPr/>
        <p:txBody>
          <a:bodyPr/>
          <a:lstStyle/>
          <a:p>
            <a:pPr>
              <a:defRPr/>
            </a:pPr>
            <a:fld id="{559A21E6-9800-41E7-97E4-96DB6058F91B}" type="slidenum">
              <a:rPr lang="en-US" smtClean="0"/>
              <a:pPr>
                <a:defRPr/>
              </a:pPr>
              <a:t>‹#›</a:t>
            </a:fld>
            <a:endParaRPr lang="en-US"/>
          </a:p>
        </p:txBody>
      </p:sp>
    </p:spTree>
    <p:extLst>
      <p:ext uri="{BB962C8B-B14F-4D97-AF65-F5344CB8AC3E}">
        <p14:creationId xmlns:p14="http://schemas.microsoft.com/office/powerpoint/2010/main" val="1202402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CF61-A9F4-4F06-B9F6-01270CC264D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21ABF6-E6E7-4BC9-BC80-201649FA29A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F1D956-7F5D-4A67-B590-7D416ACCD4A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2C68344-C047-4827-9BC1-A4776FED56F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1F68935-73B1-479F-8A4E-4B50C26587F7}"/>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CB9891A2-646C-4025-9C8F-F16F544C28FA}"/>
              </a:ext>
            </a:extLst>
          </p:cNvPr>
          <p:cNvSpPr>
            <a:spLocks noGrp="1"/>
          </p:cNvSpPr>
          <p:nvPr>
            <p:ph type="sldNum" sz="quarter" idx="12"/>
          </p:nvPr>
        </p:nvSpPr>
        <p:spPr/>
        <p:txBody>
          <a:bodyPr/>
          <a:lstStyle/>
          <a:p>
            <a:pPr>
              <a:defRPr/>
            </a:pPr>
            <a:fld id="{968D52EE-987B-4EA2-8207-0A0D65484823}" type="slidenum">
              <a:rPr lang="en-US" smtClean="0"/>
              <a:pPr>
                <a:defRPr/>
              </a:pPr>
              <a:t>‹#›</a:t>
            </a:fld>
            <a:endParaRPr lang="en-US"/>
          </a:p>
        </p:txBody>
      </p:sp>
    </p:spTree>
    <p:extLst>
      <p:ext uri="{BB962C8B-B14F-4D97-AF65-F5344CB8AC3E}">
        <p14:creationId xmlns:p14="http://schemas.microsoft.com/office/powerpoint/2010/main" val="3085178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BA3D-2D55-4FCF-B9E1-25FBE53C7EB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216AA-4EDF-4FB0-AAEA-31AB6FEF250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5425C1CD-83EE-4F70-A47D-2AB44EC294F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0DA8169-0AC3-4770-930A-478292A21BF0}"/>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AA57F95-700F-4E1F-A95B-5AF8413A53B7}"/>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569D1A41-A10B-4AB8-A665-5A9B570468B2}"/>
              </a:ext>
            </a:extLst>
          </p:cNvPr>
          <p:cNvSpPr>
            <a:spLocks noGrp="1"/>
          </p:cNvSpPr>
          <p:nvPr>
            <p:ph type="sldNum" sz="quarter" idx="12"/>
          </p:nvPr>
        </p:nvSpPr>
        <p:spPr/>
        <p:txBody>
          <a:bodyPr/>
          <a:lstStyle/>
          <a:p>
            <a:pPr>
              <a:defRPr/>
            </a:pPr>
            <a:fld id="{7646C736-1C55-461B-ADDC-F6BE5CF456BA}" type="slidenum">
              <a:rPr lang="en-US" smtClean="0"/>
              <a:pPr>
                <a:defRPr/>
              </a:pPr>
              <a:t>‹#›</a:t>
            </a:fld>
            <a:endParaRPr lang="en-US"/>
          </a:p>
        </p:txBody>
      </p:sp>
    </p:spTree>
    <p:extLst>
      <p:ext uri="{BB962C8B-B14F-4D97-AF65-F5344CB8AC3E}">
        <p14:creationId xmlns:p14="http://schemas.microsoft.com/office/powerpoint/2010/main" val="4212413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28B53-DC2B-4E65-ADD8-33642C45E2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6ED737-A14E-41B4-99B7-2F3E9D9235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FB61E7-3251-42F6-B7E6-A2540A98CD2B}"/>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31B2773-95BC-45EE-AF6A-86DCEE96ABDB}"/>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0B42417-4D43-4876-BAF6-336AE0E6D03C}"/>
              </a:ext>
            </a:extLst>
          </p:cNvPr>
          <p:cNvSpPr>
            <a:spLocks noGrp="1"/>
          </p:cNvSpPr>
          <p:nvPr>
            <p:ph type="sldNum" sz="quarter" idx="12"/>
          </p:nvPr>
        </p:nvSpPr>
        <p:spPr/>
        <p:txBody>
          <a:bodyPr/>
          <a:lstStyle/>
          <a:p>
            <a:pPr>
              <a:defRPr/>
            </a:pPr>
            <a:fld id="{01F9B691-87A5-40B0-9DDE-C8EA0A292B7D}" type="slidenum">
              <a:rPr lang="en-US" smtClean="0"/>
              <a:pPr>
                <a:defRPr/>
              </a:pPr>
              <a:t>‹#›</a:t>
            </a:fld>
            <a:endParaRPr lang="en-US"/>
          </a:p>
        </p:txBody>
      </p:sp>
    </p:spTree>
    <p:extLst>
      <p:ext uri="{BB962C8B-B14F-4D97-AF65-F5344CB8AC3E}">
        <p14:creationId xmlns:p14="http://schemas.microsoft.com/office/powerpoint/2010/main" val="4039327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2A27BC-FD1E-4B28-A11B-238728DAF40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2E5208-9E2D-4E79-A9D9-BEF371266F9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790611-49A7-4DCF-A95E-34EB280ED2D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3340696B-4AE3-4CCB-97D4-B2D14CAA844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E3991BA-C5DB-4FCA-B5F8-68DB3472DB8E}"/>
              </a:ext>
            </a:extLst>
          </p:cNvPr>
          <p:cNvSpPr>
            <a:spLocks noGrp="1"/>
          </p:cNvSpPr>
          <p:nvPr>
            <p:ph type="sldNum" sz="quarter" idx="12"/>
          </p:nvPr>
        </p:nvSpPr>
        <p:spPr/>
        <p:txBody>
          <a:bodyPr/>
          <a:lstStyle/>
          <a:p>
            <a:pPr>
              <a:defRPr/>
            </a:pPr>
            <a:fld id="{1512A05E-40C6-4BF9-888C-25617D7835CB}" type="slidenum">
              <a:rPr lang="en-US" smtClean="0"/>
              <a:pPr>
                <a:defRPr/>
              </a:pPr>
              <a:t>‹#›</a:t>
            </a:fld>
            <a:endParaRPr lang="en-US"/>
          </a:p>
        </p:txBody>
      </p:sp>
    </p:spTree>
    <p:extLst>
      <p:ext uri="{BB962C8B-B14F-4D97-AF65-F5344CB8AC3E}">
        <p14:creationId xmlns:p14="http://schemas.microsoft.com/office/powerpoint/2010/main" val="210068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648200" y="1981200"/>
            <a:ext cx="381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C5C9874-722A-4A48-8D77-3420E9BF243A}" type="slidenum">
              <a:rPr lang="en-US"/>
              <a:pPr>
                <a:defRPr/>
              </a:pPr>
              <a:t>‹#›</a:t>
            </a:fld>
            <a:endParaRPr lang="en-US"/>
          </a:p>
        </p:txBody>
      </p:sp>
    </p:spTree>
    <p:extLst>
      <p:ext uri="{BB962C8B-B14F-4D97-AF65-F5344CB8AC3E}">
        <p14:creationId xmlns:p14="http://schemas.microsoft.com/office/powerpoint/2010/main" val="4074971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FC56CC-7271-4DDD-AE5D-A2749D08F80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BD549C-D051-490E-9AC2-214B4C40F8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534208-6C54-4774-ABFE-167AC2BAA69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C122E69E-41C8-4FF7-A2BC-DB37B8732A5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8EFE89C4-D1C4-43F0-9C43-077E10D469D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B944E73-F787-4E6B-B9A8-4B4DB2A5C479}" type="slidenum">
              <a:rPr lang="en-US" smtClean="0"/>
              <a:pPr>
                <a:defRPr/>
              </a:pPr>
              <a:t>‹#›</a:t>
            </a:fld>
            <a:endParaRPr lang="en-US"/>
          </a:p>
        </p:txBody>
      </p:sp>
    </p:spTree>
    <p:extLst>
      <p:ext uri="{BB962C8B-B14F-4D97-AF65-F5344CB8AC3E}">
        <p14:creationId xmlns:p14="http://schemas.microsoft.com/office/powerpoint/2010/main" val="278803407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6" name="Text Box 4" descr="70%"/>
          <p:cNvSpPr txBox="1">
            <a:spLocks noChangeArrowheads="1"/>
          </p:cNvSpPr>
          <p:nvPr/>
        </p:nvSpPr>
        <p:spPr bwMode="auto">
          <a:xfrm>
            <a:off x="5257800" y="4572000"/>
            <a:ext cx="2133600" cy="457200"/>
          </a:xfrm>
          <a:prstGeom prst="rect">
            <a:avLst/>
          </a:prstGeom>
          <a:noFill/>
          <a:ln w="9525">
            <a:noFill/>
            <a:miter lim="800000"/>
            <a:headEnd/>
            <a:tailEnd/>
          </a:ln>
        </p:spPr>
        <p:txBody>
          <a:bodyPr>
            <a:spAutoFit/>
          </a:bodyPr>
          <a:lstStyle/>
          <a:p>
            <a:pPr>
              <a:spcBef>
                <a:spcPct val="50000"/>
              </a:spcBef>
            </a:pPr>
            <a:r>
              <a:rPr lang="en-US" b="1" dirty="0">
                <a:solidFill>
                  <a:srgbClr val="E88A00"/>
                </a:solidFill>
              </a:rPr>
              <a:t>Share with me</a:t>
            </a:r>
          </a:p>
        </p:txBody>
      </p:sp>
      <p:sp>
        <p:nvSpPr>
          <p:cNvPr id="858117" name="WordArt 5"/>
          <p:cNvSpPr>
            <a:spLocks noChangeArrowheads="1" noChangeShapeType="1" noTextEdit="1"/>
          </p:cNvSpPr>
          <p:nvPr/>
        </p:nvSpPr>
        <p:spPr bwMode="auto">
          <a:xfrm>
            <a:off x="1981200" y="2895600"/>
            <a:ext cx="5181600" cy="1295400"/>
          </a:xfrm>
          <a:prstGeom prst="rect">
            <a:avLst/>
          </a:prstGeom>
        </p:spPr>
        <p:txBody>
          <a:bodyPr wrap="none" fromWordArt="1">
            <a:prstTxWarp prst="textDeflateBottom">
              <a:avLst>
                <a:gd name="adj" fmla="val 53125"/>
              </a:avLst>
            </a:prstTxWarp>
          </a:bodyPr>
          <a:lstStyle/>
          <a:p>
            <a:pPr algn="ctr"/>
            <a:r>
              <a:rPr lang="en-US" sz="3600" kern="10" spc="720" dirty="0">
                <a:ln w="12700">
                  <a:solidFill>
                    <a:srgbClr val="008000"/>
                  </a:solidFill>
                  <a:round/>
                  <a:headEnd/>
                  <a:tailEnd/>
                </a:ln>
                <a:gradFill rotWithShape="1">
                  <a:gsLst>
                    <a:gs pos="0">
                      <a:srgbClr val="AAAAAA"/>
                    </a:gs>
                    <a:gs pos="100000">
                      <a:srgbClr val="FFFFFF"/>
                    </a:gs>
                  </a:gsLst>
                  <a:lin ang="5400000" scaled="1"/>
                </a:gradFill>
                <a:effectLst>
                  <a:outerShdw dist="45791" dir="3378596" algn="ctr" rotWithShape="0">
                    <a:srgbClr val="4D4D4D"/>
                  </a:outerShdw>
                </a:effectLst>
                <a:latin typeface="Arial Black"/>
              </a:rPr>
              <a:t>Shared Memory</a:t>
            </a:r>
          </a:p>
        </p:txBody>
      </p:sp>
    </p:spTree>
  </p:cSld>
  <p:clrMapOvr>
    <a:masterClrMapping/>
  </p:clrMapOvr>
  <p:transition spd="med">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858116"/>
                                        </p:tgtEl>
                                        <p:attrNameLst>
                                          <p:attrName>style.visibility</p:attrName>
                                        </p:attrNameLst>
                                      </p:cBhvr>
                                      <p:to>
                                        <p:strVal val="visible"/>
                                      </p:to>
                                    </p:set>
                                    <p:animEffect transition="in" filter="checkerboard(across)">
                                      <p:cBhvr>
                                        <p:cTn id="7" dur="500"/>
                                        <p:tgtEl>
                                          <p:spTgt spid="858116"/>
                                        </p:tgtEl>
                                      </p:cBhvr>
                                    </p:animEffect>
                                  </p:childTnLst>
                                </p:cTn>
                              </p:par>
                            </p:childTnLst>
                          </p:cTn>
                        </p:par>
                        <p:par>
                          <p:cTn id="8" fill="hold">
                            <p:stCondLst>
                              <p:cond delay="500"/>
                            </p:stCondLst>
                            <p:childTnLst>
                              <p:par>
                                <p:cTn id="9" presetID="5" presetClass="entr" presetSubtype="5" fill="hold" grpId="0" nodeType="afterEffect">
                                  <p:stCondLst>
                                    <p:cond delay="0"/>
                                  </p:stCondLst>
                                  <p:childTnLst>
                                    <p:set>
                                      <p:cBhvr>
                                        <p:cTn id="10" dur="1" fill="hold">
                                          <p:stCondLst>
                                            <p:cond delay="0"/>
                                          </p:stCondLst>
                                        </p:cTn>
                                        <p:tgtEl>
                                          <p:spTgt spid="858117"/>
                                        </p:tgtEl>
                                        <p:attrNameLst>
                                          <p:attrName>style.visibility</p:attrName>
                                        </p:attrNameLst>
                                      </p:cBhvr>
                                      <p:to>
                                        <p:strVal val="visible"/>
                                      </p:to>
                                    </p:set>
                                    <p:animEffect transition="in" filter="checkerboard(down)">
                                      <p:cBhvr>
                                        <p:cTn id="11" dur="500"/>
                                        <p:tgtEl>
                                          <p:spTgt spid="858117"/>
                                        </p:tgtEl>
                                      </p:cBhvr>
                                    </p:animEffect>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6" grpId="0" autoUpdateAnimBg="0"/>
      <p:bldP spid="8581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152400" y="1295400"/>
            <a:ext cx="8839200" cy="4367212"/>
          </a:xfrm>
          <a:prstGeom prst="rect">
            <a:avLst/>
          </a:prstGeom>
          <a:noFill/>
          <a:ln w="9525">
            <a:noFill/>
            <a:miter lim="800000"/>
            <a:headEnd/>
            <a:tailEnd/>
          </a:ln>
        </p:spPr>
        <p:txBody>
          <a:bodyPr wrap="square">
            <a:spAutoFit/>
          </a:bodyPr>
          <a:lstStyle/>
          <a:p>
            <a:pPr>
              <a:spcBef>
                <a:spcPct val="50000"/>
              </a:spcBef>
              <a:buClr>
                <a:srgbClr val="339933"/>
              </a:buClr>
              <a:buFont typeface="Wingdings" pitchFamily="2" charset="2"/>
              <a:buChar char="Ø"/>
            </a:pPr>
            <a:r>
              <a:rPr lang="en-US" sz="2800" dirty="0"/>
              <a:t> Best suited when need  large amount data to share.  </a:t>
            </a:r>
          </a:p>
          <a:p>
            <a:pPr>
              <a:spcBef>
                <a:spcPct val="50000"/>
              </a:spcBef>
              <a:buClr>
                <a:srgbClr val="339933"/>
              </a:buClr>
              <a:buFont typeface="Wingdings" pitchFamily="2" charset="2"/>
              <a:buChar char="Ø"/>
            </a:pPr>
            <a:r>
              <a:rPr lang="en-US" sz="2800" dirty="0"/>
              <a:t> Allows multiple unrelated and related  process to access.</a:t>
            </a:r>
          </a:p>
          <a:p>
            <a:pPr>
              <a:spcBef>
                <a:spcPct val="50000"/>
              </a:spcBef>
              <a:buClr>
                <a:srgbClr val="339933"/>
              </a:buClr>
              <a:buFont typeface="Wingdings" pitchFamily="2" charset="2"/>
              <a:buChar char="Ø"/>
            </a:pPr>
            <a:r>
              <a:rPr lang="en-US" sz="2800" dirty="0"/>
              <a:t> Very efficient way of transferring data. </a:t>
            </a:r>
          </a:p>
          <a:p>
            <a:pPr>
              <a:spcBef>
                <a:spcPct val="50000"/>
              </a:spcBef>
              <a:buClr>
                <a:srgbClr val="339933"/>
              </a:buClr>
              <a:buFont typeface="Wingdings" pitchFamily="2" charset="2"/>
              <a:buChar char="Ø"/>
            </a:pPr>
            <a:r>
              <a:rPr lang="en-US" sz="2800" dirty="0"/>
              <a:t> We can read data in many times.</a:t>
            </a:r>
          </a:p>
          <a:p>
            <a:pPr>
              <a:spcBef>
                <a:spcPct val="50000"/>
              </a:spcBef>
              <a:buClr>
                <a:srgbClr val="339933"/>
              </a:buClr>
              <a:buFont typeface="Wingdings" pitchFamily="2" charset="2"/>
              <a:buChar char="Ø"/>
            </a:pPr>
            <a:r>
              <a:rPr lang="en-US" sz="2800" dirty="0"/>
              <a:t> Max no of shared segments we can use is  4096 </a:t>
            </a:r>
          </a:p>
          <a:p>
            <a:pPr>
              <a:spcBef>
                <a:spcPct val="50000"/>
              </a:spcBef>
              <a:buClr>
                <a:srgbClr val="339933"/>
              </a:buClr>
              <a:buFont typeface="Wingdings" pitchFamily="2" charset="2"/>
              <a:buChar char="Ø"/>
            </a:pPr>
            <a:r>
              <a:rPr lang="en-US" sz="2800" dirty="0"/>
              <a:t> Over written problem. </a:t>
            </a:r>
          </a:p>
          <a:p>
            <a:pPr>
              <a:spcBef>
                <a:spcPct val="50000"/>
              </a:spcBef>
              <a:buClr>
                <a:srgbClr val="339933"/>
              </a:buClr>
              <a:buFont typeface="Wingdings" pitchFamily="2" charset="2"/>
              <a:buChar char="Ø"/>
            </a:pPr>
            <a:r>
              <a:rPr lang="en-US" sz="2800" dirty="0"/>
              <a:t> It doesn’t have in built synchronization facility.</a:t>
            </a:r>
          </a:p>
        </p:txBody>
      </p:sp>
      <p:sp>
        <p:nvSpPr>
          <p:cNvPr id="4" name="Rectangle 3"/>
          <p:cNvSpPr/>
          <p:nvPr/>
        </p:nvSpPr>
        <p:spPr>
          <a:xfrm>
            <a:off x="228600" y="329625"/>
            <a:ext cx="8534400" cy="584775"/>
          </a:xfrm>
          <a:prstGeom prst="rect">
            <a:avLst/>
          </a:prstGeom>
        </p:spPr>
        <p:txBody>
          <a:bodyPr wrap="square">
            <a:spAutoFit/>
          </a:bodyPr>
          <a:lstStyle/>
          <a:p>
            <a:r>
              <a:rPr lang="en-US" sz="3200" b="1" dirty="0"/>
              <a:t>Shared Memory : Features of shared Memory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Text Box 2"/>
          <p:cNvSpPr txBox="1">
            <a:spLocks noChangeArrowheads="1"/>
          </p:cNvSpPr>
          <p:nvPr/>
        </p:nvSpPr>
        <p:spPr bwMode="auto">
          <a:xfrm>
            <a:off x="514350" y="1158875"/>
            <a:ext cx="2362200" cy="822325"/>
          </a:xfrm>
          <a:prstGeom prst="rect">
            <a:avLst/>
          </a:prstGeom>
          <a:noFill/>
          <a:ln w="9525">
            <a:noFill/>
            <a:miter lim="800000"/>
            <a:headEnd/>
            <a:tailEnd/>
          </a:ln>
        </p:spPr>
        <p:txBody>
          <a:bodyPr>
            <a:spAutoFit/>
          </a:bodyPr>
          <a:lstStyle/>
          <a:p>
            <a:pPr algn="ctr">
              <a:spcBef>
                <a:spcPct val="50000"/>
              </a:spcBef>
            </a:pPr>
            <a:r>
              <a:rPr lang="en-US" b="1" i="1">
                <a:solidFill>
                  <a:srgbClr val="669A72"/>
                </a:solidFill>
              </a:rPr>
              <a:t>Logical address space of A</a:t>
            </a:r>
          </a:p>
        </p:txBody>
      </p:sp>
      <p:sp>
        <p:nvSpPr>
          <p:cNvPr id="860163" name="Text Box 3"/>
          <p:cNvSpPr txBox="1">
            <a:spLocks noChangeArrowheads="1"/>
          </p:cNvSpPr>
          <p:nvPr/>
        </p:nvSpPr>
        <p:spPr bwMode="auto">
          <a:xfrm>
            <a:off x="5638800" y="1082675"/>
            <a:ext cx="2514600" cy="822325"/>
          </a:xfrm>
          <a:prstGeom prst="rect">
            <a:avLst/>
          </a:prstGeom>
          <a:noFill/>
          <a:ln w="9525">
            <a:noFill/>
            <a:miter lim="800000"/>
            <a:headEnd/>
            <a:tailEnd/>
          </a:ln>
        </p:spPr>
        <p:txBody>
          <a:bodyPr>
            <a:spAutoFit/>
          </a:bodyPr>
          <a:lstStyle/>
          <a:p>
            <a:pPr algn="ctr">
              <a:spcBef>
                <a:spcPct val="50000"/>
              </a:spcBef>
            </a:pPr>
            <a:r>
              <a:rPr lang="en-US" b="1" i="1">
                <a:solidFill>
                  <a:srgbClr val="669A72"/>
                </a:solidFill>
              </a:rPr>
              <a:t>Logical address space of B</a:t>
            </a:r>
          </a:p>
        </p:txBody>
      </p:sp>
      <p:sp>
        <p:nvSpPr>
          <p:cNvPr id="860164" name="Text Box 4"/>
          <p:cNvSpPr txBox="1">
            <a:spLocks noChangeArrowheads="1"/>
          </p:cNvSpPr>
          <p:nvPr/>
        </p:nvSpPr>
        <p:spPr bwMode="auto">
          <a:xfrm>
            <a:off x="3181350" y="1081088"/>
            <a:ext cx="2514600" cy="457200"/>
          </a:xfrm>
          <a:prstGeom prst="rect">
            <a:avLst/>
          </a:prstGeom>
          <a:noFill/>
          <a:ln w="9525">
            <a:noFill/>
            <a:miter lim="800000"/>
            <a:headEnd/>
            <a:tailEnd/>
          </a:ln>
        </p:spPr>
        <p:txBody>
          <a:bodyPr>
            <a:spAutoFit/>
          </a:bodyPr>
          <a:lstStyle/>
          <a:p>
            <a:pPr>
              <a:spcBef>
                <a:spcPct val="50000"/>
              </a:spcBef>
            </a:pPr>
            <a:r>
              <a:rPr lang="en-US" b="1" i="1">
                <a:solidFill>
                  <a:srgbClr val="669A72"/>
                </a:solidFill>
              </a:rPr>
              <a:t>Physical Memory</a:t>
            </a:r>
          </a:p>
        </p:txBody>
      </p:sp>
      <p:grpSp>
        <p:nvGrpSpPr>
          <p:cNvPr id="2" name="Group 5"/>
          <p:cNvGrpSpPr>
            <a:grpSpLocks/>
          </p:cNvGrpSpPr>
          <p:nvPr/>
        </p:nvGrpSpPr>
        <p:grpSpPr bwMode="auto">
          <a:xfrm>
            <a:off x="6291263" y="2008188"/>
            <a:ext cx="1214437" cy="3213100"/>
            <a:chOff x="4416" y="228"/>
            <a:chExt cx="912" cy="2160"/>
          </a:xfrm>
        </p:grpSpPr>
        <p:sp>
          <p:nvSpPr>
            <p:cNvPr id="209949" name="Rectangle 6"/>
            <p:cNvSpPr>
              <a:spLocks noChangeArrowheads="1"/>
            </p:cNvSpPr>
            <p:nvPr/>
          </p:nvSpPr>
          <p:spPr bwMode="auto">
            <a:xfrm>
              <a:off x="4416" y="228"/>
              <a:ext cx="912" cy="2160"/>
            </a:xfrm>
            <a:prstGeom prst="rect">
              <a:avLst/>
            </a:prstGeom>
            <a:gradFill rotWithShape="0">
              <a:gsLst>
                <a:gs pos="0">
                  <a:srgbClr val="FFEFD1"/>
                </a:gs>
                <a:gs pos="64999">
                  <a:srgbClr val="F0EBD5"/>
                </a:gs>
                <a:gs pos="100000">
                  <a:srgbClr val="D1C39F"/>
                </a:gs>
              </a:gsLst>
              <a:path path="shape">
                <a:fillToRect l="50000" t="50000" r="50000" b="50000"/>
              </a:path>
            </a:gradFill>
            <a:ln w="28575">
              <a:solidFill>
                <a:srgbClr val="D60093"/>
              </a:solidFill>
              <a:miter lim="800000"/>
              <a:headEnd/>
              <a:tailEnd/>
            </a:ln>
          </p:spPr>
          <p:txBody>
            <a:bodyPr wrap="none" anchor="ctr"/>
            <a:lstStyle/>
            <a:p>
              <a:endParaRPr lang="en-US"/>
            </a:p>
          </p:txBody>
        </p:sp>
        <p:sp>
          <p:nvSpPr>
            <p:cNvPr id="209950" name="Line 7"/>
            <p:cNvSpPr>
              <a:spLocks noChangeShapeType="1"/>
            </p:cNvSpPr>
            <p:nvPr/>
          </p:nvSpPr>
          <p:spPr bwMode="auto">
            <a:xfrm>
              <a:off x="4416" y="768"/>
              <a:ext cx="912" cy="0"/>
            </a:xfrm>
            <a:prstGeom prst="line">
              <a:avLst/>
            </a:prstGeom>
            <a:noFill/>
            <a:ln w="28575">
              <a:solidFill>
                <a:srgbClr val="D60093"/>
              </a:solidFill>
              <a:round/>
              <a:headEnd/>
              <a:tailEnd/>
            </a:ln>
          </p:spPr>
          <p:txBody>
            <a:bodyPr/>
            <a:lstStyle/>
            <a:p>
              <a:endParaRPr lang="en-US"/>
            </a:p>
          </p:txBody>
        </p:sp>
        <p:sp>
          <p:nvSpPr>
            <p:cNvPr id="209951" name="Line 8"/>
            <p:cNvSpPr>
              <a:spLocks noChangeShapeType="1"/>
            </p:cNvSpPr>
            <p:nvPr/>
          </p:nvSpPr>
          <p:spPr bwMode="auto">
            <a:xfrm>
              <a:off x="4416" y="1296"/>
              <a:ext cx="912" cy="0"/>
            </a:xfrm>
            <a:prstGeom prst="line">
              <a:avLst/>
            </a:prstGeom>
            <a:noFill/>
            <a:ln w="28575">
              <a:solidFill>
                <a:srgbClr val="D60093"/>
              </a:solidFill>
              <a:round/>
              <a:headEnd/>
              <a:tailEnd/>
            </a:ln>
          </p:spPr>
          <p:txBody>
            <a:bodyPr/>
            <a:lstStyle/>
            <a:p>
              <a:endParaRPr lang="en-US"/>
            </a:p>
          </p:txBody>
        </p:sp>
        <p:sp>
          <p:nvSpPr>
            <p:cNvPr id="209952" name="Line 9"/>
            <p:cNvSpPr>
              <a:spLocks noChangeShapeType="1"/>
            </p:cNvSpPr>
            <p:nvPr/>
          </p:nvSpPr>
          <p:spPr bwMode="auto">
            <a:xfrm>
              <a:off x="4416" y="1824"/>
              <a:ext cx="912" cy="0"/>
            </a:xfrm>
            <a:prstGeom prst="line">
              <a:avLst/>
            </a:prstGeom>
            <a:noFill/>
            <a:ln w="28575">
              <a:solidFill>
                <a:srgbClr val="D60093"/>
              </a:solidFill>
              <a:round/>
              <a:headEnd/>
              <a:tailEnd/>
            </a:ln>
          </p:spPr>
          <p:txBody>
            <a:bodyPr/>
            <a:lstStyle/>
            <a:p>
              <a:endParaRPr lang="en-US"/>
            </a:p>
          </p:txBody>
        </p:sp>
      </p:grpSp>
      <p:grpSp>
        <p:nvGrpSpPr>
          <p:cNvPr id="3" name="Group 10"/>
          <p:cNvGrpSpPr>
            <a:grpSpLocks/>
          </p:cNvGrpSpPr>
          <p:nvPr/>
        </p:nvGrpSpPr>
        <p:grpSpPr bwMode="auto">
          <a:xfrm>
            <a:off x="3679825" y="1774825"/>
            <a:ext cx="1216025" cy="4568825"/>
            <a:chOff x="2448" y="192"/>
            <a:chExt cx="912" cy="3888"/>
          </a:xfrm>
        </p:grpSpPr>
        <p:sp>
          <p:nvSpPr>
            <p:cNvPr id="209942" name="Rectangle 11"/>
            <p:cNvSpPr>
              <a:spLocks noChangeArrowheads="1"/>
            </p:cNvSpPr>
            <p:nvPr/>
          </p:nvSpPr>
          <p:spPr bwMode="auto">
            <a:xfrm>
              <a:off x="2448" y="192"/>
              <a:ext cx="912" cy="3888"/>
            </a:xfrm>
            <a:prstGeom prst="rect">
              <a:avLst/>
            </a:prstGeom>
            <a:gradFill rotWithShape="0">
              <a:gsLst>
                <a:gs pos="0">
                  <a:srgbClr val="FFEFD1"/>
                </a:gs>
                <a:gs pos="64999">
                  <a:srgbClr val="F0EBD5"/>
                </a:gs>
                <a:gs pos="100000">
                  <a:srgbClr val="D1C39F"/>
                </a:gs>
              </a:gsLst>
              <a:path path="shape">
                <a:fillToRect l="50000" t="50000" r="50000" b="50000"/>
              </a:path>
            </a:gradFill>
            <a:ln w="28575">
              <a:solidFill>
                <a:srgbClr val="D60093"/>
              </a:solidFill>
              <a:miter lim="800000"/>
              <a:headEnd/>
              <a:tailEnd/>
            </a:ln>
          </p:spPr>
          <p:txBody>
            <a:bodyPr wrap="none" anchor="ctr"/>
            <a:lstStyle/>
            <a:p>
              <a:endParaRPr lang="en-US"/>
            </a:p>
          </p:txBody>
        </p:sp>
        <p:sp>
          <p:nvSpPr>
            <p:cNvPr id="209943" name="Line 12"/>
            <p:cNvSpPr>
              <a:spLocks noChangeShapeType="1"/>
            </p:cNvSpPr>
            <p:nvPr/>
          </p:nvSpPr>
          <p:spPr bwMode="auto">
            <a:xfrm>
              <a:off x="2448" y="1824"/>
              <a:ext cx="912" cy="0"/>
            </a:xfrm>
            <a:prstGeom prst="line">
              <a:avLst/>
            </a:prstGeom>
            <a:noFill/>
            <a:ln w="28575">
              <a:solidFill>
                <a:srgbClr val="D60093"/>
              </a:solidFill>
              <a:round/>
              <a:headEnd/>
              <a:tailEnd/>
            </a:ln>
          </p:spPr>
          <p:txBody>
            <a:bodyPr/>
            <a:lstStyle/>
            <a:p>
              <a:endParaRPr lang="en-US"/>
            </a:p>
          </p:txBody>
        </p:sp>
        <p:sp>
          <p:nvSpPr>
            <p:cNvPr id="209944" name="Line 13"/>
            <p:cNvSpPr>
              <a:spLocks noChangeShapeType="1"/>
            </p:cNvSpPr>
            <p:nvPr/>
          </p:nvSpPr>
          <p:spPr bwMode="auto">
            <a:xfrm>
              <a:off x="2448" y="720"/>
              <a:ext cx="912" cy="0"/>
            </a:xfrm>
            <a:prstGeom prst="line">
              <a:avLst/>
            </a:prstGeom>
            <a:noFill/>
            <a:ln w="28575">
              <a:solidFill>
                <a:srgbClr val="D60093"/>
              </a:solidFill>
              <a:round/>
              <a:headEnd/>
              <a:tailEnd/>
            </a:ln>
          </p:spPr>
          <p:txBody>
            <a:bodyPr/>
            <a:lstStyle/>
            <a:p>
              <a:endParaRPr lang="en-US"/>
            </a:p>
          </p:txBody>
        </p:sp>
        <p:sp>
          <p:nvSpPr>
            <p:cNvPr id="209945" name="Line 14"/>
            <p:cNvSpPr>
              <a:spLocks noChangeShapeType="1"/>
            </p:cNvSpPr>
            <p:nvPr/>
          </p:nvSpPr>
          <p:spPr bwMode="auto">
            <a:xfrm>
              <a:off x="2448" y="1296"/>
              <a:ext cx="912" cy="0"/>
            </a:xfrm>
            <a:prstGeom prst="line">
              <a:avLst/>
            </a:prstGeom>
            <a:noFill/>
            <a:ln w="28575">
              <a:solidFill>
                <a:srgbClr val="D60093"/>
              </a:solidFill>
              <a:round/>
              <a:headEnd/>
              <a:tailEnd/>
            </a:ln>
          </p:spPr>
          <p:txBody>
            <a:bodyPr/>
            <a:lstStyle/>
            <a:p>
              <a:endParaRPr lang="en-US"/>
            </a:p>
          </p:txBody>
        </p:sp>
        <p:sp>
          <p:nvSpPr>
            <p:cNvPr id="209946" name="Line 15"/>
            <p:cNvSpPr>
              <a:spLocks noChangeShapeType="1"/>
            </p:cNvSpPr>
            <p:nvPr/>
          </p:nvSpPr>
          <p:spPr bwMode="auto">
            <a:xfrm>
              <a:off x="2448" y="2400"/>
              <a:ext cx="912" cy="0"/>
            </a:xfrm>
            <a:prstGeom prst="line">
              <a:avLst/>
            </a:prstGeom>
            <a:noFill/>
            <a:ln w="28575">
              <a:solidFill>
                <a:srgbClr val="D60093"/>
              </a:solidFill>
              <a:round/>
              <a:headEnd/>
              <a:tailEnd/>
            </a:ln>
          </p:spPr>
          <p:txBody>
            <a:bodyPr/>
            <a:lstStyle/>
            <a:p>
              <a:endParaRPr lang="en-US"/>
            </a:p>
          </p:txBody>
        </p:sp>
        <p:sp>
          <p:nvSpPr>
            <p:cNvPr id="209947" name="Line 16"/>
            <p:cNvSpPr>
              <a:spLocks noChangeShapeType="1"/>
            </p:cNvSpPr>
            <p:nvPr/>
          </p:nvSpPr>
          <p:spPr bwMode="auto">
            <a:xfrm>
              <a:off x="2448" y="2940"/>
              <a:ext cx="912" cy="0"/>
            </a:xfrm>
            <a:prstGeom prst="line">
              <a:avLst/>
            </a:prstGeom>
            <a:noFill/>
            <a:ln w="28575">
              <a:solidFill>
                <a:srgbClr val="D60093"/>
              </a:solidFill>
              <a:round/>
              <a:headEnd/>
              <a:tailEnd/>
            </a:ln>
          </p:spPr>
          <p:txBody>
            <a:bodyPr/>
            <a:lstStyle/>
            <a:p>
              <a:endParaRPr lang="en-US"/>
            </a:p>
          </p:txBody>
        </p:sp>
        <p:sp>
          <p:nvSpPr>
            <p:cNvPr id="209948" name="Line 17"/>
            <p:cNvSpPr>
              <a:spLocks noChangeShapeType="1"/>
            </p:cNvSpPr>
            <p:nvPr/>
          </p:nvSpPr>
          <p:spPr bwMode="auto">
            <a:xfrm>
              <a:off x="2448" y="3504"/>
              <a:ext cx="912" cy="0"/>
            </a:xfrm>
            <a:prstGeom prst="line">
              <a:avLst/>
            </a:prstGeom>
            <a:noFill/>
            <a:ln w="28575">
              <a:solidFill>
                <a:srgbClr val="D60093"/>
              </a:solidFill>
              <a:round/>
              <a:headEnd/>
              <a:tailEnd/>
            </a:ln>
          </p:spPr>
          <p:txBody>
            <a:bodyPr/>
            <a:lstStyle/>
            <a:p>
              <a:endParaRPr lang="en-US"/>
            </a:p>
          </p:txBody>
        </p:sp>
      </p:grpSp>
      <p:grpSp>
        <p:nvGrpSpPr>
          <p:cNvPr id="4" name="Group 18"/>
          <p:cNvGrpSpPr>
            <a:grpSpLocks/>
          </p:cNvGrpSpPr>
          <p:nvPr/>
        </p:nvGrpSpPr>
        <p:grpSpPr bwMode="auto">
          <a:xfrm>
            <a:off x="1047750" y="2079625"/>
            <a:ext cx="1214438" cy="3194050"/>
            <a:chOff x="480" y="1152"/>
            <a:chExt cx="912" cy="2148"/>
          </a:xfrm>
        </p:grpSpPr>
        <p:grpSp>
          <p:nvGrpSpPr>
            <p:cNvPr id="209937" name="Group 19"/>
            <p:cNvGrpSpPr>
              <a:grpSpLocks/>
            </p:cNvGrpSpPr>
            <p:nvPr/>
          </p:nvGrpSpPr>
          <p:grpSpPr bwMode="auto">
            <a:xfrm>
              <a:off x="480" y="1152"/>
              <a:ext cx="912" cy="2148"/>
              <a:chOff x="768" y="1152"/>
              <a:chExt cx="912" cy="2148"/>
            </a:xfrm>
          </p:grpSpPr>
          <p:sp>
            <p:nvSpPr>
              <p:cNvPr id="209939" name="Rectangle 20"/>
              <p:cNvSpPr>
                <a:spLocks noChangeArrowheads="1"/>
              </p:cNvSpPr>
              <p:nvPr/>
            </p:nvSpPr>
            <p:spPr bwMode="auto">
              <a:xfrm>
                <a:off x="768" y="1152"/>
                <a:ext cx="912" cy="2148"/>
              </a:xfrm>
              <a:prstGeom prst="rect">
                <a:avLst/>
              </a:prstGeom>
              <a:gradFill rotWithShape="0">
                <a:gsLst>
                  <a:gs pos="0">
                    <a:srgbClr val="FFEFD1"/>
                  </a:gs>
                  <a:gs pos="64999">
                    <a:srgbClr val="F0EBD5"/>
                  </a:gs>
                  <a:gs pos="100000">
                    <a:srgbClr val="D1C39F"/>
                  </a:gs>
                </a:gsLst>
                <a:path path="shape">
                  <a:fillToRect l="50000" t="50000" r="50000" b="50000"/>
                </a:path>
              </a:gradFill>
              <a:ln w="28575">
                <a:solidFill>
                  <a:srgbClr val="D60093"/>
                </a:solidFill>
                <a:miter lim="800000"/>
                <a:headEnd/>
                <a:tailEnd/>
              </a:ln>
            </p:spPr>
            <p:txBody>
              <a:bodyPr wrap="none" anchor="ctr"/>
              <a:lstStyle/>
              <a:p>
                <a:endPar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09940" name="Line 21"/>
              <p:cNvSpPr>
                <a:spLocks noChangeShapeType="1"/>
              </p:cNvSpPr>
              <p:nvPr/>
            </p:nvSpPr>
            <p:spPr bwMode="auto">
              <a:xfrm>
                <a:off x="768" y="1689"/>
                <a:ext cx="912" cy="0"/>
              </a:xfrm>
              <a:prstGeom prst="line">
                <a:avLst/>
              </a:prstGeom>
              <a:noFill/>
              <a:ln w="28575">
                <a:solidFill>
                  <a:srgbClr val="D60093"/>
                </a:solidFill>
                <a:round/>
                <a:headEnd/>
                <a:tailEnd/>
              </a:ln>
            </p:spPr>
            <p:txBody>
              <a:bodyPr/>
              <a:lstStyle/>
              <a:p>
                <a:endParaRPr 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09941" name="Line 22"/>
              <p:cNvSpPr>
                <a:spLocks noChangeShapeType="1"/>
              </p:cNvSpPr>
              <p:nvPr/>
            </p:nvSpPr>
            <p:spPr bwMode="auto">
              <a:xfrm>
                <a:off x="768" y="2739"/>
                <a:ext cx="912" cy="0"/>
              </a:xfrm>
              <a:prstGeom prst="line">
                <a:avLst/>
              </a:prstGeom>
              <a:noFill/>
              <a:ln w="28575">
                <a:solidFill>
                  <a:srgbClr val="D60093"/>
                </a:solidFill>
                <a:round/>
                <a:headEnd/>
                <a:tailEnd/>
              </a:ln>
            </p:spPr>
            <p:txBody>
              <a:bodyPr/>
              <a:lstStyle/>
              <a:p>
                <a:endParaRPr 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grpSp>
        <p:sp>
          <p:nvSpPr>
            <p:cNvPr id="209938" name="Line 23"/>
            <p:cNvSpPr>
              <a:spLocks noChangeShapeType="1"/>
            </p:cNvSpPr>
            <p:nvPr/>
          </p:nvSpPr>
          <p:spPr bwMode="auto">
            <a:xfrm>
              <a:off x="480" y="2208"/>
              <a:ext cx="912" cy="0"/>
            </a:xfrm>
            <a:prstGeom prst="line">
              <a:avLst/>
            </a:prstGeom>
            <a:noFill/>
            <a:ln w="28575">
              <a:solidFill>
                <a:srgbClr val="D60093"/>
              </a:solidFill>
              <a:round/>
              <a:headEnd/>
              <a:tailEnd/>
            </a:ln>
          </p:spPr>
          <p:txBody>
            <a:bodyPr/>
            <a:lstStyle/>
            <a:p>
              <a:endParaRPr 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grpSp>
      <p:sp>
        <p:nvSpPr>
          <p:cNvPr id="860184" name="Text Box 24"/>
          <p:cNvSpPr txBox="1">
            <a:spLocks noChangeArrowheads="1"/>
          </p:cNvSpPr>
          <p:nvPr/>
        </p:nvSpPr>
        <p:spPr bwMode="auto">
          <a:xfrm>
            <a:off x="3683000" y="5578475"/>
            <a:ext cx="1341438" cy="822325"/>
          </a:xfrm>
          <a:prstGeom prst="rect">
            <a:avLst/>
          </a:prstGeom>
          <a:noFill/>
          <a:ln w="9525">
            <a:noFill/>
            <a:miter lim="800000"/>
            <a:headEnd/>
            <a:tailEnd/>
          </a:ln>
        </p:spPr>
        <p:txBody>
          <a:bodyPr>
            <a:spAutoFit/>
          </a:bodyPr>
          <a:lstStyle/>
          <a:p>
            <a:pPr>
              <a:spcBef>
                <a:spcPct val="50000"/>
              </a:spcBef>
            </a:pPr>
            <a:r>
              <a:rPr lang="en-US" b="1" i="1">
                <a:solidFill>
                  <a:srgbClr val="669A72"/>
                </a:solidFill>
              </a:rPr>
              <a:t>Shared Memory</a:t>
            </a:r>
          </a:p>
        </p:txBody>
      </p:sp>
      <p:sp>
        <p:nvSpPr>
          <p:cNvPr id="860185" name="Line 25"/>
          <p:cNvSpPr>
            <a:spLocks noChangeShapeType="1"/>
          </p:cNvSpPr>
          <p:nvPr/>
        </p:nvSpPr>
        <p:spPr bwMode="auto">
          <a:xfrm>
            <a:off x="2262188" y="4721225"/>
            <a:ext cx="1390650" cy="1427163"/>
          </a:xfrm>
          <a:prstGeom prst="line">
            <a:avLst/>
          </a:prstGeom>
          <a:noFill/>
          <a:ln w="28575">
            <a:solidFill>
              <a:srgbClr val="CC3399"/>
            </a:solidFill>
            <a:round/>
            <a:headEnd/>
            <a:tailEnd type="triangle" w="med" len="med"/>
          </a:ln>
        </p:spPr>
        <p:txBody>
          <a:bodyPr/>
          <a:lstStyle/>
          <a:p>
            <a:endParaRPr lang="en-US"/>
          </a:p>
        </p:txBody>
      </p:sp>
      <p:sp>
        <p:nvSpPr>
          <p:cNvPr id="860186" name="Line 26"/>
          <p:cNvSpPr>
            <a:spLocks noChangeShapeType="1"/>
          </p:cNvSpPr>
          <p:nvPr/>
        </p:nvSpPr>
        <p:spPr bwMode="auto">
          <a:xfrm flipH="1">
            <a:off x="4895850" y="4578350"/>
            <a:ext cx="1371600" cy="1616075"/>
          </a:xfrm>
          <a:prstGeom prst="line">
            <a:avLst/>
          </a:prstGeom>
          <a:noFill/>
          <a:ln w="28575">
            <a:solidFill>
              <a:srgbClr val="CC3399"/>
            </a:solidFill>
            <a:round/>
            <a:headEnd/>
            <a:tailEnd type="triangle" w="med" len="med"/>
          </a:ln>
        </p:spPr>
        <p:txBody>
          <a:bodyPr/>
          <a:lstStyle/>
          <a:p>
            <a:endParaRPr lang="en-US"/>
          </a:p>
        </p:txBody>
      </p:sp>
      <p:sp>
        <p:nvSpPr>
          <p:cNvPr id="860187" name="Line 27"/>
          <p:cNvSpPr>
            <a:spLocks noChangeShapeType="1"/>
          </p:cNvSpPr>
          <p:nvPr/>
        </p:nvSpPr>
        <p:spPr bwMode="auto">
          <a:xfrm flipV="1">
            <a:off x="2262188" y="2863850"/>
            <a:ext cx="1406525" cy="1214438"/>
          </a:xfrm>
          <a:prstGeom prst="line">
            <a:avLst/>
          </a:prstGeom>
          <a:noFill/>
          <a:ln w="28575">
            <a:solidFill>
              <a:srgbClr val="CC3399"/>
            </a:solidFill>
            <a:round/>
            <a:headEnd/>
            <a:tailEnd type="triangle" w="med" len="med"/>
          </a:ln>
        </p:spPr>
        <p:txBody>
          <a:bodyPr/>
          <a:lstStyle/>
          <a:p>
            <a:endParaRPr lang="en-US"/>
          </a:p>
        </p:txBody>
      </p:sp>
      <p:sp>
        <p:nvSpPr>
          <p:cNvPr id="860188" name="Line 28"/>
          <p:cNvSpPr>
            <a:spLocks noChangeShapeType="1"/>
          </p:cNvSpPr>
          <p:nvPr/>
        </p:nvSpPr>
        <p:spPr bwMode="auto">
          <a:xfrm>
            <a:off x="2262188" y="2506663"/>
            <a:ext cx="1406525" cy="1714500"/>
          </a:xfrm>
          <a:prstGeom prst="line">
            <a:avLst/>
          </a:prstGeom>
          <a:noFill/>
          <a:ln w="28575">
            <a:solidFill>
              <a:srgbClr val="CC3399"/>
            </a:solidFill>
            <a:round/>
            <a:headEnd/>
            <a:tailEnd type="triangle" w="med" len="med"/>
          </a:ln>
        </p:spPr>
        <p:txBody>
          <a:bodyPr/>
          <a:lstStyle/>
          <a:p>
            <a:endParaRPr lang="en-US"/>
          </a:p>
        </p:txBody>
      </p:sp>
      <p:sp>
        <p:nvSpPr>
          <p:cNvPr id="860189" name="Line 29"/>
          <p:cNvSpPr>
            <a:spLocks noChangeShapeType="1"/>
          </p:cNvSpPr>
          <p:nvPr/>
        </p:nvSpPr>
        <p:spPr bwMode="auto">
          <a:xfrm>
            <a:off x="2262188" y="3435350"/>
            <a:ext cx="1390650" cy="2000250"/>
          </a:xfrm>
          <a:prstGeom prst="line">
            <a:avLst/>
          </a:prstGeom>
          <a:noFill/>
          <a:ln w="28575">
            <a:solidFill>
              <a:srgbClr val="CC3399"/>
            </a:solidFill>
            <a:round/>
            <a:headEnd/>
            <a:tailEnd type="triangle" w="med" len="med"/>
          </a:ln>
        </p:spPr>
        <p:txBody>
          <a:bodyPr/>
          <a:lstStyle/>
          <a:p>
            <a:endParaRPr lang="en-US"/>
          </a:p>
        </p:txBody>
      </p:sp>
      <p:sp>
        <p:nvSpPr>
          <p:cNvPr id="860190" name="Line 30"/>
          <p:cNvSpPr>
            <a:spLocks noChangeShapeType="1"/>
          </p:cNvSpPr>
          <p:nvPr/>
        </p:nvSpPr>
        <p:spPr bwMode="auto">
          <a:xfrm flipH="1">
            <a:off x="4868863" y="2436813"/>
            <a:ext cx="1406525" cy="1212850"/>
          </a:xfrm>
          <a:prstGeom prst="line">
            <a:avLst/>
          </a:prstGeom>
          <a:noFill/>
          <a:ln w="28575">
            <a:solidFill>
              <a:srgbClr val="CC3399"/>
            </a:solidFill>
            <a:round/>
            <a:headEnd/>
            <a:tailEnd type="triangle" w="med" len="med"/>
          </a:ln>
        </p:spPr>
        <p:txBody>
          <a:bodyPr/>
          <a:lstStyle/>
          <a:p>
            <a:endParaRPr lang="en-US"/>
          </a:p>
        </p:txBody>
      </p:sp>
      <p:sp>
        <p:nvSpPr>
          <p:cNvPr id="860191" name="Line 31"/>
          <p:cNvSpPr>
            <a:spLocks noChangeShapeType="1"/>
          </p:cNvSpPr>
          <p:nvPr/>
        </p:nvSpPr>
        <p:spPr bwMode="auto">
          <a:xfrm flipH="1">
            <a:off x="4868863" y="3221038"/>
            <a:ext cx="1406525" cy="1643062"/>
          </a:xfrm>
          <a:prstGeom prst="line">
            <a:avLst/>
          </a:prstGeom>
          <a:noFill/>
          <a:ln w="28575">
            <a:solidFill>
              <a:srgbClr val="CC3399"/>
            </a:solidFill>
            <a:round/>
            <a:headEnd/>
            <a:tailEnd type="triangle" w="med" len="med"/>
          </a:ln>
        </p:spPr>
        <p:txBody>
          <a:bodyPr/>
          <a:lstStyle/>
          <a:p>
            <a:endParaRPr lang="en-US"/>
          </a:p>
        </p:txBody>
      </p:sp>
      <p:sp>
        <p:nvSpPr>
          <p:cNvPr id="860192" name="Line 32"/>
          <p:cNvSpPr>
            <a:spLocks noChangeShapeType="1"/>
          </p:cNvSpPr>
          <p:nvPr/>
        </p:nvSpPr>
        <p:spPr bwMode="auto">
          <a:xfrm flipH="1" flipV="1">
            <a:off x="4876800" y="2232025"/>
            <a:ext cx="1409700" cy="1698625"/>
          </a:xfrm>
          <a:prstGeom prst="line">
            <a:avLst/>
          </a:prstGeom>
          <a:noFill/>
          <a:ln w="28575">
            <a:solidFill>
              <a:srgbClr val="CC3399"/>
            </a:solidFill>
            <a:round/>
            <a:headEnd/>
            <a:tailEnd type="triangle" w="med" len="med"/>
          </a:ln>
        </p:spPr>
        <p:txBody>
          <a:bodyPr/>
          <a:lstStyle/>
          <a:p>
            <a:endParaRPr lang="en-US"/>
          </a:p>
        </p:txBody>
      </p:sp>
      <p:sp>
        <p:nvSpPr>
          <p:cNvPr id="33" name="Rectangle 32"/>
          <p:cNvSpPr/>
          <p:nvPr/>
        </p:nvSpPr>
        <p:spPr>
          <a:xfrm>
            <a:off x="152400" y="405825"/>
            <a:ext cx="8991600" cy="584775"/>
          </a:xfrm>
          <a:prstGeom prst="rect">
            <a:avLst/>
          </a:prstGeom>
        </p:spPr>
        <p:txBody>
          <a:bodyPr wrap="square">
            <a:spAutoFit/>
          </a:bodyPr>
          <a:lstStyle/>
          <a:p>
            <a:r>
              <a:rPr lang="en-US" sz="3200" b="1" dirty="0"/>
              <a:t>Shared Memory : representation of shared Memory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60162"/>
                                        </p:tgtEl>
                                        <p:attrNameLst>
                                          <p:attrName>style.visibility</p:attrName>
                                        </p:attrNameLst>
                                      </p:cBhvr>
                                      <p:to>
                                        <p:strVal val="visible"/>
                                      </p:to>
                                    </p:set>
                                    <p:animEffect transition="in" filter="dissolve">
                                      <p:cBhvr>
                                        <p:cTn id="11" dur="500"/>
                                        <p:tgtEl>
                                          <p:spTgt spid="86016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860163"/>
                                        </p:tgtEl>
                                        <p:attrNameLst>
                                          <p:attrName>style.visibility</p:attrName>
                                        </p:attrNameLst>
                                      </p:cBhvr>
                                      <p:to>
                                        <p:strVal val="visible"/>
                                      </p:to>
                                    </p:set>
                                    <p:animEffect transition="in" filter="dissolve">
                                      <p:cBhvr>
                                        <p:cTn id="20" dur="500"/>
                                        <p:tgtEl>
                                          <p:spTgt spid="86016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860164"/>
                                        </p:tgtEl>
                                        <p:attrNameLst>
                                          <p:attrName>style.visibility</p:attrName>
                                        </p:attrNameLst>
                                      </p:cBhvr>
                                      <p:to>
                                        <p:strVal val="visible"/>
                                      </p:to>
                                    </p:set>
                                    <p:animEffect transition="in" filter="dissolve">
                                      <p:cBhvr>
                                        <p:cTn id="29" dur="500"/>
                                        <p:tgtEl>
                                          <p:spTgt spid="860164"/>
                                        </p:tgtEl>
                                      </p:cBhvr>
                                    </p:animEffec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860188"/>
                                        </p:tgtEl>
                                        <p:attrNameLst>
                                          <p:attrName>style.visibility</p:attrName>
                                        </p:attrNameLst>
                                      </p:cBhvr>
                                      <p:to>
                                        <p:strVal val="visible"/>
                                      </p:to>
                                    </p:set>
                                    <p:animEffect transition="in" filter="dissolve">
                                      <p:cBhvr>
                                        <p:cTn id="33" dur="500"/>
                                        <p:tgtEl>
                                          <p:spTgt spid="860188"/>
                                        </p:tgtEl>
                                      </p:cBhvr>
                                    </p:animEffect>
                                  </p:childTnLst>
                                </p:cTn>
                              </p:par>
                            </p:childTnLst>
                          </p:cTn>
                        </p:par>
                        <p:par>
                          <p:cTn id="34" fill="hold">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860189"/>
                                        </p:tgtEl>
                                        <p:attrNameLst>
                                          <p:attrName>style.visibility</p:attrName>
                                        </p:attrNameLst>
                                      </p:cBhvr>
                                      <p:to>
                                        <p:strVal val="visible"/>
                                      </p:to>
                                    </p:set>
                                    <p:animEffect transition="in" filter="dissolve">
                                      <p:cBhvr>
                                        <p:cTn id="37" dur="500"/>
                                        <p:tgtEl>
                                          <p:spTgt spid="860189"/>
                                        </p:tgtEl>
                                      </p:cBhvr>
                                    </p:animEffect>
                                  </p:childTnLst>
                                </p:cTn>
                              </p:par>
                            </p:childTnLst>
                          </p:cTn>
                        </p:par>
                        <p:par>
                          <p:cTn id="38" fill="hold">
                            <p:stCondLst>
                              <p:cond delay="2000"/>
                            </p:stCondLst>
                            <p:childTnLst>
                              <p:par>
                                <p:cTn id="39" presetID="9" presetClass="entr" presetSubtype="0" fill="hold" grpId="0" nodeType="afterEffect">
                                  <p:stCondLst>
                                    <p:cond delay="0"/>
                                  </p:stCondLst>
                                  <p:childTnLst>
                                    <p:set>
                                      <p:cBhvr>
                                        <p:cTn id="40" dur="1" fill="hold">
                                          <p:stCondLst>
                                            <p:cond delay="0"/>
                                          </p:stCondLst>
                                        </p:cTn>
                                        <p:tgtEl>
                                          <p:spTgt spid="860187"/>
                                        </p:tgtEl>
                                        <p:attrNameLst>
                                          <p:attrName>style.visibility</p:attrName>
                                        </p:attrNameLst>
                                      </p:cBhvr>
                                      <p:to>
                                        <p:strVal val="visible"/>
                                      </p:to>
                                    </p:set>
                                    <p:animEffect transition="in" filter="dissolve">
                                      <p:cBhvr>
                                        <p:cTn id="41" dur="500"/>
                                        <p:tgtEl>
                                          <p:spTgt spid="860187"/>
                                        </p:tgtEl>
                                      </p:cBhvr>
                                    </p:animEffect>
                                  </p:childTnLst>
                                </p:cTn>
                              </p:par>
                            </p:childTnLst>
                          </p:cTn>
                        </p:par>
                        <p:par>
                          <p:cTn id="42" fill="hold">
                            <p:stCondLst>
                              <p:cond delay="2500"/>
                            </p:stCondLst>
                            <p:childTnLst>
                              <p:par>
                                <p:cTn id="43" presetID="9" presetClass="entr" presetSubtype="0" fill="hold" grpId="0" nodeType="afterEffect">
                                  <p:stCondLst>
                                    <p:cond delay="0"/>
                                  </p:stCondLst>
                                  <p:childTnLst>
                                    <p:set>
                                      <p:cBhvr>
                                        <p:cTn id="44" dur="1" fill="hold">
                                          <p:stCondLst>
                                            <p:cond delay="0"/>
                                          </p:stCondLst>
                                        </p:cTn>
                                        <p:tgtEl>
                                          <p:spTgt spid="860190"/>
                                        </p:tgtEl>
                                        <p:attrNameLst>
                                          <p:attrName>style.visibility</p:attrName>
                                        </p:attrNameLst>
                                      </p:cBhvr>
                                      <p:to>
                                        <p:strVal val="visible"/>
                                      </p:to>
                                    </p:set>
                                    <p:animEffect transition="in" filter="dissolve">
                                      <p:cBhvr>
                                        <p:cTn id="45" dur="500"/>
                                        <p:tgtEl>
                                          <p:spTgt spid="860190"/>
                                        </p:tgtEl>
                                      </p:cBhvr>
                                    </p:animEffect>
                                  </p:childTnLst>
                                </p:cTn>
                              </p:par>
                            </p:childTnLst>
                          </p:cTn>
                        </p:par>
                        <p:par>
                          <p:cTn id="46" fill="hold">
                            <p:stCondLst>
                              <p:cond delay="3000"/>
                            </p:stCondLst>
                            <p:childTnLst>
                              <p:par>
                                <p:cTn id="47" presetID="9" presetClass="entr" presetSubtype="0" fill="hold" grpId="0" nodeType="afterEffect">
                                  <p:stCondLst>
                                    <p:cond delay="0"/>
                                  </p:stCondLst>
                                  <p:childTnLst>
                                    <p:set>
                                      <p:cBhvr>
                                        <p:cTn id="48" dur="1" fill="hold">
                                          <p:stCondLst>
                                            <p:cond delay="0"/>
                                          </p:stCondLst>
                                        </p:cTn>
                                        <p:tgtEl>
                                          <p:spTgt spid="860191"/>
                                        </p:tgtEl>
                                        <p:attrNameLst>
                                          <p:attrName>style.visibility</p:attrName>
                                        </p:attrNameLst>
                                      </p:cBhvr>
                                      <p:to>
                                        <p:strVal val="visible"/>
                                      </p:to>
                                    </p:set>
                                    <p:animEffect transition="in" filter="dissolve">
                                      <p:cBhvr>
                                        <p:cTn id="49" dur="500"/>
                                        <p:tgtEl>
                                          <p:spTgt spid="860191"/>
                                        </p:tgtEl>
                                      </p:cBhvr>
                                    </p:animEffect>
                                  </p:childTnLst>
                                </p:cTn>
                              </p:par>
                            </p:childTnLst>
                          </p:cTn>
                        </p:par>
                        <p:par>
                          <p:cTn id="50" fill="hold">
                            <p:stCondLst>
                              <p:cond delay="3500"/>
                            </p:stCondLst>
                            <p:childTnLst>
                              <p:par>
                                <p:cTn id="51" presetID="9" presetClass="entr" presetSubtype="0" fill="hold" grpId="0" nodeType="afterEffect">
                                  <p:stCondLst>
                                    <p:cond delay="0"/>
                                  </p:stCondLst>
                                  <p:childTnLst>
                                    <p:set>
                                      <p:cBhvr>
                                        <p:cTn id="52" dur="1" fill="hold">
                                          <p:stCondLst>
                                            <p:cond delay="0"/>
                                          </p:stCondLst>
                                        </p:cTn>
                                        <p:tgtEl>
                                          <p:spTgt spid="860192"/>
                                        </p:tgtEl>
                                        <p:attrNameLst>
                                          <p:attrName>style.visibility</p:attrName>
                                        </p:attrNameLst>
                                      </p:cBhvr>
                                      <p:to>
                                        <p:strVal val="visible"/>
                                      </p:to>
                                    </p:set>
                                    <p:animEffect transition="in" filter="dissolve">
                                      <p:cBhvr>
                                        <p:cTn id="53" dur="500"/>
                                        <p:tgtEl>
                                          <p:spTgt spid="860192"/>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860184"/>
                                        </p:tgtEl>
                                        <p:attrNameLst>
                                          <p:attrName>style.visibility</p:attrName>
                                        </p:attrNameLst>
                                      </p:cBhvr>
                                      <p:to>
                                        <p:strVal val="visible"/>
                                      </p:to>
                                    </p:set>
                                    <p:animEffect transition="in" filter="dissolve">
                                      <p:cBhvr>
                                        <p:cTn id="58" dur="500"/>
                                        <p:tgtEl>
                                          <p:spTgt spid="860184"/>
                                        </p:tgtEl>
                                      </p:cBhvr>
                                    </p:animEffect>
                                  </p:childTnLst>
                                </p:cTn>
                              </p:par>
                            </p:childTnLst>
                          </p:cTn>
                        </p:par>
                        <p:par>
                          <p:cTn id="59" fill="hold">
                            <p:stCondLst>
                              <p:cond delay="500"/>
                            </p:stCondLst>
                            <p:childTnLst>
                              <p:par>
                                <p:cTn id="60" presetID="9" presetClass="entr" presetSubtype="0" fill="hold" grpId="0" nodeType="afterEffect">
                                  <p:stCondLst>
                                    <p:cond delay="0"/>
                                  </p:stCondLst>
                                  <p:childTnLst>
                                    <p:set>
                                      <p:cBhvr>
                                        <p:cTn id="61" dur="1" fill="hold">
                                          <p:stCondLst>
                                            <p:cond delay="0"/>
                                          </p:stCondLst>
                                        </p:cTn>
                                        <p:tgtEl>
                                          <p:spTgt spid="860185"/>
                                        </p:tgtEl>
                                        <p:attrNameLst>
                                          <p:attrName>style.visibility</p:attrName>
                                        </p:attrNameLst>
                                      </p:cBhvr>
                                      <p:to>
                                        <p:strVal val="visible"/>
                                      </p:to>
                                    </p:set>
                                    <p:animEffect transition="in" filter="dissolve">
                                      <p:cBhvr>
                                        <p:cTn id="62" dur="500"/>
                                        <p:tgtEl>
                                          <p:spTgt spid="860185"/>
                                        </p:tgtEl>
                                      </p:cBhvr>
                                    </p:animEffect>
                                  </p:childTnLst>
                                </p:cTn>
                              </p:par>
                            </p:childTnLst>
                          </p:cTn>
                        </p:par>
                        <p:par>
                          <p:cTn id="63" fill="hold">
                            <p:stCondLst>
                              <p:cond delay="1000"/>
                            </p:stCondLst>
                            <p:childTnLst>
                              <p:par>
                                <p:cTn id="64" presetID="9" presetClass="entr" presetSubtype="0" fill="hold" grpId="0" nodeType="afterEffect">
                                  <p:stCondLst>
                                    <p:cond delay="0"/>
                                  </p:stCondLst>
                                  <p:childTnLst>
                                    <p:set>
                                      <p:cBhvr>
                                        <p:cTn id="65" dur="1" fill="hold">
                                          <p:stCondLst>
                                            <p:cond delay="0"/>
                                          </p:stCondLst>
                                        </p:cTn>
                                        <p:tgtEl>
                                          <p:spTgt spid="860186"/>
                                        </p:tgtEl>
                                        <p:attrNameLst>
                                          <p:attrName>style.visibility</p:attrName>
                                        </p:attrNameLst>
                                      </p:cBhvr>
                                      <p:to>
                                        <p:strVal val="visible"/>
                                      </p:to>
                                    </p:set>
                                    <p:animEffect transition="in" filter="dissolve">
                                      <p:cBhvr>
                                        <p:cTn id="66" dur="500"/>
                                        <p:tgtEl>
                                          <p:spTgt spid="860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2" grpId="0" autoUpdateAnimBg="0"/>
      <p:bldP spid="860163" grpId="0" autoUpdateAnimBg="0"/>
      <p:bldP spid="860164" grpId="0" autoUpdateAnimBg="0"/>
      <p:bldP spid="860184" grpId="0" autoUpdateAnimBg="0"/>
      <p:bldP spid="860185" grpId="0" animBg="1"/>
      <p:bldP spid="860186" grpId="0" animBg="1"/>
      <p:bldP spid="860187" grpId="0" animBg="1"/>
      <p:bldP spid="860188" grpId="0" animBg="1"/>
      <p:bldP spid="860189" grpId="0" animBg="1"/>
      <p:bldP spid="860190" grpId="0" animBg="1"/>
      <p:bldP spid="860191" grpId="0" animBg="1"/>
      <p:bldP spid="86019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657600" y="1536700"/>
            <a:ext cx="1843088" cy="4254500"/>
            <a:chOff x="2151" y="824"/>
            <a:chExt cx="1161" cy="2680"/>
          </a:xfrm>
        </p:grpSpPr>
        <p:sp>
          <p:nvSpPr>
            <p:cNvPr id="210948" name="Rectangle 3"/>
            <p:cNvSpPr>
              <a:spLocks noChangeArrowheads="1"/>
            </p:cNvSpPr>
            <p:nvPr/>
          </p:nvSpPr>
          <p:spPr bwMode="auto">
            <a:xfrm>
              <a:off x="2164" y="824"/>
              <a:ext cx="1144" cy="2680"/>
            </a:xfrm>
            <a:prstGeom prst="rect">
              <a:avLst/>
            </a:prstGeom>
            <a:gradFill rotWithShape="0">
              <a:gsLst>
                <a:gs pos="0">
                  <a:srgbClr val="FFEFD1"/>
                </a:gs>
                <a:gs pos="64999">
                  <a:srgbClr val="F0EBD5"/>
                </a:gs>
                <a:gs pos="100000">
                  <a:srgbClr val="D1C39F"/>
                </a:gs>
              </a:gsLst>
              <a:path path="shape">
                <a:fillToRect l="50000" t="50000" r="50000" b="50000"/>
              </a:path>
            </a:gradFill>
            <a:ln w="12700">
              <a:solidFill>
                <a:srgbClr val="FF33CC"/>
              </a:solidFill>
              <a:miter lim="800000"/>
              <a:headEnd/>
              <a:tailEnd/>
            </a:ln>
          </p:spPr>
          <p:txBody>
            <a:bodyPr wrap="none" anchor="ctr"/>
            <a:lstStyle/>
            <a:p>
              <a:endParaRPr lang="en-US"/>
            </a:p>
          </p:txBody>
        </p:sp>
        <p:sp>
          <p:nvSpPr>
            <p:cNvPr id="210949" name="Line 4"/>
            <p:cNvSpPr>
              <a:spLocks noChangeShapeType="1"/>
            </p:cNvSpPr>
            <p:nvPr/>
          </p:nvSpPr>
          <p:spPr bwMode="auto">
            <a:xfrm>
              <a:off x="2160" y="1204"/>
              <a:ext cx="1152" cy="0"/>
            </a:xfrm>
            <a:prstGeom prst="line">
              <a:avLst/>
            </a:prstGeom>
            <a:noFill/>
            <a:ln w="12700">
              <a:solidFill>
                <a:srgbClr val="FF33CC"/>
              </a:solidFill>
              <a:round/>
              <a:headEnd/>
              <a:tailEnd/>
            </a:ln>
          </p:spPr>
          <p:txBody>
            <a:bodyPr/>
            <a:lstStyle/>
            <a:p>
              <a:endParaRPr lang="en-US"/>
            </a:p>
          </p:txBody>
        </p:sp>
        <p:sp>
          <p:nvSpPr>
            <p:cNvPr id="210950" name="Rectangle 5"/>
            <p:cNvSpPr>
              <a:spLocks noChangeArrowheads="1"/>
            </p:cNvSpPr>
            <p:nvPr/>
          </p:nvSpPr>
          <p:spPr bwMode="auto">
            <a:xfrm>
              <a:off x="2247" y="859"/>
              <a:ext cx="1004" cy="286"/>
            </a:xfrm>
            <a:prstGeom prst="rect">
              <a:avLst/>
            </a:prstGeom>
            <a:noFill/>
            <a:ln w="12700">
              <a:noFill/>
              <a:miter lim="800000"/>
              <a:headEnd/>
              <a:tailEnd/>
            </a:ln>
          </p:spPr>
          <p:txBody>
            <a:bodyPr wrap="none" lIns="90488" tIns="44450" rIns="90488" bIns="44450">
              <a:spAutoFit/>
            </a:bodyPr>
            <a:lstStyle/>
            <a:p>
              <a:pPr eaLnBrk="0" hangingPunct="0"/>
              <a:r>
                <a:rPr lang="en-US"/>
                <a:t>Global vars</a:t>
              </a:r>
            </a:p>
          </p:txBody>
        </p:sp>
        <p:sp>
          <p:nvSpPr>
            <p:cNvPr id="210951" name="Line 6"/>
            <p:cNvSpPr>
              <a:spLocks noChangeShapeType="1"/>
            </p:cNvSpPr>
            <p:nvPr/>
          </p:nvSpPr>
          <p:spPr bwMode="auto">
            <a:xfrm>
              <a:off x="2160" y="1636"/>
              <a:ext cx="1152" cy="0"/>
            </a:xfrm>
            <a:prstGeom prst="line">
              <a:avLst/>
            </a:prstGeom>
            <a:noFill/>
            <a:ln w="12700">
              <a:solidFill>
                <a:srgbClr val="FF33CC"/>
              </a:solidFill>
              <a:round/>
              <a:headEnd/>
              <a:tailEnd/>
            </a:ln>
          </p:spPr>
          <p:txBody>
            <a:bodyPr/>
            <a:lstStyle/>
            <a:p>
              <a:endParaRPr lang="en-US"/>
            </a:p>
          </p:txBody>
        </p:sp>
        <p:sp>
          <p:nvSpPr>
            <p:cNvPr id="210952" name="Rectangle 7"/>
            <p:cNvSpPr>
              <a:spLocks noChangeArrowheads="1"/>
            </p:cNvSpPr>
            <p:nvPr/>
          </p:nvSpPr>
          <p:spPr bwMode="auto">
            <a:xfrm>
              <a:off x="2487" y="1291"/>
              <a:ext cx="540" cy="286"/>
            </a:xfrm>
            <a:prstGeom prst="rect">
              <a:avLst/>
            </a:prstGeom>
            <a:noFill/>
            <a:ln w="12700">
              <a:noFill/>
              <a:miter lim="800000"/>
              <a:headEnd/>
              <a:tailEnd/>
            </a:ln>
          </p:spPr>
          <p:txBody>
            <a:bodyPr wrap="none" lIns="90488" tIns="44450" rIns="90488" bIns="44450">
              <a:spAutoFit/>
            </a:bodyPr>
            <a:lstStyle/>
            <a:p>
              <a:pPr eaLnBrk="0" hangingPunct="0"/>
              <a:r>
                <a:rPr lang="en-US"/>
                <a:t>Stack</a:t>
              </a:r>
            </a:p>
          </p:txBody>
        </p:sp>
        <p:sp>
          <p:nvSpPr>
            <p:cNvPr id="210953" name="Line 8"/>
            <p:cNvSpPr>
              <a:spLocks noChangeShapeType="1"/>
            </p:cNvSpPr>
            <p:nvPr/>
          </p:nvSpPr>
          <p:spPr bwMode="auto">
            <a:xfrm>
              <a:off x="2736" y="1636"/>
              <a:ext cx="0" cy="432"/>
            </a:xfrm>
            <a:prstGeom prst="line">
              <a:avLst/>
            </a:prstGeom>
            <a:noFill/>
            <a:ln w="12700">
              <a:solidFill>
                <a:srgbClr val="FF33CC"/>
              </a:solidFill>
              <a:round/>
              <a:headEnd/>
              <a:tailEnd type="triangle" w="med" len="med"/>
            </a:ln>
          </p:spPr>
          <p:txBody>
            <a:bodyPr/>
            <a:lstStyle/>
            <a:p>
              <a:endParaRPr lang="en-US"/>
            </a:p>
          </p:txBody>
        </p:sp>
        <p:sp>
          <p:nvSpPr>
            <p:cNvPr id="210954" name="Line 9"/>
            <p:cNvSpPr>
              <a:spLocks noChangeShapeType="1"/>
            </p:cNvSpPr>
            <p:nvPr/>
          </p:nvSpPr>
          <p:spPr bwMode="auto">
            <a:xfrm>
              <a:off x="2160" y="3076"/>
              <a:ext cx="1152" cy="0"/>
            </a:xfrm>
            <a:prstGeom prst="line">
              <a:avLst/>
            </a:prstGeom>
            <a:noFill/>
            <a:ln w="12700">
              <a:solidFill>
                <a:srgbClr val="FF33CC"/>
              </a:solidFill>
              <a:round/>
              <a:headEnd/>
              <a:tailEnd/>
            </a:ln>
          </p:spPr>
          <p:txBody>
            <a:bodyPr/>
            <a:lstStyle/>
            <a:p>
              <a:endParaRPr lang="en-US"/>
            </a:p>
          </p:txBody>
        </p:sp>
        <p:sp>
          <p:nvSpPr>
            <p:cNvPr id="210955" name="Rectangle 10"/>
            <p:cNvSpPr>
              <a:spLocks noChangeArrowheads="1"/>
            </p:cNvSpPr>
            <p:nvPr/>
          </p:nvSpPr>
          <p:spPr bwMode="auto">
            <a:xfrm>
              <a:off x="2487" y="3115"/>
              <a:ext cx="519" cy="286"/>
            </a:xfrm>
            <a:prstGeom prst="rect">
              <a:avLst/>
            </a:prstGeom>
            <a:noFill/>
            <a:ln w="12700">
              <a:noFill/>
              <a:miter lim="800000"/>
              <a:headEnd/>
              <a:tailEnd/>
            </a:ln>
          </p:spPr>
          <p:txBody>
            <a:bodyPr wrap="none" lIns="90488" tIns="44450" rIns="90488" bIns="44450">
              <a:spAutoFit/>
            </a:bodyPr>
            <a:lstStyle/>
            <a:p>
              <a:pPr eaLnBrk="0" hangingPunct="0"/>
              <a:r>
                <a:rPr lang="en-US"/>
                <a:t>Heap</a:t>
              </a:r>
            </a:p>
          </p:txBody>
        </p:sp>
        <p:sp>
          <p:nvSpPr>
            <p:cNvPr id="210956" name="Line 11"/>
            <p:cNvSpPr>
              <a:spLocks noChangeShapeType="1"/>
            </p:cNvSpPr>
            <p:nvPr/>
          </p:nvSpPr>
          <p:spPr bwMode="auto">
            <a:xfrm flipV="1">
              <a:off x="2736" y="2692"/>
              <a:ext cx="0" cy="384"/>
            </a:xfrm>
            <a:prstGeom prst="line">
              <a:avLst/>
            </a:prstGeom>
            <a:noFill/>
            <a:ln w="12700">
              <a:solidFill>
                <a:srgbClr val="FF33CC"/>
              </a:solidFill>
              <a:round/>
              <a:headEnd/>
              <a:tailEnd type="triangle" w="med" len="med"/>
            </a:ln>
          </p:spPr>
          <p:txBody>
            <a:bodyPr/>
            <a:lstStyle/>
            <a:p>
              <a:endParaRPr lang="en-US"/>
            </a:p>
          </p:txBody>
        </p:sp>
        <p:sp>
          <p:nvSpPr>
            <p:cNvPr id="210957" name="Rectangle 12"/>
            <p:cNvSpPr>
              <a:spLocks noChangeArrowheads="1"/>
            </p:cNvSpPr>
            <p:nvPr/>
          </p:nvSpPr>
          <p:spPr bwMode="auto">
            <a:xfrm>
              <a:off x="2164" y="2168"/>
              <a:ext cx="1144" cy="328"/>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210958" name="Rectangle 13"/>
            <p:cNvSpPr>
              <a:spLocks noChangeArrowheads="1"/>
            </p:cNvSpPr>
            <p:nvPr/>
          </p:nvSpPr>
          <p:spPr bwMode="auto">
            <a:xfrm>
              <a:off x="2151" y="2184"/>
              <a:ext cx="1103" cy="248"/>
            </a:xfrm>
            <a:prstGeom prst="rect">
              <a:avLst/>
            </a:prstGeom>
            <a:noFill/>
            <a:ln w="12700">
              <a:noFill/>
              <a:miter lim="800000"/>
              <a:headEnd/>
              <a:tailEnd/>
            </a:ln>
          </p:spPr>
          <p:txBody>
            <a:bodyPr wrap="none" lIns="90488" tIns="44450" rIns="90488" bIns="44450">
              <a:spAutoFit/>
            </a:bodyPr>
            <a:lstStyle/>
            <a:p>
              <a:pPr eaLnBrk="0" hangingPunct="0"/>
              <a:r>
                <a:rPr lang="en-US" sz="2000">
                  <a:solidFill>
                    <a:schemeClr val="bg2"/>
                  </a:solidFill>
                </a:rPr>
                <a:t>shared memory</a:t>
              </a:r>
            </a:p>
          </p:txBody>
        </p:sp>
      </p:grpSp>
      <p:sp>
        <p:nvSpPr>
          <p:cNvPr id="15" name="Rectangle 14"/>
          <p:cNvSpPr/>
          <p:nvPr/>
        </p:nvSpPr>
        <p:spPr>
          <a:xfrm>
            <a:off x="381000" y="482025"/>
            <a:ext cx="8763000" cy="584775"/>
          </a:xfrm>
          <a:prstGeom prst="rect">
            <a:avLst/>
          </a:prstGeom>
        </p:spPr>
        <p:txBody>
          <a:bodyPr wrap="square">
            <a:spAutoFit/>
          </a:bodyPr>
          <a:lstStyle/>
          <a:p>
            <a:r>
              <a:rPr lang="en-US" sz="3200" b="1" dirty="0"/>
              <a:t>Shared Memory  : Where shared Memory Placed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ChangeArrowheads="1"/>
          </p:cNvSpPr>
          <p:nvPr/>
        </p:nvSpPr>
        <p:spPr bwMode="auto">
          <a:xfrm>
            <a:off x="4046538" y="1344613"/>
            <a:ext cx="1114425" cy="1376362"/>
          </a:xfrm>
          <a:prstGeom prst="rect">
            <a:avLst/>
          </a:prstGeom>
          <a:gradFill rotWithShape="0">
            <a:gsLst>
              <a:gs pos="0">
                <a:srgbClr val="FFEFD1"/>
              </a:gs>
              <a:gs pos="64999">
                <a:srgbClr val="F0EBD5"/>
              </a:gs>
              <a:gs pos="100000">
                <a:srgbClr val="D1C39F"/>
              </a:gs>
            </a:gsLst>
            <a:path path="shape">
              <a:fillToRect l="50000" t="50000" r="50000" b="50000"/>
            </a:path>
          </a:gradFill>
          <a:ln w="12700">
            <a:solidFill>
              <a:schemeClr val="tx1"/>
            </a:solidFill>
            <a:miter lim="800000"/>
            <a:headEnd/>
            <a:tailEnd/>
          </a:ln>
        </p:spPr>
        <p:txBody>
          <a:bodyPr wrap="none" anchor="ctr"/>
          <a:lstStyle/>
          <a:p>
            <a:endParaRPr lang="en-US"/>
          </a:p>
        </p:txBody>
      </p:sp>
      <p:sp>
        <p:nvSpPr>
          <p:cNvPr id="862211" name="Rectangle 3"/>
          <p:cNvSpPr>
            <a:spLocks noChangeArrowheads="1"/>
          </p:cNvSpPr>
          <p:nvPr/>
        </p:nvSpPr>
        <p:spPr bwMode="auto">
          <a:xfrm>
            <a:off x="3962400" y="887413"/>
            <a:ext cx="1374775" cy="454025"/>
          </a:xfrm>
          <a:prstGeom prst="rect">
            <a:avLst/>
          </a:prstGeom>
          <a:noFill/>
          <a:ln w="12700">
            <a:noFill/>
            <a:miter lim="800000"/>
            <a:headEnd/>
            <a:tailEnd/>
          </a:ln>
        </p:spPr>
        <p:txBody>
          <a:bodyPr wrap="none" lIns="90488" tIns="44450" rIns="90488" bIns="44450">
            <a:spAutoFit/>
          </a:bodyPr>
          <a:lstStyle/>
          <a:p>
            <a:pPr eaLnBrk="0" hangingPunct="0"/>
            <a:r>
              <a:rPr lang="en-US">
                <a:solidFill>
                  <a:srgbClr val="008000"/>
                </a:solidFill>
              </a:rPr>
              <a:t>Key 1243</a:t>
            </a:r>
          </a:p>
        </p:txBody>
      </p:sp>
      <p:sp>
        <p:nvSpPr>
          <p:cNvPr id="862212" name="Rectangle 4"/>
          <p:cNvSpPr>
            <a:spLocks noChangeArrowheads="1"/>
          </p:cNvSpPr>
          <p:nvPr/>
        </p:nvSpPr>
        <p:spPr bwMode="auto">
          <a:xfrm>
            <a:off x="1131888" y="2819400"/>
            <a:ext cx="1458912" cy="454025"/>
          </a:xfrm>
          <a:prstGeom prst="rect">
            <a:avLst/>
          </a:prstGeom>
          <a:noFill/>
          <a:ln w="12700">
            <a:noFill/>
            <a:miter lim="800000"/>
            <a:headEnd/>
            <a:tailEnd/>
          </a:ln>
        </p:spPr>
        <p:txBody>
          <a:bodyPr wrap="none" lIns="90488" tIns="44450" rIns="90488" bIns="44450">
            <a:spAutoFit/>
          </a:bodyPr>
          <a:lstStyle/>
          <a:p>
            <a:pPr eaLnBrk="0" hangingPunct="0"/>
            <a:r>
              <a:rPr lang="en-US" b="1">
                <a:solidFill>
                  <a:srgbClr val="009900"/>
                </a:solidFill>
              </a:rPr>
              <a:t>Process A</a:t>
            </a:r>
          </a:p>
        </p:txBody>
      </p:sp>
      <p:sp>
        <p:nvSpPr>
          <p:cNvPr id="862213" name="Rectangle 5"/>
          <p:cNvSpPr>
            <a:spLocks noChangeArrowheads="1"/>
          </p:cNvSpPr>
          <p:nvPr/>
        </p:nvSpPr>
        <p:spPr bwMode="auto">
          <a:xfrm>
            <a:off x="7010400" y="2819400"/>
            <a:ext cx="1441450" cy="454025"/>
          </a:xfrm>
          <a:prstGeom prst="rect">
            <a:avLst/>
          </a:prstGeom>
          <a:noFill/>
          <a:ln w="12700">
            <a:noFill/>
            <a:miter lim="800000"/>
            <a:headEnd/>
            <a:tailEnd/>
          </a:ln>
        </p:spPr>
        <p:txBody>
          <a:bodyPr wrap="none" lIns="90488" tIns="44450" rIns="90488" bIns="44450">
            <a:spAutoFit/>
          </a:bodyPr>
          <a:lstStyle/>
          <a:p>
            <a:pPr eaLnBrk="0" hangingPunct="0"/>
            <a:r>
              <a:rPr lang="en-US" b="1">
                <a:solidFill>
                  <a:srgbClr val="009900"/>
                </a:solidFill>
              </a:rPr>
              <a:t>Process B</a:t>
            </a:r>
          </a:p>
        </p:txBody>
      </p:sp>
      <p:sp>
        <p:nvSpPr>
          <p:cNvPr id="862214" name="Rectangle 6"/>
          <p:cNvSpPr>
            <a:spLocks noChangeArrowheads="1"/>
          </p:cNvSpPr>
          <p:nvPr/>
        </p:nvSpPr>
        <p:spPr bwMode="auto">
          <a:xfrm>
            <a:off x="4111625" y="1460500"/>
            <a:ext cx="1296988" cy="1003300"/>
          </a:xfrm>
          <a:prstGeom prst="rect">
            <a:avLst/>
          </a:prstGeom>
          <a:noFill/>
          <a:ln w="12700">
            <a:noFill/>
            <a:miter lim="800000"/>
            <a:headEnd/>
            <a:tailEnd/>
          </a:ln>
        </p:spPr>
        <p:txBody>
          <a:bodyPr lIns="90488" tIns="44450" rIns="90488" bIns="44450">
            <a:spAutoFit/>
          </a:bodyPr>
          <a:lstStyle/>
          <a:p>
            <a:pPr eaLnBrk="0" hangingPunct="0"/>
            <a:r>
              <a:rPr lang="en-US" sz="2000">
                <a:solidFill>
                  <a:srgbClr val="009900"/>
                </a:solidFill>
              </a:rPr>
              <a:t>shared</a:t>
            </a:r>
            <a:br>
              <a:rPr lang="en-US" sz="2000">
                <a:solidFill>
                  <a:srgbClr val="009900"/>
                </a:solidFill>
              </a:rPr>
            </a:br>
            <a:r>
              <a:rPr lang="en-US" sz="2000">
                <a:solidFill>
                  <a:srgbClr val="009900"/>
                </a:solidFill>
              </a:rPr>
              <a:t>memory</a:t>
            </a:r>
            <a:br>
              <a:rPr lang="en-US" sz="2000">
                <a:solidFill>
                  <a:srgbClr val="009900"/>
                </a:solidFill>
              </a:rPr>
            </a:br>
            <a:r>
              <a:rPr lang="en-US" sz="2000">
                <a:solidFill>
                  <a:srgbClr val="009900"/>
                </a:solidFill>
              </a:rPr>
              <a:t>region</a:t>
            </a:r>
          </a:p>
        </p:txBody>
      </p:sp>
      <p:grpSp>
        <p:nvGrpSpPr>
          <p:cNvPr id="2" name="Group 7"/>
          <p:cNvGrpSpPr>
            <a:grpSpLocks/>
          </p:cNvGrpSpPr>
          <p:nvPr/>
        </p:nvGrpSpPr>
        <p:grpSpPr bwMode="auto">
          <a:xfrm>
            <a:off x="4125913" y="1338263"/>
            <a:ext cx="4086225" cy="4168775"/>
            <a:chOff x="2599" y="668"/>
            <a:chExt cx="2574" cy="2626"/>
          </a:xfrm>
        </p:grpSpPr>
        <p:sp>
          <p:nvSpPr>
            <p:cNvPr id="211991" name="Line 8"/>
            <p:cNvSpPr>
              <a:spLocks noChangeShapeType="1"/>
            </p:cNvSpPr>
            <p:nvPr/>
          </p:nvSpPr>
          <p:spPr bwMode="auto">
            <a:xfrm flipH="1" flipV="1">
              <a:off x="2599" y="1543"/>
              <a:ext cx="2070" cy="1751"/>
            </a:xfrm>
            <a:prstGeom prst="line">
              <a:avLst/>
            </a:prstGeom>
            <a:noFill/>
            <a:ln w="12700">
              <a:solidFill>
                <a:schemeClr val="tx1"/>
              </a:solidFill>
              <a:prstDash val="dash"/>
              <a:round/>
              <a:headEnd/>
              <a:tailEnd/>
            </a:ln>
          </p:spPr>
          <p:txBody>
            <a:bodyPr/>
            <a:lstStyle/>
            <a:p>
              <a:endParaRPr lang="en-US"/>
            </a:p>
          </p:txBody>
        </p:sp>
        <p:sp>
          <p:nvSpPr>
            <p:cNvPr id="211992" name="Line 9"/>
            <p:cNvSpPr>
              <a:spLocks noChangeShapeType="1"/>
            </p:cNvSpPr>
            <p:nvPr/>
          </p:nvSpPr>
          <p:spPr bwMode="auto">
            <a:xfrm flipH="1" flipV="1">
              <a:off x="3205" y="668"/>
              <a:ext cx="1968" cy="1805"/>
            </a:xfrm>
            <a:prstGeom prst="line">
              <a:avLst/>
            </a:prstGeom>
            <a:noFill/>
            <a:ln w="12700">
              <a:solidFill>
                <a:schemeClr val="tx1"/>
              </a:solidFill>
              <a:prstDash val="dash"/>
              <a:round/>
              <a:headEnd/>
              <a:tailEnd/>
            </a:ln>
          </p:spPr>
          <p:txBody>
            <a:bodyPr/>
            <a:lstStyle/>
            <a:p>
              <a:endParaRPr lang="en-US"/>
            </a:p>
          </p:txBody>
        </p:sp>
      </p:grpSp>
      <p:grpSp>
        <p:nvGrpSpPr>
          <p:cNvPr id="3" name="Group 10"/>
          <p:cNvGrpSpPr>
            <a:grpSpLocks/>
          </p:cNvGrpSpPr>
          <p:nvPr/>
        </p:nvGrpSpPr>
        <p:grpSpPr bwMode="auto">
          <a:xfrm>
            <a:off x="6292850" y="3478213"/>
            <a:ext cx="2470150" cy="2763837"/>
            <a:chOff x="3768" y="2150"/>
            <a:chExt cx="1556" cy="1741"/>
          </a:xfrm>
        </p:grpSpPr>
        <p:sp>
          <p:nvSpPr>
            <p:cNvPr id="211987" name="Oval 11"/>
            <p:cNvSpPr>
              <a:spLocks noChangeArrowheads="1"/>
            </p:cNvSpPr>
            <p:nvPr/>
          </p:nvSpPr>
          <p:spPr bwMode="auto">
            <a:xfrm>
              <a:off x="3768" y="2150"/>
              <a:ext cx="1556" cy="1741"/>
            </a:xfrm>
            <a:prstGeom prst="ellipse">
              <a:avLst/>
            </a:prstGeom>
            <a:gradFill rotWithShape="0">
              <a:gsLst>
                <a:gs pos="0">
                  <a:srgbClr val="FFEFD1"/>
                </a:gs>
                <a:gs pos="64999">
                  <a:srgbClr val="F0EBD5"/>
                </a:gs>
                <a:gs pos="100000">
                  <a:srgbClr val="D1C39F"/>
                </a:gs>
              </a:gsLst>
              <a:path path="shape">
                <a:fillToRect l="50000" t="50000" r="50000" b="50000"/>
              </a:path>
            </a:gradFill>
            <a:ln w="12700">
              <a:solidFill>
                <a:schemeClr val="tx1"/>
              </a:solidFill>
              <a:round/>
              <a:headEnd/>
              <a:tailEnd/>
            </a:ln>
          </p:spPr>
          <p:txBody>
            <a:bodyPr wrap="none" anchor="ctr"/>
            <a:lstStyle/>
            <a:p>
              <a:endParaRPr lang="en-US"/>
            </a:p>
          </p:txBody>
        </p:sp>
        <p:sp>
          <p:nvSpPr>
            <p:cNvPr id="211988" name="Rectangle 12"/>
            <p:cNvSpPr>
              <a:spLocks noChangeArrowheads="1"/>
            </p:cNvSpPr>
            <p:nvPr/>
          </p:nvSpPr>
          <p:spPr bwMode="auto">
            <a:xfrm>
              <a:off x="4525" y="2423"/>
              <a:ext cx="496" cy="866"/>
            </a:xfrm>
            <a:prstGeom prst="rect">
              <a:avLst/>
            </a:prstGeom>
            <a:gradFill rotWithShape="0">
              <a:gsLst>
                <a:gs pos="0">
                  <a:srgbClr val="FFEFD1"/>
                </a:gs>
                <a:gs pos="64999">
                  <a:srgbClr val="F0EBD5"/>
                </a:gs>
                <a:gs pos="100000">
                  <a:srgbClr val="D1C39F"/>
                </a:gs>
              </a:gsLst>
              <a:path path="shape">
                <a:fillToRect l="50000" t="50000" r="50000" b="50000"/>
              </a:path>
            </a:gradFill>
            <a:ln w="12700">
              <a:solidFill>
                <a:schemeClr val="tx1"/>
              </a:solidFill>
              <a:miter lim="800000"/>
              <a:headEnd/>
              <a:tailEnd/>
            </a:ln>
          </p:spPr>
          <p:txBody>
            <a:bodyPr wrap="none" anchor="ctr"/>
            <a:lstStyle/>
            <a:p>
              <a:endParaRPr lang="en-US"/>
            </a:p>
          </p:txBody>
        </p:sp>
        <p:sp>
          <p:nvSpPr>
            <p:cNvPr id="211989" name="Line 13"/>
            <p:cNvSpPr>
              <a:spLocks noChangeShapeType="1"/>
            </p:cNvSpPr>
            <p:nvPr/>
          </p:nvSpPr>
          <p:spPr bwMode="auto">
            <a:xfrm flipV="1">
              <a:off x="4117" y="2856"/>
              <a:ext cx="404" cy="383"/>
            </a:xfrm>
            <a:prstGeom prst="line">
              <a:avLst/>
            </a:prstGeom>
            <a:noFill/>
            <a:ln w="12700">
              <a:solidFill>
                <a:schemeClr val="tx1"/>
              </a:solidFill>
              <a:round/>
              <a:headEnd/>
              <a:tailEnd type="triangle" w="med" len="med"/>
            </a:ln>
          </p:spPr>
          <p:txBody>
            <a:bodyPr/>
            <a:lstStyle/>
            <a:p>
              <a:endParaRPr lang="en-US"/>
            </a:p>
          </p:txBody>
        </p:sp>
        <p:sp>
          <p:nvSpPr>
            <p:cNvPr id="211990" name="Text Box 14" descr="70%"/>
            <p:cNvSpPr txBox="1">
              <a:spLocks noChangeArrowheads="1"/>
            </p:cNvSpPr>
            <p:nvPr/>
          </p:nvSpPr>
          <p:spPr bwMode="auto">
            <a:xfrm>
              <a:off x="3912" y="3129"/>
              <a:ext cx="192" cy="237"/>
            </a:xfrm>
            <a:prstGeom prst="rect">
              <a:avLst/>
            </a:prstGeom>
            <a:noFill/>
            <a:ln w="9525">
              <a:solidFill>
                <a:schemeClr val="tx1"/>
              </a:solidFill>
              <a:miter lim="800000"/>
              <a:headEnd/>
              <a:tailEnd/>
            </a:ln>
          </p:spPr>
          <p:txBody>
            <a:bodyPr>
              <a:spAutoFit/>
            </a:bodyPr>
            <a:lstStyle/>
            <a:p>
              <a:pPr>
                <a:spcBef>
                  <a:spcPct val="50000"/>
                </a:spcBef>
              </a:pPr>
              <a:r>
                <a:rPr lang="en-US" sz="1800" b="1">
                  <a:solidFill>
                    <a:srgbClr val="009900"/>
                  </a:solidFill>
                </a:rPr>
                <a:t>B</a:t>
              </a:r>
            </a:p>
          </p:txBody>
        </p:sp>
      </p:grpSp>
      <p:grpSp>
        <p:nvGrpSpPr>
          <p:cNvPr id="4" name="Group 15"/>
          <p:cNvGrpSpPr>
            <a:grpSpLocks/>
          </p:cNvGrpSpPr>
          <p:nvPr/>
        </p:nvGrpSpPr>
        <p:grpSpPr bwMode="auto">
          <a:xfrm>
            <a:off x="1963738" y="1338263"/>
            <a:ext cx="2963862" cy="3908425"/>
            <a:chOff x="1237" y="668"/>
            <a:chExt cx="1867" cy="2462"/>
          </a:xfrm>
        </p:grpSpPr>
        <p:sp>
          <p:nvSpPr>
            <p:cNvPr id="211985" name="Line 16"/>
            <p:cNvSpPr>
              <a:spLocks noChangeShapeType="1"/>
            </p:cNvSpPr>
            <p:nvPr/>
          </p:nvSpPr>
          <p:spPr bwMode="auto">
            <a:xfrm flipV="1">
              <a:off x="1237" y="668"/>
              <a:ext cx="1362" cy="1587"/>
            </a:xfrm>
            <a:prstGeom prst="line">
              <a:avLst/>
            </a:prstGeom>
            <a:noFill/>
            <a:ln w="12700">
              <a:solidFill>
                <a:schemeClr val="tx1"/>
              </a:solidFill>
              <a:prstDash val="dash"/>
              <a:round/>
              <a:headEnd/>
              <a:tailEnd/>
            </a:ln>
          </p:spPr>
          <p:txBody>
            <a:bodyPr/>
            <a:lstStyle/>
            <a:p>
              <a:endParaRPr lang="en-US"/>
            </a:p>
          </p:txBody>
        </p:sp>
        <p:sp>
          <p:nvSpPr>
            <p:cNvPr id="211986" name="Line 17"/>
            <p:cNvSpPr>
              <a:spLocks noChangeShapeType="1"/>
            </p:cNvSpPr>
            <p:nvPr/>
          </p:nvSpPr>
          <p:spPr bwMode="auto">
            <a:xfrm flipV="1">
              <a:off x="1742" y="1543"/>
              <a:ext cx="1362" cy="1587"/>
            </a:xfrm>
            <a:prstGeom prst="line">
              <a:avLst/>
            </a:prstGeom>
            <a:noFill/>
            <a:ln w="12700">
              <a:solidFill>
                <a:schemeClr val="tx1"/>
              </a:solidFill>
              <a:prstDash val="dash"/>
              <a:round/>
              <a:headEnd/>
              <a:tailEnd/>
            </a:ln>
          </p:spPr>
          <p:txBody>
            <a:bodyPr/>
            <a:lstStyle/>
            <a:p>
              <a:endParaRPr lang="en-US"/>
            </a:p>
          </p:txBody>
        </p:sp>
      </p:grpSp>
      <p:grpSp>
        <p:nvGrpSpPr>
          <p:cNvPr id="5" name="Group 18"/>
          <p:cNvGrpSpPr>
            <a:grpSpLocks/>
          </p:cNvGrpSpPr>
          <p:nvPr/>
        </p:nvGrpSpPr>
        <p:grpSpPr bwMode="auto">
          <a:xfrm>
            <a:off x="762000" y="3363913"/>
            <a:ext cx="2470150" cy="2763837"/>
            <a:chOff x="624" y="1944"/>
            <a:chExt cx="1556" cy="1741"/>
          </a:xfrm>
        </p:grpSpPr>
        <p:grpSp>
          <p:nvGrpSpPr>
            <p:cNvPr id="211980" name="Group 19"/>
            <p:cNvGrpSpPr>
              <a:grpSpLocks/>
            </p:cNvGrpSpPr>
            <p:nvPr/>
          </p:nvGrpSpPr>
          <p:grpSpPr bwMode="auto">
            <a:xfrm>
              <a:off x="624" y="1944"/>
              <a:ext cx="1556" cy="1741"/>
              <a:chOff x="336" y="1986"/>
              <a:chExt cx="1556" cy="1741"/>
            </a:xfrm>
          </p:grpSpPr>
          <p:sp>
            <p:nvSpPr>
              <p:cNvPr id="211982" name="Oval 20"/>
              <p:cNvSpPr>
                <a:spLocks noChangeArrowheads="1"/>
              </p:cNvSpPr>
              <p:nvPr/>
            </p:nvSpPr>
            <p:spPr bwMode="auto">
              <a:xfrm>
                <a:off x="336" y="1986"/>
                <a:ext cx="1556" cy="1741"/>
              </a:xfrm>
              <a:prstGeom prst="ellipse">
                <a:avLst/>
              </a:prstGeom>
              <a:gradFill rotWithShape="0">
                <a:gsLst>
                  <a:gs pos="0">
                    <a:srgbClr val="FFEFD1"/>
                  </a:gs>
                  <a:gs pos="64999">
                    <a:srgbClr val="F0EBD5"/>
                  </a:gs>
                  <a:gs pos="100000">
                    <a:srgbClr val="D1C39F"/>
                  </a:gs>
                </a:gsLst>
                <a:path path="shape">
                  <a:fillToRect l="50000" t="50000" r="50000" b="50000"/>
                </a:path>
              </a:gradFill>
              <a:ln w="12700">
                <a:solidFill>
                  <a:schemeClr val="tx1"/>
                </a:solidFill>
                <a:round/>
                <a:headEnd/>
                <a:tailEnd/>
              </a:ln>
            </p:spPr>
            <p:txBody>
              <a:bodyPr wrap="none" anchor="ctr"/>
              <a:lstStyle/>
              <a:p>
                <a:endParaRPr lang="en-US"/>
              </a:p>
            </p:txBody>
          </p:sp>
          <p:sp>
            <p:nvSpPr>
              <p:cNvPr id="211983" name="Rectangle 21"/>
              <p:cNvSpPr>
                <a:spLocks noChangeArrowheads="1"/>
              </p:cNvSpPr>
              <p:nvPr/>
            </p:nvSpPr>
            <p:spPr bwMode="auto">
              <a:xfrm>
                <a:off x="1093" y="2259"/>
                <a:ext cx="496" cy="866"/>
              </a:xfrm>
              <a:prstGeom prst="rect">
                <a:avLst/>
              </a:prstGeom>
              <a:gradFill rotWithShape="0">
                <a:gsLst>
                  <a:gs pos="0">
                    <a:srgbClr val="FFEFD1"/>
                  </a:gs>
                  <a:gs pos="64999">
                    <a:srgbClr val="F0EBD5"/>
                  </a:gs>
                  <a:gs pos="100000">
                    <a:srgbClr val="D1C39F"/>
                  </a:gs>
                </a:gsLst>
                <a:path path="shape">
                  <a:fillToRect l="50000" t="50000" r="50000" b="50000"/>
                </a:path>
              </a:gradFill>
              <a:ln w="12700">
                <a:solidFill>
                  <a:schemeClr val="tx1"/>
                </a:solidFill>
                <a:miter lim="800000"/>
                <a:headEnd/>
                <a:tailEnd/>
              </a:ln>
            </p:spPr>
            <p:txBody>
              <a:bodyPr wrap="none" anchor="ctr"/>
              <a:lstStyle/>
              <a:p>
                <a:endParaRPr lang="en-US"/>
              </a:p>
            </p:txBody>
          </p:sp>
          <p:sp>
            <p:nvSpPr>
              <p:cNvPr id="211984" name="Text Box 22" descr="70%"/>
              <p:cNvSpPr txBox="1">
                <a:spLocks noChangeArrowheads="1"/>
              </p:cNvSpPr>
              <p:nvPr/>
            </p:nvSpPr>
            <p:spPr bwMode="auto">
              <a:xfrm>
                <a:off x="528" y="3027"/>
                <a:ext cx="192" cy="237"/>
              </a:xfrm>
              <a:prstGeom prst="rect">
                <a:avLst/>
              </a:prstGeom>
              <a:noFill/>
              <a:ln w="9525">
                <a:solidFill>
                  <a:schemeClr val="tx1"/>
                </a:solidFill>
                <a:miter lim="800000"/>
                <a:headEnd/>
                <a:tailEnd/>
              </a:ln>
            </p:spPr>
            <p:txBody>
              <a:bodyPr>
                <a:spAutoFit/>
              </a:bodyPr>
              <a:lstStyle/>
              <a:p>
                <a:pPr>
                  <a:spcBef>
                    <a:spcPct val="50000"/>
                  </a:spcBef>
                </a:pPr>
                <a:r>
                  <a:rPr lang="en-US" sz="1800" b="1">
                    <a:solidFill>
                      <a:srgbClr val="009900"/>
                    </a:solidFill>
                  </a:rPr>
                  <a:t>A</a:t>
                </a:r>
              </a:p>
            </p:txBody>
          </p:sp>
        </p:grpSp>
        <p:sp>
          <p:nvSpPr>
            <p:cNvPr id="211981" name="Line 23"/>
            <p:cNvSpPr>
              <a:spLocks noChangeShapeType="1"/>
            </p:cNvSpPr>
            <p:nvPr/>
          </p:nvSpPr>
          <p:spPr bwMode="auto">
            <a:xfrm flipV="1">
              <a:off x="1012" y="2737"/>
              <a:ext cx="404" cy="383"/>
            </a:xfrm>
            <a:prstGeom prst="line">
              <a:avLst/>
            </a:prstGeom>
            <a:noFill/>
            <a:ln w="12700">
              <a:solidFill>
                <a:schemeClr val="tx1"/>
              </a:solidFill>
              <a:round/>
              <a:headEnd/>
              <a:tailEnd type="triangle" w="med" len="med"/>
            </a:ln>
          </p:spPr>
          <p:txBody>
            <a:bodyPr/>
            <a:lstStyle/>
            <a:p>
              <a:endParaRPr lang="en-US"/>
            </a:p>
          </p:txBody>
        </p:sp>
      </p:grpSp>
      <p:sp>
        <p:nvSpPr>
          <p:cNvPr id="25" name="Rectangle 24"/>
          <p:cNvSpPr/>
          <p:nvPr/>
        </p:nvSpPr>
        <p:spPr>
          <a:xfrm>
            <a:off x="609600" y="228600"/>
            <a:ext cx="8077200" cy="584775"/>
          </a:xfrm>
          <a:prstGeom prst="rect">
            <a:avLst/>
          </a:prstGeom>
        </p:spPr>
        <p:txBody>
          <a:bodyPr wrap="square">
            <a:spAutoFit/>
          </a:bodyPr>
          <a:lstStyle/>
          <a:p>
            <a:r>
              <a:rPr lang="en-US" sz="3200" b="1" dirty="0"/>
              <a:t>Shared Memory : Messaging shared Memory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62212"/>
                                        </p:tgtEl>
                                        <p:attrNameLst>
                                          <p:attrName>style.visibility</p:attrName>
                                        </p:attrNameLst>
                                      </p:cBhvr>
                                      <p:to>
                                        <p:strVal val="visible"/>
                                      </p:to>
                                    </p:set>
                                    <p:animEffect transition="in" filter="dissolve">
                                      <p:cBhvr>
                                        <p:cTn id="11" dur="500"/>
                                        <p:tgtEl>
                                          <p:spTgt spid="8622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862213"/>
                                        </p:tgtEl>
                                        <p:attrNameLst>
                                          <p:attrName>style.visibility</p:attrName>
                                        </p:attrNameLst>
                                      </p:cBhvr>
                                      <p:to>
                                        <p:strVal val="visible"/>
                                      </p:to>
                                    </p:set>
                                    <p:animEffect transition="in" filter="dissolve">
                                      <p:cBhvr>
                                        <p:cTn id="20" dur="500"/>
                                        <p:tgtEl>
                                          <p:spTgt spid="86221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862210"/>
                                        </p:tgtEl>
                                        <p:attrNameLst>
                                          <p:attrName>style.visibility</p:attrName>
                                        </p:attrNameLst>
                                      </p:cBhvr>
                                      <p:to>
                                        <p:strVal val="visible"/>
                                      </p:to>
                                    </p:set>
                                    <p:animEffect transition="in" filter="dissolve">
                                      <p:cBhvr>
                                        <p:cTn id="25" dur="500"/>
                                        <p:tgtEl>
                                          <p:spTgt spid="862210"/>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862214"/>
                                        </p:tgtEl>
                                        <p:attrNameLst>
                                          <p:attrName>style.visibility</p:attrName>
                                        </p:attrNameLst>
                                      </p:cBhvr>
                                      <p:to>
                                        <p:strVal val="visible"/>
                                      </p:to>
                                    </p:set>
                                    <p:animEffect transition="in" filter="dissolve">
                                      <p:cBhvr>
                                        <p:cTn id="29" dur="500"/>
                                        <p:tgtEl>
                                          <p:spTgt spid="862214"/>
                                        </p:tgtEl>
                                      </p:cBhvr>
                                    </p:animEffec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862211"/>
                                        </p:tgtEl>
                                        <p:attrNameLst>
                                          <p:attrName>style.visibility</p:attrName>
                                        </p:attrNameLst>
                                      </p:cBhvr>
                                      <p:to>
                                        <p:strVal val="visible"/>
                                      </p:to>
                                    </p:set>
                                    <p:animEffect transition="in" filter="dissolve">
                                      <p:cBhvr>
                                        <p:cTn id="33" dur="500"/>
                                        <p:tgtEl>
                                          <p:spTgt spid="862211"/>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0-#ppt_w/2"/>
                                          </p:val>
                                        </p:tav>
                                        <p:tav tm="100000">
                                          <p:val>
                                            <p:strVal val="#ppt_x"/>
                                          </p:val>
                                        </p:tav>
                                      </p:tavLst>
                                    </p:anim>
                                    <p:anim calcmode="lin" valueType="num">
                                      <p:cBhvr additive="base">
                                        <p:cTn id="39" dur="500" fill="hold"/>
                                        <p:tgtEl>
                                          <p:spTgt spid="4"/>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2" fill="hold" nodeType="after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1+#ppt_w/2"/>
                                          </p:val>
                                        </p:tav>
                                        <p:tav tm="100000">
                                          <p:val>
                                            <p:strVal val="#ppt_x"/>
                                          </p:val>
                                        </p:tav>
                                      </p:tavLst>
                                    </p:anim>
                                    <p:anim calcmode="lin" valueType="num">
                                      <p:cBhvr additive="base">
                                        <p:cTn id="4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0" grpId="0" animBg="1"/>
      <p:bldP spid="862211" grpId="0" autoUpdateAnimBg="0"/>
      <p:bldP spid="862212" grpId="0" autoUpdateAnimBg="0"/>
      <p:bldP spid="862213" grpId="0" autoUpdateAnimBg="0"/>
      <p:bldP spid="86221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ChangeArrowheads="1"/>
          </p:cNvSpPr>
          <p:nvPr>
            <p:ph type="title"/>
          </p:nvPr>
        </p:nvSpPr>
        <p:spPr>
          <a:xfrm>
            <a:off x="76200" y="2819400"/>
            <a:ext cx="9067800" cy="1143000"/>
          </a:xfrm>
        </p:spPr>
        <p:txBody>
          <a:bodyPr/>
          <a:lstStyle/>
          <a:p>
            <a:pPr algn="ctr" eaLnBrk="1" hangingPunct="1">
              <a:defRPr/>
            </a:pPr>
            <a:r>
              <a:rPr lang="en-US" sz="4000" b="1" dirty="0">
                <a:latin typeface="+mn-lt"/>
              </a:rPr>
              <a:t>System Calls related to Shared Memory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228600" y="1295400"/>
            <a:ext cx="8686800" cy="1801813"/>
          </a:xfrm>
          <a:prstGeom prst="rect">
            <a:avLst/>
          </a:prstGeom>
          <a:noFill/>
          <a:ln w="9525">
            <a:noFill/>
            <a:miter lim="800000"/>
            <a:headEnd/>
            <a:tailEnd/>
          </a:ln>
        </p:spPr>
        <p:txBody>
          <a:bodyPr>
            <a:spAutoFit/>
          </a:bodyPr>
          <a:lstStyle/>
          <a:p>
            <a:pPr>
              <a:spcBef>
                <a:spcPct val="50000"/>
              </a:spcBef>
              <a:buFont typeface="Wingdings" pitchFamily="2" charset="2"/>
              <a:buChar char="Ø"/>
            </a:pPr>
            <a:r>
              <a:rPr lang="en-US" sz="2800">
                <a:solidFill>
                  <a:srgbClr val="D60093"/>
                </a:solidFill>
              </a:rPr>
              <a:t> int  shmget( ket_t    key,        </a:t>
            </a:r>
            <a:r>
              <a:rPr lang="en-US" sz="2800" i="1">
                <a:solidFill>
                  <a:srgbClr val="336600"/>
                </a:solidFill>
              </a:rPr>
              <a:t>/*</a:t>
            </a:r>
            <a:r>
              <a:rPr lang="en-US" i="1">
                <a:solidFill>
                  <a:srgbClr val="336600"/>
                </a:solidFill>
              </a:rPr>
              <a:t>Returns shared memory id */</a:t>
            </a:r>
            <a:endParaRPr lang="en-US" sz="2800" i="1">
              <a:solidFill>
                <a:srgbClr val="336600"/>
              </a:solidFill>
            </a:endParaRPr>
          </a:p>
          <a:p>
            <a:pPr>
              <a:spcBef>
                <a:spcPct val="50000"/>
              </a:spcBef>
              <a:buFont typeface="Wingdings" pitchFamily="2" charset="2"/>
              <a:buNone/>
            </a:pPr>
            <a:r>
              <a:rPr lang="en-US" sz="2800">
                <a:solidFill>
                  <a:srgbClr val="D60093"/>
                </a:solidFill>
              </a:rPr>
              <a:t>                        size _t  size , </a:t>
            </a:r>
          </a:p>
          <a:p>
            <a:pPr>
              <a:spcBef>
                <a:spcPct val="50000"/>
              </a:spcBef>
              <a:buFont typeface="Wingdings" pitchFamily="2" charset="2"/>
              <a:buNone/>
            </a:pPr>
            <a:r>
              <a:rPr lang="en-US" sz="2800">
                <a:solidFill>
                  <a:srgbClr val="D60093"/>
                </a:solidFill>
              </a:rPr>
              <a:t>                        int shmflag ); </a:t>
            </a:r>
          </a:p>
        </p:txBody>
      </p:sp>
      <p:grpSp>
        <p:nvGrpSpPr>
          <p:cNvPr id="214019" name="Group 3"/>
          <p:cNvGrpSpPr>
            <a:grpSpLocks/>
          </p:cNvGrpSpPr>
          <p:nvPr/>
        </p:nvGrpSpPr>
        <p:grpSpPr bwMode="auto">
          <a:xfrm>
            <a:off x="538163" y="4708983"/>
            <a:ext cx="6929437" cy="1615617"/>
            <a:chOff x="339" y="2937"/>
            <a:chExt cx="4365" cy="1047"/>
          </a:xfrm>
        </p:grpSpPr>
        <p:sp>
          <p:nvSpPr>
            <p:cNvPr id="214023" name="Text Box 4"/>
            <p:cNvSpPr txBox="1">
              <a:spLocks noChangeArrowheads="1"/>
            </p:cNvSpPr>
            <p:nvPr/>
          </p:nvSpPr>
          <p:spPr bwMode="auto">
            <a:xfrm>
              <a:off x="2304" y="3006"/>
              <a:ext cx="2400" cy="978"/>
            </a:xfrm>
            <a:prstGeom prst="rect">
              <a:avLst/>
            </a:prstGeom>
            <a:noFill/>
            <a:ln w="9525">
              <a:noFill/>
              <a:miter lim="800000"/>
              <a:headEnd/>
              <a:tailEnd/>
            </a:ln>
          </p:spPr>
          <p:txBody>
            <a:bodyPr>
              <a:spAutoFit/>
            </a:bodyPr>
            <a:lstStyle/>
            <a:p>
              <a:pPr>
                <a:spcBef>
                  <a:spcPct val="50000"/>
                </a:spcBef>
              </a:pPr>
              <a:r>
                <a:rPr lang="en-US"/>
                <a:t>  </a:t>
              </a:r>
              <a:r>
                <a:rPr lang="en-US" i="1"/>
                <a:t>IPC_PRIVATE</a:t>
              </a:r>
            </a:p>
            <a:p>
              <a:pPr>
                <a:spcBef>
                  <a:spcPct val="50000"/>
                </a:spcBef>
              </a:pPr>
              <a:r>
                <a:rPr lang="en-US" i="1"/>
                <a:t>  IPC_CREAT</a:t>
              </a:r>
            </a:p>
            <a:p>
              <a:pPr>
                <a:spcBef>
                  <a:spcPct val="50000"/>
                </a:spcBef>
              </a:pPr>
              <a:r>
                <a:rPr lang="en-US" i="1"/>
                <a:t>  IPC_EXCL</a:t>
              </a:r>
            </a:p>
          </p:txBody>
        </p:sp>
        <p:sp>
          <p:nvSpPr>
            <p:cNvPr id="214024" name="Rectangle 5"/>
            <p:cNvSpPr>
              <a:spLocks noChangeArrowheads="1"/>
            </p:cNvSpPr>
            <p:nvPr/>
          </p:nvSpPr>
          <p:spPr bwMode="auto">
            <a:xfrm>
              <a:off x="339" y="2937"/>
              <a:ext cx="893" cy="327"/>
            </a:xfrm>
            <a:prstGeom prst="rect">
              <a:avLst/>
            </a:prstGeom>
            <a:noFill/>
            <a:ln w="9525">
              <a:noFill/>
              <a:miter lim="800000"/>
              <a:headEnd/>
              <a:tailEnd/>
            </a:ln>
          </p:spPr>
          <p:txBody>
            <a:bodyPr wrap="none">
              <a:spAutoFit/>
            </a:bodyPr>
            <a:lstStyle/>
            <a:p>
              <a:r>
                <a:rPr lang="en-US" sz="2800">
                  <a:solidFill>
                    <a:srgbClr val="D60093"/>
                  </a:solidFill>
                </a:rPr>
                <a:t> shmflag</a:t>
              </a:r>
            </a:p>
          </p:txBody>
        </p:sp>
        <p:sp>
          <p:nvSpPr>
            <p:cNvPr id="214025" name="Line 6"/>
            <p:cNvSpPr>
              <a:spLocks noChangeShapeType="1"/>
            </p:cNvSpPr>
            <p:nvPr/>
          </p:nvSpPr>
          <p:spPr bwMode="auto">
            <a:xfrm>
              <a:off x="1248" y="3120"/>
              <a:ext cx="1056" cy="0"/>
            </a:xfrm>
            <a:prstGeom prst="line">
              <a:avLst/>
            </a:prstGeom>
            <a:noFill/>
            <a:ln w="9525">
              <a:solidFill>
                <a:schemeClr val="tx1"/>
              </a:solidFill>
              <a:round/>
              <a:headEnd/>
              <a:tailEnd/>
            </a:ln>
          </p:spPr>
          <p:txBody>
            <a:bodyPr/>
            <a:lstStyle/>
            <a:p>
              <a:endParaRPr lang="en-US"/>
            </a:p>
          </p:txBody>
        </p:sp>
        <p:sp>
          <p:nvSpPr>
            <p:cNvPr id="214026" name="Line 7"/>
            <p:cNvSpPr>
              <a:spLocks noChangeShapeType="1"/>
            </p:cNvSpPr>
            <p:nvPr/>
          </p:nvSpPr>
          <p:spPr bwMode="auto">
            <a:xfrm>
              <a:off x="1392" y="3120"/>
              <a:ext cx="0" cy="768"/>
            </a:xfrm>
            <a:prstGeom prst="line">
              <a:avLst/>
            </a:prstGeom>
            <a:noFill/>
            <a:ln w="9525">
              <a:solidFill>
                <a:schemeClr val="tx1"/>
              </a:solidFill>
              <a:round/>
              <a:headEnd/>
              <a:tailEnd/>
            </a:ln>
          </p:spPr>
          <p:txBody>
            <a:bodyPr/>
            <a:lstStyle/>
            <a:p>
              <a:endParaRPr lang="en-US"/>
            </a:p>
          </p:txBody>
        </p:sp>
        <p:sp>
          <p:nvSpPr>
            <p:cNvPr id="214027" name="Line 8"/>
            <p:cNvSpPr>
              <a:spLocks noChangeShapeType="1"/>
            </p:cNvSpPr>
            <p:nvPr/>
          </p:nvSpPr>
          <p:spPr bwMode="auto">
            <a:xfrm>
              <a:off x="1392" y="3504"/>
              <a:ext cx="912" cy="0"/>
            </a:xfrm>
            <a:prstGeom prst="line">
              <a:avLst/>
            </a:prstGeom>
            <a:noFill/>
            <a:ln w="9525">
              <a:solidFill>
                <a:schemeClr val="tx1"/>
              </a:solidFill>
              <a:round/>
              <a:headEnd/>
              <a:tailEnd/>
            </a:ln>
          </p:spPr>
          <p:txBody>
            <a:bodyPr/>
            <a:lstStyle/>
            <a:p>
              <a:endParaRPr lang="en-US"/>
            </a:p>
          </p:txBody>
        </p:sp>
        <p:sp>
          <p:nvSpPr>
            <p:cNvPr id="214028" name="Line 9"/>
            <p:cNvSpPr>
              <a:spLocks noChangeShapeType="1"/>
            </p:cNvSpPr>
            <p:nvPr/>
          </p:nvSpPr>
          <p:spPr bwMode="auto">
            <a:xfrm>
              <a:off x="1392" y="3888"/>
              <a:ext cx="912" cy="0"/>
            </a:xfrm>
            <a:prstGeom prst="line">
              <a:avLst/>
            </a:prstGeom>
            <a:noFill/>
            <a:ln w="9525">
              <a:solidFill>
                <a:schemeClr val="tx1"/>
              </a:solidFill>
              <a:round/>
              <a:headEnd/>
              <a:tailEnd/>
            </a:ln>
          </p:spPr>
          <p:txBody>
            <a:bodyPr/>
            <a:lstStyle/>
            <a:p>
              <a:endParaRPr lang="en-US"/>
            </a:p>
          </p:txBody>
        </p:sp>
      </p:grpSp>
      <p:sp>
        <p:nvSpPr>
          <p:cNvPr id="214020" name="Rectangle 10"/>
          <p:cNvSpPr>
            <a:spLocks noChangeArrowheads="1"/>
          </p:cNvSpPr>
          <p:nvPr/>
        </p:nvSpPr>
        <p:spPr bwMode="auto">
          <a:xfrm>
            <a:off x="576263" y="3214688"/>
            <a:ext cx="7577137" cy="519112"/>
          </a:xfrm>
          <a:prstGeom prst="rect">
            <a:avLst/>
          </a:prstGeom>
          <a:noFill/>
          <a:ln w="9525">
            <a:noFill/>
            <a:miter lim="800000"/>
            <a:headEnd/>
            <a:tailEnd/>
          </a:ln>
        </p:spPr>
        <p:txBody>
          <a:bodyPr>
            <a:spAutoFit/>
          </a:bodyPr>
          <a:lstStyle/>
          <a:p>
            <a:r>
              <a:rPr lang="en-US" sz="2800">
                <a:solidFill>
                  <a:srgbClr val="D60093"/>
                </a:solidFill>
              </a:rPr>
              <a:t> key  </a:t>
            </a:r>
            <a:r>
              <a:rPr lang="en-US" sz="2800"/>
              <a:t>------------------    </a:t>
            </a:r>
            <a:r>
              <a:rPr lang="en-US"/>
              <a:t>Arbitrary number</a:t>
            </a:r>
            <a:endParaRPr lang="en-US" sz="2800">
              <a:solidFill>
                <a:srgbClr val="D60093"/>
              </a:solidFill>
            </a:endParaRPr>
          </a:p>
        </p:txBody>
      </p:sp>
      <p:sp>
        <p:nvSpPr>
          <p:cNvPr id="214021" name="Text Box 11"/>
          <p:cNvSpPr txBox="1">
            <a:spLocks noChangeArrowheads="1"/>
          </p:cNvSpPr>
          <p:nvPr/>
        </p:nvSpPr>
        <p:spPr bwMode="auto">
          <a:xfrm>
            <a:off x="685800" y="3886200"/>
            <a:ext cx="7924800" cy="519113"/>
          </a:xfrm>
          <a:prstGeom prst="rect">
            <a:avLst/>
          </a:prstGeom>
          <a:noFill/>
          <a:ln w="9525">
            <a:noFill/>
            <a:miter lim="800000"/>
            <a:headEnd/>
            <a:tailEnd/>
          </a:ln>
        </p:spPr>
        <p:txBody>
          <a:bodyPr>
            <a:spAutoFit/>
          </a:bodyPr>
          <a:lstStyle/>
          <a:p>
            <a:pPr>
              <a:spcBef>
                <a:spcPct val="50000"/>
              </a:spcBef>
            </a:pPr>
            <a:r>
              <a:rPr lang="en-US" sz="2800">
                <a:solidFill>
                  <a:srgbClr val="D60093"/>
                </a:solidFill>
              </a:rPr>
              <a:t>size  </a:t>
            </a:r>
            <a:r>
              <a:rPr lang="en-US" sz="2800"/>
              <a:t> -----------------    </a:t>
            </a:r>
            <a:r>
              <a:rPr lang="en-US"/>
              <a:t>Amount of memory required</a:t>
            </a:r>
            <a:endParaRPr lang="en-US" sz="2800">
              <a:solidFill>
                <a:srgbClr val="D60093"/>
              </a:solidFill>
            </a:endParaRPr>
          </a:p>
        </p:txBody>
      </p:sp>
      <p:sp>
        <p:nvSpPr>
          <p:cNvPr id="13" name="Rectangle 12"/>
          <p:cNvSpPr/>
          <p:nvPr/>
        </p:nvSpPr>
        <p:spPr>
          <a:xfrm>
            <a:off x="381000" y="228600"/>
            <a:ext cx="7543800" cy="584775"/>
          </a:xfrm>
          <a:prstGeom prst="rect">
            <a:avLst/>
          </a:prstGeom>
        </p:spPr>
        <p:txBody>
          <a:bodyPr wrap="square">
            <a:spAutoFit/>
          </a:bodyPr>
          <a:lstStyle/>
          <a:p>
            <a:r>
              <a:rPr lang="en-US" sz="3200" b="1" dirty="0"/>
              <a:t>Shared Memory : </a:t>
            </a:r>
            <a:r>
              <a:rPr lang="en-US" sz="3200" b="1" dirty="0" err="1"/>
              <a:t>shmget</a:t>
            </a:r>
            <a:r>
              <a:rPr lang="en-US" sz="3200" b="1" dirty="0"/>
              <a:t>                  </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ChangeArrowheads="1"/>
          </p:cNvSpPr>
          <p:nvPr/>
        </p:nvSpPr>
        <p:spPr bwMode="auto">
          <a:xfrm>
            <a:off x="152400" y="1108075"/>
            <a:ext cx="8229600" cy="1801813"/>
          </a:xfrm>
          <a:prstGeom prst="rect">
            <a:avLst/>
          </a:prstGeom>
          <a:noFill/>
          <a:ln w="9525">
            <a:noFill/>
            <a:miter lim="800000"/>
            <a:headEnd/>
            <a:tailEnd/>
          </a:ln>
        </p:spPr>
        <p:txBody>
          <a:bodyPr>
            <a:spAutoFit/>
          </a:bodyPr>
          <a:lstStyle/>
          <a:p>
            <a:pPr>
              <a:spcBef>
                <a:spcPct val="50000"/>
              </a:spcBef>
              <a:buFont typeface="Wingdings" pitchFamily="2" charset="2"/>
              <a:buChar char="Ø"/>
            </a:pPr>
            <a:r>
              <a:rPr lang="en-US" sz="2800">
                <a:solidFill>
                  <a:srgbClr val="D60093"/>
                </a:solidFill>
              </a:rPr>
              <a:t>void *shmat( int shmid,      </a:t>
            </a:r>
            <a:r>
              <a:rPr lang="en-US" sz="2800" i="1">
                <a:solidFill>
                  <a:srgbClr val="336600"/>
                </a:solidFill>
              </a:rPr>
              <a:t>/*</a:t>
            </a:r>
            <a:r>
              <a:rPr lang="en-US" i="1">
                <a:solidFill>
                  <a:srgbClr val="336600"/>
                </a:solidFill>
              </a:rPr>
              <a:t>Attaching shared memory */</a:t>
            </a:r>
            <a:endParaRPr lang="en-US" sz="2800" i="1">
              <a:solidFill>
                <a:srgbClr val="336600"/>
              </a:solidFill>
            </a:endParaRPr>
          </a:p>
          <a:p>
            <a:pPr>
              <a:spcBef>
                <a:spcPct val="50000"/>
              </a:spcBef>
              <a:buFont typeface="Wingdings" pitchFamily="2" charset="2"/>
              <a:buNone/>
            </a:pPr>
            <a:r>
              <a:rPr lang="en-US" sz="2800">
                <a:solidFill>
                  <a:srgbClr val="D60093"/>
                </a:solidFill>
              </a:rPr>
              <a:t>                         const void  *shm_addr,</a:t>
            </a:r>
          </a:p>
          <a:p>
            <a:pPr>
              <a:spcBef>
                <a:spcPct val="50000"/>
              </a:spcBef>
              <a:buFont typeface="Wingdings" pitchFamily="2" charset="2"/>
              <a:buNone/>
            </a:pPr>
            <a:r>
              <a:rPr lang="en-US" sz="2800">
                <a:solidFill>
                  <a:srgbClr val="D60093"/>
                </a:solidFill>
              </a:rPr>
              <a:t>                         int shmflag );</a:t>
            </a:r>
          </a:p>
        </p:txBody>
      </p:sp>
      <p:sp>
        <p:nvSpPr>
          <p:cNvPr id="215043" name="Rectangle 3"/>
          <p:cNvSpPr>
            <a:spLocks noChangeArrowheads="1"/>
          </p:cNvSpPr>
          <p:nvPr/>
        </p:nvSpPr>
        <p:spPr bwMode="auto">
          <a:xfrm>
            <a:off x="304800" y="3290888"/>
            <a:ext cx="8610600" cy="519112"/>
          </a:xfrm>
          <a:prstGeom prst="rect">
            <a:avLst/>
          </a:prstGeom>
          <a:noFill/>
          <a:ln w="9525">
            <a:noFill/>
            <a:miter lim="800000"/>
            <a:headEnd/>
            <a:tailEnd/>
          </a:ln>
        </p:spPr>
        <p:txBody>
          <a:bodyPr>
            <a:spAutoFit/>
          </a:bodyPr>
          <a:lstStyle/>
          <a:p>
            <a:r>
              <a:rPr lang="en-US" sz="2800"/>
              <a:t> </a:t>
            </a:r>
            <a:r>
              <a:rPr lang="en-US" sz="2800">
                <a:solidFill>
                  <a:srgbClr val="D60093"/>
                </a:solidFill>
              </a:rPr>
              <a:t>shmid </a:t>
            </a:r>
            <a:r>
              <a:rPr lang="en-US" sz="2800">
                <a:solidFill>
                  <a:srgbClr val="CC3300"/>
                </a:solidFill>
              </a:rPr>
              <a:t> </a:t>
            </a:r>
            <a:r>
              <a:rPr lang="en-US" sz="2800"/>
              <a:t> ------------ </a:t>
            </a:r>
            <a:r>
              <a:rPr lang="en-US"/>
              <a:t>   Shared memory id return by shmget()</a:t>
            </a:r>
            <a:r>
              <a:rPr lang="en-US" sz="2800"/>
              <a:t>                       </a:t>
            </a:r>
          </a:p>
        </p:txBody>
      </p:sp>
      <p:sp>
        <p:nvSpPr>
          <p:cNvPr id="215044" name="Rectangle 4"/>
          <p:cNvSpPr>
            <a:spLocks noChangeArrowheads="1"/>
          </p:cNvSpPr>
          <p:nvPr/>
        </p:nvSpPr>
        <p:spPr bwMode="auto">
          <a:xfrm>
            <a:off x="377825" y="4281488"/>
            <a:ext cx="8766175" cy="519112"/>
          </a:xfrm>
          <a:prstGeom prst="rect">
            <a:avLst/>
          </a:prstGeom>
          <a:noFill/>
          <a:ln w="9525">
            <a:noFill/>
            <a:miter lim="800000"/>
            <a:headEnd/>
            <a:tailEnd/>
          </a:ln>
        </p:spPr>
        <p:txBody>
          <a:bodyPr>
            <a:spAutoFit/>
          </a:bodyPr>
          <a:lstStyle/>
          <a:p>
            <a:r>
              <a:rPr lang="en-US" sz="2800">
                <a:solidFill>
                  <a:srgbClr val="D60093"/>
                </a:solidFill>
              </a:rPr>
              <a:t>shm_addr</a:t>
            </a:r>
            <a:r>
              <a:rPr lang="en-US" sz="2800"/>
              <a:t> --------- </a:t>
            </a:r>
            <a:r>
              <a:rPr lang="en-US"/>
              <a:t>   Address at which memory to be attached  </a:t>
            </a:r>
            <a:r>
              <a:rPr lang="en-US" sz="2800"/>
              <a:t>  </a:t>
            </a:r>
          </a:p>
        </p:txBody>
      </p:sp>
      <p:sp>
        <p:nvSpPr>
          <p:cNvPr id="215045" name="Rectangle 5"/>
          <p:cNvSpPr>
            <a:spLocks noChangeArrowheads="1"/>
          </p:cNvSpPr>
          <p:nvPr/>
        </p:nvSpPr>
        <p:spPr bwMode="auto">
          <a:xfrm>
            <a:off x="381000" y="4953000"/>
            <a:ext cx="1328737" cy="519112"/>
          </a:xfrm>
          <a:prstGeom prst="rect">
            <a:avLst/>
          </a:prstGeom>
          <a:noFill/>
          <a:ln w="9525">
            <a:noFill/>
            <a:miter lim="800000"/>
            <a:headEnd/>
            <a:tailEnd/>
          </a:ln>
        </p:spPr>
        <p:txBody>
          <a:bodyPr>
            <a:spAutoFit/>
          </a:bodyPr>
          <a:lstStyle/>
          <a:p>
            <a:r>
              <a:rPr lang="en-US" sz="2800" dirty="0" err="1">
                <a:solidFill>
                  <a:srgbClr val="D60093"/>
                </a:solidFill>
              </a:rPr>
              <a:t>shmflag</a:t>
            </a:r>
            <a:endParaRPr lang="en-US" sz="2800" dirty="0">
              <a:solidFill>
                <a:srgbClr val="D60093"/>
              </a:solidFill>
            </a:endParaRPr>
          </a:p>
        </p:txBody>
      </p:sp>
      <p:grpSp>
        <p:nvGrpSpPr>
          <p:cNvPr id="215046" name="Group 6"/>
          <p:cNvGrpSpPr>
            <a:grpSpLocks/>
          </p:cNvGrpSpPr>
          <p:nvPr/>
        </p:nvGrpSpPr>
        <p:grpSpPr bwMode="auto">
          <a:xfrm>
            <a:off x="1828800" y="5257800"/>
            <a:ext cx="1295400" cy="685800"/>
            <a:chOff x="1056" y="3216"/>
            <a:chExt cx="816" cy="432"/>
          </a:xfrm>
        </p:grpSpPr>
        <p:sp>
          <p:nvSpPr>
            <p:cNvPr id="215050" name="Line 7"/>
            <p:cNvSpPr>
              <a:spLocks noChangeShapeType="1"/>
            </p:cNvSpPr>
            <p:nvPr/>
          </p:nvSpPr>
          <p:spPr bwMode="auto">
            <a:xfrm>
              <a:off x="1056" y="3216"/>
              <a:ext cx="816" cy="0"/>
            </a:xfrm>
            <a:prstGeom prst="line">
              <a:avLst/>
            </a:prstGeom>
            <a:noFill/>
            <a:ln w="9525">
              <a:solidFill>
                <a:schemeClr val="tx1"/>
              </a:solidFill>
              <a:round/>
              <a:headEnd/>
              <a:tailEnd/>
            </a:ln>
          </p:spPr>
          <p:txBody>
            <a:bodyPr/>
            <a:lstStyle/>
            <a:p>
              <a:endParaRPr lang="en-US"/>
            </a:p>
          </p:txBody>
        </p:sp>
        <p:sp>
          <p:nvSpPr>
            <p:cNvPr id="215051" name="Line 8"/>
            <p:cNvSpPr>
              <a:spLocks noChangeShapeType="1"/>
            </p:cNvSpPr>
            <p:nvPr/>
          </p:nvSpPr>
          <p:spPr bwMode="auto">
            <a:xfrm>
              <a:off x="1344" y="3216"/>
              <a:ext cx="0" cy="432"/>
            </a:xfrm>
            <a:prstGeom prst="line">
              <a:avLst/>
            </a:prstGeom>
            <a:noFill/>
            <a:ln w="9525">
              <a:solidFill>
                <a:schemeClr val="tx1"/>
              </a:solidFill>
              <a:round/>
              <a:headEnd/>
              <a:tailEnd/>
            </a:ln>
          </p:spPr>
          <p:txBody>
            <a:bodyPr/>
            <a:lstStyle/>
            <a:p>
              <a:endParaRPr lang="en-US"/>
            </a:p>
          </p:txBody>
        </p:sp>
        <p:sp>
          <p:nvSpPr>
            <p:cNvPr id="215052" name="Line 9"/>
            <p:cNvSpPr>
              <a:spLocks noChangeShapeType="1"/>
            </p:cNvSpPr>
            <p:nvPr/>
          </p:nvSpPr>
          <p:spPr bwMode="auto">
            <a:xfrm>
              <a:off x="1344" y="3648"/>
              <a:ext cx="492" cy="0"/>
            </a:xfrm>
            <a:prstGeom prst="line">
              <a:avLst/>
            </a:prstGeom>
            <a:noFill/>
            <a:ln w="9525">
              <a:solidFill>
                <a:schemeClr val="tx1"/>
              </a:solidFill>
              <a:round/>
              <a:headEnd/>
              <a:tailEnd/>
            </a:ln>
          </p:spPr>
          <p:txBody>
            <a:bodyPr/>
            <a:lstStyle/>
            <a:p>
              <a:endParaRPr lang="en-US"/>
            </a:p>
          </p:txBody>
        </p:sp>
      </p:grpSp>
      <p:sp>
        <p:nvSpPr>
          <p:cNvPr id="215047" name="Text Box 10"/>
          <p:cNvSpPr txBox="1">
            <a:spLocks noChangeArrowheads="1"/>
          </p:cNvSpPr>
          <p:nvPr/>
        </p:nvSpPr>
        <p:spPr bwMode="auto">
          <a:xfrm>
            <a:off x="3124200" y="5029200"/>
            <a:ext cx="2438400" cy="457200"/>
          </a:xfrm>
          <a:prstGeom prst="rect">
            <a:avLst/>
          </a:prstGeom>
          <a:noFill/>
          <a:ln w="9525">
            <a:noFill/>
            <a:miter lim="800000"/>
            <a:headEnd/>
            <a:tailEnd/>
          </a:ln>
        </p:spPr>
        <p:txBody>
          <a:bodyPr>
            <a:spAutoFit/>
          </a:bodyPr>
          <a:lstStyle/>
          <a:p>
            <a:pPr>
              <a:spcBef>
                <a:spcPct val="50000"/>
              </a:spcBef>
            </a:pPr>
            <a:r>
              <a:rPr lang="en-US" i="1" dirty="0"/>
              <a:t>SHM_RND</a:t>
            </a:r>
          </a:p>
        </p:txBody>
      </p:sp>
      <p:sp>
        <p:nvSpPr>
          <p:cNvPr id="215048" name="Rectangle 11"/>
          <p:cNvSpPr>
            <a:spLocks noChangeArrowheads="1"/>
          </p:cNvSpPr>
          <p:nvPr/>
        </p:nvSpPr>
        <p:spPr bwMode="auto">
          <a:xfrm>
            <a:off x="3048000" y="5715000"/>
            <a:ext cx="2133600" cy="457200"/>
          </a:xfrm>
          <a:prstGeom prst="rect">
            <a:avLst/>
          </a:prstGeom>
          <a:noFill/>
          <a:ln w="9525">
            <a:noFill/>
            <a:miter lim="800000"/>
            <a:headEnd/>
            <a:tailEnd/>
          </a:ln>
        </p:spPr>
        <p:txBody>
          <a:bodyPr wrap="none">
            <a:spAutoFit/>
          </a:bodyPr>
          <a:lstStyle/>
          <a:p>
            <a:r>
              <a:rPr lang="en-US" i="1" dirty="0"/>
              <a:t>SHM_RDONLY</a:t>
            </a:r>
          </a:p>
        </p:txBody>
      </p:sp>
      <p:sp>
        <p:nvSpPr>
          <p:cNvPr id="13" name="Rectangle 12"/>
          <p:cNvSpPr/>
          <p:nvPr/>
        </p:nvSpPr>
        <p:spPr>
          <a:xfrm>
            <a:off x="381000" y="228600"/>
            <a:ext cx="7543800" cy="584775"/>
          </a:xfrm>
          <a:prstGeom prst="rect">
            <a:avLst/>
          </a:prstGeom>
        </p:spPr>
        <p:txBody>
          <a:bodyPr wrap="square">
            <a:spAutoFit/>
          </a:bodyPr>
          <a:lstStyle/>
          <a:p>
            <a:r>
              <a:rPr lang="en-US" sz="3200" b="1" dirty="0"/>
              <a:t>Shared Memory : </a:t>
            </a:r>
            <a:r>
              <a:rPr lang="en-US" sz="3200" b="1" dirty="0" err="1"/>
              <a:t>shmat</a:t>
            </a:r>
            <a:r>
              <a:rPr lang="en-US" sz="3200" b="1" dirty="0"/>
              <a: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ChangeArrowheads="1"/>
          </p:cNvSpPr>
          <p:nvPr/>
        </p:nvSpPr>
        <p:spPr bwMode="auto">
          <a:xfrm>
            <a:off x="198438" y="1104900"/>
            <a:ext cx="6737350" cy="1801813"/>
          </a:xfrm>
          <a:prstGeom prst="rect">
            <a:avLst/>
          </a:prstGeom>
          <a:noFill/>
          <a:ln w="9525">
            <a:noFill/>
            <a:miter lim="800000"/>
            <a:headEnd/>
            <a:tailEnd/>
          </a:ln>
        </p:spPr>
        <p:txBody>
          <a:bodyPr wrap="none">
            <a:spAutoFit/>
          </a:bodyPr>
          <a:lstStyle/>
          <a:p>
            <a:pPr>
              <a:spcBef>
                <a:spcPct val="50000"/>
              </a:spcBef>
              <a:buFont typeface="Wingdings" pitchFamily="2" charset="2"/>
              <a:buChar char="Ø"/>
            </a:pPr>
            <a:r>
              <a:rPr lang="en-US" sz="2800">
                <a:solidFill>
                  <a:srgbClr val="D60093"/>
                </a:solidFill>
              </a:rPr>
              <a:t>int  shmctl( int shmid,      </a:t>
            </a:r>
            <a:r>
              <a:rPr lang="en-US" sz="2800" i="1">
                <a:solidFill>
                  <a:srgbClr val="336600"/>
                </a:solidFill>
              </a:rPr>
              <a:t>/*</a:t>
            </a:r>
            <a:r>
              <a:rPr lang="en-US" i="1">
                <a:solidFill>
                  <a:srgbClr val="336600"/>
                </a:solidFill>
              </a:rPr>
              <a:t>Control function */</a:t>
            </a:r>
            <a:endParaRPr lang="en-US" sz="2800" i="1">
              <a:solidFill>
                <a:srgbClr val="336600"/>
              </a:solidFill>
            </a:endParaRPr>
          </a:p>
          <a:p>
            <a:pPr>
              <a:spcBef>
                <a:spcPct val="50000"/>
              </a:spcBef>
              <a:buFont typeface="Wingdings" pitchFamily="2" charset="2"/>
              <a:buNone/>
            </a:pPr>
            <a:r>
              <a:rPr lang="en-US" sz="2800">
                <a:solidFill>
                  <a:srgbClr val="D60093"/>
                </a:solidFill>
              </a:rPr>
              <a:t>                      int cmd, </a:t>
            </a:r>
          </a:p>
          <a:p>
            <a:pPr>
              <a:spcBef>
                <a:spcPct val="50000"/>
              </a:spcBef>
              <a:buFont typeface="Wingdings" pitchFamily="2" charset="2"/>
              <a:buNone/>
            </a:pPr>
            <a:r>
              <a:rPr lang="en-US" sz="2800">
                <a:solidFill>
                  <a:srgbClr val="D60093"/>
                </a:solidFill>
              </a:rPr>
              <a:t>                      struct shmid_ds  *buf );</a:t>
            </a:r>
          </a:p>
        </p:txBody>
      </p:sp>
      <p:sp>
        <p:nvSpPr>
          <p:cNvPr id="216067" name="Rectangle 3"/>
          <p:cNvSpPr>
            <a:spLocks noChangeArrowheads="1"/>
          </p:cNvSpPr>
          <p:nvPr/>
        </p:nvSpPr>
        <p:spPr bwMode="auto">
          <a:xfrm>
            <a:off x="409575" y="5805488"/>
            <a:ext cx="5480050" cy="519112"/>
          </a:xfrm>
          <a:prstGeom prst="rect">
            <a:avLst/>
          </a:prstGeom>
          <a:noFill/>
          <a:ln w="9525">
            <a:noFill/>
            <a:miter lim="800000"/>
            <a:headEnd/>
            <a:tailEnd/>
          </a:ln>
        </p:spPr>
        <p:txBody>
          <a:bodyPr wrap="none">
            <a:spAutoFit/>
          </a:bodyPr>
          <a:lstStyle/>
          <a:p>
            <a:r>
              <a:rPr lang="en-US" sz="2800">
                <a:solidFill>
                  <a:srgbClr val="CC3300"/>
                </a:solidFill>
              </a:rPr>
              <a:t>  </a:t>
            </a:r>
            <a:r>
              <a:rPr lang="en-US" sz="2800">
                <a:solidFill>
                  <a:srgbClr val="D60093"/>
                </a:solidFill>
              </a:rPr>
              <a:t>buf </a:t>
            </a:r>
            <a:r>
              <a:rPr lang="en-US" sz="2800"/>
              <a:t> -----------   </a:t>
            </a:r>
            <a:r>
              <a:rPr lang="en-US"/>
              <a:t>Modes</a:t>
            </a:r>
            <a:r>
              <a:rPr lang="en-US" sz="2800"/>
              <a:t> </a:t>
            </a:r>
            <a:r>
              <a:rPr lang="en-US"/>
              <a:t>and other fields </a:t>
            </a:r>
            <a:endParaRPr lang="en-US" sz="2800"/>
          </a:p>
        </p:txBody>
      </p:sp>
      <p:sp>
        <p:nvSpPr>
          <p:cNvPr id="216068" name="Rectangle 4"/>
          <p:cNvSpPr>
            <a:spLocks noChangeArrowheads="1"/>
          </p:cNvSpPr>
          <p:nvPr/>
        </p:nvSpPr>
        <p:spPr bwMode="auto">
          <a:xfrm>
            <a:off x="566738" y="3390900"/>
            <a:ext cx="7467600" cy="519113"/>
          </a:xfrm>
          <a:prstGeom prst="rect">
            <a:avLst/>
          </a:prstGeom>
          <a:noFill/>
          <a:ln w="9525">
            <a:noFill/>
            <a:miter lim="800000"/>
            <a:headEnd/>
            <a:tailEnd/>
          </a:ln>
        </p:spPr>
        <p:txBody>
          <a:bodyPr>
            <a:spAutoFit/>
          </a:bodyPr>
          <a:lstStyle/>
          <a:p>
            <a:r>
              <a:rPr lang="en-US" sz="2800" dirty="0" err="1">
                <a:solidFill>
                  <a:srgbClr val="D60093"/>
                </a:solidFill>
              </a:rPr>
              <a:t>shmid</a:t>
            </a:r>
            <a:r>
              <a:rPr lang="en-US" sz="2800" dirty="0"/>
              <a:t>   ------     </a:t>
            </a:r>
            <a:r>
              <a:rPr lang="en-US" dirty="0"/>
              <a:t>shared memory id return by </a:t>
            </a:r>
            <a:r>
              <a:rPr lang="en-US" dirty="0" err="1"/>
              <a:t>shmget</a:t>
            </a:r>
            <a:r>
              <a:rPr lang="en-US" dirty="0"/>
              <a:t>()</a:t>
            </a:r>
            <a:r>
              <a:rPr lang="en-US" sz="2800" dirty="0"/>
              <a:t>                         </a:t>
            </a:r>
          </a:p>
        </p:txBody>
      </p:sp>
      <p:grpSp>
        <p:nvGrpSpPr>
          <p:cNvPr id="216069" name="Group 5"/>
          <p:cNvGrpSpPr>
            <a:grpSpLocks/>
          </p:cNvGrpSpPr>
          <p:nvPr/>
        </p:nvGrpSpPr>
        <p:grpSpPr bwMode="auto">
          <a:xfrm>
            <a:off x="604838" y="4167188"/>
            <a:ext cx="3962400" cy="1585912"/>
            <a:chOff x="381" y="2457"/>
            <a:chExt cx="2496" cy="999"/>
          </a:xfrm>
        </p:grpSpPr>
        <p:sp>
          <p:nvSpPr>
            <p:cNvPr id="216071" name="Rectangle 6"/>
            <p:cNvSpPr>
              <a:spLocks noChangeArrowheads="1"/>
            </p:cNvSpPr>
            <p:nvPr/>
          </p:nvSpPr>
          <p:spPr bwMode="auto">
            <a:xfrm>
              <a:off x="381" y="2457"/>
              <a:ext cx="528" cy="327"/>
            </a:xfrm>
            <a:prstGeom prst="rect">
              <a:avLst/>
            </a:prstGeom>
            <a:noFill/>
            <a:ln w="9525">
              <a:noFill/>
              <a:miter lim="800000"/>
              <a:headEnd/>
              <a:tailEnd/>
            </a:ln>
          </p:spPr>
          <p:txBody>
            <a:bodyPr wrap="square">
              <a:spAutoFit/>
            </a:bodyPr>
            <a:lstStyle/>
            <a:p>
              <a:r>
                <a:rPr lang="en-US" sz="2800" dirty="0" err="1">
                  <a:solidFill>
                    <a:srgbClr val="D60093"/>
                  </a:solidFill>
                </a:rPr>
                <a:t>cmd</a:t>
              </a:r>
              <a:endParaRPr lang="en-US" sz="2800" dirty="0">
                <a:solidFill>
                  <a:srgbClr val="D60093"/>
                </a:solidFill>
              </a:endParaRPr>
            </a:p>
          </p:txBody>
        </p:sp>
        <p:grpSp>
          <p:nvGrpSpPr>
            <p:cNvPr id="216072" name="Group 7"/>
            <p:cNvGrpSpPr>
              <a:grpSpLocks/>
            </p:cNvGrpSpPr>
            <p:nvPr/>
          </p:nvGrpSpPr>
          <p:grpSpPr bwMode="auto">
            <a:xfrm>
              <a:off x="909" y="2640"/>
              <a:ext cx="816" cy="672"/>
              <a:chOff x="864" y="1872"/>
              <a:chExt cx="816" cy="672"/>
            </a:xfrm>
          </p:grpSpPr>
          <p:sp>
            <p:nvSpPr>
              <p:cNvPr id="216076" name="Line 8"/>
              <p:cNvSpPr>
                <a:spLocks noChangeShapeType="1"/>
              </p:cNvSpPr>
              <p:nvPr/>
            </p:nvSpPr>
            <p:spPr bwMode="auto">
              <a:xfrm>
                <a:off x="864" y="1872"/>
                <a:ext cx="816" cy="0"/>
              </a:xfrm>
              <a:prstGeom prst="line">
                <a:avLst/>
              </a:prstGeom>
              <a:noFill/>
              <a:ln w="9525">
                <a:solidFill>
                  <a:schemeClr val="tx1"/>
                </a:solidFill>
                <a:round/>
                <a:headEnd/>
                <a:tailEnd/>
              </a:ln>
            </p:spPr>
            <p:txBody>
              <a:bodyPr/>
              <a:lstStyle/>
              <a:p>
                <a:endParaRPr lang="en-US"/>
              </a:p>
            </p:txBody>
          </p:sp>
          <p:sp>
            <p:nvSpPr>
              <p:cNvPr id="216077" name="Line 9"/>
              <p:cNvSpPr>
                <a:spLocks noChangeShapeType="1"/>
              </p:cNvSpPr>
              <p:nvPr/>
            </p:nvSpPr>
            <p:spPr bwMode="auto">
              <a:xfrm>
                <a:off x="1104" y="2208"/>
                <a:ext cx="528" cy="0"/>
              </a:xfrm>
              <a:prstGeom prst="line">
                <a:avLst/>
              </a:prstGeom>
              <a:noFill/>
              <a:ln w="9525">
                <a:solidFill>
                  <a:schemeClr val="tx1"/>
                </a:solidFill>
                <a:round/>
                <a:headEnd/>
                <a:tailEnd/>
              </a:ln>
            </p:spPr>
            <p:txBody>
              <a:bodyPr/>
              <a:lstStyle/>
              <a:p>
                <a:endParaRPr lang="en-US"/>
              </a:p>
            </p:txBody>
          </p:sp>
          <p:sp>
            <p:nvSpPr>
              <p:cNvPr id="216078" name="Line 10"/>
              <p:cNvSpPr>
                <a:spLocks noChangeShapeType="1"/>
              </p:cNvSpPr>
              <p:nvPr/>
            </p:nvSpPr>
            <p:spPr bwMode="auto">
              <a:xfrm>
                <a:off x="1104" y="1872"/>
                <a:ext cx="0" cy="672"/>
              </a:xfrm>
              <a:prstGeom prst="line">
                <a:avLst/>
              </a:prstGeom>
              <a:noFill/>
              <a:ln w="9525">
                <a:solidFill>
                  <a:schemeClr val="tx1"/>
                </a:solidFill>
                <a:round/>
                <a:headEnd/>
                <a:tailEnd/>
              </a:ln>
            </p:spPr>
            <p:txBody>
              <a:bodyPr/>
              <a:lstStyle/>
              <a:p>
                <a:endParaRPr lang="en-US"/>
              </a:p>
            </p:txBody>
          </p:sp>
          <p:sp>
            <p:nvSpPr>
              <p:cNvPr id="216079" name="Line 11"/>
              <p:cNvSpPr>
                <a:spLocks noChangeShapeType="1"/>
              </p:cNvSpPr>
              <p:nvPr/>
            </p:nvSpPr>
            <p:spPr bwMode="auto">
              <a:xfrm>
                <a:off x="1104" y="2544"/>
                <a:ext cx="528" cy="0"/>
              </a:xfrm>
              <a:prstGeom prst="line">
                <a:avLst/>
              </a:prstGeom>
              <a:noFill/>
              <a:ln w="9525">
                <a:solidFill>
                  <a:schemeClr val="tx1"/>
                </a:solidFill>
                <a:round/>
                <a:headEnd/>
                <a:tailEnd/>
              </a:ln>
            </p:spPr>
            <p:txBody>
              <a:bodyPr/>
              <a:lstStyle/>
              <a:p>
                <a:endParaRPr lang="en-US"/>
              </a:p>
            </p:txBody>
          </p:sp>
        </p:grpSp>
        <p:sp>
          <p:nvSpPr>
            <p:cNvPr id="216073" name="Text Box 12"/>
            <p:cNvSpPr txBox="1">
              <a:spLocks noChangeArrowheads="1"/>
            </p:cNvSpPr>
            <p:nvPr/>
          </p:nvSpPr>
          <p:spPr bwMode="auto">
            <a:xfrm>
              <a:off x="1869" y="2496"/>
              <a:ext cx="1008" cy="288"/>
            </a:xfrm>
            <a:prstGeom prst="rect">
              <a:avLst/>
            </a:prstGeom>
            <a:noFill/>
            <a:ln w="9525">
              <a:noFill/>
              <a:miter lim="800000"/>
              <a:headEnd/>
              <a:tailEnd/>
            </a:ln>
          </p:spPr>
          <p:txBody>
            <a:bodyPr>
              <a:spAutoFit/>
            </a:bodyPr>
            <a:lstStyle/>
            <a:p>
              <a:pPr>
                <a:spcBef>
                  <a:spcPct val="50000"/>
                </a:spcBef>
              </a:pPr>
              <a:r>
                <a:rPr lang="en-US" i="1"/>
                <a:t>IPC_STAT </a:t>
              </a:r>
            </a:p>
          </p:txBody>
        </p:sp>
        <p:sp>
          <p:nvSpPr>
            <p:cNvPr id="216074" name="Text Box 13"/>
            <p:cNvSpPr txBox="1">
              <a:spLocks noChangeArrowheads="1"/>
            </p:cNvSpPr>
            <p:nvPr/>
          </p:nvSpPr>
          <p:spPr bwMode="auto">
            <a:xfrm>
              <a:off x="1821" y="2832"/>
              <a:ext cx="1008" cy="288"/>
            </a:xfrm>
            <a:prstGeom prst="rect">
              <a:avLst/>
            </a:prstGeom>
            <a:noFill/>
            <a:ln w="9525">
              <a:noFill/>
              <a:miter lim="800000"/>
              <a:headEnd/>
              <a:tailEnd/>
            </a:ln>
          </p:spPr>
          <p:txBody>
            <a:bodyPr>
              <a:spAutoFit/>
            </a:bodyPr>
            <a:lstStyle/>
            <a:p>
              <a:pPr>
                <a:spcBef>
                  <a:spcPct val="50000"/>
                </a:spcBef>
              </a:pPr>
              <a:r>
                <a:rPr lang="en-US" i="1"/>
                <a:t>IPC_SET  </a:t>
              </a:r>
            </a:p>
          </p:txBody>
        </p:sp>
        <p:sp>
          <p:nvSpPr>
            <p:cNvPr id="216075" name="Text Box 14"/>
            <p:cNvSpPr txBox="1">
              <a:spLocks noChangeArrowheads="1"/>
            </p:cNvSpPr>
            <p:nvPr/>
          </p:nvSpPr>
          <p:spPr bwMode="auto">
            <a:xfrm>
              <a:off x="1773" y="3168"/>
              <a:ext cx="1008" cy="288"/>
            </a:xfrm>
            <a:prstGeom prst="rect">
              <a:avLst/>
            </a:prstGeom>
            <a:noFill/>
            <a:ln w="9525">
              <a:noFill/>
              <a:miter lim="800000"/>
              <a:headEnd/>
              <a:tailEnd/>
            </a:ln>
          </p:spPr>
          <p:txBody>
            <a:bodyPr>
              <a:spAutoFit/>
            </a:bodyPr>
            <a:lstStyle/>
            <a:p>
              <a:pPr>
                <a:spcBef>
                  <a:spcPct val="50000"/>
                </a:spcBef>
              </a:pPr>
              <a:r>
                <a:rPr lang="en-US" i="1"/>
                <a:t>IPC_RMID  </a:t>
              </a:r>
            </a:p>
          </p:txBody>
        </p:sp>
      </p:grpSp>
      <p:sp>
        <p:nvSpPr>
          <p:cNvPr id="16" name="Rectangle 15"/>
          <p:cNvSpPr/>
          <p:nvPr/>
        </p:nvSpPr>
        <p:spPr>
          <a:xfrm>
            <a:off x="381000" y="228600"/>
            <a:ext cx="7543800" cy="584775"/>
          </a:xfrm>
          <a:prstGeom prst="rect">
            <a:avLst/>
          </a:prstGeom>
        </p:spPr>
        <p:txBody>
          <a:bodyPr wrap="square">
            <a:spAutoFit/>
          </a:bodyPr>
          <a:lstStyle/>
          <a:p>
            <a:r>
              <a:rPr lang="en-US" sz="3200" b="1" dirty="0"/>
              <a:t>Shared Memory : </a:t>
            </a:r>
            <a:r>
              <a:rPr lang="en-US" sz="3200" b="1" dirty="0" err="1"/>
              <a:t>shmctl</a:t>
            </a:r>
            <a:r>
              <a:rPr lang="en-US" sz="3200" b="1" dirty="0"/>
              <a:t>                 </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1" name="Text Box 3"/>
          <p:cNvSpPr txBox="1">
            <a:spLocks noChangeArrowheads="1"/>
          </p:cNvSpPr>
          <p:nvPr/>
        </p:nvSpPr>
        <p:spPr bwMode="auto">
          <a:xfrm>
            <a:off x="304800" y="4370388"/>
            <a:ext cx="7620000" cy="523220"/>
          </a:xfrm>
          <a:prstGeom prst="rect">
            <a:avLst/>
          </a:prstGeom>
          <a:noFill/>
          <a:ln w="15875">
            <a:noFill/>
            <a:miter lim="800000"/>
            <a:headEnd/>
            <a:tailEnd/>
          </a:ln>
        </p:spPr>
        <p:txBody>
          <a:bodyPr>
            <a:spAutoFit/>
          </a:bodyPr>
          <a:lstStyle/>
          <a:p>
            <a:pPr>
              <a:spcBef>
                <a:spcPct val="50000"/>
              </a:spcBef>
            </a:pPr>
            <a:r>
              <a:rPr lang="en-US" sz="2800" dirty="0">
                <a:solidFill>
                  <a:srgbClr val="CC6600"/>
                </a:solidFill>
              </a:rPr>
              <a:t>  </a:t>
            </a:r>
            <a:endParaRPr lang="en-US" sz="2800" dirty="0"/>
          </a:p>
        </p:txBody>
      </p:sp>
      <p:sp>
        <p:nvSpPr>
          <p:cNvPr id="5" name="Rectangle 4"/>
          <p:cNvSpPr/>
          <p:nvPr/>
        </p:nvSpPr>
        <p:spPr>
          <a:xfrm>
            <a:off x="381000" y="228600"/>
            <a:ext cx="7543800" cy="369332"/>
          </a:xfrm>
          <a:prstGeom prst="rect">
            <a:avLst/>
          </a:prstGeom>
        </p:spPr>
        <p:txBody>
          <a:bodyPr wrap="square">
            <a:spAutoFit/>
          </a:bodyPr>
          <a:lstStyle/>
          <a:p>
            <a:r>
              <a:rPr lang="en-US" b="1" dirty="0"/>
              <a:t>Shared Memory : Members  of </a:t>
            </a:r>
            <a:r>
              <a:rPr lang="en-US" b="1" dirty="0" err="1"/>
              <a:t>buf</a:t>
            </a:r>
            <a:r>
              <a:rPr lang="en-US" b="1" dirty="0"/>
              <a:t>                  </a:t>
            </a:r>
          </a:p>
        </p:txBody>
      </p:sp>
      <p:sp>
        <p:nvSpPr>
          <p:cNvPr id="6" name="Rectangle 5"/>
          <p:cNvSpPr/>
          <p:nvPr/>
        </p:nvSpPr>
        <p:spPr>
          <a:xfrm>
            <a:off x="457200" y="962085"/>
            <a:ext cx="8077200" cy="4524315"/>
          </a:xfrm>
          <a:prstGeom prst="rect">
            <a:avLst/>
          </a:prstGeom>
        </p:spPr>
        <p:txBody>
          <a:bodyPr wrap="square">
            <a:spAutoFit/>
          </a:bodyPr>
          <a:lstStyle/>
          <a:p>
            <a:r>
              <a:rPr lang="en-US" sz="1800" dirty="0" err="1"/>
              <a:t>struct</a:t>
            </a:r>
            <a:r>
              <a:rPr lang="en-US" sz="1800" dirty="0"/>
              <a:t> </a:t>
            </a:r>
            <a:r>
              <a:rPr lang="en-US" sz="1800" dirty="0" err="1"/>
              <a:t>shmid_ds</a:t>
            </a:r>
            <a:r>
              <a:rPr lang="en-US" sz="1800" dirty="0"/>
              <a:t> {</a:t>
            </a:r>
          </a:p>
          <a:p>
            <a:r>
              <a:rPr lang="en-US" sz="1800" dirty="0"/>
              <a:t>                </a:t>
            </a:r>
            <a:r>
              <a:rPr lang="en-US" sz="1800" dirty="0" err="1"/>
              <a:t>struct</a:t>
            </a:r>
            <a:r>
              <a:rPr lang="en-US" sz="1800" dirty="0"/>
              <a:t> </a:t>
            </a:r>
            <a:r>
              <a:rPr lang="en-US" sz="1800" dirty="0" err="1"/>
              <a:t>ipc_perm</a:t>
            </a:r>
            <a:r>
              <a:rPr lang="en-US" sz="1800" dirty="0"/>
              <a:t> </a:t>
            </a:r>
            <a:r>
              <a:rPr lang="en-US" sz="1800" dirty="0" err="1"/>
              <a:t>shm_perm</a:t>
            </a:r>
            <a:r>
              <a:rPr lang="en-US" sz="1800" dirty="0"/>
              <a:t>;        /* operation perms */</a:t>
            </a:r>
          </a:p>
          <a:p>
            <a:r>
              <a:rPr lang="en-US" sz="1800" dirty="0"/>
              <a:t>                </a:t>
            </a:r>
            <a:r>
              <a:rPr lang="en-US" sz="1800" dirty="0" err="1"/>
              <a:t>int</a:t>
            </a:r>
            <a:r>
              <a:rPr lang="en-US" sz="1800" dirty="0"/>
              <a:t>     </a:t>
            </a:r>
            <a:r>
              <a:rPr lang="en-US" sz="1800" dirty="0" err="1"/>
              <a:t>shm_segsz</a:t>
            </a:r>
            <a:r>
              <a:rPr lang="en-US" sz="1800" dirty="0"/>
              <a:t>;               /* size of segment (bytes) */</a:t>
            </a:r>
          </a:p>
          <a:p>
            <a:r>
              <a:rPr lang="en-US" sz="1800" dirty="0"/>
              <a:t>                </a:t>
            </a:r>
            <a:r>
              <a:rPr lang="en-US" sz="1800" dirty="0" err="1"/>
              <a:t>time_t</a:t>
            </a:r>
            <a:r>
              <a:rPr lang="en-US" sz="1800" dirty="0"/>
              <a:t>  </a:t>
            </a:r>
            <a:r>
              <a:rPr lang="en-US" sz="1800" dirty="0" err="1"/>
              <a:t>shm_atime</a:t>
            </a:r>
            <a:r>
              <a:rPr lang="en-US" sz="1800" dirty="0"/>
              <a:t>;               /* last attach time */</a:t>
            </a:r>
          </a:p>
          <a:p>
            <a:r>
              <a:rPr lang="en-US" sz="1800" dirty="0"/>
              <a:t>                </a:t>
            </a:r>
            <a:r>
              <a:rPr lang="en-US" sz="1800" dirty="0" err="1"/>
              <a:t>time_t</a:t>
            </a:r>
            <a:r>
              <a:rPr lang="en-US" sz="1800" dirty="0"/>
              <a:t>  </a:t>
            </a:r>
            <a:r>
              <a:rPr lang="en-US" sz="1800" dirty="0" err="1"/>
              <a:t>shm_dtime</a:t>
            </a:r>
            <a:r>
              <a:rPr lang="en-US" sz="1800" dirty="0"/>
              <a:t>;               /* last detach time */</a:t>
            </a:r>
          </a:p>
          <a:p>
            <a:r>
              <a:rPr lang="en-US" sz="1800" dirty="0"/>
              <a:t>                </a:t>
            </a:r>
            <a:r>
              <a:rPr lang="en-US" sz="1800" dirty="0" err="1"/>
              <a:t>time_t</a:t>
            </a:r>
            <a:r>
              <a:rPr lang="en-US" sz="1800" dirty="0"/>
              <a:t>  </a:t>
            </a:r>
            <a:r>
              <a:rPr lang="en-US" sz="1800" dirty="0" err="1"/>
              <a:t>shm_ctime</a:t>
            </a:r>
            <a:r>
              <a:rPr lang="en-US" sz="1800" dirty="0"/>
              <a:t>;               /* last change time */</a:t>
            </a:r>
          </a:p>
          <a:p>
            <a:r>
              <a:rPr lang="en-US" sz="1800" dirty="0"/>
              <a:t>                unsigned short  </a:t>
            </a:r>
            <a:r>
              <a:rPr lang="en-US" sz="1800" dirty="0" err="1"/>
              <a:t>shm_cpid</a:t>
            </a:r>
            <a:r>
              <a:rPr lang="en-US" sz="1800" dirty="0"/>
              <a:t>;        /* </a:t>
            </a:r>
            <a:r>
              <a:rPr lang="en-US" sz="1800" dirty="0" err="1"/>
              <a:t>pid</a:t>
            </a:r>
            <a:r>
              <a:rPr lang="en-US" sz="1800" dirty="0"/>
              <a:t> of creator */</a:t>
            </a:r>
          </a:p>
          <a:p>
            <a:r>
              <a:rPr lang="en-US" sz="1800" dirty="0"/>
              <a:t>                unsigned short  </a:t>
            </a:r>
            <a:r>
              <a:rPr lang="en-US" sz="1800" dirty="0" err="1"/>
              <a:t>shm_lpid</a:t>
            </a:r>
            <a:r>
              <a:rPr lang="en-US" sz="1800" dirty="0"/>
              <a:t>;        /* </a:t>
            </a:r>
            <a:r>
              <a:rPr lang="en-US" sz="1800" dirty="0" err="1"/>
              <a:t>pid</a:t>
            </a:r>
            <a:r>
              <a:rPr lang="en-US" sz="1800" dirty="0"/>
              <a:t> of last operator */</a:t>
            </a:r>
          </a:p>
          <a:p>
            <a:r>
              <a:rPr lang="en-US" sz="1800" dirty="0"/>
              <a:t>                short   </a:t>
            </a:r>
            <a:r>
              <a:rPr lang="en-US" sz="1800" dirty="0" err="1"/>
              <a:t>shm_nattch</a:t>
            </a:r>
            <a:r>
              <a:rPr lang="en-US" sz="1800" dirty="0"/>
              <a:t>;              /* no. of current attaches */</a:t>
            </a:r>
          </a:p>
          <a:p>
            <a:r>
              <a:rPr lang="en-US" sz="1800" dirty="0"/>
              <a:t> </a:t>
            </a:r>
          </a:p>
          <a:p>
            <a:r>
              <a:rPr lang="en-US" sz="1800" dirty="0"/>
              <a:t>                                                 /* the following are private */</a:t>
            </a:r>
          </a:p>
          <a:p>
            <a:r>
              <a:rPr lang="en-US" sz="1800" dirty="0"/>
              <a:t> </a:t>
            </a:r>
          </a:p>
          <a:p>
            <a:r>
              <a:rPr lang="en-US" sz="1800" dirty="0"/>
              <a:t>                unsigned short   </a:t>
            </a:r>
            <a:r>
              <a:rPr lang="en-US" sz="1800" dirty="0" err="1"/>
              <a:t>shm_npages</a:t>
            </a:r>
            <a:r>
              <a:rPr lang="en-US" sz="1800" dirty="0"/>
              <a:t>;     /* size of segment (pages) */</a:t>
            </a:r>
          </a:p>
          <a:p>
            <a:r>
              <a:rPr lang="en-US" sz="1800" dirty="0"/>
              <a:t>                unsigned long   *</a:t>
            </a:r>
            <a:r>
              <a:rPr lang="en-US" sz="1800" dirty="0" err="1"/>
              <a:t>shm_pages</a:t>
            </a:r>
            <a:r>
              <a:rPr lang="en-US" sz="1800" dirty="0"/>
              <a:t>;      /* array of </a:t>
            </a:r>
            <a:r>
              <a:rPr lang="en-US" sz="1800" dirty="0" err="1"/>
              <a:t>ptrs</a:t>
            </a:r>
            <a:r>
              <a:rPr lang="en-US" sz="1800" dirty="0"/>
              <a:t> to frames -&gt; SHMMAX */ </a:t>
            </a:r>
          </a:p>
          <a:p>
            <a:r>
              <a:rPr lang="en-US" sz="1800" dirty="0"/>
              <a:t>                </a:t>
            </a:r>
            <a:r>
              <a:rPr lang="en-US" sz="1800" dirty="0" err="1"/>
              <a:t>struct</a:t>
            </a:r>
            <a:r>
              <a:rPr lang="en-US" sz="1800" dirty="0"/>
              <a:t> </a:t>
            </a:r>
            <a:r>
              <a:rPr lang="en-US" sz="1800" dirty="0" err="1"/>
              <a:t>vm_area_struct</a:t>
            </a:r>
            <a:r>
              <a:rPr lang="en-US" sz="1800" dirty="0"/>
              <a:t> *attaches; /* descriptors for attaches */</a:t>
            </a:r>
          </a:p>
          <a:p>
            <a:r>
              <a:rPr lang="en-US" sz="1800" dirty="0"/>
              <a:t>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ChangeArrowheads="1"/>
          </p:cNvSpPr>
          <p:nvPr/>
        </p:nvSpPr>
        <p:spPr bwMode="auto">
          <a:xfrm>
            <a:off x="152400" y="1143000"/>
            <a:ext cx="8991600" cy="1569660"/>
          </a:xfrm>
          <a:prstGeom prst="rect">
            <a:avLst/>
          </a:prstGeom>
          <a:noFill/>
          <a:ln w="9525">
            <a:noFill/>
            <a:miter lim="800000"/>
            <a:headEnd/>
            <a:tailEnd/>
          </a:ln>
        </p:spPr>
        <p:txBody>
          <a:bodyPr wrap="square">
            <a:spAutoFit/>
          </a:bodyPr>
          <a:lstStyle/>
          <a:p>
            <a:r>
              <a:rPr lang="en-US" sz="2400" dirty="0">
                <a:solidFill>
                  <a:srgbClr val="D60093"/>
                </a:solidFill>
              </a:rPr>
              <a:t> int </a:t>
            </a:r>
            <a:r>
              <a:rPr lang="en-US" sz="2400" dirty="0" err="1">
                <a:solidFill>
                  <a:srgbClr val="D60093"/>
                </a:solidFill>
              </a:rPr>
              <a:t>shmdt</a:t>
            </a:r>
            <a:r>
              <a:rPr lang="en-US" sz="2400" dirty="0">
                <a:solidFill>
                  <a:srgbClr val="D60093"/>
                </a:solidFill>
              </a:rPr>
              <a:t>( const void *</a:t>
            </a:r>
            <a:r>
              <a:rPr lang="en-US" sz="2400" dirty="0" err="1">
                <a:solidFill>
                  <a:srgbClr val="D60093"/>
                </a:solidFill>
              </a:rPr>
              <a:t>shmaddr</a:t>
            </a:r>
            <a:r>
              <a:rPr lang="en-US" sz="2400" dirty="0">
                <a:solidFill>
                  <a:srgbClr val="D60093"/>
                </a:solidFill>
              </a:rPr>
              <a:t> ) </a:t>
            </a:r>
            <a:r>
              <a:rPr lang="en-US" sz="2400" i="1" dirty="0">
                <a:solidFill>
                  <a:srgbClr val="336600"/>
                </a:solidFill>
              </a:rPr>
              <a:t>/*Detaching shared memory*/</a:t>
            </a:r>
          </a:p>
          <a:p>
            <a:endParaRPr lang="en-US" sz="2400" b="1" dirty="0"/>
          </a:p>
          <a:p>
            <a:r>
              <a:rPr lang="en-US" sz="2400" b="1" dirty="0" err="1"/>
              <a:t>shmdt</a:t>
            </a:r>
            <a:r>
              <a:rPr lang="en-US" sz="2400" dirty="0"/>
              <a:t>() detaches the shared memory segment located at the address specified by </a:t>
            </a:r>
            <a:r>
              <a:rPr lang="en-US" sz="2400" i="1" dirty="0" err="1"/>
              <a:t>shmaddr</a:t>
            </a:r>
            <a:r>
              <a:rPr lang="en-US" sz="2400" dirty="0"/>
              <a:t> from the address space of the calling process</a:t>
            </a:r>
          </a:p>
        </p:txBody>
      </p:sp>
      <p:sp>
        <p:nvSpPr>
          <p:cNvPr id="5" name="Rectangle 4"/>
          <p:cNvSpPr/>
          <p:nvPr/>
        </p:nvSpPr>
        <p:spPr>
          <a:xfrm>
            <a:off x="381000" y="228600"/>
            <a:ext cx="7543800" cy="584775"/>
          </a:xfrm>
          <a:prstGeom prst="rect">
            <a:avLst/>
          </a:prstGeom>
        </p:spPr>
        <p:txBody>
          <a:bodyPr wrap="square">
            <a:spAutoFit/>
          </a:bodyPr>
          <a:lstStyle/>
          <a:p>
            <a:r>
              <a:rPr lang="en-US" sz="3200" b="1" dirty="0"/>
              <a:t>Shared Memory : </a:t>
            </a:r>
            <a:r>
              <a:rPr lang="en-US" sz="3200" b="1" dirty="0" err="1"/>
              <a:t>shmdt</a:t>
            </a:r>
            <a:r>
              <a:rPr lang="en-US" sz="3200" b="1" dirty="0"/>
              <a:t>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Text Box 3"/>
          <p:cNvSpPr txBox="1">
            <a:spLocks noChangeArrowheads="1"/>
          </p:cNvSpPr>
          <p:nvPr/>
        </p:nvSpPr>
        <p:spPr bwMode="auto">
          <a:xfrm>
            <a:off x="457200" y="672783"/>
            <a:ext cx="8001000" cy="6001643"/>
          </a:xfrm>
          <a:prstGeom prst="rect">
            <a:avLst/>
          </a:prstGeom>
          <a:noFill/>
          <a:ln w="9525">
            <a:noFill/>
            <a:miter lim="800000"/>
            <a:headEnd/>
            <a:tailEnd/>
          </a:ln>
        </p:spPr>
        <p:txBody>
          <a:bodyPr wrap="square">
            <a:spAutoFit/>
          </a:bodyPr>
          <a:lstStyle/>
          <a:p>
            <a:r>
              <a:rPr lang="en-US" sz="1600" i="1" dirty="0"/>
              <a:t>/*Data */</a:t>
            </a:r>
          </a:p>
          <a:p>
            <a:r>
              <a:rPr lang="en-US" sz="1600" dirty="0"/>
              <a:t>struct data {</a:t>
            </a:r>
          </a:p>
          <a:p>
            <a:r>
              <a:rPr lang="en-US" sz="1600" dirty="0"/>
              <a:t>     		char record[20];</a:t>
            </a:r>
          </a:p>
          <a:p>
            <a:r>
              <a:rPr lang="en-US" sz="1600" dirty="0"/>
              <a:t>	      } *</a:t>
            </a:r>
            <a:r>
              <a:rPr lang="en-US" sz="1600" dirty="0" err="1"/>
              <a:t>shm_snd</a:t>
            </a:r>
            <a:r>
              <a:rPr lang="en-US" sz="1600" dirty="0"/>
              <a:t>,*</a:t>
            </a:r>
            <a:r>
              <a:rPr lang="en-US" sz="1600" dirty="0" err="1"/>
              <a:t>shm_rcv</a:t>
            </a:r>
            <a:r>
              <a:rPr lang="en-US" sz="1600" dirty="0"/>
              <a:t> ;</a:t>
            </a:r>
          </a:p>
          <a:p>
            <a:r>
              <a:rPr lang="en-US" sz="1600" i="1" dirty="0"/>
              <a:t>/*Creating  Shared Memory */</a:t>
            </a:r>
          </a:p>
          <a:p>
            <a:r>
              <a:rPr lang="en-US" sz="1600" dirty="0"/>
              <a:t>#include&lt;sys/shm.h&gt;</a:t>
            </a:r>
          </a:p>
          <a:p>
            <a:r>
              <a:rPr lang="en-US" sz="1600" dirty="0"/>
              <a:t> int </a:t>
            </a:r>
            <a:r>
              <a:rPr lang="en-US" sz="1600" dirty="0" err="1"/>
              <a:t>shmid</a:t>
            </a:r>
            <a:r>
              <a:rPr lang="en-US" sz="1600" dirty="0"/>
              <a:t>;</a:t>
            </a:r>
          </a:p>
          <a:p>
            <a:r>
              <a:rPr lang="en-US" sz="1600" dirty="0"/>
              <a:t>  if ((</a:t>
            </a:r>
            <a:r>
              <a:rPr lang="en-US" sz="1600" dirty="0" err="1"/>
              <a:t>shmid</a:t>
            </a:r>
            <a:r>
              <a:rPr lang="en-US" sz="1600" dirty="0"/>
              <a:t>=</a:t>
            </a:r>
            <a:r>
              <a:rPr lang="en-US" sz="1600" dirty="0" err="1"/>
              <a:t>shmget</a:t>
            </a:r>
            <a:r>
              <a:rPr lang="en-US" sz="1600" dirty="0"/>
              <a:t> (10, </a:t>
            </a:r>
            <a:r>
              <a:rPr lang="en-US" sz="1600" dirty="0" err="1"/>
              <a:t>sizeof</a:t>
            </a:r>
            <a:r>
              <a:rPr lang="en-US" sz="1600" dirty="0"/>
              <a:t>(struct data), IPC_CREAT|0666))= = -1)</a:t>
            </a:r>
          </a:p>
          <a:p>
            <a:r>
              <a:rPr lang="en-US" sz="1600" dirty="0"/>
              <a:t>  { </a:t>
            </a:r>
          </a:p>
          <a:p>
            <a:r>
              <a:rPr lang="en-US" sz="1600" dirty="0"/>
              <a:t>	</a:t>
            </a:r>
            <a:r>
              <a:rPr lang="en-US" sz="1600" dirty="0" err="1"/>
              <a:t>perror</a:t>
            </a:r>
            <a:r>
              <a:rPr lang="en-US" sz="1600" dirty="0"/>
              <a:t> (“error”);</a:t>
            </a:r>
          </a:p>
          <a:p>
            <a:r>
              <a:rPr lang="en-US" sz="1600" dirty="0"/>
              <a:t>	exit(0);</a:t>
            </a:r>
          </a:p>
          <a:p>
            <a:r>
              <a:rPr lang="en-US" sz="1600" dirty="0"/>
              <a:t>  } </a:t>
            </a:r>
          </a:p>
          <a:p>
            <a:pPr>
              <a:spcBef>
                <a:spcPct val="50000"/>
              </a:spcBef>
            </a:pPr>
            <a:r>
              <a:rPr lang="en-US" sz="1600" i="1" dirty="0"/>
              <a:t>/* Attaching   Shared Memory */</a:t>
            </a:r>
          </a:p>
          <a:p>
            <a:pPr>
              <a:spcBef>
                <a:spcPct val="50000"/>
              </a:spcBef>
            </a:pPr>
            <a:r>
              <a:rPr lang="en-US" sz="1600" dirty="0"/>
              <a:t>       </a:t>
            </a:r>
            <a:r>
              <a:rPr lang="en-US" sz="1600" dirty="0" err="1"/>
              <a:t>shm_snd</a:t>
            </a:r>
            <a:r>
              <a:rPr lang="en-US" sz="1600" dirty="0"/>
              <a:t>= (struct data *) </a:t>
            </a:r>
            <a:r>
              <a:rPr lang="en-US" sz="1600" dirty="0" err="1"/>
              <a:t>shmat</a:t>
            </a:r>
            <a:r>
              <a:rPr lang="en-US" sz="1600" dirty="0"/>
              <a:t>(</a:t>
            </a:r>
            <a:r>
              <a:rPr lang="en-US" sz="1600" dirty="0" err="1"/>
              <a:t>shmid</a:t>
            </a:r>
            <a:r>
              <a:rPr lang="en-US" sz="1600" dirty="0"/>
              <a:t>, 0, 0);</a:t>
            </a:r>
          </a:p>
          <a:p>
            <a:pPr>
              <a:spcBef>
                <a:spcPct val="50000"/>
              </a:spcBef>
            </a:pPr>
            <a:r>
              <a:rPr lang="en-US" sz="1600" dirty="0"/>
              <a:t>       </a:t>
            </a:r>
            <a:r>
              <a:rPr lang="en-US" sz="1600" dirty="0" err="1"/>
              <a:t>shm_rcv</a:t>
            </a:r>
            <a:r>
              <a:rPr lang="en-US" sz="1600" dirty="0"/>
              <a:t>= (struct data *) </a:t>
            </a:r>
            <a:r>
              <a:rPr lang="en-US" sz="1600" dirty="0" err="1"/>
              <a:t>shmat</a:t>
            </a:r>
            <a:r>
              <a:rPr lang="en-US" sz="1600" dirty="0"/>
              <a:t>(</a:t>
            </a:r>
            <a:r>
              <a:rPr lang="en-US" sz="1600" dirty="0" err="1"/>
              <a:t>shmid</a:t>
            </a:r>
            <a:r>
              <a:rPr lang="en-US" sz="1600" dirty="0"/>
              <a:t>, 0, 0);</a:t>
            </a:r>
          </a:p>
          <a:p>
            <a:pPr>
              <a:spcBef>
                <a:spcPct val="50000"/>
              </a:spcBef>
            </a:pPr>
            <a:r>
              <a:rPr lang="en-US" sz="1600" i="1" dirty="0"/>
              <a:t>/* Sending and receiving data */</a:t>
            </a:r>
          </a:p>
          <a:p>
            <a:pPr>
              <a:spcBef>
                <a:spcPct val="50000"/>
              </a:spcBef>
            </a:pPr>
            <a:r>
              <a:rPr lang="en-US" sz="1600" dirty="0"/>
              <a:t>       </a:t>
            </a:r>
            <a:r>
              <a:rPr lang="en-US" sz="1600" dirty="0" err="1"/>
              <a:t>printf</a:t>
            </a:r>
            <a:r>
              <a:rPr lang="en-US" sz="1600" dirty="0"/>
              <a:t>(“ Enter data \n” );</a:t>
            </a:r>
          </a:p>
          <a:p>
            <a:pPr>
              <a:spcBef>
                <a:spcPct val="50000"/>
              </a:spcBef>
            </a:pPr>
            <a:r>
              <a:rPr lang="en-US" sz="1600" dirty="0"/>
              <a:t>       </a:t>
            </a:r>
            <a:r>
              <a:rPr lang="en-US" sz="1600" dirty="0" err="1"/>
              <a:t>scanf</a:t>
            </a:r>
            <a:r>
              <a:rPr lang="en-US" sz="1600" dirty="0"/>
              <a:t>(“ %s”,</a:t>
            </a:r>
            <a:r>
              <a:rPr lang="en-US" sz="1600" dirty="0" err="1"/>
              <a:t>shm_snd</a:t>
            </a:r>
            <a:r>
              <a:rPr lang="en-US" sz="1600" dirty="0"/>
              <a:t>-&gt;record);</a:t>
            </a:r>
          </a:p>
          <a:p>
            <a:pPr>
              <a:spcBef>
                <a:spcPct val="50000"/>
              </a:spcBef>
            </a:pPr>
            <a:r>
              <a:rPr lang="en-US" sz="1600" dirty="0"/>
              <a:t>       </a:t>
            </a:r>
            <a:r>
              <a:rPr lang="en-US" sz="1600" dirty="0" err="1"/>
              <a:t>printf</a:t>
            </a:r>
            <a:r>
              <a:rPr lang="en-US" sz="1600" dirty="0"/>
              <a:t>(“ Reading data from shared memory \n”);</a:t>
            </a:r>
          </a:p>
          <a:p>
            <a:pPr>
              <a:spcBef>
                <a:spcPct val="50000"/>
              </a:spcBef>
            </a:pPr>
            <a:r>
              <a:rPr lang="en-US" sz="1600" dirty="0"/>
              <a:t>       </a:t>
            </a:r>
            <a:r>
              <a:rPr lang="en-US" sz="1600" dirty="0" err="1"/>
              <a:t>printf</a:t>
            </a:r>
            <a:r>
              <a:rPr lang="en-US" sz="1600" dirty="0"/>
              <a:t>(“ * *  %s  * * \n”,</a:t>
            </a:r>
            <a:r>
              <a:rPr lang="en-US" sz="1600" dirty="0" err="1"/>
              <a:t>shm_rcv</a:t>
            </a:r>
            <a:r>
              <a:rPr lang="en-US" sz="1600" dirty="0"/>
              <a:t>-&gt;record);</a:t>
            </a:r>
          </a:p>
        </p:txBody>
      </p:sp>
      <p:sp>
        <p:nvSpPr>
          <p:cNvPr id="5" name="Rectangle 4"/>
          <p:cNvSpPr/>
          <p:nvPr/>
        </p:nvSpPr>
        <p:spPr>
          <a:xfrm>
            <a:off x="381000" y="76200"/>
            <a:ext cx="7543800" cy="584775"/>
          </a:xfrm>
          <a:prstGeom prst="rect">
            <a:avLst/>
          </a:prstGeom>
        </p:spPr>
        <p:txBody>
          <a:bodyPr wrap="square">
            <a:spAutoFit/>
          </a:bodyPr>
          <a:lstStyle/>
          <a:p>
            <a:r>
              <a:rPr lang="en-US" sz="3200" b="1" dirty="0"/>
              <a:t>Shared Memory : Sample  Program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a:spLocks noChangeArrowheads="1"/>
          </p:cNvSpPr>
          <p:nvPr/>
        </p:nvSpPr>
        <p:spPr bwMode="auto">
          <a:xfrm>
            <a:off x="228600" y="1190625"/>
            <a:ext cx="6172200" cy="2031325"/>
          </a:xfrm>
          <a:prstGeom prst="rect">
            <a:avLst/>
          </a:prstGeom>
          <a:noFill/>
          <a:ln w="9525">
            <a:noFill/>
            <a:miter lim="800000"/>
            <a:headEnd/>
            <a:tailEnd/>
          </a:ln>
        </p:spPr>
        <p:txBody>
          <a:bodyPr>
            <a:spAutoFit/>
          </a:bodyPr>
          <a:lstStyle/>
          <a:p>
            <a:pPr>
              <a:spcBef>
                <a:spcPct val="50000"/>
              </a:spcBef>
            </a:pPr>
            <a:r>
              <a:rPr lang="en-US" i="1" dirty="0">
                <a:solidFill>
                  <a:srgbClr val="009900"/>
                </a:solidFill>
              </a:rPr>
              <a:t>/* Detaching   Shared Memory */</a:t>
            </a:r>
          </a:p>
          <a:p>
            <a:pPr>
              <a:spcBef>
                <a:spcPct val="50000"/>
              </a:spcBef>
            </a:pPr>
            <a:r>
              <a:rPr lang="en-US" dirty="0">
                <a:solidFill>
                  <a:srgbClr val="FF33CC"/>
                </a:solidFill>
              </a:rPr>
              <a:t>     </a:t>
            </a:r>
            <a:r>
              <a:rPr lang="en-US" dirty="0" err="1">
                <a:solidFill>
                  <a:srgbClr val="FF33CC"/>
                </a:solidFill>
              </a:rPr>
              <a:t>shmdt</a:t>
            </a:r>
            <a:r>
              <a:rPr lang="en-US" dirty="0">
                <a:solidFill>
                  <a:srgbClr val="FF33CC"/>
                </a:solidFill>
              </a:rPr>
              <a:t> (</a:t>
            </a:r>
            <a:r>
              <a:rPr lang="en-US" dirty="0" err="1">
                <a:solidFill>
                  <a:srgbClr val="FF33CC"/>
                </a:solidFill>
              </a:rPr>
              <a:t>shm_snd</a:t>
            </a:r>
            <a:r>
              <a:rPr lang="en-US" dirty="0">
                <a:solidFill>
                  <a:srgbClr val="FF33CC"/>
                </a:solidFill>
              </a:rPr>
              <a:t>);</a:t>
            </a:r>
          </a:p>
          <a:p>
            <a:pPr>
              <a:spcBef>
                <a:spcPct val="50000"/>
              </a:spcBef>
            </a:pPr>
            <a:r>
              <a:rPr lang="en-US" dirty="0">
                <a:solidFill>
                  <a:srgbClr val="FF33CC"/>
                </a:solidFill>
              </a:rPr>
              <a:t>     </a:t>
            </a:r>
            <a:r>
              <a:rPr lang="en-US" dirty="0" err="1">
                <a:solidFill>
                  <a:srgbClr val="FF33CC"/>
                </a:solidFill>
              </a:rPr>
              <a:t>shmdt</a:t>
            </a:r>
            <a:r>
              <a:rPr lang="en-US" dirty="0">
                <a:solidFill>
                  <a:srgbClr val="FF33CC"/>
                </a:solidFill>
              </a:rPr>
              <a:t> (</a:t>
            </a:r>
            <a:r>
              <a:rPr lang="en-US" dirty="0" err="1">
                <a:solidFill>
                  <a:srgbClr val="FF33CC"/>
                </a:solidFill>
              </a:rPr>
              <a:t>shm_rcv</a:t>
            </a:r>
            <a:r>
              <a:rPr lang="en-US" dirty="0">
                <a:solidFill>
                  <a:srgbClr val="FF33CC"/>
                </a:solidFill>
              </a:rPr>
              <a:t>); </a:t>
            </a:r>
          </a:p>
          <a:p>
            <a:pPr>
              <a:spcBef>
                <a:spcPct val="50000"/>
              </a:spcBef>
            </a:pPr>
            <a:r>
              <a:rPr lang="en-US" i="1" dirty="0">
                <a:solidFill>
                  <a:srgbClr val="009900"/>
                </a:solidFill>
              </a:rPr>
              <a:t>/* Removing Shared Memory */</a:t>
            </a:r>
          </a:p>
          <a:p>
            <a:pPr>
              <a:spcBef>
                <a:spcPct val="50000"/>
              </a:spcBef>
            </a:pPr>
            <a:r>
              <a:rPr lang="en-US" dirty="0"/>
              <a:t>       </a:t>
            </a:r>
            <a:r>
              <a:rPr lang="en-US" dirty="0" err="1">
                <a:solidFill>
                  <a:srgbClr val="FF33CC"/>
                </a:solidFill>
              </a:rPr>
              <a:t>shmctl</a:t>
            </a:r>
            <a:r>
              <a:rPr lang="en-US" dirty="0">
                <a:solidFill>
                  <a:srgbClr val="FF33CC"/>
                </a:solidFill>
              </a:rPr>
              <a:t>(</a:t>
            </a:r>
            <a:r>
              <a:rPr lang="en-US" dirty="0" err="1">
                <a:solidFill>
                  <a:srgbClr val="FF33CC"/>
                </a:solidFill>
              </a:rPr>
              <a:t>shmid</a:t>
            </a:r>
            <a:r>
              <a:rPr lang="en-US" dirty="0">
                <a:solidFill>
                  <a:srgbClr val="FF33CC"/>
                </a:solidFill>
              </a:rPr>
              <a:t>, IPC_RMID, 0);</a:t>
            </a:r>
          </a:p>
        </p:txBody>
      </p:sp>
      <p:sp>
        <p:nvSpPr>
          <p:cNvPr id="221187" name="Text Box 3"/>
          <p:cNvSpPr txBox="1">
            <a:spLocks noChangeArrowheads="1"/>
          </p:cNvSpPr>
          <p:nvPr/>
        </p:nvSpPr>
        <p:spPr bwMode="auto">
          <a:xfrm>
            <a:off x="228600" y="3810000"/>
            <a:ext cx="4495800" cy="369332"/>
          </a:xfrm>
          <a:prstGeom prst="rect">
            <a:avLst/>
          </a:prstGeom>
          <a:noFill/>
          <a:ln w="9525">
            <a:noFill/>
            <a:miter lim="800000"/>
            <a:headEnd/>
            <a:tailEnd/>
          </a:ln>
        </p:spPr>
        <p:txBody>
          <a:bodyPr>
            <a:spAutoFit/>
          </a:bodyPr>
          <a:lstStyle/>
          <a:p>
            <a:pPr>
              <a:spcBef>
                <a:spcPct val="50000"/>
              </a:spcBef>
            </a:pPr>
            <a:endParaRPr lang="en-US" dirty="0">
              <a:solidFill>
                <a:srgbClr val="FF33CC"/>
              </a:solidFill>
            </a:endParaRPr>
          </a:p>
        </p:txBody>
      </p:sp>
      <p:sp>
        <p:nvSpPr>
          <p:cNvPr id="4" name="Rectangle 3"/>
          <p:cNvSpPr/>
          <p:nvPr/>
        </p:nvSpPr>
        <p:spPr>
          <a:xfrm>
            <a:off x="381000" y="228600"/>
            <a:ext cx="7543800" cy="584775"/>
          </a:xfrm>
          <a:prstGeom prst="rect">
            <a:avLst/>
          </a:prstGeom>
        </p:spPr>
        <p:txBody>
          <a:bodyPr wrap="square">
            <a:spAutoFit/>
          </a:bodyPr>
          <a:lstStyle/>
          <a:p>
            <a:r>
              <a:rPr lang="en-US" sz="3200" b="1" dirty="0"/>
              <a:t>Shared Memory : Sample  Program contd..                 </a:t>
            </a:r>
          </a:p>
        </p:txBody>
      </p:sp>
      <p:sp>
        <p:nvSpPr>
          <p:cNvPr id="3" name="Rectangle 2">
            <a:extLst>
              <a:ext uri="{FF2B5EF4-FFF2-40B4-BE49-F238E27FC236}">
                <a16:creationId xmlns:a16="http://schemas.microsoft.com/office/drawing/2014/main" id="{0DA38147-3A27-9E11-CFD2-FFB9CAE9D0B0}"/>
              </a:ext>
            </a:extLst>
          </p:cNvPr>
          <p:cNvSpPr/>
          <p:nvPr/>
        </p:nvSpPr>
        <p:spPr>
          <a:xfrm>
            <a:off x="533400" y="3532435"/>
            <a:ext cx="7543800" cy="2431435"/>
          </a:xfrm>
          <a:prstGeom prst="rect">
            <a:avLst/>
          </a:prstGeom>
        </p:spPr>
        <p:txBody>
          <a:bodyPr wrap="square">
            <a:spAutoFit/>
          </a:bodyPr>
          <a:lstStyle/>
          <a:p>
            <a:r>
              <a:rPr lang="en-US" sz="3200" b="1" dirty="0"/>
              <a:t>Shared Memory : Output                 </a:t>
            </a:r>
          </a:p>
          <a:p>
            <a:pPr>
              <a:spcBef>
                <a:spcPct val="50000"/>
              </a:spcBef>
            </a:pPr>
            <a:r>
              <a:rPr lang="en-US" sz="2000" dirty="0"/>
              <a:t>Enter data</a:t>
            </a:r>
          </a:p>
          <a:p>
            <a:pPr>
              <a:spcBef>
                <a:spcPct val="50000"/>
              </a:spcBef>
            </a:pPr>
            <a:r>
              <a:rPr lang="en-US" sz="2000" dirty="0"/>
              <a:t>     Welcome to  Mirafra</a:t>
            </a:r>
          </a:p>
          <a:p>
            <a:pPr>
              <a:spcBef>
                <a:spcPct val="50000"/>
              </a:spcBef>
            </a:pPr>
            <a:r>
              <a:rPr lang="en-US" sz="2000" dirty="0"/>
              <a:t> Reading data from shared memory</a:t>
            </a:r>
          </a:p>
          <a:p>
            <a:pPr>
              <a:spcBef>
                <a:spcPct val="50000"/>
              </a:spcBef>
            </a:pPr>
            <a:r>
              <a:rPr lang="en-US" sz="2000" dirty="0"/>
              <a:t>    * * Welcome to  Mirafra * *</a:t>
            </a:r>
            <a:endParaRPr lang="en-US" sz="2000" dirty="0">
              <a:solidFill>
                <a:srgbClr val="00990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descr="70%"/>
          <p:cNvSpPr txBox="1">
            <a:spLocks noChangeArrowheads="1"/>
          </p:cNvSpPr>
          <p:nvPr/>
        </p:nvSpPr>
        <p:spPr bwMode="auto">
          <a:xfrm>
            <a:off x="457200" y="1295400"/>
            <a:ext cx="7620000" cy="2539157"/>
          </a:xfrm>
          <a:prstGeom prst="rect">
            <a:avLst/>
          </a:prstGeom>
          <a:noFill/>
          <a:ln w="9525">
            <a:noFill/>
            <a:miter lim="800000"/>
            <a:headEnd/>
            <a:tailEnd/>
          </a:ln>
        </p:spPr>
        <p:txBody>
          <a:bodyPr>
            <a:spAutoFit/>
          </a:bodyPr>
          <a:lstStyle/>
          <a:p>
            <a:pPr>
              <a:spcBef>
                <a:spcPct val="50000"/>
              </a:spcBef>
              <a:buClr>
                <a:srgbClr val="996633"/>
              </a:buClr>
            </a:pPr>
            <a:r>
              <a:rPr lang="en-US" sz="2400" b="1" dirty="0">
                <a:solidFill>
                  <a:srgbClr val="996633"/>
                </a:solidFill>
              </a:rPr>
              <a:t>Advantage and disadvantages of shared memory</a:t>
            </a:r>
          </a:p>
          <a:p>
            <a:pPr>
              <a:spcBef>
                <a:spcPct val="50000"/>
              </a:spcBef>
              <a:buClr>
                <a:srgbClr val="996633"/>
              </a:buClr>
              <a:buFont typeface="Wingdings" pitchFamily="2" charset="2"/>
              <a:buChar char="Ø"/>
            </a:pPr>
            <a:r>
              <a:rPr lang="en-US" b="1" dirty="0"/>
              <a:t> large amount of data can  share</a:t>
            </a:r>
          </a:p>
          <a:p>
            <a:pPr>
              <a:spcBef>
                <a:spcPct val="50000"/>
              </a:spcBef>
              <a:buClr>
                <a:srgbClr val="996633"/>
              </a:buClr>
              <a:buFont typeface="Wingdings" pitchFamily="2" charset="2"/>
              <a:buChar char="Ø"/>
            </a:pPr>
            <a:r>
              <a:rPr lang="en-US" b="1" dirty="0"/>
              <a:t> Data can be read many times</a:t>
            </a:r>
          </a:p>
          <a:p>
            <a:pPr>
              <a:spcBef>
                <a:spcPct val="50000"/>
              </a:spcBef>
              <a:buClr>
                <a:srgbClr val="996633"/>
              </a:buClr>
              <a:buFont typeface="Wingdings" pitchFamily="2" charset="2"/>
              <a:buChar char="Ø"/>
            </a:pPr>
            <a:r>
              <a:rPr lang="en-US" b="1" dirty="0">
                <a:solidFill>
                  <a:schemeClr val="bg2"/>
                </a:solidFill>
              </a:rPr>
              <a:t> </a:t>
            </a:r>
            <a:r>
              <a:rPr lang="en-US" dirty="0"/>
              <a:t>Multiple processes can access shared segment </a:t>
            </a:r>
          </a:p>
          <a:p>
            <a:pPr>
              <a:spcBef>
                <a:spcPct val="50000"/>
              </a:spcBef>
              <a:buClr>
                <a:srgbClr val="996633"/>
              </a:buClr>
              <a:buFont typeface="Wingdings" pitchFamily="2" charset="2"/>
              <a:buChar char="Ø"/>
            </a:pPr>
            <a:r>
              <a:rPr lang="en-US" dirty="0"/>
              <a:t> Synchronization is required for Shared memory </a:t>
            </a:r>
          </a:p>
          <a:p>
            <a:pPr>
              <a:spcBef>
                <a:spcPct val="50000"/>
              </a:spcBef>
              <a:buClr>
                <a:srgbClr val="996633"/>
              </a:buClr>
              <a:buFont typeface="Wingdings" pitchFamily="2" charset="2"/>
              <a:buChar char="Ø"/>
            </a:pPr>
            <a:r>
              <a:rPr lang="en-US" dirty="0"/>
              <a:t> Over written problem</a:t>
            </a:r>
          </a:p>
        </p:txBody>
      </p:sp>
      <p:sp>
        <p:nvSpPr>
          <p:cNvPr id="5" name="Rectangle 4"/>
          <p:cNvSpPr/>
          <p:nvPr/>
        </p:nvSpPr>
        <p:spPr>
          <a:xfrm>
            <a:off x="381000" y="228600"/>
            <a:ext cx="7543800" cy="584775"/>
          </a:xfrm>
          <a:prstGeom prst="rect">
            <a:avLst/>
          </a:prstGeom>
        </p:spPr>
        <p:txBody>
          <a:bodyPr wrap="square">
            <a:spAutoFit/>
          </a:bodyPr>
          <a:lstStyle/>
          <a:p>
            <a:r>
              <a:rPr lang="en-US" sz="3200" b="1" dirty="0"/>
              <a:t>Shared Memory : Summary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WordArt 2" descr="Paper bag"/>
          <p:cNvSpPr>
            <a:spLocks noChangeArrowheads="1" noChangeShapeType="1" noTextEdit="1"/>
          </p:cNvSpPr>
          <p:nvPr/>
        </p:nvSpPr>
        <p:spPr bwMode="auto">
          <a:xfrm>
            <a:off x="2438400" y="2971800"/>
            <a:ext cx="4267200" cy="1219200"/>
          </a:xfrm>
          <a:prstGeom prst="rect">
            <a:avLst/>
          </a:prstGeom>
        </p:spPr>
        <p:txBody>
          <a:bodyPr wrap="none" fromWordArt="1">
            <a:prstTxWarp prst="textPlain">
              <a:avLst>
                <a:gd name="adj" fmla="val 50000"/>
              </a:avLst>
            </a:prstTxWarp>
          </a:bodyPr>
          <a:lstStyle/>
          <a:p>
            <a:pPr algn="ctr"/>
            <a:r>
              <a:rPr lang="en-US" sz="3600" b="1" i="1" kern="10">
                <a:ln w="9525">
                  <a:solidFill>
                    <a:srgbClr val="008000"/>
                  </a:solidFill>
                  <a:round/>
                  <a:headEnd/>
                  <a:tailEnd/>
                </a:ln>
                <a:blipFill dpi="0" rotWithShape="0">
                  <a:blip r:embed="rId4"/>
                  <a:srcRect/>
                  <a:tile tx="0" ty="0" sx="100000" sy="100000" flip="none" algn="tl"/>
                </a:blipFill>
                <a:effectLst>
                  <a:outerShdw dist="563972" dir="14049741" sx="125000" sy="125000" algn="tl" rotWithShape="0">
                    <a:srgbClr val="C7DFD3"/>
                  </a:outerShdw>
                </a:effectLst>
                <a:latin typeface="Arial Black"/>
              </a:rPr>
              <a:t>Semaphores</a:t>
            </a:r>
          </a:p>
        </p:txBody>
      </p:sp>
      <p:sp>
        <p:nvSpPr>
          <p:cNvPr id="784387" name="Line 3"/>
          <p:cNvSpPr>
            <a:spLocks noChangeShapeType="1"/>
          </p:cNvSpPr>
          <p:nvPr/>
        </p:nvSpPr>
        <p:spPr bwMode="auto">
          <a:xfrm>
            <a:off x="-19050" y="6248400"/>
            <a:ext cx="9144000" cy="0"/>
          </a:xfrm>
          <a:prstGeom prst="line">
            <a:avLst/>
          </a:prstGeom>
          <a:noFill/>
          <a:ln w="15875">
            <a:solidFill>
              <a:srgbClr val="996633"/>
            </a:solidFill>
            <a:round/>
            <a:headEnd/>
            <a:tailEnd/>
          </a:ln>
          <a:effectLst>
            <a:outerShdw dist="45791" dir="3378596" algn="ctr" rotWithShape="0">
              <a:srgbClr val="4D4D4D"/>
            </a:outerShdw>
          </a:effectLst>
        </p:spPr>
        <p:txBody>
          <a:bodyPr/>
          <a:lstStyle/>
          <a:p>
            <a:pPr>
              <a:defRPr/>
            </a:pPr>
            <a:endParaRPr lang="en-US"/>
          </a:p>
        </p:txBody>
      </p:sp>
      <p:sp>
        <p:nvSpPr>
          <p:cNvPr id="784388" name="Line 4"/>
          <p:cNvSpPr>
            <a:spLocks noChangeShapeType="1"/>
          </p:cNvSpPr>
          <p:nvPr/>
        </p:nvSpPr>
        <p:spPr bwMode="auto">
          <a:xfrm>
            <a:off x="0" y="1066800"/>
            <a:ext cx="9144000" cy="0"/>
          </a:xfrm>
          <a:prstGeom prst="line">
            <a:avLst/>
          </a:prstGeom>
          <a:noFill/>
          <a:ln w="15875">
            <a:solidFill>
              <a:srgbClr val="996633"/>
            </a:solidFill>
            <a:round/>
            <a:headEnd/>
            <a:tailEnd/>
          </a:ln>
          <a:effectLst>
            <a:outerShdw dist="45791" dir="3378596" algn="ctr" rotWithShape="0">
              <a:srgbClr val="4D4D4D"/>
            </a:outerShdw>
          </a:effectLst>
        </p:spPr>
        <p:txBody>
          <a:bodyPr/>
          <a:lstStyle/>
          <a:p>
            <a:pPr>
              <a:defRPr/>
            </a:pPr>
            <a:endParaRPr lang="en-US"/>
          </a:p>
        </p:txBody>
      </p:sp>
      <p:sp>
        <p:nvSpPr>
          <p:cNvPr id="784389" name="Text Box 5" descr="70%"/>
          <p:cNvSpPr txBox="1">
            <a:spLocks noChangeArrowheads="1"/>
          </p:cNvSpPr>
          <p:nvPr/>
        </p:nvSpPr>
        <p:spPr bwMode="auto">
          <a:xfrm>
            <a:off x="5867400" y="4724400"/>
            <a:ext cx="2286000" cy="457200"/>
          </a:xfrm>
          <a:prstGeom prst="rect">
            <a:avLst/>
          </a:prstGeom>
          <a:noFill/>
          <a:ln w="9525">
            <a:noFill/>
            <a:miter lim="800000"/>
            <a:headEnd/>
            <a:tailEnd/>
          </a:ln>
        </p:spPr>
        <p:txBody>
          <a:bodyPr>
            <a:spAutoFit/>
          </a:bodyPr>
          <a:lstStyle/>
          <a:p>
            <a:pPr>
              <a:spcBef>
                <a:spcPct val="50000"/>
              </a:spcBef>
            </a:pPr>
            <a:r>
              <a:rPr lang="en-US" b="1" dirty="0">
                <a:solidFill>
                  <a:srgbClr val="993300"/>
                </a:solidFill>
              </a:rPr>
              <a:t>Security guards</a:t>
            </a:r>
          </a:p>
        </p:txBody>
      </p:sp>
    </p:spTree>
  </p:cSld>
  <p:clrMapOvr>
    <a:masterClrMapping/>
  </p:clrMapOvr>
  <p:transition spd="med">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784386"/>
                                        </p:tgtEl>
                                        <p:attrNameLst>
                                          <p:attrName>style.visibility</p:attrName>
                                        </p:attrNameLst>
                                      </p:cBhvr>
                                      <p:to>
                                        <p:strVal val="visible"/>
                                      </p:to>
                                    </p:set>
                                    <p:anim calcmode="lin" valueType="num">
                                      <p:cBhvr>
                                        <p:cTn id="7" dur="500" fill="hold"/>
                                        <p:tgtEl>
                                          <p:spTgt spid="784386"/>
                                        </p:tgtEl>
                                        <p:attrNameLst>
                                          <p:attrName>ppt_x</p:attrName>
                                        </p:attrNameLst>
                                      </p:cBhvr>
                                      <p:tavLst>
                                        <p:tav tm="0">
                                          <p:val>
                                            <p:strVal val="#ppt_x"/>
                                          </p:val>
                                        </p:tav>
                                        <p:tav tm="100000">
                                          <p:val>
                                            <p:strVal val="#ppt_x"/>
                                          </p:val>
                                        </p:tav>
                                      </p:tavLst>
                                    </p:anim>
                                    <p:anim calcmode="lin" valueType="num">
                                      <p:cBhvr>
                                        <p:cTn id="8" dur="500" fill="hold"/>
                                        <p:tgtEl>
                                          <p:spTgt spid="784386"/>
                                        </p:tgtEl>
                                        <p:attrNameLst>
                                          <p:attrName>ppt_y</p:attrName>
                                        </p:attrNameLst>
                                      </p:cBhvr>
                                      <p:tavLst>
                                        <p:tav tm="0">
                                          <p:val>
                                            <p:strVal val="#ppt_y-#ppt_h/2"/>
                                          </p:val>
                                        </p:tav>
                                        <p:tav tm="100000">
                                          <p:val>
                                            <p:strVal val="#ppt_y"/>
                                          </p:val>
                                        </p:tav>
                                      </p:tavLst>
                                    </p:anim>
                                    <p:anim calcmode="lin" valueType="num">
                                      <p:cBhvr>
                                        <p:cTn id="9" dur="500" fill="hold"/>
                                        <p:tgtEl>
                                          <p:spTgt spid="784386"/>
                                        </p:tgtEl>
                                        <p:attrNameLst>
                                          <p:attrName>ppt_w</p:attrName>
                                        </p:attrNameLst>
                                      </p:cBhvr>
                                      <p:tavLst>
                                        <p:tav tm="0">
                                          <p:val>
                                            <p:strVal val="#ppt_w"/>
                                          </p:val>
                                        </p:tav>
                                        <p:tav tm="100000">
                                          <p:val>
                                            <p:strVal val="#ppt_w"/>
                                          </p:val>
                                        </p:tav>
                                      </p:tavLst>
                                    </p:anim>
                                    <p:anim calcmode="lin" valueType="num">
                                      <p:cBhvr>
                                        <p:cTn id="10" dur="500" fill="hold"/>
                                        <p:tgtEl>
                                          <p:spTgt spid="784386"/>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par>
                          <p:cTn id="11" fill="hold">
                            <p:stCondLst>
                              <p:cond delay="500"/>
                            </p:stCondLst>
                            <p:childTnLst>
                              <p:par>
                                <p:cTn id="12" presetID="17" presetClass="entr" presetSubtype="4" fill="hold" grpId="0" nodeType="afterEffect">
                                  <p:stCondLst>
                                    <p:cond delay="0"/>
                                  </p:stCondLst>
                                  <p:childTnLst>
                                    <p:set>
                                      <p:cBhvr>
                                        <p:cTn id="13" dur="1" fill="hold">
                                          <p:stCondLst>
                                            <p:cond delay="0"/>
                                          </p:stCondLst>
                                        </p:cTn>
                                        <p:tgtEl>
                                          <p:spTgt spid="784389"/>
                                        </p:tgtEl>
                                        <p:attrNameLst>
                                          <p:attrName>style.visibility</p:attrName>
                                        </p:attrNameLst>
                                      </p:cBhvr>
                                      <p:to>
                                        <p:strVal val="visible"/>
                                      </p:to>
                                    </p:set>
                                    <p:anim calcmode="lin" valueType="num">
                                      <p:cBhvr>
                                        <p:cTn id="14" dur="500" fill="hold"/>
                                        <p:tgtEl>
                                          <p:spTgt spid="784389"/>
                                        </p:tgtEl>
                                        <p:attrNameLst>
                                          <p:attrName>ppt_x</p:attrName>
                                        </p:attrNameLst>
                                      </p:cBhvr>
                                      <p:tavLst>
                                        <p:tav tm="0">
                                          <p:val>
                                            <p:strVal val="#ppt_x"/>
                                          </p:val>
                                        </p:tav>
                                        <p:tav tm="100000">
                                          <p:val>
                                            <p:strVal val="#ppt_x"/>
                                          </p:val>
                                        </p:tav>
                                      </p:tavLst>
                                    </p:anim>
                                    <p:anim calcmode="lin" valueType="num">
                                      <p:cBhvr>
                                        <p:cTn id="15" dur="500" fill="hold"/>
                                        <p:tgtEl>
                                          <p:spTgt spid="784389"/>
                                        </p:tgtEl>
                                        <p:attrNameLst>
                                          <p:attrName>ppt_y</p:attrName>
                                        </p:attrNameLst>
                                      </p:cBhvr>
                                      <p:tavLst>
                                        <p:tav tm="0">
                                          <p:val>
                                            <p:strVal val="#ppt_y+#ppt_h/2"/>
                                          </p:val>
                                        </p:tav>
                                        <p:tav tm="100000">
                                          <p:val>
                                            <p:strVal val="#ppt_y"/>
                                          </p:val>
                                        </p:tav>
                                      </p:tavLst>
                                    </p:anim>
                                    <p:anim calcmode="lin" valueType="num">
                                      <p:cBhvr>
                                        <p:cTn id="16" dur="500" fill="hold"/>
                                        <p:tgtEl>
                                          <p:spTgt spid="784389"/>
                                        </p:tgtEl>
                                        <p:attrNameLst>
                                          <p:attrName>ppt_w</p:attrName>
                                        </p:attrNameLst>
                                      </p:cBhvr>
                                      <p:tavLst>
                                        <p:tav tm="0">
                                          <p:val>
                                            <p:strVal val="#ppt_w"/>
                                          </p:val>
                                        </p:tav>
                                        <p:tav tm="100000">
                                          <p:val>
                                            <p:strVal val="#ppt_w"/>
                                          </p:val>
                                        </p:tav>
                                      </p:tavLst>
                                    </p:anim>
                                    <p:anim calcmode="lin" valueType="num">
                                      <p:cBhvr>
                                        <p:cTn id="17" dur="500" fill="hold"/>
                                        <p:tgtEl>
                                          <p:spTgt spid="784389"/>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2" presetClass="entr" presetSubtype="8" fill="hold" nodeType="afterEffect">
                                  <p:stCondLst>
                                    <p:cond delay="0"/>
                                  </p:stCondLst>
                                  <p:childTnLst>
                                    <p:set>
                                      <p:cBhvr>
                                        <p:cTn id="20" dur="1" fill="hold">
                                          <p:stCondLst>
                                            <p:cond delay="0"/>
                                          </p:stCondLst>
                                        </p:cTn>
                                        <p:tgtEl>
                                          <p:spTgt spid="784388"/>
                                        </p:tgtEl>
                                        <p:attrNameLst>
                                          <p:attrName>style.visibility</p:attrName>
                                        </p:attrNameLst>
                                      </p:cBhvr>
                                      <p:to>
                                        <p:strVal val="visible"/>
                                      </p:to>
                                    </p:set>
                                    <p:anim calcmode="lin" valueType="num">
                                      <p:cBhvr additive="base">
                                        <p:cTn id="21" dur="500" fill="hold"/>
                                        <p:tgtEl>
                                          <p:spTgt spid="784388"/>
                                        </p:tgtEl>
                                        <p:attrNameLst>
                                          <p:attrName>ppt_x</p:attrName>
                                        </p:attrNameLst>
                                      </p:cBhvr>
                                      <p:tavLst>
                                        <p:tav tm="0">
                                          <p:val>
                                            <p:strVal val="0-#ppt_w/2"/>
                                          </p:val>
                                        </p:tav>
                                        <p:tav tm="100000">
                                          <p:val>
                                            <p:strVal val="#ppt_x"/>
                                          </p:val>
                                        </p:tav>
                                      </p:tavLst>
                                    </p:anim>
                                    <p:anim calcmode="lin" valueType="num">
                                      <p:cBhvr additive="base">
                                        <p:cTn id="22" dur="500" fill="hold"/>
                                        <p:tgtEl>
                                          <p:spTgt spid="784388"/>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2" presetClass="entr" presetSubtype="2" fill="hold" nodeType="afterEffect">
                                  <p:stCondLst>
                                    <p:cond delay="0"/>
                                  </p:stCondLst>
                                  <p:childTnLst>
                                    <p:set>
                                      <p:cBhvr>
                                        <p:cTn id="25" dur="1" fill="hold">
                                          <p:stCondLst>
                                            <p:cond delay="0"/>
                                          </p:stCondLst>
                                        </p:cTn>
                                        <p:tgtEl>
                                          <p:spTgt spid="784387"/>
                                        </p:tgtEl>
                                        <p:attrNameLst>
                                          <p:attrName>style.visibility</p:attrName>
                                        </p:attrNameLst>
                                      </p:cBhvr>
                                      <p:to>
                                        <p:strVal val="visible"/>
                                      </p:to>
                                    </p:set>
                                    <p:anim calcmode="lin" valueType="num">
                                      <p:cBhvr additive="base">
                                        <p:cTn id="26" dur="500" fill="hold"/>
                                        <p:tgtEl>
                                          <p:spTgt spid="784387"/>
                                        </p:tgtEl>
                                        <p:attrNameLst>
                                          <p:attrName>ppt_x</p:attrName>
                                        </p:attrNameLst>
                                      </p:cBhvr>
                                      <p:tavLst>
                                        <p:tav tm="0">
                                          <p:val>
                                            <p:strVal val="1+#ppt_w/2"/>
                                          </p:val>
                                        </p:tav>
                                        <p:tav tm="100000">
                                          <p:val>
                                            <p:strVal val="#ppt_x"/>
                                          </p:val>
                                        </p:tav>
                                      </p:tavLst>
                                    </p:anim>
                                    <p:anim calcmode="lin" valueType="num">
                                      <p:cBhvr additive="base">
                                        <p:cTn id="27" dur="500" fill="hold"/>
                                        <p:tgtEl>
                                          <p:spTgt spid="7843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386" grpId="0" animBg="1"/>
      <p:bldP spid="78438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52400" y="1371600"/>
            <a:ext cx="8839200" cy="4800600"/>
          </a:xfrm>
          <a:prstGeom prst="rect">
            <a:avLst/>
          </a:prstGeom>
          <a:noFill/>
          <a:ln w="9525">
            <a:noFill/>
            <a:miter lim="800000"/>
            <a:headEnd/>
            <a:tailEnd/>
          </a:ln>
          <a:effectLst/>
        </p:spPr>
      </p:pic>
      <p:sp>
        <p:nvSpPr>
          <p:cNvPr id="2" name="TextBox 1">
            <a:extLst>
              <a:ext uri="{FF2B5EF4-FFF2-40B4-BE49-F238E27FC236}">
                <a16:creationId xmlns:a16="http://schemas.microsoft.com/office/drawing/2014/main" id="{FDE31E3E-43A3-4709-B5BA-B57493B95171}"/>
              </a:ext>
            </a:extLst>
          </p:cNvPr>
          <p:cNvSpPr txBox="1"/>
          <p:nvPr/>
        </p:nvSpPr>
        <p:spPr>
          <a:xfrm>
            <a:off x="533400" y="457200"/>
            <a:ext cx="6172200" cy="584775"/>
          </a:xfrm>
          <a:prstGeom prst="rect">
            <a:avLst/>
          </a:prstGeom>
          <a:noFill/>
        </p:spPr>
        <p:txBody>
          <a:bodyPr wrap="square" rtlCol="0">
            <a:spAutoFit/>
          </a:bodyPr>
          <a:lstStyle/>
          <a:p>
            <a:r>
              <a:rPr lang="en-US" sz="3200" b="1" dirty="0"/>
              <a:t>Semaphore : Analogy</a:t>
            </a:r>
            <a:endParaRPr lang="en-IN" sz="32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3"/>
          <p:cNvSpPr txBox="1">
            <a:spLocks noChangeArrowheads="1"/>
          </p:cNvSpPr>
          <p:nvPr/>
        </p:nvSpPr>
        <p:spPr bwMode="auto">
          <a:xfrm>
            <a:off x="76200" y="1295400"/>
            <a:ext cx="8915400" cy="4621778"/>
          </a:xfrm>
          <a:prstGeom prst="rect">
            <a:avLst/>
          </a:prstGeom>
          <a:noFill/>
          <a:ln w="9525">
            <a:noFill/>
            <a:miter lim="800000"/>
            <a:headEnd/>
            <a:tailEnd/>
          </a:ln>
        </p:spPr>
        <p:txBody>
          <a:bodyPr wrap="square">
            <a:spAutoFit/>
          </a:bodyPr>
          <a:lstStyle/>
          <a:p>
            <a:pPr>
              <a:spcBef>
                <a:spcPts val="1020"/>
              </a:spcBef>
              <a:buClr>
                <a:srgbClr val="996633"/>
              </a:buClr>
              <a:buFont typeface="Wingdings" pitchFamily="2" charset="2"/>
              <a:buChar char="Ø"/>
            </a:pPr>
            <a:r>
              <a:rPr lang="en-US" sz="2800" dirty="0"/>
              <a:t> Semaphore is a special  variable which allow only two   </a:t>
            </a:r>
          </a:p>
          <a:p>
            <a:pPr>
              <a:spcBef>
                <a:spcPts val="1020"/>
              </a:spcBef>
              <a:buClr>
                <a:srgbClr val="996633"/>
              </a:buClr>
            </a:pPr>
            <a:r>
              <a:rPr lang="en-US" sz="2800" dirty="0"/>
              <a:t>     operations </a:t>
            </a:r>
            <a:r>
              <a:rPr lang="en-US" sz="3200" b="1" i="1" dirty="0">
                <a:solidFill>
                  <a:srgbClr val="FF0000"/>
                </a:solidFill>
              </a:rPr>
              <a:t>wait and signal</a:t>
            </a:r>
            <a:r>
              <a:rPr lang="en-US" sz="2800" dirty="0"/>
              <a:t>.</a:t>
            </a:r>
          </a:p>
          <a:p>
            <a:pPr>
              <a:spcBef>
                <a:spcPts val="1020"/>
              </a:spcBef>
              <a:buClr>
                <a:srgbClr val="996633"/>
              </a:buClr>
              <a:buFont typeface="Wingdings" pitchFamily="2" charset="2"/>
              <a:buChar char="Ø"/>
            </a:pPr>
            <a:r>
              <a:rPr lang="en-US" sz="2800" dirty="0"/>
              <a:t> Used to implement  </a:t>
            </a:r>
            <a:r>
              <a:rPr lang="en-US" sz="3200" b="1" i="1" dirty="0">
                <a:solidFill>
                  <a:srgbClr val="FF0000"/>
                </a:solidFill>
              </a:rPr>
              <a:t>synchronization</a:t>
            </a:r>
            <a:r>
              <a:rPr lang="en-US" sz="2800" dirty="0"/>
              <a:t> and critical region  </a:t>
            </a:r>
          </a:p>
          <a:p>
            <a:pPr>
              <a:spcBef>
                <a:spcPts val="1020"/>
              </a:spcBef>
              <a:buClr>
                <a:srgbClr val="996633"/>
              </a:buClr>
            </a:pPr>
            <a:r>
              <a:rPr lang="en-US" sz="2800" dirty="0"/>
              <a:t>     in multi process system.</a:t>
            </a:r>
          </a:p>
          <a:p>
            <a:pPr>
              <a:spcBef>
                <a:spcPts val="1020"/>
              </a:spcBef>
              <a:buClr>
                <a:srgbClr val="996633"/>
              </a:buClr>
              <a:buFont typeface="Wingdings" pitchFamily="2" charset="2"/>
              <a:buChar char="Ø"/>
            </a:pPr>
            <a:r>
              <a:rPr lang="en-US" sz="2800" dirty="0"/>
              <a:t> Different semaphores are available, based on our  </a:t>
            </a:r>
          </a:p>
          <a:p>
            <a:pPr>
              <a:spcBef>
                <a:spcPts val="1020"/>
              </a:spcBef>
              <a:buClr>
                <a:srgbClr val="996633"/>
              </a:buClr>
            </a:pPr>
            <a:r>
              <a:rPr lang="en-US" sz="2800" dirty="0"/>
              <a:t>    application we can use any one of them.</a:t>
            </a:r>
          </a:p>
          <a:p>
            <a:pPr>
              <a:spcBef>
                <a:spcPts val="1020"/>
              </a:spcBef>
              <a:buClr>
                <a:srgbClr val="996633"/>
              </a:buClr>
              <a:buFont typeface="Wingdings" pitchFamily="2" charset="2"/>
              <a:buChar char="Ø"/>
            </a:pPr>
            <a:r>
              <a:rPr lang="en-US" sz="2800" dirty="0"/>
              <a:t> When process dies all its related semaphores revert their </a:t>
            </a:r>
          </a:p>
          <a:p>
            <a:pPr>
              <a:spcBef>
                <a:spcPts val="1020"/>
              </a:spcBef>
              <a:buClr>
                <a:srgbClr val="996633"/>
              </a:buClr>
            </a:pPr>
            <a:r>
              <a:rPr lang="en-US" sz="2800" dirty="0"/>
              <a:t>     values (when using option </a:t>
            </a:r>
            <a:r>
              <a:rPr lang="en-US" sz="3200" b="1" i="1" dirty="0">
                <a:solidFill>
                  <a:srgbClr val="FF0000"/>
                </a:solidFill>
              </a:rPr>
              <a:t>SEM_UNDO</a:t>
            </a:r>
            <a:r>
              <a:rPr lang="en-US" sz="2800" dirty="0"/>
              <a:t>)  </a:t>
            </a:r>
          </a:p>
        </p:txBody>
      </p:sp>
      <p:sp>
        <p:nvSpPr>
          <p:cNvPr id="4" name="Rectangle 3"/>
          <p:cNvSpPr/>
          <p:nvPr/>
        </p:nvSpPr>
        <p:spPr>
          <a:xfrm>
            <a:off x="381000" y="405825"/>
            <a:ext cx="8229600" cy="584775"/>
          </a:xfrm>
          <a:prstGeom prst="rect">
            <a:avLst/>
          </a:prstGeom>
        </p:spPr>
        <p:txBody>
          <a:bodyPr wrap="square">
            <a:spAutoFit/>
          </a:bodyPr>
          <a:lstStyle/>
          <a:p>
            <a:r>
              <a:rPr lang="en-US" sz="3200" b="1" dirty="0"/>
              <a:t>Shared Memory : Properties  of  semaphores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Text Box 2"/>
          <p:cNvSpPr txBox="1">
            <a:spLocks noChangeArrowheads="1"/>
          </p:cNvSpPr>
          <p:nvPr/>
        </p:nvSpPr>
        <p:spPr bwMode="auto">
          <a:xfrm>
            <a:off x="4610100" y="2252663"/>
            <a:ext cx="24765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If available only one can Enter</a:t>
            </a:r>
          </a:p>
        </p:txBody>
      </p:sp>
      <p:sp>
        <p:nvSpPr>
          <p:cNvPr id="790531" name="Line 3"/>
          <p:cNvSpPr>
            <a:spLocks noChangeShapeType="1"/>
          </p:cNvSpPr>
          <p:nvPr/>
        </p:nvSpPr>
        <p:spPr bwMode="auto">
          <a:xfrm>
            <a:off x="4495800" y="4003675"/>
            <a:ext cx="1588" cy="1525588"/>
          </a:xfrm>
          <a:prstGeom prst="line">
            <a:avLst/>
          </a:prstGeom>
          <a:noFill/>
          <a:ln w="28575">
            <a:solidFill>
              <a:srgbClr val="996633"/>
            </a:solidFill>
            <a:round/>
            <a:headEnd/>
            <a:tailEnd type="triangle" w="med" len="med"/>
          </a:ln>
        </p:spPr>
        <p:txBody>
          <a:bodyPr/>
          <a:lstStyle/>
          <a:p>
            <a:endParaRPr lang="en-US"/>
          </a:p>
        </p:txBody>
      </p:sp>
      <p:sp>
        <p:nvSpPr>
          <p:cNvPr id="790532" name="Rectangle 4" descr="Stationery"/>
          <p:cNvSpPr>
            <a:spLocks noChangeArrowheads="1"/>
          </p:cNvSpPr>
          <p:nvPr/>
        </p:nvSpPr>
        <p:spPr bwMode="auto">
          <a:xfrm>
            <a:off x="228600" y="3048000"/>
            <a:ext cx="2362200" cy="703263"/>
          </a:xfrm>
          <a:prstGeom prst="rect">
            <a:avLst/>
          </a:prstGeom>
          <a:blipFill dpi="0" rotWithShape="0">
            <a:blip r:embed="rId2"/>
            <a:srcRect/>
            <a:tile tx="0" ty="0" sx="100000" sy="100000" flip="none" algn="tl"/>
          </a:blipFill>
          <a:ln w="28575">
            <a:solidFill>
              <a:srgbClr val="996633"/>
            </a:solidFill>
            <a:miter lim="800000"/>
            <a:headEnd/>
            <a:tailEnd/>
          </a:ln>
        </p:spPr>
        <p:txBody>
          <a:bodyPr wrap="none" anchor="ctr"/>
          <a:lstStyle/>
          <a:p>
            <a:endParaRPr lang="en-US"/>
          </a:p>
        </p:txBody>
      </p:sp>
      <p:sp>
        <p:nvSpPr>
          <p:cNvPr id="790533" name="Rectangle 5" descr="Stationery"/>
          <p:cNvSpPr>
            <a:spLocks noChangeArrowheads="1"/>
          </p:cNvSpPr>
          <p:nvPr/>
        </p:nvSpPr>
        <p:spPr bwMode="auto">
          <a:xfrm>
            <a:off x="6477000" y="3048000"/>
            <a:ext cx="2362200" cy="703263"/>
          </a:xfrm>
          <a:prstGeom prst="rect">
            <a:avLst/>
          </a:prstGeom>
          <a:blipFill dpi="0" rotWithShape="0">
            <a:blip r:embed="rId2"/>
            <a:srcRect/>
            <a:tile tx="0" ty="0" sx="100000" sy="100000" flip="none" algn="tl"/>
          </a:blipFill>
          <a:ln w="28575">
            <a:solidFill>
              <a:srgbClr val="996633"/>
            </a:solidFill>
            <a:miter lim="800000"/>
            <a:headEnd/>
            <a:tailEnd/>
          </a:ln>
        </p:spPr>
        <p:txBody>
          <a:bodyPr wrap="none" anchor="ctr"/>
          <a:lstStyle/>
          <a:p>
            <a:endParaRPr lang="en-US"/>
          </a:p>
        </p:txBody>
      </p:sp>
      <p:sp>
        <p:nvSpPr>
          <p:cNvPr id="790534" name="Oval 6" descr="Stationery"/>
          <p:cNvSpPr>
            <a:spLocks noChangeArrowheads="1"/>
          </p:cNvSpPr>
          <p:nvPr/>
        </p:nvSpPr>
        <p:spPr bwMode="auto">
          <a:xfrm>
            <a:off x="3429000" y="3111500"/>
            <a:ext cx="2133600" cy="822325"/>
          </a:xfrm>
          <a:prstGeom prst="ellipse">
            <a:avLst/>
          </a:prstGeom>
          <a:blipFill dpi="0" rotWithShape="0">
            <a:blip r:embed="rId2"/>
            <a:srcRect/>
            <a:tile tx="0" ty="0" sx="100000" sy="100000" flip="none" algn="tl"/>
          </a:blipFill>
          <a:ln w="28575">
            <a:solidFill>
              <a:srgbClr val="996633"/>
            </a:solidFill>
            <a:round/>
            <a:headEnd/>
            <a:tailEnd/>
          </a:ln>
        </p:spPr>
        <p:txBody>
          <a:bodyPr wrap="none" anchor="ctr"/>
          <a:lstStyle/>
          <a:p>
            <a:endParaRPr lang="en-US"/>
          </a:p>
        </p:txBody>
      </p:sp>
      <p:sp>
        <p:nvSpPr>
          <p:cNvPr id="790535" name="Rectangle 7" descr="Stationery"/>
          <p:cNvSpPr>
            <a:spLocks noChangeArrowheads="1"/>
          </p:cNvSpPr>
          <p:nvPr/>
        </p:nvSpPr>
        <p:spPr bwMode="auto">
          <a:xfrm>
            <a:off x="3200400" y="5661025"/>
            <a:ext cx="2819400" cy="704850"/>
          </a:xfrm>
          <a:prstGeom prst="rect">
            <a:avLst/>
          </a:prstGeom>
          <a:blipFill dpi="0" rotWithShape="0">
            <a:blip r:embed="rId2"/>
            <a:srcRect/>
            <a:tile tx="0" ty="0" sx="100000" sy="100000" flip="none" algn="tl"/>
          </a:blipFill>
          <a:ln w="28575">
            <a:solidFill>
              <a:srgbClr val="996633"/>
            </a:solidFill>
            <a:miter lim="800000"/>
            <a:headEnd/>
            <a:tailEnd/>
          </a:ln>
        </p:spPr>
        <p:txBody>
          <a:bodyPr wrap="none" anchor="ctr"/>
          <a:lstStyle/>
          <a:p>
            <a:endParaRPr lang="en-US"/>
          </a:p>
        </p:txBody>
      </p:sp>
      <p:sp>
        <p:nvSpPr>
          <p:cNvPr id="790536" name="Rectangle 8" descr="75%"/>
          <p:cNvSpPr>
            <a:spLocks noChangeArrowheads="1"/>
          </p:cNvSpPr>
          <p:nvPr/>
        </p:nvSpPr>
        <p:spPr bwMode="auto">
          <a:xfrm>
            <a:off x="3200400" y="1390650"/>
            <a:ext cx="2971800" cy="704850"/>
          </a:xfrm>
          <a:prstGeom prst="rect">
            <a:avLst/>
          </a:prstGeom>
          <a:blipFill dpi="0" rotWithShape="0">
            <a:blip r:embed="rId2"/>
            <a:srcRect/>
            <a:tile tx="0" ty="0" sx="100000" sy="100000" flip="none" algn="tl"/>
          </a:blipFill>
          <a:ln w="28575">
            <a:solidFill>
              <a:srgbClr val="996633"/>
            </a:solidFill>
            <a:miter lim="800000"/>
            <a:headEnd/>
            <a:tailEnd/>
          </a:ln>
        </p:spPr>
        <p:txBody>
          <a:bodyPr wrap="none" anchor="ctr"/>
          <a:lstStyle/>
          <a:p>
            <a:endParaRPr lang="en-US"/>
          </a:p>
        </p:txBody>
      </p:sp>
      <p:grpSp>
        <p:nvGrpSpPr>
          <p:cNvPr id="2" name="Group 9"/>
          <p:cNvGrpSpPr>
            <a:grpSpLocks/>
          </p:cNvGrpSpPr>
          <p:nvPr/>
        </p:nvGrpSpPr>
        <p:grpSpPr bwMode="auto">
          <a:xfrm>
            <a:off x="6019800" y="3795713"/>
            <a:ext cx="1600200" cy="2071687"/>
            <a:chOff x="3816" y="2186"/>
            <a:chExt cx="1008" cy="1693"/>
          </a:xfrm>
        </p:grpSpPr>
        <p:sp>
          <p:nvSpPr>
            <p:cNvPr id="226331" name="Line 10"/>
            <p:cNvSpPr>
              <a:spLocks noChangeShapeType="1"/>
            </p:cNvSpPr>
            <p:nvPr/>
          </p:nvSpPr>
          <p:spPr bwMode="auto">
            <a:xfrm flipH="1">
              <a:off x="3816" y="3878"/>
              <a:ext cx="1008" cy="1"/>
            </a:xfrm>
            <a:prstGeom prst="line">
              <a:avLst/>
            </a:prstGeom>
            <a:noFill/>
            <a:ln w="28575">
              <a:solidFill>
                <a:srgbClr val="996633"/>
              </a:solidFill>
              <a:round/>
              <a:headEnd/>
              <a:tailEnd/>
            </a:ln>
          </p:spPr>
          <p:txBody>
            <a:bodyPr/>
            <a:lstStyle/>
            <a:p>
              <a:endParaRPr lang="en-US"/>
            </a:p>
          </p:txBody>
        </p:sp>
        <p:sp>
          <p:nvSpPr>
            <p:cNvPr id="226332" name="Line 11"/>
            <p:cNvSpPr>
              <a:spLocks noChangeShapeType="1"/>
            </p:cNvSpPr>
            <p:nvPr/>
          </p:nvSpPr>
          <p:spPr bwMode="auto">
            <a:xfrm flipH="1" flipV="1">
              <a:off x="4824" y="2186"/>
              <a:ext cx="0" cy="1692"/>
            </a:xfrm>
            <a:prstGeom prst="line">
              <a:avLst/>
            </a:prstGeom>
            <a:noFill/>
            <a:ln w="28575">
              <a:solidFill>
                <a:srgbClr val="996633"/>
              </a:solidFill>
              <a:round/>
              <a:headEnd/>
              <a:tailEnd type="triangle" w="med" len="med"/>
            </a:ln>
          </p:spPr>
          <p:txBody>
            <a:bodyPr/>
            <a:lstStyle/>
            <a:p>
              <a:endParaRPr lang="en-US"/>
            </a:p>
          </p:txBody>
        </p:sp>
      </p:grpSp>
      <p:grpSp>
        <p:nvGrpSpPr>
          <p:cNvPr id="3" name="Group 12"/>
          <p:cNvGrpSpPr>
            <a:grpSpLocks/>
          </p:cNvGrpSpPr>
          <p:nvPr/>
        </p:nvGrpSpPr>
        <p:grpSpPr bwMode="auto">
          <a:xfrm>
            <a:off x="1371600" y="1708150"/>
            <a:ext cx="1828800" cy="1233488"/>
            <a:chOff x="912" y="576"/>
            <a:chExt cx="1584" cy="960"/>
          </a:xfrm>
        </p:grpSpPr>
        <p:sp>
          <p:nvSpPr>
            <p:cNvPr id="226329" name="Line 13"/>
            <p:cNvSpPr>
              <a:spLocks noChangeShapeType="1"/>
            </p:cNvSpPr>
            <p:nvPr/>
          </p:nvSpPr>
          <p:spPr bwMode="auto">
            <a:xfrm>
              <a:off x="912" y="576"/>
              <a:ext cx="1584" cy="0"/>
            </a:xfrm>
            <a:prstGeom prst="line">
              <a:avLst/>
            </a:prstGeom>
            <a:noFill/>
            <a:ln w="28575">
              <a:solidFill>
                <a:srgbClr val="996633"/>
              </a:solidFill>
              <a:round/>
              <a:headEnd/>
              <a:tailEnd type="triangle" w="med" len="med"/>
            </a:ln>
          </p:spPr>
          <p:txBody>
            <a:bodyPr/>
            <a:lstStyle/>
            <a:p>
              <a:endParaRPr lang="en-US"/>
            </a:p>
          </p:txBody>
        </p:sp>
        <p:sp>
          <p:nvSpPr>
            <p:cNvPr id="226330" name="Line 14"/>
            <p:cNvSpPr>
              <a:spLocks noChangeShapeType="1"/>
            </p:cNvSpPr>
            <p:nvPr/>
          </p:nvSpPr>
          <p:spPr bwMode="auto">
            <a:xfrm>
              <a:off x="912" y="576"/>
              <a:ext cx="0" cy="960"/>
            </a:xfrm>
            <a:prstGeom prst="line">
              <a:avLst/>
            </a:prstGeom>
            <a:noFill/>
            <a:ln w="28575">
              <a:solidFill>
                <a:srgbClr val="996633"/>
              </a:solidFill>
              <a:round/>
              <a:headEnd/>
              <a:tailEnd/>
            </a:ln>
          </p:spPr>
          <p:txBody>
            <a:bodyPr/>
            <a:lstStyle/>
            <a:p>
              <a:endParaRPr lang="en-US"/>
            </a:p>
          </p:txBody>
        </p:sp>
      </p:grpSp>
      <p:grpSp>
        <p:nvGrpSpPr>
          <p:cNvPr id="4" name="Group 15"/>
          <p:cNvGrpSpPr>
            <a:grpSpLocks/>
          </p:cNvGrpSpPr>
          <p:nvPr/>
        </p:nvGrpSpPr>
        <p:grpSpPr bwMode="auto">
          <a:xfrm flipH="1">
            <a:off x="6172200" y="1773238"/>
            <a:ext cx="1447800" cy="1174750"/>
            <a:chOff x="912" y="576"/>
            <a:chExt cx="1584" cy="960"/>
          </a:xfrm>
        </p:grpSpPr>
        <p:sp>
          <p:nvSpPr>
            <p:cNvPr id="226327" name="Line 16"/>
            <p:cNvSpPr>
              <a:spLocks noChangeShapeType="1"/>
            </p:cNvSpPr>
            <p:nvPr/>
          </p:nvSpPr>
          <p:spPr bwMode="auto">
            <a:xfrm>
              <a:off x="912" y="576"/>
              <a:ext cx="1584" cy="0"/>
            </a:xfrm>
            <a:prstGeom prst="line">
              <a:avLst/>
            </a:prstGeom>
            <a:noFill/>
            <a:ln w="28575">
              <a:solidFill>
                <a:srgbClr val="996633"/>
              </a:solidFill>
              <a:round/>
              <a:headEnd/>
              <a:tailEnd type="triangle" w="med" len="med"/>
            </a:ln>
          </p:spPr>
          <p:txBody>
            <a:bodyPr/>
            <a:lstStyle/>
            <a:p>
              <a:endParaRPr lang="en-US"/>
            </a:p>
          </p:txBody>
        </p:sp>
        <p:sp>
          <p:nvSpPr>
            <p:cNvPr id="226328" name="Line 17"/>
            <p:cNvSpPr>
              <a:spLocks noChangeShapeType="1"/>
            </p:cNvSpPr>
            <p:nvPr/>
          </p:nvSpPr>
          <p:spPr bwMode="auto">
            <a:xfrm>
              <a:off x="912" y="576"/>
              <a:ext cx="0" cy="960"/>
            </a:xfrm>
            <a:prstGeom prst="line">
              <a:avLst/>
            </a:prstGeom>
            <a:noFill/>
            <a:ln w="28575">
              <a:solidFill>
                <a:srgbClr val="996633"/>
              </a:solidFill>
              <a:round/>
              <a:headEnd/>
              <a:tailEnd/>
            </a:ln>
          </p:spPr>
          <p:txBody>
            <a:bodyPr/>
            <a:lstStyle/>
            <a:p>
              <a:endParaRPr lang="en-US"/>
            </a:p>
          </p:txBody>
        </p:sp>
      </p:grpSp>
      <p:sp>
        <p:nvSpPr>
          <p:cNvPr id="790546" name="Line 18"/>
          <p:cNvSpPr>
            <a:spLocks noChangeShapeType="1"/>
          </p:cNvSpPr>
          <p:nvPr/>
        </p:nvSpPr>
        <p:spPr bwMode="auto">
          <a:xfrm>
            <a:off x="4495800" y="2155825"/>
            <a:ext cx="1588" cy="879475"/>
          </a:xfrm>
          <a:prstGeom prst="line">
            <a:avLst/>
          </a:prstGeom>
          <a:noFill/>
          <a:ln w="28575">
            <a:solidFill>
              <a:srgbClr val="996633"/>
            </a:solidFill>
            <a:round/>
            <a:headEnd/>
            <a:tailEnd type="triangle" w="med" len="med"/>
          </a:ln>
        </p:spPr>
        <p:txBody>
          <a:bodyPr/>
          <a:lstStyle/>
          <a:p>
            <a:endParaRPr lang="en-US"/>
          </a:p>
        </p:txBody>
      </p:sp>
      <p:sp>
        <p:nvSpPr>
          <p:cNvPr id="790547" name="Text Box 19"/>
          <p:cNvSpPr txBox="1">
            <a:spLocks noChangeArrowheads="1"/>
          </p:cNvSpPr>
          <p:nvPr/>
        </p:nvSpPr>
        <p:spPr bwMode="auto">
          <a:xfrm>
            <a:off x="514350" y="3033713"/>
            <a:ext cx="17526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Non critical section of A</a:t>
            </a:r>
          </a:p>
        </p:txBody>
      </p:sp>
      <p:sp>
        <p:nvSpPr>
          <p:cNvPr id="790548" name="Text Box 20"/>
          <p:cNvSpPr txBox="1">
            <a:spLocks noChangeArrowheads="1"/>
          </p:cNvSpPr>
          <p:nvPr/>
        </p:nvSpPr>
        <p:spPr bwMode="auto">
          <a:xfrm>
            <a:off x="6838950" y="3033713"/>
            <a:ext cx="17526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Non critical section of B</a:t>
            </a:r>
          </a:p>
        </p:txBody>
      </p:sp>
      <p:sp>
        <p:nvSpPr>
          <p:cNvPr id="790549" name="Text Box 21"/>
          <p:cNvSpPr txBox="1">
            <a:spLocks noChangeArrowheads="1"/>
          </p:cNvSpPr>
          <p:nvPr/>
        </p:nvSpPr>
        <p:spPr bwMode="auto">
          <a:xfrm>
            <a:off x="3886200" y="3159125"/>
            <a:ext cx="14097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Critical section </a:t>
            </a:r>
          </a:p>
        </p:txBody>
      </p:sp>
      <p:sp>
        <p:nvSpPr>
          <p:cNvPr id="790550" name="Text Box 22"/>
          <p:cNvSpPr txBox="1">
            <a:spLocks noChangeArrowheads="1"/>
          </p:cNvSpPr>
          <p:nvPr/>
        </p:nvSpPr>
        <p:spPr bwMode="auto">
          <a:xfrm>
            <a:off x="3657600" y="1370013"/>
            <a:ext cx="17526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Check for Semaphore</a:t>
            </a:r>
          </a:p>
        </p:txBody>
      </p:sp>
      <p:sp>
        <p:nvSpPr>
          <p:cNvPr id="790551" name="Text Box 23"/>
          <p:cNvSpPr txBox="1">
            <a:spLocks noChangeArrowheads="1"/>
          </p:cNvSpPr>
          <p:nvPr/>
        </p:nvSpPr>
        <p:spPr bwMode="auto">
          <a:xfrm>
            <a:off x="3657600" y="5654675"/>
            <a:ext cx="17526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Release Semaphore</a:t>
            </a:r>
          </a:p>
        </p:txBody>
      </p:sp>
      <p:sp>
        <p:nvSpPr>
          <p:cNvPr id="790552" name="Text Box 24"/>
          <p:cNvSpPr txBox="1">
            <a:spLocks noChangeArrowheads="1"/>
          </p:cNvSpPr>
          <p:nvPr/>
        </p:nvSpPr>
        <p:spPr bwMode="auto">
          <a:xfrm>
            <a:off x="133350" y="914400"/>
            <a:ext cx="16764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Process A execution</a:t>
            </a:r>
          </a:p>
        </p:txBody>
      </p:sp>
      <p:sp>
        <p:nvSpPr>
          <p:cNvPr id="790553" name="Text Box 25"/>
          <p:cNvSpPr txBox="1">
            <a:spLocks noChangeArrowheads="1"/>
          </p:cNvSpPr>
          <p:nvPr/>
        </p:nvSpPr>
        <p:spPr bwMode="auto">
          <a:xfrm>
            <a:off x="7143750" y="957263"/>
            <a:ext cx="1676400" cy="762000"/>
          </a:xfrm>
          <a:prstGeom prst="rect">
            <a:avLst/>
          </a:prstGeom>
          <a:noFill/>
          <a:ln w="9525">
            <a:noFill/>
            <a:miter lim="800000"/>
            <a:headEnd/>
            <a:tailEnd/>
          </a:ln>
        </p:spPr>
        <p:txBody>
          <a:bodyPr>
            <a:spAutoFit/>
          </a:bodyPr>
          <a:lstStyle/>
          <a:p>
            <a:pPr>
              <a:spcBef>
                <a:spcPct val="50000"/>
              </a:spcBef>
            </a:pPr>
            <a:r>
              <a:rPr lang="en-US" sz="2200" b="1" i="1">
                <a:solidFill>
                  <a:srgbClr val="008000"/>
                </a:solidFill>
              </a:rPr>
              <a:t>Process B execution</a:t>
            </a:r>
          </a:p>
        </p:txBody>
      </p:sp>
      <p:grpSp>
        <p:nvGrpSpPr>
          <p:cNvPr id="5" name="Group 26"/>
          <p:cNvGrpSpPr>
            <a:grpSpLocks/>
          </p:cNvGrpSpPr>
          <p:nvPr/>
        </p:nvGrpSpPr>
        <p:grpSpPr bwMode="auto">
          <a:xfrm>
            <a:off x="1352550" y="3811588"/>
            <a:ext cx="1847850" cy="2070100"/>
            <a:chOff x="876" y="2198"/>
            <a:chExt cx="1164" cy="1692"/>
          </a:xfrm>
        </p:grpSpPr>
        <p:sp>
          <p:nvSpPr>
            <p:cNvPr id="226325" name="Line 27"/>
            <p:cNvSpPr>
              <a:spLocks noChangeShapeType="1"/>
            </p:cNvSpPr>
            <p:nvPr/>
          </p:nvSpPr>
          <p:spPr bwMode="auto">
            <a:xfrm flipV="1">
              <a:off x="876" y="2198"/>
              <a:ext cx="0" cy="1692"/>
            </a:xfrm>
            <a:prstGeom prst="line">
              <a:avLst/>
            </a:prstGeom>
            <a:noFill/>
            <a:ln w="28575">
              <a:solidFill>
                <a:srgbClr val="996633"/>
              </a:solidFill>
              <a:round/>
              <a:headEnd/>
              <a:tailEnd type="triangle" w="med" len="med"/>
            </a:ln>
          </p:spPr>
          <p:txBody>
            <a:bodyPr/>
            <a:lstStyle/>
            <a:p>
              <a:endParaRPr lang="en-US"/>
            </a:p>
          </p:txBody>
        </p:sp>
        <p:sp>
          <p:nvSpPr>
            <p:cNvPr id="226326" name="Line 28"/>
            <p:cNvSpPr>
              <a:spLocks noChangeShapeType="1"/>
            </p:cNvSpPr>
            <p:nvPr/>
          </p:nvSpPr>
          <p:spPr bwMode="auto">
            <a:xfrm>
              <a:off x="888" y="3890"/>
              <a:ext cx="1152" cy="0"/>
            </a:xfrm>
            <a:prstGeom prst="line">
              <a:avLst/>
            </a:prstGeom>
            <a:noFill/>
            <a:ln w="28575">
              <a:solidFill>
                <a:srgbClr val="996633"/>
              </a:solidFill>
              <a:round/>
              <a:headEnd/>
              <a:tailEnd/>
            </a:ln>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90532"/>
                                        </p:tgtEl>
                                        <p:attrNameLst>
                                          <p:attrName>style.visibility</p:attrName>
                                        </p:attrNameLst>
                                      </p:cBhvr>
                                      <p:to>
                                        <p:strVal val="visible"/>
                                      </p:to>
                                    </p:set>
                                    <p:animEffect transition="in" filter="checkerboard(across)">
                                      <p:cBhvr>
                                        <p:cTn id="7" dur="500"/>
                                        <p:tgtEl>
                                          <p:spTgt spid="79053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90547"/>
                                        </p:tgtEl>
                                        <p:attrNameLst>
                                          <p:attrName>style.visibility</p:attrName>
                                        </p:attrNameLst>
                                      </p:cBhvr>
                                      <p:to>
                                        <p:strVal val="visible"/>
                                      </p:to>
                                    </p:set>
                                    <p:animEffect transition="in" filter="dissolve">
                                      <p:cBhvr>
                                        <p:cTn id="11" dur="500"/>
                                        <p:tgtEl>
                                          <p:spTgt spid="790547"/>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790533"/>
                                        </p:tgtEl>
                                        <p:attrNameLst>
                                          <p:attrName>style.visibility</p:attrName>
                                        </p:attrNameLst>
                                      </p:cBhvr>
                                      <p:to>
                                        <p:strVal val="visible"/>
                                      </p:to>
                                    </p:set>
                                    <p:animEffect transition="in" filter="checkerboard(across)">
                                      <p:cBhvr>
                                        <p:cTn id="16" dur="500"/>
                                        <p:tgtEl>
                                          <p:spTgt spid="790533"/>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90548"/>
                                        </p:tgtEl>
                                        <p:attrNameLst>
                                          <p:attrName>style.visibility</p:attrName>
                                        </p:attrNameLst>
                                      </p:cBhvr>
                                      <p:to>
                                        <p:strVal val="visible"/>
                                      </p:to>
                                    </p:set>
                                    <p:animEffect transition="in" filter="dissolve">
                                      <p:cBhvr>
                                        <p:cTn id="20" dur="500"/>
                                        <p:tgtEl>
                                          <p:spTgt spid="790548"/>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790536"/>
                                        </p:tgtEl>
                                        <p:attrNameLst>
                                          <p:attrName>style.visibility</p:attrName>
                                        </p:attrNameLst>
                                      </p:cBhvr>
                                      <p:to>
                                        <p:strVal val="visible"/>
                                      </p:to>
                                    </p:set>
                                    <p:animEffect transition="in" filter="checkerboard(across)">
                                      <p:cBhvr>
                                        <p:cTn id="25" dur="500"/>
                                        <p:tgtEl>
                                          <p:spTgt spid="790536"/>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790550"/>
                                        </p:tgtEl>
                                        <p:attrNameLst>
                                          <p:attrName>style.visibility</p:attrName>
                                        </p:attrNameLst>
                                      </p:cBhvr>
                                      <p:to>
                                        <p:strVal val="visible"/>
                                      </p:to>
                                    </p:set>
                                    <p:animEffect transition="in" filter="dissolve">
                                      <p:cBhvr>
                                        <p:cTn id="29" dur="500"/>
                                        <p:tgtEl>
                                          <p:spTgt spid="790550"/>
                                        </p:tgtEl>
                                      </p:cBhvr>
                                    </p:animEffect>
                                  </p:childTnLst>
                                </p:cTn>
                              </p:par>
                            </p:childTnLst>
                          </p:cTn>
                        </p:par>
                        <p:par>
                          <p:cTn id="30" fill="hold">
                            <p:stCondLst>
                              <p:cond delay="1000"/>
                            </p:stCondLst>
                            <p:childTnLst>
                              <p:par>
                                <p:cTn id="31" presetID="17" presetClass="entr" presetSubtype="10" fill="hold" nodeType="afterEffect">
                                  <p:stCondLst>
                                    <p:cond delay="100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strVal val="#ppt_h"/>
                                          </p:val>
                                        </p:tav>
                                        <p:tav tm="100000">
                                          <p:val>
                                            <p:strVal val="#ppt_h"/>
                                          </p:val>
                                        </p:tav>
                                      </p:tavLst>
                                    </p:anim>
                                  </p:childTnLst>
                                </p:cTn>
                              </p:par>
                            </p:childTnLst>
                          </p:cTn>
                        </p:par>
                        <p:par>
                          <p:cTn id="35" fill="hold">
                            <p:stCondLst>
                              <p:cond delay="2500"/>
                            </p:stCondLst>
                            <p:childTnLst>
                              <p:par>
                                <p:cTn id="36" presetID="9" presetClass="entr" presetSubtype="0" fill="hold" grpId="0" nodeType="afterEffect">
                                  <p:stCondLst>
                                    <p:cond delay="0"/>
                                  </p:stCondLst>
                                  <p:childTnLst>
                                    <p:set>
                                      <p:cBhvr>
                                        <p:cTn id="37" dur="1" fill="hold">
                                          <p:stCondLst>
                                            <p:cond delay="0"/>
                                          </p:stCondLst>
                                        </p:cTn>
                                        <p:tgtEl>
                                          <p:spTgt spid="790552"/>
                                        </p:tgtEl>
                                        <p:attrNameLst>
                                          <p:attrName>style.visibility</p:attrName>
                                        </p:attrNameLst>
                                      </p:cBhvr>
                                      <p:to>
                                        <p:strVal val="visible"/>
                                      </p:to>
                                    </p:set>
                                    <p:animEffect transition="in" filter="dissolve">
                                      <p:cBhvr>
                                        <p:cTn id="38" dur="500"/>
                                        <p:tgtEl>
                                          <p:spTgt spid="790552"/>
                                        </p:tgtEl>
                                      </p:cBhvr>
                                    </p:animEffect>
                                  </p:childTnLst>
                                </p:cTn>
                              </p:par>
                            </p:childTnLst>
                          </p:cTn>
                        </p:par>
                        <p:par>
                          <p:cTn id="39" fill="hold">
                            <p:stCondLst>
                              <p:cond delay="3000"/>
                            </p:stCondLst>
                            <p:childTnLst>
                              <p:par>
                                <p:cTn id="40" presetID="17" presetClass="entr" presetSubtype="10" fill="hold" nodeType="afterEffect">
                                  <p:stCondLst>
                                    <p:cond delay="100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ppt_w</p:attrName>
                                        </p:attrNameLst>
                                      </p:cBhvr>
                                      <p:tavLst>
                                        <p:tav tm="0">
                                          <p:val>
                                            <p:fltVal val="0"/>
                                          </p:val>
                                        </p:tav>
                                        <p:tav tm="100000">
                                          <p:val>
                                            <p:strVal val="#ppt_w"/>
                                          </p:val>
                                        </p:tav>
                                      </p:tavLst>
                                    </p:anim>
                                    <p:anim calcmode="lin" valueType="num">
                                      <p:cBhvr>
                                        <p:cTn id="43" dur="500" fill="hold"/>
                                        <p:tgtEl>
                                          <p:spTgt spid="4"/>
                                        </p:tgtEl>
                                        <p:attrNameLst>
                                          <p:attrName>ppt_h</p:attrName>
                                        </p:attrNameLst>
                                      </p:cBhvr>
                                      <p:tavLst>
                                        <p:tav tm="0">
                                          <p:val>
                                            <p:strVal val="#ppt_h"/>
                                          </p:val>
                                        </p:tav>
                                        <p:tav tm="100000">
                                          <p:val>
                                            <p:strVal val="#ppt_h"/>
                                          </p:val>
                                        </p:tav>
                                      </p:tavLst>
                                    </p:anim>
                                  </p:childTnLst>
                                </p:cTn>
                              </p:par>
                            </p:childTnLst>
                          </p:cTn>
                        </p:par>
                        <p:par>
                          <p:cTn id="44" fill="hold">
                            <p:stCondLst>
                              <p:cond delay="4500"/>
                            </p:stCondLst>
                            <p:childTnLst>
                              <p:par>
                                <p:cTn id="45" presetID="9" presetClass="entr" presetSubtype="0" fill="hold" grpId="0" nodeType="afterEffect">
                                  <p:stCondLst>
                                    <p:cond delay="0"/>
                                  </p:stCondLst>
                                  <p:childTnLst>
                                    <p:set>
                                      <p:cBhvr>
                                        <p:cTn id="46" dur="1" fill="hold">
                                          <p:stCondLst>
                                            <p:cond delay="0"/>
                                          </p:stCondLst>
                                        </p:cTn>
                                        <p:tgtEl>
                                          <p:spTgt spid="790553"/>
                                        </p:tgtEl>
                                        <p:attrNameLst>
                                          <p:attrName>style.visibility</p:attrName>
                                        </p:attrNameLst>
                                      </p:cBhvr>
                                      <p:to>
                                        <p:strVal val="visible"/>
                                      </p:to>
                                    </p:set>
                                    <p:animEffect transition="in" filter="dissolve">
                                      <p:cBhvr>
                                        <p:cTn id="47" dur="500"/>
                                        <p:tgtEl>
                                          <p:spTgt spid="790553"/>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790534"/>
                                        </p:tgtEl>
                                        <p:attrNameLst>
                                          <p:attrName>style.visibility</p:attrName>
                                        </p:attrNameLst>
                                      </p:cBhvr>
                                      <p:to>
                                        <p:strVal val="visible"/>
                                      </p:to>
                                    </p:set>
                                    <p:animEffect transition="in" filter="checkerboard(across)">
                                      <p:cBhvr>
                                        <p:cTn id="52" dur="500"/>
                                        <p:tgtEl>
                                          <p:spTgt spid="790534"/>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790549"/>
                                        </p:tgtEl>
                                        <p:attrNameLst>
                                          <p:attrName>style.visibility</p:attrName>
                                        </p:attrNameLst>
                                      </p:cBhvr>
                                      <p:to>
                                        <p:strVal val="visible"/>
                                      </p:to>
                                    </p:set>
                                    <p:animEffect transition="in" filter="dissolve">
                                      <p:cBhvr>
                                        <p:cTn id="56" dur="500"/>
                                        <p:tgtEl>
                                          <p:spTgt spid="79054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790546"/>
                                        </p:tgtEl>
                                        <p:attrNameLst>
                                          <p:attrName>style.visibility</p:attrName>
                                        </p:attrNameLst>
                                      </p:cBhvr>
                                      <p:to>
                                        <p:strVal val="visible"/>
                                      </p:to>
                                    </p:set>
                                    <p:anim calcmode="lin" valueType="num">
                                      <p:cBhvr additive="base">
                                        <p:cTn id="61" dur="500" fill="hold"/>
                                        <p:tgtEl>
                                          <p:spTgt spid="790546"/>
                                        </p:tgtEl>
                                        <p:attrNameLst>
                                          <p:attrName>ppt_x</p:attrName>
                                        </p:attrNameLst>
                                      </p:cBhvr>
                                      <p:tavLst>
                                        <p:tav tm="0">
                                          <p:val>
                                            <p:strVal val="#ppt_x"/>
                                          </p:val>
                                        </p:tav>
                                        <p:tav tm="100000">
                                          <p:val>
                                            <p:strVal val="#ppt_x"/>
                                          </p:val>
                                        </p:tav>
                                      </p:tavLst>
                                    </p:anim>
                                    <p:anim calcmode="lin" valueType="num">
                                      <p:cBhvr additive="base">
                                        <p:cTn id="62" dur="500" fill="hold"/>
                                        <p:tgtEl>
                                          <p:spTgt spid="790546"/>
                                        </p:tgtEl>
                                        <p:attrNameLst>
                                          <p:attrName>ppt_y</p:attrName>
                                        </p:attrNameLst>
                                      </p:cBhvr>
                                      <p:tavLst>
                                        <p:tav tm="0">
                                          <p:val>
                                            <p:strVal val="0-#ppt_h/2"/>
                                          </p:val>
                                        </p:tav>
                                        <p:tav tm="100000">
                                          <p:val>
                                            <p:strVal val="#ppt_y"/>
                                          </p:val>
                                        </p:tav>
                                      </p:tavLst>
                                    </p:anim>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790530"/>
                                        </p:tgtEl>
                                        <p:attrNameLst>
                                          <p:attrName>style.visibility</p:attrName>
                                        </p:attrNameLst>
                                      </p:cBhvr>
                                      <p:to>
                                        <p:strVal val="visible"/>
                                      </p:to>
                                    </p:set>
                                    <p:animEffect transition="in" filter="dissolve">
                                      <p:cBhvr>
                                        <p:cTn id="66" dur="500"/>
                                        <p:tgtEl>
                                          <p:spTgt spid="790530"/>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ntr" presetSubtype="10" fill="hold" grpId="0" nodeType="clickEffect">
                                  <p:stCondLst>
                                    <p:cond delay="0"/>
                                  </p:stCondLst>
                                  <p:childTnLst>
                                    <p:set>
                                      <p:cBhvr>
                                        <p:cTn id="70" dur="1" fill="hold">
                                          <p:stCondLst>
                                            <p:cond delay="0"/>
                                          </p:stCondLst>
                                        </p:cTn>
                                        <p:tgtEl>
                                          <p:spTgt spid="790535"/>
                                        </p:tgtEl>
                                        <p:attrNameLst>
                                          <p:attrName>style.visibility</p:attrName>
                                        </p:attrNameLst>
                                      </p:cBhvr>
                                      <p:to>
                                        <p:strVal val="visible"/>
                                      </p:to>
                                    </p:set>
                                    <p:animEffect transition="in" filter="checkerboard(across)">
                                      <p:cBhvr>
                                        <p:cTn id="71" dur="500"/>
                                        <p:tgtEl>
                                          <p:spTgt spid="790535"/>
                                        </p:tgtEl>
                                      </p:cBhvr>
                                    </p:animEffect>
                                  </p:childTnLst>
                                </p:cTn>
                              </p:par>
                            </p:childTnLst>
                          </p:cTn>
                        </p:par>
                        <p:par>
                          <p:cTn id="72" fill="hold">
                            <p:stCondLst>
                              <p:cond delay="500"/>
                            </p:stCondLst>
                            <p:childTnLst>
                              <p:par>
                                <p:cTn id="73" presetID="9" presetClass="entr" presetSubtype="0" fill="hold" grpId="0" nodeType="afterEffect">
                                  <p:stCondLst>
                                    <p:cond delay="0"/>
                                  </p:stCondLst>
                                  <p:childTnLst>
                                    <p:set>
                                      <p:cBhvr>
                                        <p:cTn id="74" dur="1" fill="hold">
                                          <p:stCondLst>
                                            <p:cond delay="0"/>
                                          </p:stCondLst>
                                        </p:cTn>
                                        <p:tgtEl>
                                          <p:spTgt spid="790551"/>
                                        </p:tgtEl>
                                        <p:attrNameLst>
                                          <p:attrName>style.visibility</p:attrName>
                                        </p:attrNameLst>
                                      </p:cBhvr>
                                      <p:to>
                                        <p:strVal val="visible"/>
                                      </p:to>
                                    </p:set>
                                    <p:animEffect transition="in" filter="dissolve">
                                      <p:cBhvr>
                                        <p:cTn id="75" dur="500"/>
                                        <p:tgtEl>
                                          <p:spTgt spid="790551"/>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1" fill="hold" grpId="0" nodeType="clickEffect">
                                  <p:stCondLst>
                                    <p:cond delay="0"/>
                                  </p:stCondLst>
                                  <p:childTnLst>
                                    <p:set>
                                      <p:cBhvr>
                                        <p:cTn id="79" dur="1" fill="hold">
                                          <p:stCondLst>
                                            <p:cond delay="0"/>
                                          </p:stCondLst>
                                        </p:cTn>
                                        <p:tgtEl>
                                          <p:spTgt spid="790531"/>
                                        </p:tgtEl>
                                        <p:attrNameLst>
                                          <p:attrName>style.visibility</p:attrName>
                                        </p:attrNameLst>
                                      </p:cBhvr>
                                      <p:to>
                                        <p:strVal val="visible"/>
                                      </p:to>
                                    </p:set>
                                    <p:anim calcmode="lin" valueType="num">
                                      <p:cBhvr additive="base">
                                        <p:cTn id="80" dur="500" fill="hold"/>
                                        <p:tgtEl>
                                          <p:spTgt spid="790531"/>
                                        </p:tgtEl>
                                        <p:attrNameLst>
                                          <p:attrName>ppt_x</p:attrName>
                                        </p:attrNameLst>
                                      </p:cBhvr>
                                      <p:tavLst>
                                        <p:tav tm="0">
                                          <p:val>
                                            <p:strVal val="#ppt_x"/>
                                          </p:val>
                                        </p:tav>
                                        <p:tav tm="100000">
                                          <p:val>
                                            <p:strVal val="#ppt_x"/>
                                          </p:val>
                                        </p:tav>
                                      </p:tavLst>
                                    </p:anim>
                                    <p:anim calcmode="lin" valueType="num">
                                      <p:cBhvr additive="base">
                                        <p:cTn id="81" dur="500" fill="hold"/>
                                        <p:tgtEl>
                                          <p:spTgt spid="790531"/>
                                        </p:tgtEl>
                                        <p:attrNameLst>
                                          <p:attrName>ppt_y</p:attrName>
                                        </p:attrNameLst>
                                      </p:cBhvr>
                                      <p:tavLst>
                                        <p:tav tm="0">
                                          <p:val>
                                            <p:strVal val="0-#ppt_h/2"/>
                                          </p:val>
                                        </p:tav>
                                        <p:tav tm="100000">
                                          <p:val>
                                            <p:strVal val="#ppt_y"/>
                                          </p:val>
                                        </p:tav>
                                      </p:tavLst>
                                    </p:anim>
                                  </p:childTnLst>
                                </p:cTn>
                              </p:par>
                            </p:childTnLst>
                          </p:cTn>
                        </p:par>
                        <p:par>
                          <p:cTn id="82" fill="hold">
                            <p:stCondLst>
                              <p:cond delay="500"/>
                            </p:stCondLst>
                            <p:childTnLst>
                              <p:par>
                                <p:cTn id="83" presetID="17" presetClass="entr" presetSubtype="10" fill="hold" nodeType="afterEffect">
                                  <p:stCondLst>
                                    <p:cond delay="0"/>
                                  </p:stCondLst>
                                  <p:childTnLst>
                                    <p:set>
                                      <p:cBhvr>
                                        <p:cTn id="84" dur="1" fill="hold">
                                          <p:stCondLst>
                                            <p:cond delay="0"/>
                                          </p:stCondLst>
                                        </p:cTn>
                                        <p:tgtEl>
                                          <p:spTgt spid="5"/>
                                        </p:tgtEl>
                                        <p:attrNameLst>
                                          <p:attrName>style.visibility</p:attrName>
                                        </p:attrNameLst>
                                      </p:cBhvr>
                                      <p:to>
                                        <p:strVal val="visible"/>
                                      </p:to>
                                    </p:set>
                                    <p:anim calcmode="lin" valueType="num">
                                      <p:cBhvr>
                                        <p:cTn id="85" dur="500" fill="hold"/>
                                        <p:tgtEl>
                                          <p:spTgt spid="5"/>
                                        </p:tgtEl>
                                        <p:attrNameLst>
                                          <p:attrName>ppt_w</p:attrName>
                                        </p:attrNameLst>
                                      </p:cBhvr>
                                      <p:tavLst>
                                        <p:tav tm="0">
                                          <p:val>
                                            <p:fltVal val="0"/>
                                          </p:val>
                                        </p:tav>
                                        <p:tav tm="100000">
                                          <p:val>
                                            <p:strVal val="#ppt_w"/>
                                          </p:val>
                                        </p:tav>
                                      </p:tavLst>
                                    </p:anim>
                                    <p:anim calcmode="lin" valueType="num">
                                      <p:cBhvr>
                                        <p:cTn id="86" dur="500" fill="hold"/>
                                        <p:tgtEl>
                                          <p:spTgt spid="5"/>
                                        </p:tgtEl>
                                        <p:attrNameLst>
                                          <p:attrName>ppt_h</p:attrName>
                                        </p:attrNameLst>
                                      </p:cBhvr>
                                      <p:tavLst>
                                        <p:tav tm="0">
                                          <p:val>
                                            <p:strVal val="#ppt_h"/>
                                          </p:val>
                                        </p:tav>
                                        <p:tav tm="100000">
                                          <p:val>
                                            <p:strVal val="#ppt_h"/>
                                          </p:val>
                                        </p:tav>
                                      </p:tavLst>
                                    </p:anim>
                                  </p:childTnLst>
                                </p:cTn>
                              </p:par>
                            </p:childTnLst>
                          </p:cTn>
                        </p:par>
                        <p:par>
                          <p:cTn id="87" fill="hold">
                            <p:stCondLst>
                              <p:cond delay="1000"/>
                            </p:stCondLst>
                            <p:childTnLst>
                              <p:par>
                                <p:cTn id="88" presetID="17" presetClass="entr" presetSubtype="10" fill="hold" nodeType="afterEffect">
                                  <p:stCondLst>
                                    <p:cond delay="0"/>
                                  </p:stCondLst>
                                  <p:childTnLst>
                                    <p:set>
                                      <p:cBhvr>
                                        <p:cTn id="89" dur="1" fill="hold">
                                          <p:stCondLst>
                                            <p:cond delay="0"/>
                                          </p:stCondLst>
                                        </p:cTn>
                                        <p:tgtEl>
                                          <p:spTgt spid="2"/>
                                        </p:tgtEl>
                                        <p:attrNameLst>
                                          <p:attrName>style.visibility</p:attrName>
                                        </p:attrNameLst>
                                      </p:cBhvr>
                                      <p:to>
                                        <p:strVal val="visible"/>
                                      </p:to>
                                    </p:set>
                                    <p:anim calcmode="lin" valueType="num">
                                      <p:cBhvr>
                                        <p:cTn id="90" dur="500" fill="hold"/>
                                        <p:tgtEl>
                                          <p:spTgt spid="2"/>
                                        </p:tgtEl>
                                        <p:attrNameLst>
                                          <p:attrName>ppt_w</p:attrName>
                                        </p:attrNameLst>
                                      </p:cBhvr>
                                      <p:tavLst>
                                        <p:tav tm="0">
                                          <p:val>
                                            <p:fltVal val="0"/>
                                          </p:val>
                                        </p:tav>
                                        <p:tav tm="100000">
                                          <p:val>
                                            <p:strVal val="#ppt_w"/>
                                          </p:val>
                                        </p:tav>
                                      </p:tavLst>
                                    </p:anim>
                                    <p:anim calcmode="lin" valueType="num">
                                      <p:cBhvr>
                                        <p:cTn id="91"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0" grpId="0" autoUpdateAnimBg="0"/>
      <p:bldP spid="790531" grpId="0" animBg="1"/>
      <p:bldP spid="790532" grpId="0" animBg="1"/>
      <p:bldP spid="790533" grpId="0" animBg="1"/>
      <p:bldP spid="790534" grpId="0" animBg="1"/>
      <p:bldP spid="790535" grpId="0" animBg="1"/>
      <p:bldP spid="790536" grpId="0" animBg="1"/>
      <p:bldP spid="790546" grpId="0" animBg="1"/>
      <p:bldP spid="790547" grpId="0" autoUpdateAnimBg="0"/>
      <p:bldP spid="790548" grpId="0" autoUpdateAnimBg="0"/>
      <p:bldP spid="790549" grpId="0" autoUpdateAnimBg="0"/>
      <p:bldP spid="790550" grpId="0" autoUpdateAnimBg="0"/>
      <p:bldP spid="790551" grpId="0" autoUpdateAnimBg="0"/>
      <p:bldP spid="790552" grpId="0" autoUpdateAnimBg="0"/>
      <p:bldP spid="79055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a:xfrm>
            <a:off x="76200" y="2895600"/>
            <a:ext cx="9067800" cy="1143000"/>
          </a:xfrm>
        </p:spPr>
        <p:txBody>
          <a:bodyPr>
            <a:normAutofit/>
          </a:bodyPr>
          <a:lstStyle/>
          <a:p>
            <a:pPr algn="ctr" eaLnBrk="1" hangingPunct="1">
              <a:defRPr/>
            </a:pPr>
            <a:r>
              <a:rPr lang="en-US" sz="3200" b="1" dirty="0"/>
              <a:t>System Calls related to Semaphores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ext Box 3"/>
          <p:cNvSpPr txBox="1">
            <a:spLocks noChangeArrowheads="1"/>
          </p:cNvSpPr>
          <p:nvPr/>
        </p:nvSpPr>
        <p:spPr bwMode="auto">
          <a:xfrm>
            <a:off x="304800" y="0"/>
            <a:ext cx="8458200" cy="3293209"/>
          </a:xfrm>
          <a:prstGeom prst="rect">
            <a:avLst/>
          </a:prstGeom>
          <a:noFill/>
          <a:ln w="9525">
            <a:noFill/>
            <a:miter lim="800000"/>
            <a:headEnd/>
            <a:tailEnd/>
          </a:ln>
        </p:spPr>
        <p:txBody>
          <a:bodyPr>
            <a:spAutoFit/>
          </a:bodyPr>
          <a:lstStyle/>
          <a:p>
            <a:pPr>
              <a:spcBef>
                <a:spcPct val="50000"/>
              </a:spcBef>
            </a:pPr>
            <a:r>
              <a:rPr lang="en-US" sz="3200" b="1" dirty="0" err="1"/>
              <a:t>semget</a:t>
            </a:r>
            <a:r>
              <a:rPr lang="en-US" sz="4000" dirty="0"/>
              <a:t> </a:t>
            </a:r>
          </a:p>
          <a:p>
            <a:pPr>
              <a:spcBef>
                <a:spcPct val="50000"/>
              </a:spcBef>
            </a:pPr>
            <a:r>
              <a:rPr lang="en-US" sz="2400" dirty="0"/>
              <a:t>int  </a:t>
            </a:r>
            <a:r>
              <a:rPr lang="en-US" sz="2400" dirty="0" err="1"/>
              <a:t>semget</a:t>
            </a:r>
            <a:r>
              <a:rPr lang="en-US" sz="2400" dirty="0"/>
              <a:t>( 								</a:t>
            </a:r>
            <a:r>
              <a:rPr lang="en-US" sz="2400" dirty="0" err="1"/>
              <a:t>key_t</a:t>
            </a:r>
            <a:r>
              <a:rPr lang="en-US" sz="2400" dirty="0"/>
              <a:t>  key, 						</a:t>
            </a:r>
          </a:p>
          <a:p>
            <a:pPr>
              <a:spcBef>
                <a:spcPct val="50000"/>
              </a:spcBef>
            </a:pPr>
            <a:r>
              <a:rPr lang="en-US" sz="2400" dirty="0"/>
              <a:t>	int  </a:t>
            </a:r>
            <a:r>
              <a:rPr lang="en-US" sz="2400" dirty="0" err="1"/>
              <a:t>num_sems</a:t>
            </a:r>
            <a:r>
              <a:rPr lang="en-US" sz="2400" dirty="0"/>
              <a:t>,  </a:t>
            </a:r>
          </a:p>
          <a:p>
            <a:pPr>
              <a:spcBef>
                <a:spcPct val="50000"/>
              </a:spcBef>
            </a:pPr>
            <a:r>
              <a:rPr lang="en-US" sz="2400" dirty="0"/>
              <a:t>             int </a:t>
            </a:r>
            <a:r>
              <a:rPr lang="en-US" sz="2400" dirty="0" err="1"/>
              <a:t>sem_flags</a:t>
            </a:r>
            <a:r>
              <a:rPr lang="en-US" sz="2400" dirty="0"/>
              <a:t> 				</a:t>
            </a:r>
          </a:p>
          <a:p>
            <a:pPr>
              <a:spcBef>
                <a:spcPct val="50000"/>
              </a:spcBef>
            </a:pPr>
            <a:r>
              <a:rPr lang="en-US" sz="2400" dirty="0"/>
              <a:t>);</a:t>
            </a:r>
          </a:p>
        </p:txBody>
      </p:sp>
      <p:sp>
        <p:nvSpPr>
          <p:cNvPr id="2" name="Text Box 3">
            <a:extLst>
              <a:ext uri="{FF2B5EF4-FFF2-40B4-BE49-F238E27FC236}">
                <a16:creationId xmlns:a16="http://schemas.microsoft.com/office/drawing/2014/main" id="{7AC4C987-3A82-1E94-AEDD-C32DCDBB6CE5}"/>
              </a:ext>
            </a:extLst>
          </p:cNvPr>
          <p:cNvSpPr txBox="1">
            <a:spLocks noChangeArrowheads="1"/>
          </p:cNvSpPr>
          <p:nvPr/>
        </p:nvSpPr>
        <p:spPr bwMode="auto">
          <a:xfrm>
            <a:off x="76200" y="3348335"/>
            <a:ext cx="8991600" cy="523220"/>
          </a:xfrm>
          <a:prstGeom prst="rect">
            <a:avLst/>
          </a:prstGeom>
          <a:noFill/>
          <a:ln w="9525">
            <a:noFill/>
            <a:miter lim="800000"/>
            <a:headEnd/>
            <a:tailEnd/>
          </a:ln>
        </p:spPr>
        <p:txBody>
          <a:bodyPr>
            <a:spAutoFit/>
          </a:bodyPr>
          <a:lstStyle/>
          <a:p>
            <a:pPr>
              <a:spcBef>
                <a:spcPct val="50000"/>
              </a:spcBef>
              <a:buFont typeface="Wingdings" pitchFamily="2" charset="2"/>
              <a:buChar char="Ø"/>
            </a:pPr>
            <a:r>
              <a:rPr lang="en-US" sz="2800" dirty="0"/>
              <a:t> key          ----------  </a:t>
            </a:r>
            <a:r>
              <a:rPr lang="en-US" sz="2400" dirty="0"/>
              <a:t>An arbitrary number </a:t>
            </a:r>
            <a:r>
              <a:rPr lang="en-US" sz="1600" dirty="0"/>
              <a:t>(IPC_PRIVATE)</a:t>
            </a:r>
            <a:endParaRPr lang="en-US" sz="2400" dirty="0"/>
          </a:p>
        </p:txBody>
      </p:sp>
      <p:sp>
        <p:nvSpPr>
          <p:cNvPr id="3" name="Rectangle 5">
            <a:extLst>
              <a:ext uri="{FF2B5EF4-FFF2-40B4-BE49-F238E27FC236}">
                <a16:creationId xmlns:a16="http://schemas.microsoft.com/office/drawing/2014/main" id="{2784C678-9843-D482-8404-B9D750C6D181}"/>
              </a:ext>
            </a:extLst>
          </p:cNvPr>
          <p:cNvSpPr>
            <a:spLocks noChangeArrowheads="1"/>
          </p:cNvSpPr>
          <p:nvPr/>
        </p:nvSpPr>
        <p:spPr bwMode="auto">
          <a:xfrm>
            <a:off x="76200" y="4960937"/>
            <a:ext cx="2008883" cy="523220"/>
          </a:xfrm>
          <a:prstGeom prst="rect">
            <a:avLst/>
          </a:prstGeom>
          <a:noFill/>
          <a:ln w="9525">
            <a:noFill/>
            <a:miter lim="800000"/>
            <a:headEnd/>
            <a:tailEnd/>
          </a:ln>
        </p:spPr>
        <p:txBody>
          <a:bodyPr wrap="none">
            <a:spAutoFit/>
          </a:bodyPr>
          <a:lstStyle/>
          <a:p>
            <a:pPr>
              <a:buFont typeface="Wingdings" pitchFamily="2" charset="2"/>
              <a:buChar char="Ø"/>
            </a:pPr>
            <a:r>
              <a:rPr lang="en-US" sz="2800" dirty="0"/>
              <a:t> </a:t>
            </a:r>
            <a:r>
              <a:rPr lang="en-US" sz="2800" dirty="0" err="1"/>
              <a:t>sem_flags</a:t>
            </a:r>
            <a:endParaRPr lang="en-US" sz="2800" dirty="0"/>
          </a:p>
        </p:txBody>
      </p:sp>
      <p:sp>
        <p:nvSpPr>
          <p:cNvPr id="5" name="Line 6">
            <a:extLst>
              <a:ext uri="{FF2B5EF4-FFF2-40B4-BE49-F238E27FC236}">
                <a16:creationId xmlns:a16="http://schemas.microsoft.com/office/drawing/2014/main" id="{6E12C030-AD5A-D901-C229-505FC3564217}"/>
              </a:ext>
            </a:extLst>
          </p:cNvPr>
          <p:cNvSpPr>
            <a:spLocks noChangeShapeType="1"/>
          </p:cNvSpPr>
          <p:nvPr/>
        </p:nvSpPr>
        <p:spPr bwMode="auto">
          <a:xfrm>
            <a:off x="1828800" y="5214937"/>
            <a:ext cx="1447800" cy="0"/>
          </a:xfrm>
          <a:prstGeom prst="line">
            <a:avLst/>
          </a:prstGeom>
          <a:noFill/>
          <a:ln w="9525">
            <a:solidFill>
              <a:schemeClr val="tx1"/>
            </a:solidFill>
            <a:round/>
            <a:headEnd/>
            <a:tailEnd/>
          </a:ln>
        </p:spPr>
        <p:txBody>
          <a:bodyPr/>
          <a:lstStyle/>
          <a:p>
            <a:endParaRPr lang="en-US" sz="1400"/>
          </a:p>
        </p:txBody>
      </p:sp>
      <p:sp>
        <p:nvSpPr>
          <p:cNvPr id="6" name="Line 7">
            <a:extLst>
              <a:ext uri="{FF2B5EF4-FFF2-40B4-BE49-F238E27FC236}">
                <a16:creationId xmlns:a16="http://schemas.microsoft.com/office/drawing/2014/main" id="{2FD55198-CAC4-A13B-38D5-FF17EB3EDC44}"/>
              </a:ext>
            </a:extLst>
          </p:cNvPr>
          <p:cNvSpPr>
            <a:spLocks noChangeShapeType="1"/>
          </p:cNvSpPr>
          <p:nvPr/>
        </p:nvSpPr>
        <p:spPr bwMode="auto">
          <a:xfrm>
            <a:off x="2057400" y="5214937"/>
            <a:ext cx="0" cy="1095375"/>
          </a:xfrm>
          <a:prstGeom prst="line">
            <a:avLst/>
          </a:prstGeom>
          <a:noFill/>
          <a:ln w="9525">
            <a:solidFill>
              <a:schemeClr val="tx1"/>
            </a:solidFill>
            <a:round/>
            <a:headEnd/>
            <a:tailEnd/>
          </a:ln>
        </p:spPr>
        <p:txBody>
          <a:bodyPr/>
          <a:lstStyle/>
          <a:p>
            <a:endParaRPr lang="en-US" sz="1400"/>
          </a:p>
        </p:txBody>
      </p:sp>
      <p:sp>
        <p:nvSpPr>
          <p:cNvPr id="7" name="Line 8">
            <a:extLst>
              <a:ext uri="{FF2B5EF4-FFF2-40B4-BE49-F238E27FC236}">
                <a16:creationId xmlns:a16="http://schemas.microsoft.com/office/drawing/2014/main" id="{4DAAB259-26F1-2735-4968-AE19F90F1E27}"/>
              </a:ext>
            </a:extLst>
          </p:cNvPr>
          <p:cNvSpPr>
            <a:spLocks noChangeShapeType="1"/>
          </p:cNvSpPr>
          <p:nvPr/>
        </p:nvSpPr>
        <p:spPr bwMode="auto">
          <a:xfrm>
            <a:off x="2057400" y="6310312"/>
            <a:ext cx="1219200" cy="0"/>
          </a:xfrm>
          <a:prstGeom prst="line">
            <a:avLst/>
          </a:prstGeom>
          <a:noFill/>
          <a:ln w="9525">
            <a:solidFill>
              <a:schemeClr val="tx1"/>
            </a:solidFill>
            <a:round/>
            <a:headEnd/>
            <a:tailEnd/>
          </a:ln>
        </p:spPr>
        <p:txBody>
          <a:bodyPr/>
          <a:lstStyle/>
          <a:p>
            <a:endParaRPr lang="en-US" sz="1400"/>
          </a:p>
        </p:txBody>
      </p:sp>
      <p:sp>
        <p:nvSpPr>
          <p:cNvPr id="8" name="Text Box 10">
            <a:extLst>
              <a:ext uri="{FF2B5EF4-FFF2-40B4-BE49-F238E27FC236}">
                <a16:creationId xmlns:a16="http://schemas.microsoft.com/office/drawing/2014/main" id="{7C412EE0-02AA-62CD-9CD4-28AEB54B974D}"/>
              </a:ext>
            </a:extLst>
          </p:cNvPr>
          <p:cNvSpPr txBox="1">
            <a:spLocks noChangeArrowheads="1"/>
          </p:cNvSpPr>
          <p:nvPr/>
        </p:nvSpPr>
        <p:spPr bwMode="auto">
          <a:xfrm>
            <a:off x="76200" y="3918407"/>
            <a:ext cx="9067800" cy="523220"/>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r>
              <a:rPr lang="en-US" sz="2800" dirty="0"/>
              <a:t> </a:t>
            </a:r>
            <a:r>
              <a:rPr lang="en-US" sz="2800" dirty="0" err="1"/>
              <a:t>num_sems</a:t>
            </a:r>
            <a:r>
              <a:rPr lang="en-US" sz="2800" dirty="0"/>
              <a:t> ---------  </a:t>
            </a:r>
            <a:r>
              <a:rPr lang="en-US" sz="2400" dirty="0"/>
              <a:t>Number of semaphores required		</a:t>
            </a:r>
            <a:endParaRPr lang="en-US" sz="2800" dirty="0"/>
          </a:p>
        </p:txBody>
      </p:sp>
      <p:sp>
        <p:nvSpPr>
          <p:cNvPr id="9" name="Rectangle 13">
            <a:extLst>
              <a:ext uri="{FF2B5EF4-FFF2-40B4-BE49-F238E27FC236}">
                <a16:creationId xmlns:a16="http://schemas.microsoft.com/office/drawing/2014/main" id="{BB9F06F6-6048-B695-A831-B9D2A6330F74}"/>
              </a:ext>
            </a:extLst>
          </p:cNvPr>
          <p:cNvSpPr>
            <a:spLocks noChangeArrowheads="1"/>
          </p:cNvSpPr>
          <p:nvPr/>
        </p:nvSpPr>
        <p:spPr bwMode="auto">
          <a:xfrm>
            <a:off x="3429000" y="4876800"/>
            <a:ext cx="4572000" cy="523220"/>
          </a:xfrm>
          <a:prstGeom prst="rect">
            <a:avLst/>
          </a:prstGeom>
          <a:noFill/>
          <a:ln w="9525">
            <a:noFill/>
            <a:miter lim="800000"/>
            <a:headEnd/>
            <a:tailEnd/>
          </a:ln>
        </p:spPr>
        <p:txBody>
          <a:bodyPr>
            <a:spAutoFit/>
          </a:bodyPr>
          <a:lstStyle/>
          <a:p>
            <a:r>
              <a:rPr lang="en-US" sz="2800" i="1"/>
              <a:t>IPC_CREAT</a:t>
            </a:r>
          </a:p>
        </p:txBody>
      </p:sp>
      <p:sp>
        <p:nvSpPr>
          <p:cNvPr id="10" name="Rectangle 14">
            <a:extLst>
              <a:ext uri="{FF2B5EF4-FFF2-40B4-BE49-F238E27FC236}">
                <a16:creationId xmlns:a16="http://schemas.microsoft.com/office/drawing/2014/main" id="{9C2CA306-DC88-0502-723F-96904F8B7ECC}"/>
              </a:ext>
            </a:extLst>
          </p:cNvPr>
          <p:cNvSpPr>
            <a:spLocks noChangeArrowheads="1"/>
          </p:cNvSpPr>
          <p:nvPr/>
        </p:nvSpPr>
        <p:spPr bwMode="auto">
          <a:xfrm>
            <a:off x="3352800" y="5988050"/>
            <a:ext cx="1515479" cy="523220"/>
          </a:xfrm>
          <a:prstGeom prst="rect">
            <a:avLst/>
          </a:prstGeom>
          <a:noFill/>
          <a:ln w="9525">
            <a:noFill/>
            <a:miter lim="800000"/>
            <a:headEnd/>
            <a:tailEnd/>
          </a:ln>
        </p:spPr>
        <p:txBody>
          <a:bodyPr wrap="none">
            <a:spAutoFit/>
          </a:bodyPr>
          <a:lstStyle/>
          <a:p>
            <a:r>
              <a:rPr lang="en-US" sz="2800" i="1"/>
              <a:t>IPC_EXCL</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ChangeArrowheads="1"/>
          </p:cNvSpPr>
          <p:nvPr/>
        </p:nvSpPr>
        <p:spPr bwMode="auto">
          <a:xfrm>
            <a:off x="304800" y="1398588"/>
            <a:ext cx="7924800" cy="2308324"/>
          </a:xfrm>
          <a:prstGeom prst="rect">
            <a:avLst/>
          </a:prstGeom>
          <a:noFill/>
          <a:ln w="9525">
            <a:noFill/>
            <a:miter lim="800000"/>
            <a:headEnd/>
            <a:tailEnd/>
          </a:ln>
        </p:spPr>
        <p:txBody>
          <a:bodyPr wrap="square">
            <a:spAutoFit/>
          </a:bodyPr>
          <a:lstStyle/>
          <a:p>
            <a:pPr>
              <a:spcBef>
                <a:spcPct val="50000"/>
              </a:spcBef>
            </a:pPr>
            <a:r>
              <a:rPr lang="en-US" sz="2400" dirty="0"/>
              <a:t>int  </a:t>
            </a:r>
            <a:r>
              <a:rPr lang="en-US" sz="2400" dirty="0" err="1"/>
              <a:t>semop</a:t>
            </a:r>
            <a:r>
              <a:rPr lang="en-US" sz="2400" dirty="0"/>
              <a:t>(								int  </a:t>
            </a:r>
            <a:r>
              <a:rPr lang="en-US" sz="2400" dirty="0" err="1"/>
              <a:t>semid</a:t>
            </a:r>
            <a:r>
              <a:rPr lang="en-US" sz="2400" dirty="0"/>
              <a:t>, 			 				struct </a:t>
            </a:r>
            <a:r>
              <a:rPr lang="en-US" sz="2400" dirty="0" err="1"/>
              <a:t>sembuf</a:t>
            </a:r>
            <a:r>
              <a:rPr lang="en-US" sz="2400" dirty="0"/>
              <a:t>   *</a:t>
            </a:r>
            <a:r>
              <a:rPr lang="en-US" sz="2400" dirty="0" err="1"/>
              <a:t>sem_ops</a:t>
            </a:r>
            <a:r>
              <a:rPr lang="en-US" sz="2400" dirty="0"/>
              <a:t>,</a:t>
            </a:r>
          </a:p>
          <a:p>
            <a:pPr>
              <a:spcBef>
                <a:spcPct val="50000"/>
              </a:spcBef>
            </a:pPr>
            <a:r>
              <a:rPr lang="en-US" sz="2400" dirty="0"/>
              <a:t>	</a:t>
            </a:r>
            <a:r>
              <a:rPr lang="en-US" sz="2400" dirty="0" err="1"/>
              <a:t>size_t</a:t>
            </a:r>
            <a:r>
              <a:rPr lang="en-US" sz="2400" dirty="0"/>
              <a:t>   </a:t>
            </a:r>
            <a:r>
              <a:rPr lang="en-US" sz="2400" dirty="0" err="1"/>
              <a:t>num_sem_ops</a:t>
            </a:r>
            <a:endParaRPr lang="en-US" sz="2400" dirty="0"/>
          </a:p>
          <a:p>
            <a:pPr>
              <a:spcBef>
                <a:spcPct val="50000"/>
              </a:spcBef>
            </a:pPr>
            <a:r>
              <a:rPr lang="en-US" sz="2400" dirty="0"/>
              <a:t>) ;</a:t>
            </a:r>
          </a:p>
        </p:txBody>
      </p:sp>
      <p:sp>
        <p:nvSpPr>
          <p:cNvPr id="230403" name="Rectangle 13"/>
          <p:cNvSpPr>
            <a:spLocks noGrp="1" noChangeArrowheads="1"/>
          </p:cNvSpPr>
          <p:nvPr>
            <p:ph type="ctrTitle"/>
          </p:nvPr>
        </p:nvSpPr>
        <p:spPr>
          <a:xfrm>
            <a:off x="304800" y="455037"/>
            <a:ext cx="7772400" cy="687963"/>
          </a:xfrm>
        </p:spPr>
        <p:txBody>
          <a:bodyPr>
            <a:normAutofit fontScale="90000"/>
          </a:bodyPr>
          <a:lstStyle/>
          <a:p>
            <a:pPr algn="l" eaLnBrk="1" hangingPunct="1"/>
            <a:r>
              <a:rPr lang="en-US" b="1" dirty="0" err="1"/>
              <a:t>semop</a:t>
            </a:r>
            <a:endParaRPr lang="en-US" b="1" dirty="0"/>
          </a:p>
        </p:txBody>
      </p:sp>
      <p:sp>
        <p:nvSpPr>
          <p:cNvPr id="2" name="Rectangle 3">
            <a:extLst>
              <a:ext uri="{FF2B5EF4-FFF2-40B4-BE49-F238E27FC236}">
                <a16:creationId xmlns:a16="http://schemas.microsoft.com/office/drawing/2014/main" id="{CD8E3A80-3E88-9214-1048-F992FA88D0A9}"/>
              </a:ext>
            </a:extLst>
          </p:cNvPr>
          <p:cNvSpPr>
            <a:spLocks noChangeArrowheads="1"/>
          </p:cNvSpPr>
          <p:nvPr/>
        </p:nvSpPr>
        <p:spPr bwMode="auto">
          <a:xfrm>
            <a:off x="76200" y="3946525"/>
            <a:ext cx="9144000" cy="584775"/>
          </a:xfrm>
          <a:prstGeom prst="rect">
            <a:avLst/>
          </a:prstGeom>
          <a:noFill/>
          <a:ln w="9525">
            <a:noFill/>
            <a:miter lim="800000"/>
            <a:headEnd/>
            <a:tailEnd/>
          </a:ln>
        </p:spPr>
        <p:txBody>
          <a:bodyPr>
            <a:spAutoFit/>
          </a:bodyPr>
          <a:lstStyle/>
          <a:p>
            <a:pPr>
              <a:buClr>
                <a:srgbClr val="339933"/>
              </a:buClr>
              <a:buFont typeface="Wingdings" pitchFamily="2" charset="2"/>
              <a:buChar char="Ø"/>
            </a:pPr>
            <a:r>
              <a:rPr lang="en-US" sz="3200" dirty="0"/>
              <a:t> </a:t>
            </a:r>
            <a:r>
              <a:rPr lang="en-US" sz="3200" dirty="0" err="1"/>
              <a:t>semid</a:t>
            </a:r>
            <a:r>
              <a:rPr lang="en-US" sz="3200" dirty="0"/>
              <a:t>         -------   </a:t>
            </a:r>
            <a:r>
              <a:rPr lang="en-US" sz="2000" dirty="0"/>
              <a:t>Semaphore  id return by </a:t>
            </a:r>
            <a:r>
              <a:rPr lang="en-US" sz="2000" dirty="0" err="1"/>
              <a:t>semget</a:t>
            </a:r>
            <a:r>
              <a:rPr lang="en-US" sz="2000" dirty="0"/>
              <a:t>()</a:t>
            </a:r>
            <a:r>
              <a:rPr lang="en-US" sz="3200" dirty="0"/>
              <a:t>                       </a:t>
            </a:r>
          </a:p>
        </p:txBody>
      </p:sp>
      <p:sp>
        <p:nvSpPr>
          <p:cNvPr id="3" name="Rectangle 4">
            <a:extLst>
              <a:ext uri="{FF2B5EF4-FFF2-40B4-BE49-F238E27FC236}">
                <a16:creationId xmlns:a16="http://schemas.microsoft.com/office/drawing/2014/main" id="{DE66121B-3D13-2A32-6B09-A36D7281B8E5}"/>
              </a:ext>
            </a:extLst>
          </p:cNvPr>
          <p:cNvSpPr>
            <a:spLocks noChangeArrowheads="1"/>
          </p:cNvSpPr>
          <p:nvPr/>
        </p:nvSpPr>
        <p:spPr bwMode="auto">
          <a:xfrm>
            <a:off x="76200" y="4479925"/>
            <a:ext cx="9144000" cy="584775"/>
          </a:xfrm>
          <a:prstGeom prst="rect">
            <a:avLst/>
          </a:prstGeom>
          <a:noFill/>
          <a:ln w="9525">
            <a:noFill/>
            <a:miter lim="800000"/>
            <a:headEnd/>
            <a:tailEnd/>
          </a:ln>
        </p:spPr>
        <p:txBody>
          <a:bodyPr>
            <a:spAutoFit/>
          </a:bodyPr>
          <a:lstStyle/>
          <a:p>
            <a:pPr>
              <a:buClr>
                <a:srgbClr val="339933"/>
              </a:buClr>
              <a:buFont typeface="Wingdings" pitchFamily="2" charset="2"/>
              <a:buChar char="Ø"/>
            </a:pPr>
            <a:r>
              <a:rPr lang="en-US" sz="3200" dirty="0"/>
              <a:t> </a:t>
            </a:r>
            <a:r>
              <a:rPr lang="en-US" sz="3200" dirty="0" err="1"/>
              <a:t>sem_ops</a:t>
            </a:r>
            <a:r>
              <a:rPr lang="en-US" sz="3200" dirty="0"/>
              <a:t>     -------   </a:t>
            </a:r>
            <a:r>
              <a:rPr lang="en-US" sz="2000" dirty="0"/>
              <a:t>Which is pointer to an array of structures</a:t>
            </a:r>
            <a:r>
              <a:rPr lang="en-US" sz="3200" dirty="0"/>
              <a:t>                       </a:t>
            </a:r>
          </a:p>
        </p:txBody>
      </p:sp>
      <p:sp>
        <p:nvSpPr>
          <p:cNvPr id="4" name="Rectangle 5">
            <a:extLst>
              <a:ext uri="{FF2B5EF4-FFF2-40B4-BE49-F238E27FC236}">
                <a16:creationId xmlns:a16="http://schemas.microsoft.com/office/drawing/2014/main" id="{00008023-A847-4D95-45BC-CF709AA6B0D1}"/>
              </a:ext>
            </a:extLst>
          </p:cNvPr>
          <p:cNvSpPr>
            <a:spLocks noChangeArrowheads="1"/>
          </p:cNvSpPr>
          <p:nvPr/>
        </p:nvSpPr>
        <p:spPr bwMode="auto">
          <a:xfrm>
            <a:off x="76200" y="5013325"/>
            <a:ext cx="9144000" cy="584775"/>
          </a:xfrm>
          <a:prstGeom prst="rect">
            <a:avLst/>
          </a:prstGeom>
          <a:noFill/>
          <a:ln w="9525">
            <a:noFill/>
            <a:miter lim="800000"/>
            <a:headEnd/>
            <a:tailEnd/>
          </a:ln>
        </p:spPr>
        <p:txBody>
          <a:bodyPr>
            <a:spAutoFit/>
          </a:bodyPr>
          <a:lstStyle/>
          <a:p>
            <a:pPr>
              <a:buFont typeface="Wingdings" pitchFamily="2" charset="2"/>
              <a:buChar char="Ø"/>
            </a:pPr>
            <a:r>
              <a:rPr lang="en-US" sz="3200" dirty="0"/>
              <a:t> </a:t>
            </a:r>
            <a:r>
              <a:rPr lang="en-US" sz="3200" dirty="0" err="1"/>
              <a:t>num_sem_ops</a:t>
            </a:r>
            <a:r>
              <a:rPr lang="en-US" sz="3200" dirty="0"/>
              <a:t> -------   </a:t>
            </a:r>
            <a:r>
              <a:rPr lang="en-US" sz="2000" dirty="0"/>
              <a:t>Size of structure pointed by </a:t>
            </a:r>
            <a:r>
              <a:rPr lang="en-US" sz="2000" dirty="0" err="1"/>
              <a:t>sem_ops</a:t>
            </a:r>
            <a:r>
              <a:rPr lang="en-US" sz="2000" dirty="0"/>
              <a:t> pointer</a:t>
            </a:r>
            <a:endParaRPr lang="en-US" sz="320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ext Box 3"/>
          <p:cNvSpPr txBox="1">
            <a:spLocks noChangeArrowheads="1"/>
          </p:cNvSpPr>
          <p:nvPr/>
        </p:nvSpPr>
        <p:spPr bwMode="auto">
          <a:xfrm>
            <a:off x="381000" y="1138238"/>
            <a:ext cx="7924800" cy="3970318"/>
          </a:xfrm>
          <a:prstGeom prst="rect">
            <a:avLst/>
          </a:prstGeom>
          <a:noFill/>
          <a:ln w="9525">
            <a:noFill/>
            <a:miter lim="800000"/>
            <a:headEnd/>
            <a:tailEnd/>
          </a:ln>
        </p:spPr>
        <p:txBody>
          <a:bodyPr>
            <a:spAutoFit/>
          </a:bodyPr>
          <a:lstStyle/>
          <a:p>
            <a:pPr>
              <a:spcBef>
                <a:spcPct val="50000"/>
              </a:spcBef>
            </a:pPr>
            <a:r>
              <a:rPr lang="en-US" sz="2800" i="1" dirty="0">
                <a:solidFill>
                  <a:srgbClr val="CC3300"/>
                </a:solidFill>
              </a:rPr>
              <a:t>/ * </a:t>
            </a:r>
            <a:r>
              <a:rPr lang="en-US" sz="2800" i="1" dirty="0" err="1">
                <a:solidFill>
                  <a:srgbClr val="CC3300"/>
                </a:solidFill>
              </a:rPr>
              <a:t>sembuf</a:t>
            </a:r>
            <a:r>
              <a:rPr lang="en-US" sz="2800" i="1" dirty="0">
                <a:solidFill>
                  <a:srgbClr val="CC3300"/>
                </a:solidFill>
              </a:rPr>
              <a:t> structure * /</a:t>
            </a:r>
          </a:p>
          <a:p>
            <a:pPr>
              <a:spcBef>
                <a:spcPct val="50000"/>
              </a:spcBef>
            </a:pPr>
            <a:r>
              <a:rPr lang="en-US" sz="3200" dirty="0">
                <a:solidFill>
                  <a:srgbClr val="008000"/>
                </a:solidFill>
              </a:rPr>
              <a:t>struct  </a:t>
            </a:r>
            <a:r>
              <a:rPr lang="en-US" sz="3200" dirty="0" err="1">
                <a:solidFill>
                  <a:srgbClr val="008000"/>
                </a:solidFill>
              </a:rPr>
              <a:t>sembuf</a:t>
            </a:r>
            <a:r>
              <a:rPr lang="en-US" sz="3200" dirty="0">
                <a:solidFill>
                  <a:srgbClr val="008000"/>
                </a:solidFill>
              </a:rPr>
              <a:t> {						short </a:t>
            </a:r>
            <a:r>
              <a:rPr lang="en-US" sz="3200" dirty="0" err="1">
                <a:solidFill>
                  <a:srgbClr val="008000"/>
                </a:solidFill>
              </a:rPr>
              <a:t>sem_num</a:t>
            </a:r>
            <a:r>
              <a:rPr lang="en-US" sz="3200" dirty="0">
                <a:solidFill>
                  <a:srgbClr val="008000"/>
                </a:solidFill>
              </a:rPr>
              <a:t>;     				            </a:t>
            </a:r>
          </a:p>
          <a:p>
            <a:pPr>
              <a:spcBef>
                <a:spcPct val="50000"/>
              </a:spcBef>
            </a:pPr>
            <a:r>
              <a:rPr lang="en-US" sz="3200" dirty="0">
                <a:solidFill>
                  <a:srgbClr val="008000"/>
                </a:solidFill>
              </a:rPr>
              <a:t>          short </a:t>
            </a:r>
            <a:r>
              <a:rPr lang="en-US" sz="3200" dirty="0" err="1">
                <a:solidFill>
                  <a:srgbClr val="008000"/>
                </a:solidFill>
              </a:rPr>
              <a:t>sem_op</a:t>
            </a:r>
            <a:r>
              <a:rPr lang="en-US" sz="3200" dirty="0">
                <a:solidFill>
                  <a:srgbClr val="008000"/>
                </a:solidFill>
              </a:rPr>
              <a:t>;					            </a:t>
            </a:r>
          </a:p>
          <a:p>
            <a:pPr>
              <a:spcBef>
                <a:spcPct val="50000"/>
              </a:spcBef>
            </a:pPr>
            <a:r>
              <a:rPr lang="en-US" sz="3200" dirty="0">
                <a:solidFill>
                  <a:srgbClr val="008000"/>
                </a:solidFill>
              </a:rPr>
              <a:t>          short </a:t>
            </a:r>
            <a:r>
              <a:rPr lang="en-US" sz="3200" dirty="0" err="1">
                <a:solidFill>
                  <a:srgbClr val="008000"/>
                </a:solidFill>
              </a:rPr>
              <a:t>sem_flg</a:t>
            </a:r>
            <a:r>
              <a:rPr lang="en-US" sz="3200" dirty="0">
                <a:solidFill>
                  <a:srgbClr val="008000"/>
                </a:solidFill>
              </a:rPr>
              <a:t>; </a:t>
            </a:r>
          </a:p>
          <a:p>
            <a:pPr>
              <a:spcBef>
                <a:spcPct val="50000"/>
              </a:spcBef>
            </a:pPr>
            <a:r>
              <a:rPr lang="en-US" sz="3200" dirty="0">
                <a:solidFill>
                  <a:srgbClr val="008000"/>
                </a:solidFill>
              </a:rPr>
              <a:t>};</a:t>
            </a:r>
          </a:p>
        </p:txBody>
      </p:sp>
      <p:sp>
        <p:nvSpPr>
          <p:cNvPr id="232451" name="Rectangle 11"/>
          <p:cNvSpPr>
            <a:spLocks noGrp="1" noChangeArrowheads="1"/>
          </p:cNvSpPr>
          <p:nvPr>
            <p:ph type="ctrTitle"/>
          </p:nvPr>
        </p:nvSpPr>
        <p:spPr>
          <a:xfrm>
            <a:off x="76200" y="-304800"/>
            <a:ext cx="7772400" cy="1470025"/>
          </a:xfrm>
        </p:spPr>
        <p:txBody>
          <a:bodyPr/>
          <a:lstStyle/>
          <a:p>
            <a:pPr eaLnBrk="1" hangingPunct="1"/>
            <a:r>
              <a:rPr lang="en-US" b="1" i="1" dirty="0" err="1"/>
              <a:t>sembuf</a:t>
            </a:r>
            <a:r>
              <a:rPr lang="en-US" b="1" i="1" dirty="0"/>
              <a:t> structure</a:t>
            </a:r>
          </a:p>
        </p:txBody>
      </p:sp>
      <p:sp>
        <p:nvSpPr>
          <p:cNvPr id="2" name="Text Box 2">
            <a:extLst>
              <a:ext uri="{FF2B5EF4-FFF2-40B4-BE49-F238E27FC236}">
                <a16:creationId xmlns:a16="http://schemas.microsoft.com/office/drawing/2014/main" id="{BA4BF175-8AD3-8E6D-7893-004EAC50AFB5}"/>
              </a:ext>
            </a:extLst>
          </p:cNvPr>
          <p:cNvSpPr txBox="1">
            <a:spLocks noChangeArrowheads="1"/>
          </p:cNvSpPr>
          <p:nvPr/>
        </p:nvSpPr>
        <p:spPr bwMode="auto">
          <a:xfrm>
            <a:off x="152400" y="4801850"/>
            <a:ext cx="8991600" cy="1446550"/>
          </a:xfrm>
          <a:prstGeom prst="rect">
            <a:avLst/>
          </a:prstGeom>
          <a:noFill/>
          <a:ln w="9525">
            <a:noFill/>
            <a:miter lim="800000"/>
            <a:headEnd/>
            <a:tailEnd/>
          </a:ln>
        </p:spPr>
        <p:txBody>
          <a:bodyPr>
            <a:spAutoFit/>
          </a:bodyPr>
          <a:lstStyle/>
          <a:p>
            <a:pPr>
              <a:spcBef>
                <a:spcPct val="50000"/>
              </a:spcBef>
              <a:buClr>
                <a:srgbClr val="339933"/>
              </a:buClr>
              <a:buFont typeface="Wingdings" pitchFamily="2" charset="2"/>
              <a:buChar char="Ø"/>
            </a:pPr>
            <a:r>
              <a:rPr lang="en-US" sz="2200" dirty="0">
                <a:solidFill>
                  <a:srgbClr val="008000"/>
                </a:solidFill>
              </a:rPr>
              <a:t>  </a:t>
            </a:r>
            <a:r>
              <a:rPr lang="en-US" sz="2200" dirty="0" err="1">
                <a:solidFill>
                  <a:srgbClr val="008000"/>
                </a:solidFill>
              </a:rPr>
              <a:t>sem_num</a:t>
            </a:r>
            <a:r>
              <a:rPr lang="en-US" sz="2200" dirty="0">
                <a:solidFill>
                  <a:srgbClr val="CC6600"/>
                </a:solidFill>
              </a:rPr>
              <a:t> 	      </a:t>
            </a:r>
            <a:r>
              <a:rPr lang="en-US" sz="2200" dirty="0"/>
              <a:t>semaphore number </a:t>
            </a:r>
          </a:p>
          <a:p>
            <a:pPr>
              <a:spcBef>
                <a:spcPct val="50000"/>
              </a:spcBef>
              <a:buClr>
                <a:srgbClr val="339933"/>
              </a:buClr>
              <a:buFont typeface="Wingdings" pitchFamily="2" charset="2"/>
              <a:buChar char="Ø"/>
            </a:pPr>
            <a:r>
              <a:rPr lang="en-US" sz="2200" dirty="0"/>
              <a:t>  </a:t>
            </a:r>
            <a:r>
              <a:rPr lang="en-US" sz="2200" dirty="0" err="1">
                <a:solidFill>
                  <a:srgbClr val="008000"/>
                </a:solidFill>
              </a:rPr>
              <a:t>sem_op</a:t>
            </a:r>
            <a:r>
              <a:rPr lang="en-US" sz="2200" dirty="0"/>
              <a:t>                value on which semaphore should be changed    </a:t>
            </a:r>
          </a:p>
          <a:p>
            <a:pPr>
              <a:spcBef>
                <a:spcPct val="50000"/>
              </a:spcBef>
              <a:buClr>
                <a:srgbClr val="339933"/>
              </a:buClr>
              <a:buFont typeface="Wingdings" pitchFamily="2" charset="2"/>
              <a:buChar char="Ø"/>
            </a:pPr>
            <a:r>
              <a:rPr lang="en-US" sz="2200" dirty="0"/>
              <a:t>  </a:t>
            </a:r>
            <a:r>
              <a:rPr lang="en-US" sz="2200" dirty="0" err="1">
                <a:solidFill>
                  <a:srgbClr val="008000"/>
                </a:solidFill>
              </a:rPr>
              <a:t>sem_flg</a:t>
            </a:r>
            <a:r>
              <a:rPr lang="en-US" sz="2200" dirty="0"/>
              <a:t>                </a:t>
            </a:r>
            <a:r>
              <a:rPr lang="en-US" sz="2200" i="1" dirty="0"/>
              <a:t>SEM_UNDO  or ZERO </a:t>
            </a:r>
            <a:r>
              <a:rPr lang="en-US" sz="2200" dirty="0"/>
              <a:t>       </a:t>
            </a:r>
            <a:endParaRPr lang="en-US" sz="2200" i="1"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idx="1"/>
          </p:nvPr>
        </p:nvSpPr>
        <p:spPr>
          <a:xfrm>
            <a:off x="152400" y="838200"/>
            <a:ext cx="8839200" cy="5105400"/>
          </a:xfrm>
        </p:spPr>
        <p:txBody>
          <a:bodyPr>
            <a:normAutofit lnSpcReduction="10000"/>
          </a:bodyPr>
          <a:lstStyle/>
          <a:p>
            <a:pPr marL="0" indent="0" eaLnBrk="1" hangingPunct="1">
              <a:lnSpc>
                <a:spcPct val="90000"/>
              </a:lnSpc>
              <a:buClr>
                <a:srgbClr val="339933"/>
              </a:buClr>
              <a:buNone/>
            </a:pPr>
            <a:r>
              <a:rPr lang="en-US" sz="3200" b="1" i="1" dirty="0">
                <a:solidFill>
                  <a:srgbClr val="CC6600"/>
                </a:solidFill>
              </a:rPr>
              <a:t>Taking Semaphore ( Wait )</a:t>
            </a:r>
          </a:p>
          <a:p>
            <a:pPr marL="0" indent="0" eaLnBrk="1" hangingPunct="1">
              <a:lnSpc>
                <a:spcPct val="90000"/>
              </a:lnSpc>
              <a:buClr>
                <a:srgbClr val="339933"/>
              </a:buClr>
              <a:buNone/>
            </a:pPr>
            <a:endParaRPr lang="en-US" sz="3200" dirty="0"/>
          </a:p>
          <a:p>
            <a:pPr marL="0" indent="0" eaLnBrk="1" hangingPunct="1">
              <a:lnSpc>
                <a:spcPct val="90000"/>
              </a:lnSpc>
              <a:buClr>
                <a:srgbClr val="339933"/>
              </a:buClr>
              <a:buNone/>
            </a:pPr>
            <a:r>
              <a:rPr lang="en-US" sz="2400" dirty="0"/>
              <a:t>If  </a:t>
            </a:r>
            <a:r>
              <a:rPr lang="en-US" sz="2400" dirty="0" err="1">
                <a:solidFill>
                  <a:srgbClr val="339933"/>
                </a:solidFill>
              </a:rPr>
              <a:t>sv</a:t>
            </a:r>
            <a:r>
              <a:rPr lang="en-US" sz="2400" dirty="0">
                <a:solidFill>
                  <a:srgbClr val="339933"/>
                </a:solidFill>
              </a:rPr>
              <a:t> is greater than zero decrement </a:t>
            </a:r>
            <a:r>
              <a:rPr lang="en-US" sz="2400" dirty="0" err="1">
                <a:solidFill>
                  <a:srgbClr val="339933"/>
                </a:solidFill>
              </a:rPr>
              <a:t>sv</a:t>
            </a:r>
            <a:endParaRPr lang="en-US" sz="2400" dirty="0"/>
          </a:p>
          <a:p>
            <a:pPr eaLnBrk="1" hangingPunct="1">
              <a:lnSpc>
                <a:spcPct val="90000"/>
              </a:lnSpc>
              <a:buClr>
                <a:srgbClr val="339933"/>
              </a:buClr>
              <a:buFont typeface="Wingdings" pitchFamily="2" charset="2"/>
              <a:buNone/>
            </a:pPr>
            <a:r>
              <a:rPr lang="en-US" sz="2400" dirty="0"/>
              <a:t>else 									</a:t>
            </a:r>
          </a:p>
          <a:p>
            <a:pPr eaLnBrk="1" hangingPunct="1">
              <a:lnSpc>
                <a:spcPct val="90000"/>
              </a:lnSpc>
              <a:buClr>
                <a:srgbClr val="339933"/>
              </a:buClr>
              <a:buFont typeface="Wingdings" pitchFamily="2" charset="2"/>
              <a:buNone/>
            </a:pPr>
            <a:r>
              <a:rPr lang="en-US" sz="2400" dirty="0">
                <a:solidFill>
                  <a:srgbClr val="FF0000"/>
                </a:solidFill>
              </a:rPr>
              <a:t>    suspend execution of this process</a:t>
            </a:r>
          </a:p>
          <a:p>
            <a:pPr eaLnBrk="1" hangingPunct="1">
              <a:lnSpc>
                <a:spcPct val="90000"/>
              </a:lnSpc>
              <a:buClr>
                <a:srgbClr val="339933"/>
              </a:buClr>
              <a:buFont typeface="Wingdings" pitchFamily="2" charset="2"/>
              <a:buNone/>
            </a:pPr>
            <a:endParaRPr lang="en-US" sz="2400" dirty="0">
              <a:solidFill>
                <a:srgbClr val="FF0000"/>
              </a:solidFill>
            </a:endParaRPr>
          </a:p>
          <a:p>
            <a:pPr marL="0" indent="0">
              <a:buClr>
                <a:srgbClr val="339933"/>
              </a:buClr>
              <a:buNone/>
            </a:pPr>
            <a:r>
              <a:rPr lang="en-US" sz="3200" b="1" i="1" dirty="0">
                <a:solidFill>
                  <a:srgbClr val="CC6600"/>
                </a:solidFill>
              </a:rPr>
              <a:t>Releasing Semaphore ( Signal )</a:t>
            </a:r>
          </a:p>
          <a:p>
            <a:pPr marL="0" indent="0" eaLnBrk="1" hangingPunct="1">
              <a:buClr>
                <a:srgbClr val="339933"/>
              </a:buClr>
              <a:buNone/>
            </a:pPr>
            <a:endParaRPr lang="en-US" sz="2400" dirty="0"/>
          </a:p>
          <a:p>
            <a:pPr marL="0" indent="0" eaLnBrk="1" hangingPunct="1">
              <a:buClr>
                <a:srgbClr val="339933"/>
              </a:buClr>
              <a:buNone/>
            </a:pPr>
            <a:r>
              <a:rPr lang="en-US" sz="2400" dirty="0">
                <a:solidFill>
                  <a:srgbClr val="00B050"/>
                </a:solidFill>
              </a:rPr>
              <a:t>Increment </a:t>
            </a:r>
            <a:r>
              <a:rPr lang="en-US" sz="2400" dirty="0" err="1">
                <a:solidFill>
                  <a:srgbClr val="00B050"/>
                </a:solidFill>
              </a:rPr>
              <a:t>sv</a:t>
            </a:r>
            <a:r>
              <a:rPr lang="en-US" sz="2400" dirty="0">
                <a:solidFill>
                  <a:srgbClr val="00B050"/>
                </a:solidFill>
              </a:rPr>
              <a:t> and if some other process has suspended waiting for </a:t>
            </a:r>
            <a:r>
              <a:rPr lang="en-US" sz="2400" dirty="0" err="1">
                <a:solidFill>
                  <a:srgbClr val="00B050"/>
                </a:solidFill>
              </a:rPr>
              <a:t>sv</a:t>
            </a:r>
            <a:r>
              <a:rPr lang="en-US" sz="2400" dirty="0">
                <a:solidFill>
                  <a:srgbClr val="00B050"/>
                </a:solidFill>
              </a:rPr>
              <a:t> make it resume	execution 	</a:t>
            </a:r>
            <a:r>
              <a:rPr lang="en-US" sz="2400" dirty="0"/>
              <a:t>				</a:t>
            </a:r>
          </a:p>
          <a:p>
            <a:pPr eaLnBrk="1" hangingPunct="1">
              <a:buClr>
                <a:srgbClr val="339933"/>
              </a:buClr>
              <a:buFont typeface="Wingdings" pitchFamily="2" charset="2"/>
              <a:buNone/>
            </a:pPr>
            <a:r>
              <a:rPr lang="en-US" sz="2400" dirty="0"/>
              <a:t>else 	</a:t>
            </a:r>
          </a:p>
          <a:p>
            <a:pPr eaLnBrk="1" hangingPunct="1">
              <a:buClr>
                <a:srgbClr val="339933"/>
              </a:buClr>
              <a:buFont typeface="Wingdings" pitchFamily="2" charset="2"/>
              <a:buNone/>
            </a:pPr>
            <a:r>
              <a:rPr lang="en-US" sz="2400" dirty="0">
                <a:solidFill>
                  <a:srgbClr val="FF0000"/>
                </a:solidFill>
              </a:rPr>
              <a:t>increment </a:t>
            </a:r>
            <a:r>
              <a:rPr lang="en-US" sz="2400" dirty="0" err="1">
                <a:solidFill>
                  <a:srgbClr val="FF0000"/>
                </a:solidFill>
              </a:rPr>
              <a:t>sv</a:t>
            </a:r>
            <a:r>
              <a:rPr lang="en-US" sz="2400" dirty="0">
                <a:solidFill>
                  <a:srgbClr val="FF0000"/>
                </a:solidFill>
              </a:rPr>
              <a:t> and continue its execution</a:t>
            </a:r>
          </a:p>
          <a:p>
            <a:pPr eaLnBrk="1" hangingPunct="1">
              <a:lnSpc>
                <a:spcPct val="90000"/>
              </a:lnSpc>
              <a:buClr>
                <a:srgbClr val="339933"/>
              </a:buClr>
              <a:buFont typeface="Wingdings" pitchFamily="2" charset="2"/>
              <a:buNone/>
            </a:pPr>
            <a:endParaRPr lang="en-US" sz="2400"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ChangeArrowheads="1"/>
          </p:cNvSpPr>
          <p:nvPr/>
        </p:nvSpPr>
        <p:spPr bwMode="auto">
          <a:xfrm>
            <a:off x="304800" y="76200"/>
            <a:ext cx="8686800" cy="6678751"/>
          </a:xfrm>
          <a:prstGeom prst="rect">
            <a:avLst/>
          </a:prstGeom>
          <a:noFill/>
          <a:ln w="9525">
            <a:noFill/>
            <a:miter lim="800000"/>
            <a:headEnd/>
            <a:tailEnd/>
          </a:ln>
        </p:spPr>
        <p:txBody>
          <a:bodyPr wrap="square">
            <a:spAutoFit/>
          </a:bodyPr>
          <a:lstStyle/>
          <a:p>
            <a:pPr>
              <a:spcBef>
                <a:spcPct val="50000"/>
              </a:spcBef>
            </a:pPr>
            <a:r>
              <a:rPr lang="en-US" sz="3200" b="1" dirty="0" err="1">
                <a:solidFill>
                  <a:srgbClr val="CC6600"/>
                </a:solidFill>
              </a:rPr>
              <a:t>semctl</a:t>
            </a:r>
            <a:endParaRPr lang="en-US" sz="3200" b="1" dirty="0">
              <a:solidFill>
                <a:srgbClr val="008000"/>
              </a:solidFill>
            </a:endParaRPr>
          </a:p>
          <a:p>
            <a:pPr>
              <a:spcBef>
                <a:spcPct val="50000"/>
              </a:spcBef>
            </a:pPr>
            <a:r>
              <a:rPr lang="en-US" sz="2400" dirty="0">
                <a:solidFill>
                  <a:srgbClr val="008000"/>
                </a:solidFill>
              </a:rPr>
              <a:t>int  </a:t>
            </a:r>
            <a:r>
              <a:rPr lang="en-US" sz="2400" dirty="0" err="1">
                <a:solidFill>
                  <a:srgbClr val="008000"/>
                </a:solidFill>
              </a:rPr>
              <a:t>semctl</a:t>
            </a:r>
            <a:r>
              <a:rPr lang="en-US" sz="2400" dirty="0">
                <a:solidFill>
                  <a:srgbClr val="008000"/>
                </a:solidFill>
              </a:rPr>
              <a:t>( 								int  </a:t>
            </a:r>
            <a:r>
              <a:rPr lang="en-US" sz="2400" dirty="0" err="1">
                <a:solidFill>
                  <a:srgbClr val="008000"/>
                </a:solidFill>
              </a:rPr>
              <a:t>semid</a:t>
            </a:r>
            <a:r>
              <a:rPr lang="en-US" sz="2400" dirty="0">
                <a:solidFill>
                  <a:srgbClr val="008000"/>
                </a:solidFill>
              </a:rPr>
              <a:t>, 						</a:t>
            </a:r>
          </a:p>
          <a:p>
            <a:pPr>
              <a:spcBef>
                <a:spcPct val="50000"/>
              </a:spcBef>
            </a:pPr>
            <a:r>
              <a:rPr lang="en-US" sz="2400" dirty="0">
                <a:solidFill>
                  <a:srgbClr val="008000"/>
                </a:solidFill>
              </a:rPr>
              <a:t>	int  </a:t>
            </a:r>
            <a:r>
              <a:rPr lang="en-US" sz="2400" dirty="0" err="1">
                <a:solidFill>
                  <a:srgbClr val="008000"/>
                </a:solidFill>
              </a:rPr>
              <a:t>sem_num</a:t>
            </a:r>
            <a:r>
              <a:rPr lang="en-US" sz="2400" dirty="0">
                <a:solidFill>
                  <a:srgbClr val="008000"/>
                </a:solidFill>
              </a:rPr>
              <a:t> ,</a:t>
            </a:r>
          </a:p>
          <a:p>
            <a:pPr>
              <a:spcBef>
                <a:spcPct val="50000"/>
              </a:spcBef>
            </a:pPr>
            <a:r>
              <a:rPr lang="en-US" sz="2400" dirty="0">
                <a:solidFill>
                  <a:srgbClr val="008000"/>
                </a:solidFill>
              </a:rPr>
              <a:t>	int command , 				</a:t>
            </a:r>
          </a:p>
          <a:p>
            <a:pPr>
              <a:spcBef>
                <a:spcPct val="50000"/>
              </a:spcBef>
            </a:pPr>
            <a:r>
              <a:rPr lang="en-US" sz="2400" dirty="0">
                <a:solidFill>
                  <a:srgbClr val="008000"/>
                </a:solidFill>
              </a:rPr>
              <a:t>             …	</a:t>
            </a:r>
          </a:p>
          <a:p>
            <a:pPr>
              <a:spcBef>
                <a:spcPct val="50000"/>
              </a:spcBef>
            </a:pPr>
            <a:r>
              <a:rPr lang="en-US" sz="2400" dirty="0">
                <a:solidFill>
                  <a:srgbClr val="008000"/>
                </a:solidFill>
              </a:rPr>
              <a:t>)</a:t>
            </a:r>
          </a:p>
          <a:p>
            <a:pPr>
              <a:spcBef>
                <a:spcPct val="50000"/>
              </a:spcBef>
            </a:pPr>
            <a:endParaRPr lang="en-US" sz="2400" dirty="0">
              <a:solidFill>
                <a:srgbClr val="008000"/>
              </a:solidFill>
            </a:endParaRPr>
          </a:p>
          <a:p>
            <a:pPr>
              <a:buClr>
                <a:srgbClr val="339933"/>
              </a:buClr>
              <a:buFont typeface="Wingdings" pitchFamily="2" charset="2"/>
              <a:buChar char="Ø"/>
            </a:pPr>
            <a:r>
              <a:rPr lang="en-US" sz="2400" dirty="0"/>
              <a:t> </a:t>
            </a:r>
            <a:r>
              <a:rPr lang="en-US" sz="2400" dirty="0" err="1">
                <a:solidFill>
                  <a:srgbClr val="008000"/>
                </a:solidFill>
              </a:rPr>
              <a:t>semid</a:t>
            </a:r>
            <a:r>
              <a:rPr lang="en-US" sz="2400" dirty="0">
                <a:solidFill>
                  <a:srgbClr val="008000"/>
                </a:solidFill>
              </a:rPr>
              <a:t> </a:t>
            </a:r>
            <a:r>
              <a:rPr lang="en-US" sz="2400" dirty="0"/>
              <a:t>           ---------  Semaphore  id return by </a:t>
            </a:r>
            <a:r>
              <a:rPr lang="en-US" sz="2400" dirty="0" err="1"/>
              <a:t>semget</a:t>
            </a:r>
            <a:r>
              <a:rPr lang="en-US" sz="2400" dirty="0"/>
              <a:t>()                       </a:t>
            </a:r>
          </a:p>
          <a:p>
            <a:pPr>
              <a:buClr>
                <a:srgbClr val="339933"/>
              </a:buClr>
              <a:buFont typeface="Wingdings" pitchFamily="2" charset="2"/>
              <a:buChar char="Ø"/>
            </a:pPr>
            <a:r>
              <a:rPr lang="en-US" sz="2400" dirty="0" err="1">
                <a:solidFill>
                  <a:srgbClr val="008000"/>
                </a:solidFill>
              </a:rPr>
              <a:t>sem_num</a:t>
            </a:r>
            <a:r>
              <a:rPr lang="en-US" sz="2400" dirty="0"/>
              <a:t>      ---------  Semaphore  number                      </a:t>
            </a:r>
          </a:p>
          <a:p>
            <a:pPr>
              <a:buClr>
                <a:srgbClr val="339933"/>
              </a:buClr>
              <a:buFont typeface="Wingdings" pitchFamily="2" charset="2"/>
              <a:buChar char="Ø"/>
            </a:pPr>
            <a:r>
              <a:rPr lang="en-US" sz="2400" dirty="0">
                <a:solidFill>
                  <a:srgbClr val="008000"/>
                </a:solidFill>
              </a:rPr>
              <a:t>command</a:t>
            </a:r>
            <a:r>
              <a:rPr lang="en-US" sz="2400" dirty="0"/>
              <a:t>      ---------  Which action to do                      </a:t>
            </a:r>
          </a:p>
          <a:p>
            <a:pPr>
              <a:buClr>
                <a:srgbClr val="339933"/>
              </a:buClr>
              <a:buFont typeface="Wingdings" pitchFamily="2" charset="2"/>
              <a:buChar char="Ø"/>
            </a:pPr>
            <a:r>
              <a:rPr lang="en-US" sz="2400" dirty="0">
                <a:solidFill>
                  <a:srgbClr val="008000"/>
                </a:solidFill>
              </a:rPr>
              <a:t>… parameter </a:t>
            </a:r>
            <a:r>
              <a:rPr lang="en-US" sz="2400" dirty="0"/>
              <a:t>---------  If need it is a union of different fields                          </a:t>
            </a:r>
          </a:p>
          <a:p>
            <a:pPr>
              <a:buClr>
                <a:srgbClr val="339933"/>
              </a:buClr>
            </a:pPr>
            <a:endParaRPr lang="en-US" sz="2400" dirty="0"/>
          </a:p>
          <a:p>
            <a:pPr>
              <a:spcBef>
                <a:spcPct val="50000"/>
              </a:spcBef>
            </a:pPr>
            <a:r>
              <a:rPr lang="en-US" sz="2400" dirty="0">
                <a:solidFill>
                  <a:srgbClr val="008000"/>
                </a:solidFill>
              </a:rPr>
              <a:t> </a:t>
            </a:r>
            <a:endParaRPr lang="en-US" sz="4800" dirty="0">
              <a:solidFill>
                <a:srgbClr val="008000"/>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4"/>
          <p:cNvSpPr>
            <a:spLocks noChangeArrowheads="1"/>
          </p:cNvSpPr>
          <p:nvPr/>
        </p:nvSpPr>
        <p:spPr bwMode="auto">
          <a:xfrm>
            <a:off x="0" y="1143000"/>
            <a:ext cx="9144000" cy="5181600"/>
          </a:xfrm>
          <a:prstGeom prst="rect">
            <a:avLst/>
          </a:prstGeom>
          <a:noFill/>
          <a:ln w="9525">
            <a:noFill/>
            <a:miter lim="800000"/>
            <a:headEnd/>
            <a:tailEnd/>
          </a:ln>
        </p:spPr>
        <p:txBody>
          <a:bodyPr/>
          <a:lstStyle/>
          <a:p>
            <a:pPr>
              <a:lnSpc>
                <a:spcPct val="80000"/>
              </a:lnSpc>
              <a:spcBef>
                <a:spcPct val="20000"/>
              </a:spcBef>
            </a:pPr>
            <a:r>
              <a:rPr lang="en-US" sz="2800"/>
              <a:t>int main()</a:t>
            </a:r>
          </a:p>
          <a:p>
            <a:pPr>
              <a:lnSpc>
                <a:spcPct val="80000"/>
              </a:lnSpc>
              <a:spcBef>
                <a:spcPct val="20000"/>
              </a:spcBef>
            </a:pPr>
            <a:r>
              <a:rPr lang="en-US" sz="2800"/>
              <a:t>{</a:t>
            </a:r>
          </a:p>
          <a:p>
            <a:pPr>
              <a:lnSpc>
                <a:spcPct val="80000"/>
              </a:lnSpc>
              <a:spcBef>
                <a:spcPct val="20000"/>
              </a:spcBef>
            </a:pPr>
            <a:r>
              <a:rPr lang="en-US" sz="2800"/>
              <a:t>	int sid;</a:t>
            </a:r>
          </a:p>
          <a:p>
            <a:pPr>
              <a:lnSpc>
                <a:spcPct val="80000"/>
              </a:lnSpc>
              <a:spcBef>
                <a:spcPct val="20000"/>
              </a:spcBef>
            </a:pPr>
            <a:r>
              <a:rPr lang="en-US" sz="2800"/>
              <a:t>	</a:t>
            </a:r>
            <a:r>
              <a:rPr lang="en-US" sz="3600" b="1" i="1">
                <a:solidFill>
                  <a:srgbClr val="339933"/>
                </a:solidFill>
              </a:rPr>
              <a:t>sid = semget( 1  ,  1 , IPC_CREAT|0666);</a:t>
            </a:r>
          </a:p>
          <a:p>
            <a:pPr>
              <a:lnSpc>
                <a:spcPct val="80000"/>
              </a:lnSpc>
              <a:spcBef>
                <a:spcPct val="20000"/>
              </a:spcBef>
            </a:pPr>
            <a:r>
              <a:rPr lang="en-US" sz="2800"/>
              <a:t>	if(sid == -1)</a:t>
            </a:r>
          </a:p>
          <a:p>
            <a:pPr>
              <a:lnSpc>
                <a:spcPct val="80000"/>
              </a:lnSpc>
              <a:spcBef>
                <a:spcPct val="20000"/>
              </a:spcBef>
            </a:pPr>
            <a:r>
              <a:rPr lang="en-US" sz="2800"/>
              <a:t>		printf("Unable to create semaphore \n");</a:t>
            </a:r>
          </a:p>
          <a:p>
            <a:pPr>
              <a:lnSpc>
                <a:spcPct val="80000"/>
              </a:lnSpc>
              <a:spcBef>
                <a:spcPct val="20000"/>
              </a:spcBef>
            </a:pPr>
            <a:r>
              <a:rPr lang="en-US" sz="2800"/>
              <a:t>	else</a:t>
            </a:r>
          </a:p>
          <a:p>
            <a:pPr>
              <a:lnSpc>
                <a:spcPct val="80000"/>
              </a:lnSpc>
              <a:spcBef>
                <a:spcPct val="20000"/>
              </a:spcBef>
            </a:pPr>
            <a:r>
              <a:rPr lang="en-US" sz="2800"/>
              <a:t>		printf("Semaphore created successfully \n");</a:t>
            </a:r>
          </a:p>
          <a:p>
            <a:pPr>
              <a:lnSpc>
                <a:spcPct val="80000"/>
              </a:lnSpc>
              <a:spcBef>
                <a:spcPct val="20000"/>
              </a:spcBef>
            </a:pPr>
            <a:r>
              <a:rPr lang="en-US" sz="2800"/>
              <a:t>	system("ipcs");</a:t>
            </a:r>
          </a:p>
          <a:p>
            <a:pPr>
              <a:lnSpc>
                <a:spcPct val="80000"/>
              </a:lnSpc>
              <a:spcBef>
                <a:spcPct val="20000"/>
              </a:spcBef>
            </a:pPr>
            <a:r>
              <a:rPr lang="en-US" sz="2800"/>
              <a:t>	return 0;</a:t>
            </a:r>
          </a:p>
          <a:p>
            <a:pPr>
              <a:lnSpc>
                <a:spcPct val="80000"/>
              </a:lnSpc>
              <a:spcBef>
                <a:spcPct val="20000"/>
              </a:spcBef>
            </a:pPr>
            <a:r>
              <a:rPr lang="en-US" sz="2800"/>
              <a:t>}</a:t>
            </a:r>
          </a:p>
        </p:txBody>
      </p:sp>
      <p:sp>
        <p:nvSpPr>
          <p:cNvPr id="238595" name="Rectangle 5"/>
          <p:cNvSpPr>
            <a:spLocks noGrp="1" noChangeArrowheads="1"/>
          </p:cNvSpPr>
          <p:nvPr>
            <p:ph type="title" idx="4294967295"/>
          </p:nvPr>
        </p:nvSpPr>
        <p:spPr>
          <a:xfrm>
            <a:off x="0" y="-76200"/>
            <a:ext cx="7772400" cy="1143000"/>
          </a:xfrm>
        </p:spPr>
        <p:txBody>
          <a:bodyPr>
            <a:normAutofit/>
          </a:bodyPr>
          <a:lstStyle/>
          <a:p>
            <a:pPr eaLnBrk="1" hangingPunct="1"/>
            <a:r>
              <a:rPr lang="en-US" sz="3200" b="1" dirty="0"/>
              <a:t>Creating Semaphore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3200" dirty="0"/>
              <a:t>int main()</a:t>
            </a:r>
          </a:p>
          <a:p>
            <a:pPr>
              <a:spcBef>
                <a:spcPct val="20000"/>
              </a:spcBef>
            </a:pPr>
            <a:r>
              <a:rPr lang="en-US" sz="3200" dirty="0"/>
              <a:t>{	int </a:t>
            </a:r>
            <a:r>
              <a:rPr lang="en-US" sz="3200" dirty="0" err="1"/>
              <a:t>sid</a:t>
            </a:r>
            <a:r>
              <a:rPr lang="en-US" sz="3200" dirty="0"/>
              <a:t>;</a:t>
            </a:r>
          </a:p>
          <a:p>
            <a:pPr>
              <a:spcBef>
                <a:spcPct val="20000"/>
              </a:spcBef>
            </a:pPr>
            <a:r>
              <a:rPr lang="en-US" sz="3200" dirty="0"/>
              <a:t>	union </a:t>
            </a:r>
            <a:r>
              <a:rPr lang="en-US" sz="3200" dirty="0" err="1"/>
              <a:t>semun</a:t>
            </a:r>
            <a:r>
              <a:rPr lang="en-US" sz="3200" dirty="0"/>
              <a:t> </a:t>
            </a:r>
            <a:r>
              <a:rPr lang="en-US" sz="3200" dirty="0" err="1"/>
              <a:t>semunion</a:t>
            </a:r>
            <a:r>
              <a:rPr lang="en-US" sz="3200" dirty="0"/>
              <a:t>;</a:t>
            </a:r>
          </a:p>
          <a:p>
            <a:pPr>
              <a:spcBef>
                <a:spcPct val="20000"/>
              </a:spcBef>
            </a:pPr>
            <a:r>
              <a:rPr lang="en-US" sz="3200" dirty="0"/>
              <a:t>	</a:t>
            </a:r>
            <a:r>
              <a:rPr lang="en-US" sz="3200" dirty="0" err="1"/>
              <a:t>semunion.val</a:t>
            </a:r>
            <a:r>
              <a:rPr lang="en-US" sz="3200" dirty="0"/>
              <a:t> = 1;</a:t>
            </a:r>
          </a:p>
          <a:p>
            <a:pPr>
              <a:spcBef>
                <a:spcPct val="20000"/>
              </a:spcBef>
            </a:pPr>
            <a:r>
              <a:rPr lang="en-US" sz="3200" dirty="0"/>
              <a:t>	</a:t>
            </a:r>
            <a:r>
              <a:rPr lang="en-US" sz="3200" dirty="0" err="1"/>
              <a:t>sid</a:t>
            </a:r>
            <a:r>
              <a:rPr lang="en-US" sz="3200" dirty="0"/>
              <a:t> = </a:t>
            </a:r>
            <a:r>
              <a:rPr lang="en-US" sz="3200" dirty="0" err="1"/>
              <a:t>semget</a:t>
            </a:r>
            <a:r>
              <a:rPr lang="en-US" sz="3200" dirty="0"/>
              <a:t>(1,1,IPC_CREAT|0666);</a:t>
            </a:r>
          </a:p>
          <a:p>
            <a:pPr>
              <a:spcBef>
                <a:spcPct val="20000"/>
              </a:spcBef>
            </a:pPr>
            <a:r>
              <a:rPr lang="en-US" sz="3200" dirty="0"/>
              <a:t>	if(</a:t>
            </a:r>
            <a:r>
              <a:rPr lang="en-US" sz="3600" b="1" i="1" dirty="0" err="1">
                <a:solidFill>
                  <a:srgbClr val="339933"/>
                </a:solidFill>
              </a:rPr>
              <a:t>semctl</a:t>
            </a:r>
            <a:r>
              <a:rPr lang="en-US" sz="3600" b="1" i="1" dirty="0">
                <a:solidFill>
                  <a:srgbClr val="339933"/>
                </a:solidFill>
              </a:rPr>
              <a:t>(sid,0,SETVAL,semunion)</a:t>
            </a:r>
            <a:r>
              <a:rPr lang="en-US" sz="3200" dirty="0"/>
              <a:t> == -1)</a:t>
            </a:r>
          </a:p>
          <a:p>
            <a:pPr>
              <a:spcBef>
                <a:spcPct val="20000"/>
              </a:spcBef>
            </a:pPr>
            <a:r>
              <a:rPr lang="en-US" sz="3200" dirty="0"/>
              <a:t>		</a:t>
            </a:r>
            <a:r>
              <a:rPr lang="en-US" sz="3200" dirty="0" err="1"/>
              <a:t>printf</a:t>
            </a:r>
            <a:r>
              <a:rPr lang="en-US" sz="3200" dirty="0"/>
              <a:t>("Unable to set value \n");</a:t>
            </a:r>
          </a:p>
          <a:p>
            <a:pPr>
              <a:spcBef>
                <a:spcPct val="20000"/>
              </a:spcBef>
            </a:pPr>
            <a:r>
              <a:rPr lang="en-US" sz="3200" dirty="0"/>
              <a:t>	return 0;</a:t>
            </a:r>
          </a:p>
          <a:p>
            <a:pPr>
              <a:spcBef>
                <a:spcPct val="20000"/>
              </a:spcBef>
            </a:pPr>
            <a:r>
              <a:rPr lang="en-US" sz="3200" dirty="0"/>
              <a:t>}</a:t>
            </a:r>
          </a:p>
        </p:txBody>
      </p:sp>
      <p:sp>
        <p:nvSpPr>
          <p:cNvPr id="239619" name="Rectangle 3"/>
          <p:cNvSpPr>
            <a:spLocks noGrp="1" noChangeArrowheads="1"/>
          </p:cNvSpPr>
          <p:nvPr>
            <p:ph type="title" idx="4294967295"/>
          </p:nvPr>
        </p:nvSpPr>
        <p:spPr>
          <a:xfrm>
            <a:off x="0" y="-76200"/>
            <a:ext cx="7772400" cy="1143000"/>
          </a:xfrm>
        </p:spPr>
        <p:txBody>
          <a:bodyPr/>
          <a:lstStyle/>
          <a:p>
            <a:pPr eaLnBrk="1" hangingPunct="1"/>
            <a:r>
              <a:rPr lang="en-US" b="1" dirty="0"/>
              <a:t>Set Semaphore Value</a:t>
            </a:r>
          </a:p>
        </p:txBody>
      </p:sp>
      <p:sp>
        <p:nvSpPr>
          <p:cNvPr id="239620" name="Rectangle 6"/>
          <p:cNvSpPr>
            <a:spLocks noChangeArrowheads="1"/>
          </p:cNvSpPr>
          <p:nvPr/>
        </p:nvSpPr>
        <p:spPr bwMode="auto">
          <a:xfrm>
            <a:off x="5029200" y="1143000"/>
            <a:ext cx="3962400" cy="2209800"/>
          </a:xfrm>
          <a:prstGeom prst="rect">
            <a:avLst/>
          </a:prstGeom>
          <a:noFill/>
          <a:ln w="9525">
            <a:solidFill>
              <a:srgbClr val="339933"/>
            </a:solidFill>
            <a:miter lim="800000"/>
            <a:headEnd/>
            <a:tailEnd/>
          </a:ln>
        </p:spPr>
        <p:txBody>
          <a:bodyPr/>
          <a:lstStyle/>
          <a:p>
            <a:pPr>
              <a:lnSpc>
                <a:spcPct val="80000"/>
              </a:lnSpc>
              <a:spcBef>
                <a:spcPct val="20000"/>
              </a:spcBef>
            </a:pPr>
            <a:r>
              <a:rPr lang="en-US" sz="2100"/>
              <a:t>union semun</a:t>
            </a:r>
          </a:p>
          <a:p>
            <a:pPr>
              <a:lnSpc>
                <a:spcPct val="80000"/>
              </a:lnSpc>
              <a:spcBef>
                <a:spcPct val="20000"/>
              </a:spcBef>
            </a:pPr>
            <a:r>
              <a:rPr lang="en-US" sz="2100"/>
              <a:t>{	int val;</a:t>
            </a:r>
          </a:p>
          <a:p>
            <a:pPr>
              <a:lnSpc>
                <a:spcPct val="80000"/>
              </a:lnSpc>
              <a:spcBef>
                <a:spcPct val="20000"/>
              </a:spcBef>
            </a:pPr>
            <a:r>
              <a:rPr lang="en-US" sz="2100"/>
              <a:t>	struct semid_ds *buf;</a:t>
            </a:r>
          </a:p>
          <a:p>
            <a:pPr>
              <a:lnSpc>
                <a:spcPct val="80000"/>
              </a:lnSpc>
              <a:spcBef>
                <a:spcPct val="20000"/>
              </a:spcBef>
            </a:pPr>
            <a:r>
              <a:rPr lang="en-US" sz="2100"/>
              <a:t>	unsigned short int *array;</a:t>
            </a:r>
          </a:p>
          <a:p>
            <a:pPr>
              <a:lnSpc>
                <a:spcPct val="80000"/>
              </a:lnSpc>
              <a:spcBef>
                <a:spcPct val="20000"/>
              </a:spcBef>
            </a:pPr>
            <a:r>
              <a:rPr lang="en-US" sz="2100"/>
              <a:t>	struct seminfo *info;</a:t>
            </a:r>
          </a:p>
          <a:p>
            <a:pPr>
              <a:lnSpc>
                <a:spcPct val="80000"/>
              </a:lnSpc>
              <a:spcBef>
                <a:spcPct val="20000"/>
              </a:spcBef>
            </a:pPr>
            <a:r>
              <a:rPr lang="en-US" sz="2100"/>
              <a:t>};</a:t>
            </a:r>
          </a:p>
          <a:p>
            <a:pPr>
              <a:lnSpc>
                <a:spcPct val="80000"/>
              </a:lnSpc>
              <a:spcBef>
                <a:spcPct val="20000"/>
              </a:spcBef>
            </a:pPr>
            <a:endParaRPr lang="en-US" sz="2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r>
              <a:rPr lang="en-US" sz="3600"/>
              <a:t>int main()</a:t>
            </a:r>
          </a:p>
          <a:p>
            <a:pPr>
              <a:spcBef>
                <a:spcPct val="20000"/>
              </a:spcBef>
            </a:pPr>
            <a:r>
              <a:rPr lang="en-US" sz="3600"/>
              <a:t>{</a:t>
            </a:r>
          </a:p>
          <a:p>
            <a:pPr>
              <a:spcBef>
                <a:spcPct val="20000"/>
              </a:spcBef>
            </a:pPr>
            <a:r>
              <a:rPr lang="en-US" sz="3600"/>
              <a:t>	sid = semget(1,1,IPC_CREAT|0666); </a:t>
            </a:r>
          </a:p>
          <a:p>
            <a:pPr>
              <a:spcBef>
                <a:spcPct val="20000"/>
              </a:spcBef>
            </a:pPr>
            <a:r>
              <a:rPr lang="en-US" sz="3600"/>
              <a:t>	</a:t>
            </a:r>
            <a:r>
              <a:rPr lang="en-US" sz="3600" b="1">
                <a:solidFill>
                  <a:srgbClr val="339933"/>
                </a:solidFill>
              </a:rPr>
              <a:t>take_semaphore();</a:t>
            </a:r>
          </a:p>
          <a:p>
            <a:pPr>
              <a:spcBef>
                <a:spcPct val="20000"/>
              </a:spcBef>
            </a:pPr>
            <a:r>
              <a:rPr lang="en-US" sz="3600" b="1"/>
              <a:t>		</a:t>
            </a:r>
            <a:r>
              <a:rPr lang="en-US" sz="3600" b="1">
                <a:solidFill>
                  <a:srgbClr val="FF0000"/>
                </a:solidFill>
              </a:rPr>
              <a:t>critical_section();</a:t>
            </a:r>
          </a:p>
          <a:p>
            <a:pPr>
              <a:spcBef>
                <a:spcPct val="20000"/>
              </a:spcBef>
            </a:pPr>
            <a:r>
              <a:rPr lang="en-US" sz="3600" b="1"/>
              <a:t>	</a:t>
            </a:r>
            <a:r>
              <a:rPr lang="en-US" sz="3600" b="1">
                <a:solidFill>
                  <a:srgbClr val="339933"/>
                </a:solidFill>
              </a:rPr>
              <a:t>release_semaphore();</a:t>
            </a:r>
            <a:r>
              <a:rPr lang="en-US" sz="3600" b="1"/>
              <a:t> </a:t>
            </a:r>
          </a:p>
          <a:p>
            <a:pPr>
              <a:spcBef>
                <a:spcPct val="20000"/>
              </a:spcBef>
            </a:pPr>
            <a:r>
              <a:rPr lang="en-US" sz="3600"/>
              <a:t>	return 0;</a:t>
            </a:r>
          </a:p>
          <a:p>
            <a:pPr>
              <a:spcBef>
                <a:spcPct val="20000"/>
              </a:spcBef>
            </a:pPr>
            <a:r>
              <a:rPr lang="en-US" sz="3600"/>
              <a:t>}</a:t>
            </a:r>
          </a:p>
        </p:txBody>
      </p:sp>
      <p:sp>
        <p:nvSpPr>
          <p:cNvPr id="240643" name="Rectangle 3"/>
          <p:cNvSpPr>
            <a:spLocks noGrp="1" noChangeArrowheads="1"/>
          </p:cNvSpPr>
          <p:nvPr>
            <p:ph type="title" idx="4294967295"/>
          </p:nvPr>
        </p:nvSpPr>
        <p:spPr>
          <a:xfrm>
            <a:off x="0" y="-76200"/>
            <a:ext cx="7772400" cy="1143000"/>
          </a:xfrm>
        </p:spPr>
        <p:txBody>
          <a:bodyPr/>
          <a:lstStyle/>
          <a:p>
            <a:pPr eaLnBrk="1" hangingPunct="1"/>
            <a:r>
              <a:rPr lang="en-US" b="1" dirty="0"/>
              <a:t>Using Semaphore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endParaRPr lang="en-US" sz="3600"/>
          </a:p>
        </p:txBody>
      </p:sp>
      <p:sp>
        <p:nvSpPr>
          <p:cNvPr id="241667" name="Rectangle 3"/>
          <p:cNvSpPr>
            <a:spLocks noGrp="1" noChangeArrowheads="1"/>
          </p:cNvSpPr>
          <p:nvPr>
            <p:ph type="title" idx="4294967295"/>
          </p:nvPr>
        </p:nvSpPr>
        <p:spPr>
          <a:xfrm>
            <a:off x="0" y="228600"/>
            <a:ext cx="7772400" cy="685800"/>
          </a:xfrm>
        </p:spPr>
        <p:txBody>
          <a:bodyPr/>
          <a:lstStyle/>
          <a:p>
            <a:pPr eaLnBrk="1" hangingPunct="1"/>
            <a:r>
              <a:rPr lang="en-US" b="1" dirty="0"/>
              <a:t>Take Semaphore</a:t>
            </a:r>
          </a:p>
        </p:txBody>
      </p:sp>
      <p:sp>
        <p:nvSpPr>
          <p:cNvPr id="241668" name="Rectangle 5"/>
          <p:cNvSpPr>
            <a:spLocks noChangeArrowheads="1"/>
          </p:cNvSpPr>
          <p:nvPr/>
        </p:nvSpPr>
        <p:spPr bwMode="auto">
          <a:xfrm>
            <a:off x="0" y="914400"/>
            <a:ext cx="9144000" cy="5181600"/>
          </a:xfrm>
          <a:prstGeom prst="rect">
            <a:avLst/>
          </a:prstGeom>
          <a:noFill/>
          <a:ln w="9525">
            <a:noFill/>
            <a:miter lim="800000"/>
            <a:headEnd/>
            <a:tailEnd/>
          </a:ln>
        </p:spPr>
        <p:txBody>
          <a:bodyPr/>
          <a:lstStyle/>
          <a:p>
            <a:pPr>
              <a:spcBef>
                <a:spcPct val="20000"/>
              </a:spcBef>
            </a:pPr>
            <a:endParaRPr lang="en-US" sz="3200"/>
          </a:p>
        </p:txBody>
      </p:sp>
      <p:sp>
        <p:nvSpPr>
          <p:cNvPr id="241669" name="Rectangle 7"/>
          <p:cNvSpPr>
            <a:spLocks noChangeArrowheads="1"/>
          </p:cNvSpPr>
          <p:nvPr/>
        </p:nvSpPr>
        <p:spPr bwMode="auto">
          <a:xfrm>
            <a:off x="76200" y="914400"/>
            <a:ext cx="9067800" cy="5181600"/>
          </a:xfrm>
          <a:prstGeom prst="rect">
            <a:avLst/>
          </a:prstGeom>
          <a:noFill/>
          <a:ln w="9525">
            <a:noFill/>
            <a:miter lim="800000"/>
            <a:headEnd/>
            <a:tailEnd/>
          </a:ln>
        </p:spPr>
        <p:txBody>
          <a:bodyPr/>
          <a:lstStyle/>
          <a:p>
            <a:pPr>
              <a:spcBef>
                <a:spcPct val="20000"/>
              </a:spcBef>
            </a:pPr>
            <a:r>
              <a:rPr lang="en-US" sz="3200"/>
              <a:t>void take_semaphore()</a:t>
            </a:r>
          </a:p>
          <a:p>
            <a:pPr>
              <a:spcBef>
                <a:spcPct val="20000"/>
              </a:spcBef>
            </a:pPr>
            <a:r>
              <a:rPr lang="en-US" sz="3200"/>
              <a:t>{</a:t>
            </a:r>
          </a:p>
          <a:p>
            <a:pPr>
              <a:spcBef>
                <a:spcPct val="20000"/>
              </a:spcBef>
            </a:pPr>
            <a:r>
              <a:rPr lang="en-US" sz="3200"/>
              <a:t>	struct sembuf semb;</a:t>
            </a:r>
          </a:p>
          <a:p>
            <a:pPr>
              <a:spcBef>
                <a:spcPct val="20000"/>
              </a:spcBef>
            </a:pPr>
            <a:r>
              <a:rPr lang="en-US" sz="3200">
                <a:solidFill>
                  <a:srgbClr val="FF0000"/>
                </a:solidFill>
              </a:rPr>
              <a:t>	</a:t>
            </a:r>
            <a:r>
              <a:rPr lang="en-US" sz="3600">
                <a:solidFill>
                  <a:srgbClr val="FF0000"/>
                </a:solidFill>
              </a:rPr>
              <a:t>semb.sem_num 	= 	0;</a:t>
            </a:r>
          </a:p>
          <a:p>
            <a:pPr>
              <a:spcBef>
                <a:spcPct val="20000"/>
              </a:spcBef>
            </a:pPr>
            <a:r>
              <a:rPr lang="en-US" sz="3600">
                <a:solidFill>
                  <a:srgbClr val="FF0000"/>
                </a:solidFill>
              </a:rPr>
              <a:t>	semb.sem_op  		= 	-1;</a:t>
            </a:r>
          </a:p>
          <a:p>
            <a:pPr>
              <a:spcBef>
                <a:spcPct val="20000"/>
              </a:spcBef>
            </a:pPr>
            <a:r>
              <a:rPr lang="en-US" sz="3600">
                <a:solidFill>
                  <a:srgbClr val="FF0000"/>
                </a:solidFill>
              </a:rPr>
              <a:t>	semb.sem_flg 		= 	SEM_UNDO;</a:t>
            </a:r>
          </a:p>
          <a:p>
            <a:pPr>
              <a:spcBef>
                <a:spcPct val="20000"/>
              </a:spcBef>
            </a:pPr>
            <a:r>
              <a:rPr lang="en-US" sz="3200"/>
              <a:t>	if(</a:t>
            </a:r>
            <a:r>
              <a:rPr lang="en-US" sz="4000" b="1" i="1">
                <a:solidFill>
                  <a:srgbClr val="339933"/>
                </a:solidFill>
              </a:rPr>
              <a:t>semop( sid , &amp;semb , 1)</a:t>
            </a:r>
            <a:r>
              <a:rPr lang="en-US" sz="3200"/>
              <a:t> == -1)</a:t>
            </a:r>
          </a:p>
          <a:p>
            <a:pPr>
              <a:spcBef>
                <a:spcPct val="20000"/>
              </a:spcBef>
            </a:pPr>
            <a:r>
              <a:rPr lang="en-US" sz="3200"/>
              <a:t>		printf("Unable to Take Semaphore \n");</a:t>
            </a:r>
          </a:p>
          <a:p>
            <a:pPr>
              <a:spcBef>
                <a:spcPct val="20000"/>
              </a:spcBef>
            </a:pPr>
            <a:r>
              <a:rPr lang="en-US" sz="320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endParaRPr lang="en-US" sz="3600"/>
          </a:p>
        </p:txBody>
      </p:sp>
      <p:sp>
        <p:nvSpPr>
          <p:cNvPr id="242691" name="Rectangle 3"/>
          <p:cNvSpPr>
            <a:spLocks noGrp="1" noChangeArrowheads="1"/>
          </p:cNvSpPr>
          <p:nvPr>
            <p:ph type="title" idx="4294967295"/>
          </p:nvPr>
        </p:nvSpPr>
        <p:spPr>
          <a:xfrm>
            <a:off x="0" y="152400"/>
            <a:ext cx="7772400" cy="685800"/>
          </a:xfrm>
        </p:spPr>
        <p:txBody>
          <a:bodyPr/>
          <a:lstStyle/>
          <a:p>
            <a:pPr eaLnBrk="1" hangingPunct="1"/>
            <a:r>
              <a:rPr lang="en-US" b="1" dirty="0"/>
              <a:t>Critical Section</a:t>
            </a:r>
          </a:p>
        </p:txBody>
      </p:sp>
      <p:sp>
        <p:nvSpPr>
          <p:cNvPr id="242692" name="Rectangle 6"/>
          <p:cNvSpPr>
            <a:spLocks noChangeArrowheads="1"/>
          </p:cNvSpPr>
          <p:nvPr/>
        </p:nvSpPr>
        <p:spPr bwMode="auto">
          <a:xfrm>
            <a:off x="0" y="914400"/>
            <a:ext cx="9144000" cy="5181600"/>
          </a:xfrm>
          <a:prstGeom prst="rect">
            <a:avLst/>
          </a:prstGeom>
          <a:noFill/>
          <a:ln w="9525">
            <a:noFill/>
            <a:miter lim="800000"/>
            <a:headEnd/>
            <a:tailEnd/>
          </a:ln>
        </p:spPr>
        <p:txBody>
          <a:bodyPr/>
          <a:lstStyle/>
          <a:p>
            <a:pPr>
              <a:spcBef>
                <a:spcPct val="20000"/>
              </a:spcBef>
            </a:pPr>
            <a:r>
              <a:rPr lang="en-US" sz="3200"/>
              <a:t>void critical_section()</a:t>
            </a:r>
          </a:p>
          <a:p>
            <a:pPr>
              <a:spcBef>
                <a:spcPct val="20000"/>
              </a:spcBef>
            </a:pPr>
            <a:r>
              <a:rPr lang="en-US" sz="3200"/>
              <a:t>{</a:t>
            </a:r>
          </a:p>
          <a:p>
            <a:pPr>
              <a:spcBef>
                <a:spcPct val="20000"/>
              </a:spcBef>
            </a:pPr>
            <a:r>
              <a:rPr lang="en-US" sz="3200"/>
              <a:t>	printf("Process with PID = %d ",getpid());</a:t>
            </a:r>
          </a:p>
          <a:p>
            <a:pPr>
              <a:spcBef>
                <a:spcPct val="20000"/>
              </a:spcBef>
            </a:pPr>
            <a:r>
              <a:rPr lang="en-US" sz="3200"/>
              <a:t>	printf(“is entering Critical Section\n”);</a:t>
            </a:r>
          </a:p>
          <a:p>
            <a:pPr>
              <a:spcBef>
                <a:spcPct val="20000"/>
              </a:spcBef>
            </a:pPr>
            <a:r>
              <a:rPr lang="en-US" sz="3200"/>
              <a:t>	sleep(5);</a:t>
            </a:r>
          </a:p>
          <a:p>
            <a:pPr>
              <a:spcBef>
                <a:spcPct val="20000"/>
              </a:spcBef>
            </a:pPr>
            <a:r>
              <a:rPr lang="en-US" sz="3200"/>
              <a:t>//	exit(0);</a:t>
            </a:r>
          </a:p>
          <a:p>
            <a:pPr>
              <a:spcBef>
                <a:spcPct val="20000"/>
              </a:spcBef>
            </a:pPr>
            <a:r>
              <a:rPr lang="en-US" sz="3200"/>
              <a:t>	printf("Process with PID = %d ",getpid());</a:t>
            </a:r>
          </a:p>
          <a:p>
            <a:pPr>
              <a:spcBef>
                <a:spcPct val="20000"/>
              </a:spcBef>
            </a:pPr>
            <a:r>
              <a:rPr lang="en-US" sz="3200"/>
              <a:t>	printf(“is leaving Critical Section\n”);</a:t>
            </a:r>
          </a:p>
          <a:p>
            <a:pPr>
              <a:spcBef>
                <a:spcPct val="20000"/>
              </a:spcBef>
            </a:pPr>
            <a:r>
              <a:rPr lang="en-US" sz="320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endParaRPr lang="en-US" sz="3600"/>
          </a:p>
        </p:txBody>
      </p:sp>
      <p:sp>
        <p:nvSpPr>
          <p:cNvPr id="243715" name="Rectangle 3"/>
          <p:cNvSpPr>
            <a:spLocks noGrp="1" noChangeArrowheads="1"/>
          </p:cNvSpPr>
          <p:nvPr>
            <p:ph type="title" idx="4294967295"/>
          </p:nvPr>
        </p:nvSpPr>
        <p:spPr>
          <a:xfrm>
            <a:off x="0" y="-76200"/>
            <a:ext cx="7772400" cy="1143000"/>
          </a:xfrm>
        </p:spPr>
        <p:txBody>
          <a:bodyPr/>
          <a:lstStyle/>
          <a:p>
            <a:pPr eaLnBrk="1" hangingPunct="1"/>
            <a:r>
              <a:rPr lang="en-US" b="1" dirty="0"/>
              <a:t>Give Semaphore</a:t>
            </a:r>
          </a:p>
        </p:txBody>
      </p:sp>
      <p:sp>
        <p:nvSpPr>
          <p:cNvPr id="243716" name="Rectangle 4"/>
          <p:cNvSpPr>
            <a:spLocks noChangeArrowheads="1"/>
          </p:cNvSpPr>
          <p:nvPr/>
        </p:nvSpPr>
        <p:spPr bwMode="auto">
          <a:xfrm>
            <a:off x="0" y="914400"/>
            <a:ext cx="9144000" cy="5181600"/>
          </a:xfrm>
          <a:prstGeom prst="rect">
            <a:avLst/>
          </a:prstGeom>
          <a:noFill/>
          <a:ln w="9525">
            <a:noFill/>
            <a:miter lim="800000"/>
            <a:headEnd/>
            <a:tailEnd/>
          </a:ln>
        </p:spPr>
        <p:txBody>
          <a:bodyPr/>
          <a:lstStyle/>
          <a:p>
            <a:pPr>
              <a:spcBef>
                <a:spcPct val="20000"/>
              </a:spcBef>
            </a:pPr>
            <a:r>
              <a:rPr lang="en-US" sz="3200"/>
              <a:t>void release_semaphore()</a:t>
            </a:r>
          </a:p>
          <a:p>
            <a:pPr>
              <a:spcBef>
                <a:spcPct val="20000"/>
              </a:spcBef>
            </a:pPr>
            <a:r>
              <a:rPr lang="en-US" sz="3200"/>
              <a:t>{</a:t>
            </a:r>
          </a:p>
          <a:p>
            <a:pPr>
              <a:spcBef>
                <a:spcPct val="20000"/>
              </a:spcBef>
            </a:pPr>
            <a:r>
              <a:rPr lang="en-US" sz="3200"/>
              <a:t>	struct sembuf semb;</a:t>
            </a:r>
          </a:p>
          <a:p>
            <a:pPr>
              <a:spcBef>
                <a:spcPct val="20000"/>
              </a:spcBef>
            </a:pPr>
            <a:r>
              <a:rPr lang="en-US" sz="3600"/>
              <a:t>	</a:t>
            </a:r>
            <a:r>
              <a:rPr lang="en-US" sz="3600">
                <a:solidFill>
                  <a:srgbClr val="FF0000"/>
                </a:solidFill>
              </a:rPr>
              <a:t>semb.sem_num 	= 	0;</a:t>
            </a:r>
          </a:p>
          <a:p>
            <a:pPr>
              <a:spcBef>
                <a:spcPct val="20000"/>
              </a:spcBef>
            </a:pPr>
            <a:r>
              <a:rPr lang="en-US" sz="3600">
                <a:solidFill>
                  <a:srgbClr val="FF0000"/>
                </a:solidFill>
              </a:rPr>
              <a:t>	semb.sem_op  		= 	1;</a:t>
            </a:r>
          </a:p>
          <a:p>
            <a:pPr>
              <a:spcBef>
                <a:spcPct val="20000"/>
              </a:spcBef>
            </a:pPr>
            <a:r>
              <a:rPr lang="en-US" sz="3600">
                <a:solidFill>
                  <a:srgbClr val="FF0000"/>
                </a:solidFill>
              </a:rPr>
              <a:t>	semb.sem_flg 		= 	SEM_UNDO;</a:t>
            </a:r>
          </a:p>
          <a:p>
            <a:pPr>
              <a:spcBef>
                <a:spcPct val="20000"/>
              </a:spcBef>
            </a:pPr>
            <a:r>
              <a:rPr lang="en-US" sz="3200"/>
              <a:t>	if(</a:t>
            </a:r>
            <a:r>
              <a:rPr lang="en-US" sz="4000" b="1" i="1">
                <a:solidFill>
                  <a:srgbClr val="339933"/>
                </a:solidFill>
              </a:rPr>
              <a:t>semop( sid , &amp;semb , 1)</a:t>
            </a:r>
            <a:r>
              <a:rPr lang="en-US" sz="3200"/>
              <a:t> == -1)</a:t>
            </a:r>
          </a:p>
          <a:p>
            <a:pPr>
              <a:spcBef>
                <a:spcPct val="20000"/>
              </a:spcBef>
            </a:pPr>
            <a:r>
              <a:rPr lang="en-US" sz="3200"/>
              <a:t>		printf("Unable to Take Semaphore \n");</a:t>
            </a:r>
          </a:p>
          <a:p>
            <a:pPr>
              <a:spcBef>
                <a:spcPct val="20000"/>
              </a:spcBef>
            </a:pPr>
            <a:r>
              <a:rPr lang="en-US" sz="320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ChangeArrowheads="1"/>
          </p:cNvSpPr>
          <p:nvPr/>
        </p:nvSpPr>
        <p:spPr bwMode="auto">
          <a:xfrm>
            <a:off x="0" y="1143000"/>
            <a:ext cx="9144000" cy="5181600"/>
          </a:xfrm>
          <a:prstGeom prst="rect">
            <a:avLst/>
          </a:prstGeom>
          <a:noFill/>
          <a:ln w="9525">
            <a:noFill/>
            <a:miter lim="800000"/>
            <a:headEnd/>
            <a:tailEnd/>
          </a:ln>
        </p:spPr>
        <p:txBody>
          <a:bodyPr/>
          <a:lstStyle/>
          <a:p>
            <a:pPr>
              <a:spcBef>
                <a:spcPct val="20000"/>
              </a:spcBef>
            </a:pPr>
            <a:r>
              <a:rPr lang="en-US" sz="3200"/>
              <a:t>int main()</a:t>
            </a:r>
          </a:p>
          <a:p>
            <a:pPr>
              <a:spcBef>
                <a:spcPct val="20000"/>
              </a:spcBef>
            </a:pPr>
            <a:r>
              <a:rPr lang="en-US" sz="3200"/>
              <a:t>{	int sid;</a:t>
            </a:r>
          </a:p>
          <a:p>
            <a:pPr>
              <a:spcBef>
                <a:spcPct val="20000"/>
              </a:spcBef>
            </a:pPr>
            <a:r>
              <a:rPr lang="en-US" sz="3200"/>
              <a:t>	union semun semunion;</a:t>
            </a:r>
          </a:p>
          <a:p>
            <a:pPr>
              <a:spcBef>
                <a:spcPct val="20000"/>
              </a:spcBef>
            </a:pPr>
            <a:r>
              <a:rPr lang="en-US" sz="3200"/>
              <a:t>	semunion.val = 1;</a:t>
            </a:r>
          </a:p>
          <a:p>
            <a:pPr>
              <a:spcBef>
                <a:spcPct val="20000"/>
              </a:spcBef>
            </a:pPr>
            <a:r>
              <a:rPr lang="en-US" sz="3200"/>
              <a:t>	sid = semget(1,1,IPC_CREAT|0666);</a:t>
            </a:r>
          </a:p>
          <a:p>
            <a:pPr>
              <a:spcBef>
                <a:spcPct val="20000"/>
              </a:spcBef>
            </a:pPr>
            <a:r>
              <a:rPr lang="en-US" sz="3200"/>
              <a:t>	if(</a:t>
            </a:r>
            <a:r>
              <a:rPr lang="en-US" sz="3600" b="1" i="1">
                <a:solidFill>
                  <a:srgbClr val="339933"/>
                </a:solidFill>
              </a:rPr>
              <a:t>semctl(sid,0,SETVAL,semunion)</a:t>
            </a:r>
            <a:r>
              <a:rPr lang="en-US" sz="3200"/>
              <a:t> == -1)</a:t>
            </a:r>
          </a:p>
          <a:p>
            <a:pPr>
              <a:spcBef>
                <a:spcPct val="20000"/>
              </a:spcBef>
            </a:pPr>
            <a:r>
              <a:rPr lang="en-US" sz="3200"/>
              <a:t>		printf("Unable to set value \n");</a:t>
            </a:r>
          </a:p>
          <a:p>
            <a:pPr>
              <a:spcBef>
                <a:spcPct val="20000"/>
              </a:spcBef>
            </a:pPr>
            <a:r>
              <a:rPr lang="en-US" sz="3200"/>
              <a:t>	return 0;</a:t>
            </a:r>
          </a:p>
          <a:p>
            <a:pPr>
              <a:spcBef>
                <a:spcPct val="20000"/>
              </a:spcBef>
            </a:pPr>
            <a:r>
              <a:rPr lang="en-US" sz="3200"/>
              <a:t>}</a:t>
            </a:r>
          </a:p>
        </p:txBody>
      </p:sp>
      <p:sp>
        <p:nvSpPr>
          <p:cNvPr id="244739" name="Rectangle 3"/>
          <p:cNvSpPr>
            <a:spLocks noGrp="1" noChangeArrowheads="1"/>
          </p:cNvSpPr>
          <p:nvPr>
            <p:ph type="title" idx="4294967295"/>
          </p:nvPr>
        </p:nvSpPr>
        <p:spPr>
          <a:xfrm>
            <a:off x="0" y="-76200"/>
            <a:ext cx="7772400" cy="1143000"/>
          </a:xfrm>
        </p:spPr>
        <p:txBody>
          <a:bodyPr/>
          <a:lstStyle/>
          <a:p>
            <a:pPr eaLnBrk="1" hangingPunct="1"/>
            <a:r>
              <a:rPr lang="en-US" b="1" dirty="0"/>
              <a:t>Set Semaphore Value</a:t>
            </a:r>
          </a:p>
        </p:txBody>
      </p:sp>
      <p:sp>
        <p:nvSpPr>
          <p:cNvPr id="244740" name="Rectangle 4"/>
          <p:cNvSpPr>
            <a:spLocks noChangeArrowheads="1"/>
          </p:cNvSpPr>
          <p:nvPr/>
        </p:nvSpPr>
        <p:spPr bwMode="auto">
          <a:xfrm>
            <a:off x="5029200" y="1143000"/>
            <a:ext cx="3962400" cy="2209800"/>
          </a:xfrm>
          <a:prstGeom prst="rect">
            <a:avLst/>
          </a:prstGeom>
          <a:noFill/>
          <a:ln w="9525">
            <a:solidFill>
              <a:srgbClr val="339933"/>
            </a:solidFill>
            <a:miter lim="800000"/>
            <a:headEnd/>
            <a:tailEnd/>
          </a:ln>
        </p:spPr>
        <p:txBody>
          <a:bodyPr/>
          <a:lstStyle/>
          <a:p>
            <a:pPr>
              <a:lnSpc>
                <a:spcPct val="80000"/>
              </a:lnSpc>
              <a:spcBef>
                <a:spcPct val="20000"/>
              </a:spcBef>
            </a:pPr>
            <a:r>
              <a:rPr lang="en-US" sz="2100"/>
              <a:t>union semun</a:t>
            </a:r>
          </a:p>
          <a:p>
            <a:pPr>
              <a:lnSpc>
                <a:spcPct val="80000"/>
              </a:lnSpc>
              <a:spcBef>
                <a:spcPct val="20000"/>
              </a:spcBef>
            </a:pPr>
            <a:r>
              <a:rPr lang="en-US" sz="2100"/>
              <a:t>{	int val;</a:t>
            </a:r>
          </a:p>
          <a:p>
            <a:pPr>
              <a:lnSpc>
                <a:spcPct val="80000"/>
              </a:lnSpc>
              <a:spcBef>
                <a:spcPct val="20000"/>
              </a:spcBef>
            </a:pPr>
            <a:r>
              <a:rPr lang="en-US" sz="2100"/>
              <a:t>	struct semid_ds *buf;</a:t>
            </a:r>
          </a:p>
          <a:p>
            <a:pPr>
              <a:lnSpc>
                <a:spcPct val="80000"/>
              </a:lnSpc>
              <a:spcBef>
                <a:spcPct val="20000"/>
              </a:spcBef>
            </a:pPr>
            <a:r>
              <a:rPr lang="en-US" sz="2100"/>
              <a:t>	unsigned short int *array;</a:t>
            </a:r>
          </a:p>
          <a:p>
            <a:pPr>
              <a:lnSpc>
                <a:spcPct val="80000"/>
              </a:lnSpc>
              <a:spcBef>
                <a:spcPct val="20000"/>
              </a:spcBef>
            </a:pPr>
            <a:r>
              <a:rPr lang="en-US" sz="2100"/>
              <a:t>	struct seminfo *info;</a:t>
            </a:r>
          </a:p>
          <a:p>
            <a:pPr>
              <a:lnSpc>
                <a:spcPct val="80000"/>
              </a:lnSpc>
              <a:spcBef>
                <a:spcPct val="20000"/>
              </a:spcBef>
            </a:pPr>
            <a:r>
              <a:rPr lang="en-US" sz="2100"/>
              <a:t>};</a:t>
            </a:r>
          </a:p>
          <a:p>
            <a:pPr>
              <a:lnSpc>
                <a:spcPct val="80000"/>
              </a:lnSpc>
              <a:spcBef>
                <a:spcPct val="20000"/>
              </a:spcBef>
            </a:pPr>
            <a:endParaRPr lang="en-US" sz="2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endParaRPr lang="en-US" sz="3600"/>
          </a:p>
        </p:txBody>
      </p:sp>
      <p:sp>
        <p:nvSpPr>
          <p:cNvPr id="245763" name="Rectangle 3"/>
          <p:cNvSpPr>
            <a:spLocks noGrp="1" noChangeArrowheads="1"/>
          </p:cNvSpPr>
          <p:nvPr>
            <p:ph type="title" idx="4294967295"/>
          </p:nvPr>
        </p:nvSpPr>
        <p:spPr>
          <a:xfrm>
            <a:off x="0" y="-76200"/>
            <a:ext cx="7772400" cy="1143000"/>
          </a:xfrm>
        </p:spPr>
        <p:txBody>
          <a:bodyPr/>
          <a:lstStyle/>
          <a:p>
            <a:pPr eaLnBrk="1" hangingPunct="1"/>
            <a:r>
              <a:rPr lang="en-US" b="1" dirty="0"/>
              <a:t>Delete Semaphore</a:t>
            </a:r>
          </a:p>
        </p:txBody>
      </p:sp>
      <p:sp>
        <p:nvSpPr>
          <p:cNvPr id="245764" name="Rectangle 5"/>
          <p:cNvSpPr>
            <a:spLocks noChangeArrowheads="1"/>
          </p:cNvSpPr>
          <p:nvPr/>
        </p:nvSpPr>
        <p:spPr bwMode="auto">
          <a:xfrm>
            <a:off x="0" y="1066800"/>
            <a:ext cx="9144000" cy="5181600"/>
          </a:xfrm>
          <a:prstGeom prst="rect">
            <a:avLst/>
          </a:prstGeom>
          <a:noFill/>
          <a:ln w="9525">
            <a:noFill/>
            <a:miter lim="800000"/>
            <a:headEnd/>
            <a:tailEnd/>
          </a:ln>
        </p:spPr>
        <p:txBody>
          <a:bodyPr/>
          <a:lstStyle/>
          <a:p>
            <a:pPr>
              <a:spcBef>
                <a:spcPct val="20000"/>
              </a:spcBef>
            </a:pPr>
            <a:r>
              <a:rPr lang="en-US" sz="3200"/>
              <a:t>int main()</a:t>
            </a:r>
          </a:p>
          <a:p>
            <a:pPr>
              <a:spcBef>
                <a:spcPct val="20000"/>
              </a:spcBef>
            </a:pPr>
            <a:r>
              <a:rPr lang="en-US" sz="3200"/>
              <a:t>{</a:t>
            </a:r>
          </a:p>
          <a:p>
            <a:pPr>
              <a:spcBef>
                <a:spcPct val="20000"/>
              </a:spcBef>
            </a:pPr>
            <a:r>
              <a:rPr lang="en-US" sz="3200"/>
              <a:t>	int sid;</a:t>
            </a:r>
          </a:p>
          <a:p>
            <a:pPr>
              <a:spcBef>
                <a:spcPct val="20000"/>
              </a:spcBef>
            </a:pPr>
            <a:r>
              <a:rPr lang="en-US" sz="3200"/>
              <a:t>	sid = semget(1,1,IPC_CREAT|0666);</a:t>
            </a:r>
          </a:p>
          <a:p>
            <a:pPr>
              <a:spcBef>
                <a:spcPct val="20000"/>
              </a:spcBef>
            </a:pPr>
            <a:r>
              <a:rPr lang="en-US" sz="3200"/>
              <a:t>	if(</a:t>
            </a:r>
            <a:r>
              <a:rPr lang="en-US" sz="4000" b="1" i="1">
                <a:solidFill>
                  <a:srgbClr val="339933"/>
                </a:solidFill>
              </a:rPr>
              <a:t>semctl( sid , 0 , IPC_RMID , 0)</a:t>
            </a:r>
            <a:r>
              <a:rPr lang="en-US" sz="3200"/>
              <a:t> == -1)</a:t>
            </a:r>
          </a:p>
          <a:p>
            <a:pPr>
              <a:spcBef>
                <a:spcPct val="20000"/>
              </a:spcBef>
            </a:pPr>
            <a:r>
              <a:rPr lang="en-US" sz="2800"/>
              <a:t>		</a:t>
            </a:r>
            <a:r>
              <a:rPr lang="en-US" sz="3100"/>
              <a:t>printf("Unable to Delete Semaphore \n"); </a:t>
            </a:r>
          </a:p>
          <a:p>
            <a:pPr>
              <a:spcBef>
                <a:spcPct val="20000"/>
              </a:spcBef>
            </a:pPr>
            <a:r>
              <a:rPr lang="en-US" sz="3200"/>
              <a:t> 	system("ipcs");</a:t>
            </a:r>
          </a:p>
          <a:p>
            <a:pPr>
              <a:spcBef>
                <a:spcPct val="20000"/>
              </a:spcBef>
            </a:pPr>
            <a:r>
              <a:rPr lang="en-US" sz="3200"/>
              <a:t>	return 0;</a:t>
            </a:r>
          </a:p>
          <a:p>
            <a:pPr>
              <a:spcBef>
                <a:spcPct val="20000"/>
              </a:spcBef>
            </a:pPr>
            <a:r>
              <a:rPr lang="en-US" sz="320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838200" y="762000"/>
            <a:ext cx="6629400" cy="457200"/>
          </a:xfrm>
          <a:prstGeom prst="rect">
            <a:avLst/>
          </a:prstGeom>
          <a:noFill/>
          <a:ln w="9525">
            <a:noFill/>
            <a:miter lim="800000"/>
            <a:headEnd/>
            <a:tailEnd/>
          </a:ln>
        </p:spPr>
        <p:txBody>
          <a:bodyPr>
            <a:spAutoFit/>
          </a:bodyPr>
          <a:lstStyle/>
          <a:p>
            <a:pPr algn="ctr">
              <a:spcBef>
                <a:spcPct val="50000"/>
              </a:spcBef>
            </a:pPr>
            <a:r>
              <a:rPr lang="en-US" i="1" dirty="0">
                <a:solidFill>
                  <a:srgbClr val="CC6600"/>
                </a:solidFill>
              </a:rPr>
              <a:t>/* Sample program  with Pipes and  Semaphores*/</a:t>
            </a:r>
          </a:p>
        </p:txBody>
      </p:sp>
      <p:sp>
        <p:nvSpPr>
          <p:cNvPr id="246788" name="Text Box 4"/>
          <p:cNvSpPr txBox="1">
            <a:spLocks noChangeArrowheads="1"/>
          </p:cNvSpPr>
          <p:nvPr/>
        </p:nvSpPr>
        <p:spPr bwMode="auto">
          <a:xfrm>
            <a:off x="762000" y="1072783"/>
            <a:ext cx="7772400" cy="4108817"/>
          </a:xfrm>
          <a:prstGeom prst="rect">
            <a:avLst/>
          </a:prstGeom>
          <a:noFill/>
          <a:ln w="9525">
            <a:noFill/>
            <a:miter lim="800000"/>
            <a:headEnd/>
            <a:tailEnd/>
          </a:ln>
        </p:spPr>
        <p:txBody>
          <a:bodyPr>
            <a:spAutoFit/>
          </a:bodyPr>
          <a:lstStyle/>
          <a:p>
            <a:pPr>
              <a:spcBef>
                <a:spcPct val="50000"/>
              </a:spcBef>
            </a:pPr>
            <a:r>
              <a:rPr lang="en-US" i="1" dirty="0">
                <a:solidFill>
                  <a:srgbClr val="CC6600"/>
                </a:solidFill>
              </a:rPr>
              <a:t>/* Data */</a:t>
            </a:r>
          </a:p>
          <a:p>
            <a:pPr>
              <a:spcBef>
                <a:spcPct val="50000"/>
              </a:spcBef>
            </a:pPr>
            <a:r>
              <a:rPr lang="en-US" dirty="0"/>
              <a:t> </a:t>
            </a:r>
            <a:r>
              <a:rPr lang="en-US" dirty="0">
                <a:solidFill>
                  <a:srgbClr val="339933"/>
                </a:solidFill>
              </a:rPr>
              <a:t>struct message{</a:t>
            </a:r>
          </a:p>
          <a:p>
            <a:pPr>
              <a:spcBef>
                <a:spcPct val="50000"/>
              </a:spcBef>
            </a:pPr>
            <a:r>
              <a:rPr lang="en-US" dirty="0">
                <a:solidFill>
                  <a:srgbClr val="339933"/>
                </a:solidFill>
              </a:rPr>
              <a:t>   char record[12];</a:t>
            </a:r>
          </a:p>
          <a:p>
            <a:pPr>
              <a:spcBef>
                <a:spcPct val="50000"/>
              </a:spcBef>
            </a:pPr>
            <a:r>
              <a:rPr lang="en-US" dirty="0">
                <a:solidFill>
                  <a:srgbClr val="339933"/>
                </a:solidFill>
              </a:rPr>
              <a:t>  }</a:t>
            </a:r>
            <a:r>
              <a:rPr lang="en-US" dirty="0" err="1">
                <a:solidFill>
                  <a:srgbClr val="339933"/>
                </a:solidFill>
              </a:rPr>
              <a:t>p_snd,p_rcv</a:t>
            </a:r>
            <a:r>
              <a:rPr lang="en-US" dirty="0">
                <a:solidFill>
                  <a:srgbClr val="339933"/>
                </a:solidFill>
              </a:rPr>
              <a:t> ;</a:t>
            </a:r>
          </a:p>
          <a:p>
            <a:pPr>
              <a:spcBef>
                <a:spcPct val="50000"/>
              </a:spcBef>
            </a:pPr>
            <a:endParaRPr lang="en-US" i="1" dirty="0">
              <a:solidFill>
                <a:srgbClr val="CC6600"/>
              </a:solidFill>
            </a:endParaRPr>
          </a:p>
          <a:p>
            <a:pPr>
              <a:spcBef>
                <a:spcPct val="50000"/>
              </a:spcBef>
            </a:pPr>
            <a:r>
              <a:rPr lang="en-US" i="1" dirty="0">
                <a:solidFill>
                  <a:srgbClr val="CC6600"/>
                </a:solidFill>
              </a:rPr>
              <a:t>/* Creating Pipe and Initiating fork() */</a:t>
            </a:r>
          </a:p>
          <a:p>
            <a:pPr>
              <a:spcBef>
                <a:spcPct val="50000"/>
              </a:spcBef>
            </a:pPr>
            <a:r>
              <a:rPr lang="en-US" dirty="0"/>
              <a:t> </a:t>
            </a:r>
            <a:r>
              <a:rPr lang="en-US" dirty="0">
                <a:solidFill>
                  <a:srgbClr val="339933"/>
                </a:solidFill>
              </a:rPr>
              <a:t>   int </a:t>
            </a:r>
            <a:r>
              <a:rPr lang="en-US" dirty="0" err="1">
                <a:solidFill>
                  <a:srgbClr val="339933"/>
                </a:solidFill>
              </a:rPr>
              <a:t>pid</a:t>
            </a:r>
            <a:r>
              <a:rPr lang="en-US" dirty="0">
                <a:solidFill>
                  <a:srgbClr val="339933"/>
                </a:solidFill>
              </a:rPr>
              <a:t>, p[2];</a:t>
            </a:r>
          </a:p>
          <a:p>
            <a:pPr>
              <a:spcBef>
                <a:spcPct val="50000"/>
              </a:spcBef>
            </a:pPr>
            <a:r>
              <a:rPr lang="en-US" dirty="0">
                <a:solidFill>
                  <a:srgbClr val="339933"/>
                </a:solidFill>
              </a:rPr>
              <a:t>     pipe(p);</a:t>
            </a:r>
          </a:p>
          <a:p>
            <a:pPr>
              <a:spcBef>
                <a:spcPct val="50000"/>
              </a:spcBef>
            </a:pPr>
            <a:r>
              <a:rPr lang="en-US" dirty="0">
                <a:solidFill>
                  <a:srgbClr val="339933"/>
                </a:solidFill>
              </a:rPr>
              <a:t>     </a:t>
            </a:r>
            <a:r>
              <a:rPr lang="en-US" dirty="0" err="1">
                <a:solidFill>
                  <a:srgbClr val="339933"/>
                </a:solidFill>
              </a:rPr>
              <a:t>pid</a:t>
            </a:r>
            <a:r>
              <a:rPr lang="en-US" dirty="0">
                <a:solidFill>
                  <a:srgbClr val="339933"/>
                </a:solidFill>
              </a:rPr>
              <a:t>=fork();</a:t>
            </a:r>
          </a:p>
          <a:p>
            <a:pPr>
              <a:spcBef>
                <a:spcPct val="50000"/>
              </a:spcBef>
            </a:pPr>
            <a:r>
              <a:rPr lang="en-US" dirty="0">
                <a:solidFill>
                  <a:srgbClr val="339933"/>
                </a:solidFill>
              </a:rPr>
              <a:t>     </a:t>
            </a:r>
            <a:r>
              <a:rPr lang="en-US" dirty="0" err="1">
                <a:solidFill>
                  <a:srgbClr val="339933"/>
                </a:solidFill>
              </a:rPr>
              <a:t>printf</a:t>
            </a:r>
            <a:r>
              <a:rPr lang="en-US" dirty="0">
                <a:solidFill>
                  <a:srgbClr val="339933"/>
                </a:solidFill>
              </a:rPr>
              <a:t>(“Using descriptors are:%2d %2d \</a:t>
            </a:r>
            <a:r>
              <a:rPr lang="en-US" dirty="0" err="1">
                <a:solidFill>
                  <a:srgbClr val="339933"/>
                </a:solidFill>
              </a:rPr>
              <a:t>n”,p</a:t>
            </a:r>
            <a:r>
              <a:rPr lang="en-US" dirty="0">
                <a:solidFill>
                  <a:srgbClr val="339933"/>
                </a:solidFill>
              </a:rPr>
              <a:t>[0],p[1] ); </a:t>
            </a:r>
          </a:p>
        </p:txBody>
      </p:sp>
      <p:sp>
        <p:nvSpPr>
          <p:cNvPr id="246789" name="Rectangle 12"/>
          <p:cNvSpPr>
            <a:spLocks noGrp="1" noChangeArrowheads="1"/>
          </p:cNvSpPr>
          <p:nvPr>
            <p:ph type="ctrTitle"/>
          </p:nvPr>
        </p:nvSpPr>
        <p:spPr>
          <a:xfrm>
            <a:off x="609600" y="152401"/>
            <a:ext cx="7772400" cy="685799"/>
          </a:xfrm>
        </p:spPr>
        <p:txBody>
          <a:bodyPr>
            <a:normAutofit fontScale="90000"/>
          </a:bodyPr>
          <a:lstStyle/>
          <a:p>
            <a:pPr eaLnBrk="1" hangingPunct="1"/>
            <a:r>
              <a:rPr lang="en-US" b="1" dirty="0"/>
              <a:t>Sample Program</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381000" y="372765"/>
            <a:ext cx="8229600" cy="6104235"/>
          </a:xfrm>
          <a:prstGeom prst="rect">
            <a:avLst/>
          </a:prstGeom>
          <a:noFill/>
          <a:ln w="9525">
            <a:noFill/>
            <a:miter lim="800000"/>
            <a:headEnd/>
            <a:tailEnd/>
          </a:ln>
        </p:spPr>
        <p:txBody>
          <a:bodyPr wrap="square">
            <a:spAutoFit/>
          </a:bodyPr>
          <a:lstStyle/>
          <a:p>
            <a:pPr>
              <a:spcBef>
                <a:spcPct val="50000"/>
              </a:spcBef>
            </a:pPr>
            <a:r>
              <a:rPr lang="en-US" i="1" dirty="0">
                <a:solidFill>
                  <a:srgbClr val="CC6600"/>
                </a:solidFill>
              </a:rPr>
              <a:t>/* Creating Semaphore*/</a:t>
            </a:r>
          </a:p>
          <a:p>
            <a:r>
              <a:rPr lang="en-US" dirty="0">
                <a:solidFill>
                  <a:srgbClr val="CC6600"/>
                </a:solidFill>
              </a:rPr>
              <a:t>   </a:t>
            </a:r>
            <a:r>
              <a:rPr lang="en-US" dirty="0">
                <a:solidFill>
                  <a:srgbClr val="339933"/>
                </a:solidFill>
              </a:rPr>
              <a:t>#include&lt;sys/sem.h&gt;</a:t>
            </a:r>
          </a:p>
          <a:p>
            <a:r>
              <a:rPr lang="en-US" dirty="0">
                <a:solidFill>
                  <a:srgbClr val="339933"/>
                </a:solidFill>
              </a:rPr>
              <a:t>   struct </a:t>
            </a:r>
            <a:r>
              <a:rPr lang="en-US" dirty="0" err="1">
                <a:solidFill>
                  <a:srgbClr val="339933"/>
                </a:solidFill>
              </a:rPr>
              <a:t>sembuf</a:t>
            </a:r>
            <a:r>
              <a:rPr lang="en-US" dirty="0">
                <a:solidFill>
                  <a:srgbClr val="339933"/>
                </a:solidFill>
              </a:rPr>
              <a:t>  </a:t>
            </a:r>
            <a:r>
              <a:rPr lang="en-US" dirty="0" err="1">
                <a:solidFill>
                  <a:srgbClr val="339933"/>
                </a:solidFill>
              </a:rPr>
              <a:t>semb</a:t>
            </a:r>
            <a:r>
              <a:rPr lang="en-US" dirty="0">
                <a:solidFill>
                  <a:srgbClr val="339933"/>
                </a:solidFill>
              </a:rPr>
              <a:t>;</a:t>
            </a:r>
          </a:p>
          <a:p>
            <a:r>
              <a:rPr lang="en-US" dirty="0">
                <a:solidFill>
                  <a:srgbClr val="339933"/>
                </a:solidFill>
              </a:rPr>
              <a:t>     int </a:t>
            </a:r>
            <a:r>
              <a:rPr lang="en-US" dirty="0" err="1">
                <a:solidFill>
                  <a:srgbClr val="339933"/>
                </a:solidFill>
              </a:rPr>
              <a:t>semid</a:t>
            </a:r>
            <a:r>
              <a:rPr lang="en-US" dirty="0">
                <a:solidFill>
                  <a:srgbClr val="339933"/>
                </a:solidFill>
              </a:rPr>
              <a:t>;</a:t>
            </a:r>
          </a:p>
          <a:p>
            <a:r>
              <a:rPr lang="en-US" dirty="0">
                <a:solidFill>
                  <a:srgbClr val="339933"/>
                </a:solidFill>
              </a:rPr>
              <a:t>     if(</a:t>
            </a:r>
            <a:r>
              <a:rPr lang="en-US" dirty="0" err="1">
                <a:solidFill>
                  <a:srgbClr val="339933"/>
                </a:solidFill>
              </a:rPr>
              <a:t>semid</a:t>
            </a:r>
            <a:r>
              <a:rPr lang="en-US" dirty="0">
                <a:solidFill>
                  <a:srgbClr val="339933"/>
                </a:solidFill>
              </a:rPr>
              <a:t>=</a:t>
            </a:r>
            <a:r>
              <a:rPr lang="en-US" dirty="0" err="1">
                <a:solidFill>
                  <a:srgbClr val="339933"/>
                </a:solidFill>
              </a:rPr>
              <a:t>semget</a:t>
            </a:r>
            <a:r>
              <a:rPr lang="en-US" dirty="0">
                <a:solidFill>
                  <a:srgbClr val="339933"/>
                </a:solidFill>
              </a:rPr>
              <a:t>(10,0,IPC_CREAT|0666))==-1)</a:t>
            </a:r>
          </a:p>
          <a:p>
            <a:r>
              <a:rPr lang="en-US" dirty="0">
                <a:solidFill>
                  <a:srgbClr val="339933"/>
                </a:solidFill>
              </a:rPr>
              <a:t>     {   </a:t>
            </a:r>
          </a:p>
          <a:p>
            <a:r>
              <a:rPr lang="en-US" dirty="0">
                <a:solidFill>
                  <a:srgbClr val="339933"/>
                </a:solidFill>
              </a:rPr>
              <a:t>              </a:t>
            </a:r>
            <a:r>
              <a:rPr lang="en-US" dirty="0" err="1">
                <a:solidFill>
                  <a:srgbClr val="339933"/>
                </a:solidFill>
              </a:rPr>
              <a:t>perror</a:t>
            </a:r>
            <a:r>
              <a:rPr lang="en-US" dirty="0">
                <a:solidFill>
                  <a:srgbClr val="339933"/>
                </a:solidFill>
              </a:rPr>
              <a:t>(“Error”);</a:t>
            </a:r>
          </a:p>
          <a:p>
            <a:r>
              <a:rPr lang="en-US" dirty="0">
                <a:solidFill>
                  <a:srgbClr val="339933"/>
                </a:solidFill>
              </a:rPr>
              <a:t>              exit(0);       </a:t>
            </a:r>
          </a:p>
          <a:p>
            <a:r>
              <a:rPr lang="en-US" dirty="0">
                <a:solidFill>
                  <a:srgbClr val="339933"/>
                </a:solidFill>
              </a:rPr>
              <a:t>     }  </a:t>
            </a:r>
          </a:p>
          <a:p>
            <a:pPr>
              <a:spcBef>
                <a:spcPts val="800"/>
              </a:spcBef>
            </a:pPr>
            <a:r>
              <a:rPr lang="en-US" i="1" dirty="0">
                <a:solidFill>
                  <a:srgbClr val="CC6600"/>
                </a:solidFill>
              </a:rPr>
              <a:t>    /* Set value to Semaphore */</a:t>
            </a:r>
          </a:p>
          <a:p>
            <a:pPr>
              <a:spcBef>
                <a:spcPct val="50000"/>
              </a:spcBef>
            </a:pPr>
            <a:r>
              <a:rPr lang="en-US" dirty="0"/>
              <a:t> </a:t>
            </a:r>
            <a:r>
              <a:rPr lang="en-US" dirty="0">
                <a:solidFill>
                  <a:srgbClr val="339933"/>
                </a:solidFill>
              </a:rPr>
              <a:t>    </a:t>
            </a:r>
            <a:r>
              <a:rPr lang="en-US" dirty="0" err="1">
                <a:solidFill>
                  <a:srgbClr val="339933"/>
                </a:solidFill>
              </a:rPr>
              <a:t>semctl</a:t>
            </a:r>
            <a:r>
              <a:rPr lang="en-US" dirty="0">
                <a:solidFill>
                  <a:srgbClr val="339933"/>
                </a:solidFill>
              </a:rPr>
              <a:t> (semid,0,SETVAL,1);</a:t>
            </a:r>
          </a:p>
          <a:p>
            <a:pPr>
              <a:spcBef>
                <a:spcPct val="50000"/>
              </a:spcBef>
            </a:pPr>
            <a:endParaRPr lang="en-US" dirty="0">
              <a:solidFill>
                <a:srgbClr val="339933"/>
              </a:solidFill>
            </a:endParaRPr>
          </a:p>
          <a:p>
            <a:pPr>
              <a:spcBef>
                <a:spcPct val="50000"/>
              </a:spcBef>
            </a:pPr>
            <a:r>
              <a:rPr lang="en-US" sz="2800" b="1" i="1" dirty="0">
                <a:solidFill>
                  <a:srgbClr val="CC6600"/>
                </a:solidFill>
              </a:rPr>
              <a:t>/*writing data into pipe in parent */</a:t>
            </a:r>
            <a:r>
              <a:rPr lang="en-US" dirty="0">
                <a:solidFill>
                  <a:srgbClr val="339933"/>
                </a:solidFill>
              </a:rPr>
              <a:t> </a:t>
            </a:r>
          </a:p>
          <a:p>
            <a:r>
              <a:rPr lang="en-US" dirty="0">
                <a:solidFill>
                  <a:srgbClr val="339933"/>
                </a:solidFill>
              </a:rPr>
              <a:t>     int  </a:t>
            </a:r>
            <a:r>
              <a:rPr lang="en-US" dirty="0" err="1">
                <a:solidFill>
                  <a:srgbClr val="339933"/>
                </a:solidFill>
              </a:rPr>
              <a:t>i</a:t>
            </a:r>
            <a:r>
              <a:rPr lang="en-US" dirty="0">
                <a:solidFill>
                  <a:srgbClr val="339933"/>
                </a:solidFill>
              </a:rPr>
              <a:t>;                                </a:t>
            </a:r>
            <a:endParaRPr lang="en-US" sz="2800" dirty="0">
              <a:solidFill>
                <a:srgbClr val="CC6600"/>
              </a:solidFill>
            </a:endParaRPr>
          </a:p>
          <a:p>
            <a:r>
              <a:rPr lang="en-US" dirty="0">
                <a:solidFill>
                  <a:srgbClr val="339933"/>
                </a:solidFill>
              </a:rPr>
              <a:t>     if(</a:t>
            </a:r>
            <a:r>
              <a:rPr lang="en-US" dirty="0" err="1">
                <a:solidFill>
                  <a:srgbClr val="339933"/>
                </a:solidFill>
              </a:rPr>
              <a:t>pid</a:t>
            </a:r>
            <a:r>
              <a:rPr lang="en-US" dirty="0">
                <a:solidFill>
                  <a:srgbClr val="339933"/>
                </a:solidFill>
              </a:rPr>
              <a:t>!=0)  {</a:t>
            </a:r>
          </a:p>
          <a:p>
            <a:r>
              <a:rPr lang="en-US" dirty="0">
                <a:solidFill>
                  <a:srgbClr val="339933"/>
                </a:solidFill>
              </a:rPr>
              <a:t>           </a:t>
            </a:r>
            <a:r>
              <a:rPr lang="en-US" dirty="0" err="1">
                <a:solidFill>
                  <a:srgbClr val="339933"/>
                </a:solidFill>
              </a:rPr>
              <a:t>semb.sem_num</a:t>
            </a:r>
            <a:r>
              <a:rPr lang="en-US" dirty="0">
                <a:solidFill>
                  <a:srgbClr val="339933"/>
                </a:solidFill>
              </a:rPr>
              <a:t>=0;</a:t>
            </a:r>
          </a:p>
          <a:p>
            <a:r>
              <a:rPr lang="en-US" dirty="0">
                <a:solidFill>
                  <a:srgbClr val="339933"/>
                </a:solidFill>
              </a:rPr>
              <a:t>           </a:t>
            </a:r>
            <a:r>
              <a:rPr lang="en-US" dirty="0" err="1">
                <a:solidFill>
                  <a:srgbClr val="339933"/>
                </a:solidFill>
              </a:rPr>
              <a:t>semb.sem_op</a:t>
            </a:r>
            <a:r>
              <a:rPr lang="en-US" dirty="0">
                <a:solidFill>
                  <a:srgbClr val="339933"/>
                </a:solidFill>
              </a:rPr>
              <a:t>=-1;</a:t>
            </a:r>
          </a:p>
          <a:p>
            <a:r>
              <a:rPr lang="en-US" dirty="0">
                <a:solidFill>
                  <a:srgbClr val="339933"/>
                </a:solidFill>
              </a:rPr>
              <a:t>           </a:t>
            </a:r>
            <a:r>
              <a:rPr lang="en-US" dirty="0" err="1">
                <a:solidFill>
                  <a:srgbClr val="339933"/>
                </a:solidFill>
              </a:rPr>
              <a:t>semb.flag</a:t>
            </a:r>
            <a:r>
              <a:rPr lang="en-US" dirty="0">
                <a:solidFill>
                  <a:srgbClr val="339933"/>
                </a:solidFill>
              </a:rPr>
              <a:t>=0;</a:t>
            </a:r>
          </a:p>
          <a:p>
            <a:r>
              <a:rPr lang="en-US" dirty="0">
                <a:solidFill>
                  <a:srgbClr val="339933"/>
                </a:solidFill>
              </a:rPr>
              <a:t>           </a:t>
            </a:r>
            <a:r>
              <a:rPr lang="en-US" dirty="0" err="1">
                <a:solidFill>
                  <a:srgbClr val="339933"/>
                </a:solidFill>
              </a:rPr>
              <a:t>semop</a:t>
            </a:r>
            <a:r>
              <a:rPr lang="en-US" dirty="0">
                <a:solidFill>
                  <a:srgbClr val="339933"/>
                </a:solidFill>
              </a:rPr>
              <a:t>(semid,&amp;semb,1);         / *LOCKED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2"/>
          <p:cNvSpPr txBox="1">
            <a:spLocks noChangeArrowheads="1"/>
          </p:cNvSpPr>
          <p:nvPr/>
        </p:nvSpPr>
        <p:spPr bwMode="auto">
          <a:xfrm>
            <a:off x="533400" y="1014413"/>
            <a:ext cx="7315200" cy="4524315"/>
          </a:xfrm>
          <a:prstGeom prst="rect">
            <a:avLst/>
          </a:prstGeom>
          <a:noFill/>
          <a:ln w="9525">
            <a:noFill/>
            <a:miter lim="800000"/>
            <a:headEnd/>
            <a:tailEnd/>
          </a:ln>
        </p:spPr>
        <p:txBody>
          <a:bodyPr>
            <a:spAutoFit/>
          </a:bodyPr>
          <a:lstStyle/>
          <a:p>
            <a:pPr>
              <a:spcBef>
                <a:spcPct val="50000"/>
              </a:spcBef>
            </a:pPr>
            <a:r>
              <a:rPr lang="en-US" dirty="0">
                <a:solidFill>
                  <a:srgbClr val="339933"/>
                </a:solidFill>
              </a:rPr>
              <a:t>for( </a:t>
            </a:r>
            <a:r>
              <a:rPr lang="en-US" dirty="0" err="1">
                <a:solidFill>
                  <a:srgbClr val="339933"/>
                </a:solidFill>
              </a:rPr>
              <a:t>i</a:t>
            </a:r>
            <a:r>
              <a:rPr lang="en-US" dirty="0">
                <a:solidFill>
                  <a:srgbClr val="339933"/>
                </a:solidFill>
              </a:rPr>
              <a:t> =1; </a:t>
            </a:r>
            <a:r>
              <a:rPr lang="en-US" dirty="0" err="1">
                <a:solidFill>
                  <a:srgbClr val="339933"/>
                </a:solidFill>
              </a:rPr>
              <a:t>i</a:t>
            </a:r>
            <a:r>
              <a:rPr lang="en-US" dirty="0">
                <a:solidFill>
                  <a:srgbClr val="339933"/>
                </a:solidFill>
              </a:rPr>
              <a:t>&lt;4; </a:t>
            </a:r>
            <a:r>
              <a:rPr lang="en-US" dirty="0" err="1">
                <a:solidFill>
                  <a:srgbClr val="339933"/>
                </a:solidFill>
              </a:rPr>
              <a:t>i</a:t>
            </a:r>
            <a:r>
              <a:rPr lang="en-US" dirty="0">
                <a:solidFill>
                  <a:srgbClr val="339933"/>
                </a:solidFill>
              </a:rPr>
              <a:t>++) </a:t>
            </a:r>
          </a:p>
          <a:p>
            <a:pPr>
              <a:spcBef>
                <a:spcPct val="50000"/>
              </a:spcBef>
            </a:pPr>
            <a:r>
              <a:rPr lang="en-US" dirty="0">
                <a:solidFill>
                  <a:srgbClr val="339933"/>
                </a:solidFill>
              </a:rPr>
              <a:t> {</a:t>
            </a:r>
          </a:p>
          <a:p>
            <a:pPr>
              <a:spcBef>
                <a:spcPct val="50000"/>
              </a:spcBef>
            </a:pPr>
            <a:r>
              <a:rPr lang="en-US" dirty="0">
                <a:solidFill>
                  <a:srgbClr val="339933"/>
                </a:solidFill>
              </a:rPr>
              <a:t>      </a:t>
            </a:r>
            <a:r>
              <a:rPr lang="en-US" dirty="0" err="1">
                <a:solidFill>
                  <a:srgbClr val="339933"/>
                </a:solidFill>
              </a:rPr>
              <a:t>printf</a:t>
            </a:r>
            <a:r>
              <a:rPr lang="en-US" dirty="0">
                <a:solidFill>
                  <a:srgbClr val="339933"/>
                </a:solidFill>
              </a:rPr>
              <a:t>(“ Enter Different Strings \n” );</a:t>
            </a:r>
          </a:p>
          <a:p>
            <a:pPr>
              <a:spcBef>
                <a:spcPct val="50000"/>
              </a:spcBef>
            </a:pPr>
            <a:r>
              <a:rPr lang="en-US" dirty="0">
                <a:solidFill>
                  <a:srgbClr val="339933"/>
                </a:solidFill>
              </a:rPr>
              <a:t>       </a:t>
            </a:r>
            <a:r>
              <a:rPr lang="en-US" dirty="0" err="1">
                <a:solidFill>
                  <a:srgbClr val="339933"/>
                </a:solidFill>
              </a:rPr>
              <a:t>scanf</a:t>
            </a:r>
            <a:r>
              <a:rPr lang="en-US" dirty="0">
                <a:solidFill>
                  <a:srgbClr val="339933"/>
                </a:solidFill>
              </a:rPr>
              <a:t>(“%s”,</a:t>
            </a:r>
            <a:r>
              <a:rPr lang="en-US" dirty="0" err="1">
                <a:solidFill>
                  <a:srgbClr val="339933"/>
                </a:solidFill>
              </a:rPr>
              <a:t>p_snd.record</a:t>
            </a:r>
            <a:r>
              <a:rPr lang="en-US" dirty="0">
                <a:solidFill>
                  <a:srgbClr val="339933"/>
                </a:solidFill>
              </a:rPr>
              <a:t>);</a:t>
            </a:r>
          </a:p>
          <a:p>
            <a:pPr>
              <a:spcBef>
                <a:spcPct val="50000"/>
              </a:spcBef>
            </a:pPr>
            <a:r>
              <a:rPr lang="en-US" dirty="0">
                <a:solidFill>
                  <a:srgbClr val="339933"/>
                </a:solidFill>
              </a:rPr>
              <a:t>             write(p[1] ,&amp;</a:t>
            </a:r>
            <a:r>
              <a:rPr lang="en-US" dirty="0" err="1">
                <a:solidFill>
                  <a:srgbClr val="339933"/>
                </a:solidFill>
              </a:rPr>
              <a:t>p_snd</a:t>
            </a:r>
            <a:r>
              <a:rPr lang="en-US" dirty="0">
                <a:solidFill>
                  <a:srgbClr val="339933"/>
                </a:solidFill>
              </a:rPr>
              <a:t>, </a:t>
            </a:r>
            <a:r>
              <a:rPr lang="en-US" dirty="0" err="1">
                <a:solidFill>
                  <a:srgbClr val="339933"/>
                </a:solidFill>
              </a:rPr>
              <a:t>sizeof</a:t>
            </a:r>
            <a:r>
              <a:rPr lang="en-US" dirty="0">
                <a:solidFill>
                  <a:srgbClr val="339933"/>
                </a:solidFill>
              </a:rPr>
              <a:t>(struct record))  </a:t>
            </a:r>
          </a:p>
          <a:p>
            <a:pPr>
              <a:spcBef>
                <a:spcPct val="50000"/>
              </a:spcBef>
            </a:pPr>
            <a:r>
              <a:rPr lang="en-US" dirty="0">
                <a:solidFill>
                  <a:srgbClr val="339933"/>
                </a:solidFill>
              </a:rPr>
              <a:t> }</a:t>
            </a:r>
          </a:p>
          <a:p>
            <a:pPr>
              <a:spcBef>
                <a:spcPct val="50000"/>
              </a:spcBef>
            </a:pPr>
            <a:r>
              <a:rPr lang="en-US" dirty="0">
                <a:solidFill>
                  <a:srgbClr val="339933"/>
                </a:solidFill>
              </a:rPr>
              <a:t>         </a:t>
            </a:r>
            <a:r>
              <a:rPr lang="en-US" dirty="0" err="1">
                <a:solidFill>
                  <a:srgbClr val="339933"/>
                </a:solidFill>
              </a:rPr>
              <a:t>semb.sem_num</a:t>
            </a:r>
            <a:r>
              <a:rPr lang="en-US" dirty="0">
                <a:solidFill>
                  <a:srgbClr val="339933"/>
                </a:solidFill>
              </a:rPr>
              <a:t>=0;</a:t>
            </a:r>
          </a:p>
          <a:p>
            <a:pPr>
              <a:spcBef>
                <a:spcPct val="50000"/>
              </a:spcBef>
            </a:pPr>
            <a:r>
              <a:rPr lang="en-US" dirty="0">
                <a:solidFill>
                  <a:srgbClr val="339933"/>
                </a:solidFill>
              </a:rPr>
              <a:t>         </a:t>
            </a:r>
            <a:r>
              <a:rPr lang="en-US" dirty="0" err="1">
                <a:solidFill>
                  <a:srgbClr val="339933"/>
                </a:solidFill>
              </a:rPr>
              <a:t>semb.sem_op</a:t>
            </a:r>
            <a:r>
              <a:rPr lang="en-US" dirty="0">
                <a:solidFill>
                  <a:srgbClr val="339933"/>
                </a:solidFill>
              </a:rPr>
              <a:t>=1;</a:t>
            </a:r>
          </a:p>
          <a:p>
            <a:pPr>
              <a:spcBef>
                <a:spcPct val="50000"/>
              </a:spcBef>
            </a:pPr>
            <a:r>
              <a:rPr lang="en-US" dirty="0">
                <a:solidFill>
                  <a:srgbClr val="339933"/>
                </a:solidFill>
              </a:rPr>
              <a:t>         </a:t>
            </a:r>
            <a:r>
              <a:rPr lang="en-US" dirty="0" err="1">
                <a:solidFill>
                  <a:srgbClr val="339933"/>
                </a:solidFill>
              </a:rPr>
              <a:t>semb.flag</a:t>
            </a:r>
            <a:r>
              <a:rPr lang="en-US" dirty="0">
                <a:solidFill>
                  <a:srgbClr val="339933"/>
                </a:solidFill>
              </a:rPr>
              <a:t>=SEM_UNDO;</a:t>
            </a:r>
          </a:p>
          <a:p>
            <a:pPr>
              <a:spcBef>
                <a:spcPct val="50000"/>
              </a:spcBef>
            </a:pPr>
            <a:r>
              <a:rPr lang="en-US" dirty="0">
                <a:solidFill>
                  <a:srgbClr val="339933"/>
                </a:solidFill>
              </a:rPr>
              <a:t>         </a:t>
            </a:r>
            <a:r>
              <a:rPr lang="en-US" dirty="0" err="1">
                <a:solidFill>
                  <a:srgbClr val="339933"/>
                </a:solidFill>
              </a:rPr>
              <a:t>semop</a:t>
            </a:r>
            <a:r>
              <a:rPr lang="en-US" dirty="0">
                <a:solidFill>
                  <a:srgbClr val="339933"/>
                </a:solidFill>
              </a:rPr>
              <a:t>(semid,&amp;semb,1); </a:t>
            </a:r>
          </a:p>
          <a:p>
            <a:pPr>
              <a:spcBef>
                <a:spcPct val="50000"/>
              </a:spcBef>
            </a:pPr>
            <a:r>
              <a:rPr lang="en-US" dirty="0">
                <a:solidFill>
                  <a:srgbClr val="339933"/>
                </a:solidFill>
              </a:rPr>
              <a:t>  }              /*RELEASED*/            </a:t>
            </a:r>
            <a:r>
              <a:rPr lang="en-US" dirty="0">
                <a:solidFill>
                  <a:srgbClr val="CC6600"/>
                </a:solidFill>
              </a:rPr>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p:cNvSpPr txBox="1">
            <a:spLocks noChangeArrowheads="1"/>
          </p:cNvSpPr>
          <p:nvPr/>
        </p:nvSpPr>
        <p:spPr bwMode="auto">
          <a:xfrm>
            <a:off x="533400" y="102304"/>
            <a:ext cx="7772400" cy="6755696"/>
          </a:xfrm>
          <a:prstGeom prst="rect">
            <a:avLst/>
          </a:prstGeom>
          <a:noFill/>
          <a:ln w="9525">
            <a:noFill/>
            <a:miter lim="800000"/>
            <a:headEnd/>
            <a:tailEnd/>
          </a:ln>
        </p:spPr>
        <p:txBody>
          <a:bodyPr wrap="square">
            <a:spAutoFit/>
          </a:bodyPr>
          <a:lstStyle/>
          <a:p>
            <a:pPr>
              <a:spcBef>
                <a:spcPct val="50000"/>
              </a:spcBef>
            </a:pPr>
            <a:r>
              <a:rPr lang="en-US" sz="2800" b="1" i="1" dirty="0">
                <a:solidFill>
                  <a:srgbClr val="CC6600"/>
                </a:solidFill>
              </a:rPr>
              <a:t>/* Receiving  data in child process */</a:t>
            </a:r>
            <a:endParaRPr lang="en-US" sz="2800" b="1" i="1" dirty="0">
              <a:solidFill>
                <a:srgbClr val="339933"/>
              </a:solidFill>
            </a:endParaRPr>
          </a:p>
          <a:p>
            <a:pPr>
              <a:spcBef>
                <a:spcPct val="50000"/>
              </a:spcBef>
            </a:pPr>
            <a:r>
              <a:rPr lang="en-US" dirty="0">
                <a:solidFill>
                  <a:srgbClr val="339933"/>
                </a:solidFill>
              </a:rPr>
              <a:t>else {</a:t>
            </a:r>
          </a:p>
          <a:p>
            <a:pPr>
              <a:spcBef>
                <a:spcPct val="50000"/>
              </a:spcBef>
            </a:pPr>
            <a:r>
              <a:rPr lang="en-US" dirty="0">
                <a:solidFill>
                  <a:srgbClr val="339933"/>
                </a:solidFill>
              </a:rPr>
              <a:t>           sleep(2);</a:t>
            </a:r>
          </a:p>
          <a:p>
            <a:pPr>
              <a:spcBef>
                <a:spcPct val="50000"/>
              </a:spcBef>
            </a:pPr>
            <a:r>
              <a:rPr lang="en-US" dirty="0">
                <a:solidFill>
                  <a:srgbClr val="339933"/>
                </a:solidFill>
              </a:rPr>
              <a:t>            </a:t>
            </a:r>
            <a:r>
              <a:rPr lang="en-US" dirty="0" err="1">
                <a:solidFill>
                  <a:srgbClr val="339933"/>
                </a:solidFill>
              </a:rPr>
              <a:t>semb.sem_num</a:t>
            </a:r>
            <a:r>
              <a:rPr lang="en-US" dirty="0">
                <a:solidFill>
                  <a:srgbClr val="339933"/>
                </a:solidFill>
              </a:rPr>
              <a:t>=0;</a:t>
            </a:r>
          </a:p>
          <a:p>
            <a:pPr>
              <a:spcBef>
                <a:spcPct val="50000"/>
              </a:spcBef>
            </a:pPr>
            <a:r>
              <a:rPr lang="en-US" dirty="0">
                <a:solidFill>
                  <a:srgbClr val="339933"/>
                </a:solidFill>
              </a:rPr>
              <a:t>            </a:t>
            </a:r>
            <a:r>
              <a:rPr lang="en-US" dirty="0" err="1">
                <a:solidFill>
                  <a:srgbClr val="339933"/>
                </a:solidFill>
              </a:rPr>
              <a:t>semb.sem_op</a:t>
            </a:r>
            <a:r>
              <a:rPr lang="en-US" dirty="0">
                <a:solidFill>
                  <a:srgbClr val="339933"/>
                </a:solidFill>
              </a:rPr>
              <a:t>=-1;</a:t>
            </a:r>
          </a:p>
          <a:p>
            <a:pPr>
              <a:spcBef>
                <a:spcPct val="50000"/>
              </a:spcBef>
            </a:pPr>
            <a:r>
              <a:rPr lang="en-US" dirty="0">
                <a:solidFill>
                  <a:srgbClr val="339933"/>
                </a:solidFill>
              </a:rPr>
              <a:t>            </a:t>
            </a:r>
            <a:r>
              <a:rPr lang="en-US" dirty="0" err="1">
                <a:solidFill>
                  <a:srgbClr val="339933"/>
                </a:solidFill>
              </a:rPr>
              <a:t>semb.flag</a:t>
            </a:r>
            <a:r>
              <a:rPr lang="en-US" dirty="0">
                <a:solidFill>
                  <a:srgbClr val="339933"/>
                </a:solidFill>
              </a:rPr>
              <a:t>=0;</a:t>
            </a:r>
          </a:p>
          <a:p>
            <a:pPr>
              <a:spcBef>
                <a:spcPct val="50000"/>
              </a:spcBef>
            </a:pPr>
            <a:r>
              <a:rPr lang="en-US" dirty="0">
                <a:solidFill>
                  <a:srgbClr val="339933"/>
                </a:solidFill>
              </a:rPr>
              <a:t>            </a:t>
            </a:r>
            <a:r>
              <a:rPr lang="en-US" dirty="0" err="1">
                <a:solidFill>
                  <a:srgbClr val="339933"/>
                </a:solidFill>
              </a:rPr>
              <a:t>semop</a:t>
            </a:r>
            <a:r>
              <a:rPr lang="en-US" dirty="0">
                <a:solidFill>
                  <a:srgbClr val="339933"/>
                </a:solidFill>
              </a:rPr>
              <a:t>(semid,&amp;semb,1);      /*LOCKED */</a:t>
            </a:r>
          </a:p>
          <a:p>
            <a:pPr>
              <a:spcBef>
                <a:spcPct val="50000"/>
              </a:spcBef>
            </a:pPr>
            <a:r>
              <a:rPr lang="en-US" dirty="0">
                <a:solidFill>
                  <a:srgbClr val="339933"/>
                </a:solidFill>
              </a:rPr>
              <a:t>            for( </a:t>
            </a:r>
            <a:r>
              <a:rPr lang="en-US" dirty="0" err="1">
                <a:solidFill>
                  <a:srgbClr val="339933"/>
                </a:solidFill>
              </a:rPr>
              <a:t>i</a:t>
            </a:r>
            <a:r>
              <a:rPr lang="en-US" dirty="0">
                <a:solidFill>
                  <a:srgbClr val="339933"/>
                </a:solidFill>
              </a:rPr>
              <a:t> =1; </a:t>
            </a:r>
            <a:r>
              <a:rPr lang="en-US" dirty="0" err="1">
                <a:solidFill>
                  <a:srgbClr val="339933"/>
                </a:solidFill>
              </a:rPr>
              <a:t>i</a:t>
            </a:r>
            <a:r>
              <a:rPr lang="en-US" dirty="0">
                <a:solidFill>
                  <a:srgbClr val="339933"/>
                </a:solidFill>
              </a:rPr>
              <a:t>&lt;4; </a:t>
            </a:r>
            <a:r>
              <a:rPr lang="en-US" dirty="0" err="1">
                <a:solidFill>
                  <a:srgbClr val="339933"/>
                </a:solidFill>
              </a:rPr>
              <a:t>i</a:t>
            </a:r>
            <a:r>
              <a:rPr lang="en-US" dirty="0">
                <a:solidFill>
                  <a:srgbClr val="339933"/>
                </a:solidFill>
              </a:rPr>
              <a:t>++)</a:t>
            </a:r>
          </a:p>
          <a:p>
            <a:pPr>
              <a:spcBef>
                <a:spcPct val="50000"/>
              </a:spcBef>
            </a:pPr>
            <a:r>
              <a:rPr lang="en-US" dirty="0">
                <a:solidFill>
                  <a:srgbClr val="339933"/>
                </a:solidFill>
              </a:rPr>
              <a:t>           {</a:t>
            </a:r>
          </a:p>
          <a:p>
            <a:pPr>
              <a:spcBef>
                <a:spcPct val="50000"/>
              </a:spcBef>
            </a:pPr>
            <a:r>
              <a:rPr lang="en-US" dirty="0">
                <a:solidFill>
                  <a:srgbClr val="339933"/>
                </a:solidFill>
              </a:rPr>
              <a:t>             read(p[0], &amp;</a:t>
            </a:r>
            <a:r>
              <a:rPr lang="en-US" dirty="0" err="1">
                <a:solidFill>
                  <a:srgbClr val="339933"/>
                </a:solidFill>
              </a:rPr>
              <a:t>p_rcv</a:t>
            </a:r>
            <a:r>
              <a:rPr lang="en-US" dirty="0">
                <a:solidFill>
                  <a:srgbClr val="339933"/>
                </a:solidFill>
              </a:rPr>
              <a:t>, </a:t>
            </a:r>
            <a:r>
              <a:rPr lang="en-US" dirty="0" err="1">
                <a:solidFill>
                  <a:srgbClr val="339933"/>
                </a:solidFill>
              </a:rPr>
              <a:t>sizeof</a:t>
            </a:r>
            <a:r>
              <a:rPr lang="en-US" dirty="0">
                <a:solidFill>
                  <a:srgbClr val="339933"/>
                </a:solidFill>
              </a:rPr>
              <a:t>(struct record)) ; </a:t>
            </a:r>
          </a:p>
          <a:p>
            <a:pPr>
              <a:spcBef>
                <a:spcPct val="50000"/>
              </a:spcBef>
            </a:pPr>
            <a:r>
              <a:rPr lang="en-US" dirty="0">
                <a:solidFill>
                  <a:srgbClr val="339933"/>
                </a:solidFill>
              </a:rPr>
              <a:t>             </a:t>
            </a:r>
            <a:r>
              <a:rPr lang="en-US" dirty="0" err="1">
                <a:solidFill>
                  <a:srgbClr val="339933"/>
                </a:solidFill>
              </a:rPr>
              <a:t>printf</a:t>
            </a:r>
            <a:r>
              <a:rPr lang="en-US" dirty="0">
                <a:solidFill>
                  <a:srgbClr val="339933"/>
                </a:solidFill>
              </a:rPr>
              <a:t>(“Received data is: %s \n“,</a:t>
            </a:r>
            <a:r>
              <a:rPr lang="en-US" dirty="0" err="1">
                <a:solidFill>
                  <a:srgbClr val="339933"/>
                </a:solidFill>
              </a:rPr>
              <a:t>p_rcv.record</a:t>
            </a:r>
            <a:r>
              <a:rPr lang="en-US" dirty="0">
                <a:solidFill>
                  <a:srgbClr val="339933"/>
                </a:solidFill>
              </a:rPr>
              <a:t>); </a:t>
            </a:r>
          </a:p>
          <a:p>
            <a:pPr>
              <a:spcBef>
                <a:spcPct val="50000"/>
              </a:spcBef>
            </a:pPr>
            <a:r>
              <a:rPr lang="en-US" dirty="0">
                <a:solidFill>
                  <a:srgbClr val="339933"/>
                </a:solidFill>
              </a:rPr>
              <a:t>            }                      </a:t>
            </a:r>
          </a:p>
          <a:p>
            <a:pPr>
              <a:spcBef>
                <a:spcPct val="50000"/>
              </a:spcBef>
            </a:pPr>
            <a:r>
              <a:rPr lang="en-US" dirty="0">
                <a:solidFill>
                  <a:srgbClr val="339933"/>
                </a:solidFill>
              </a:rPr>
              <a:t>         </a:t>
            </a:r>
            <a:r>
              <a:rPr lang="en-US" dirty="0" err="1">
                <a:solidFill>
                  <a:srgbClr val="339933"/>
                </a:solidFill>
              </a:rPr>
              <a:t>semb.sem_num</a:t>
            </a:r>
            <a:r>
              <a:rPr lang="en-US" dirty="0">
                <a:solidFill>
                  <a:srgbClr val="339933"/>
                </a:solidFill>
              </a:rPr>
              <a:t>=0;</a:t>
            </a:r>
          </a:p>
          <a:p>
            <a:pPr>
              <a:spcBef>
                <a:spcPct val="50000"/>
              </a:spcBef>
            </a:pPr>
            <a:r>
              <a:rPr lang="en-US" dirty="0">
                <a:solidFill>
                  <a:srgbClr val="339933"/>
                </a:solidFill>
              </a:rPr>
              <a:t>         </a:t>
            </a:r>
            <a:r>
              <a:rPr lang="en-US" dirty="0" err="1">
                <a:solidFill>
                  <a:srgbClr val="339933"/>
                </a:solidFill>
              </a:rPr>
              <a:t>semb.sem_op</a:t>
            </a:r>
            <a:r>
              <a:rPr lang="en-US" dirty="0">
                <a:solidFill>
                  <a:srgbClr val="339933"/>
                </a:solidFill>
              </a:rPr>
              <a:t>=1;</a:t>
            </a:r>
          </a:p>
          <a:p>
            <a:pPr>
              <a:spcBef>
                <a:spcPct val="50000"/>
              </a:spcBef>
            </a:pPr>
            <a:r>
              <a:rPr lang="en-US" dirty="0">
                <a:solidFill>
                  <a:srgbClr val="339933"/>
                </a:solidFill>
              </a:rPr>
              <a:t>        </a:t>
            </a:r>
            <a:r>
              <a:rPr lang="en-US" dirty="0" err="1">
                <a:solidFill>
                  <a:srgbClr val="339933"/>
                </a:solidFill>
              </a:rPr>
              <a:t>semb.flag</a:t>
            </a:r>
            <a:r>
              <a:rPr lang="en-US" dirty="0">
                <a:solidFill>
                  <a:srgbClr val="339933"/>
                </a:solidFill>
              </a:rPr>
              <a:t>=SEM_UNDO;   / * Automatically RELEASED */</a:t>
            </a:r>
          </a:p>
          <a:p>
            <a:pPr>
              <a:spcBef>
                <a:spcPct val="50000"/>
              </a:spcBef>
            </a:pPr>
            <a:r>
              <a:rPr lang="en-US" dirty="0">
                <a:solidFill>
                  <a:srgbClr val="339933"/>
                </a:solidFill>
              </a:rPr>
              <a:t>    }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84FBCB-79B0-64B6-AB55-53C007C61180}"/>
              </a:ext>
            </a:extLst>
          </p:cNvPr>
          <p:cNvSpPr txBox="1"/>
          <p:nvPr/>
        </p:nvSpPr>
        <p:spPr>
          <a:xfrm>
            <a:off x="1447800" y="304800"/>
            <a:ext cx="6400800" cy="461665"/>
          </a:xfrm>
          <a:prstGeom prst="rect">
            <a:avLst/>
          </a:prstGeom>
          <a:noFill/>
        </p:spPr>
        <p:txBody>
          <a:bodyPr wrap="square" rtlCol="0">
            <a:spAutoFit/>
          </a:bodyPr>
          <a:lstStyle/>
          <a:p>
            <a:pPr algn="ctr"/>
            <a:r>
              <a:rPr lang="en-IN" sz="2400" dirty="0"/>
              <a:t>Difference b/w Mutex and Binary Semaphore</a:t>
            </a:r>
            <a:endParaRPr lang="en-US" sz="2400" dirty="0"/>
          </a:p>
        </p:txBody>
      </p:sp>
      <p:graphicFrame>
        <p:nvGraphicFramePr>
          <p:cNvPr id="3" name="Table 3">
            <a:extLst>
              <a:ext uri="{FF2B5EF4-FFF2-40B4-BE49-F238E27FC236}">
                <a16:creationId xmlns:a16="http://schemas.microsoft.com/office/drawing/2014/main" id="{4505C6B3-ACA4-C71A-217A-7A0D8B28EF3A}"/>
              </a:ext>
            </a:extLst>
          </p:cNvPr>
          <p:cNvGraphicFramePr>
            <a:graphicFrameLocks noGrp="1"/>
          </p:cNvGraphicFramePr>
          <p:nvPr>
            <p:extLst>
              <p:ext uri="{D42A27DB-BD31-4B8C-83A1-F6EECF244321}">
                <p14:modId xmlns:p14="http://schemas.microsoft.com/office/powerpoint/2010/main" val="3049852638"/>
              </p:ext>
            </p:extLst>
          </p:nvPr>
        </p:nvGraphicFramePr>
        <p:xfrm>
          <a:off x="402956" y="838200"/>
          <a:ext cx="8436244" cy="5911396"/>
        </p:xfrm>
        <a:graphic>
          <a:graphicData uri="http://schemas.openxmlformats.org/drawingml/2006/table">
            <a:tbl>
              <a:tblPr firstRow="1" bandRow="1">
                <a:tableStyleId>{22838BEF-8BB2-4498-84A7-C5851F593DF1}</a:tableStyleId>
              </a:tblPr>
              <a:tblGrid>
                <a:gridCol w="4218122">
                  <a:extLst>
                    <a:ext uri="{9D8B030D-6E8A-4147-A177-3AD203B41FA5}">
                      <a16:colId xmlns:a16="http://schemas.microsoft.com/office/drawing/2014/main" val="1037098067"/>
                    </a:ext>
                  </a:extLst>
                </a:gridCol>
                <a:gridCol w="4218122">
                  <a:extLst>
                    <a:ext uri="{9D8B030D-6E8A-4147-A177-3AD203B41FA5}">
                      <a16:colId xmlns:a16="http://schemas.microsoft.com/office/drawing/2014/main" val="4093180942"/>
                    </a:ext>
                  </a:extLst>
                </a:gridCol>
              </a:tblGrid>
              <a:tr h="822529">
                <a:tc>
                  <a:txBody>
                    <a:bodyPr/>
                    <a:lstStyle/>
                    <a:p>
                      <a:r>
                        <a:rPr lang="en-IN" sz="2000" b="0" kern="1200" dirty="0">
                          <a:solidFill>
                            <a:schemeClr val="dk1"/>
                          </a:solidFill>
                          <a:latin typeface="+mn-lt"/>
                          <a:ea typeface="+mn-ea"/>
                          <a:cs typeface="+mn-cs"/>
                        </a:rPr>
                        <a:t>Mutex follows locking mechanism.</a:t>
                      </a:r>
                      <a:endParaRPr lang="en-US" sz="2000" b="0" kern="1200" dirty="0">
                        <a:solidFill>
                          <a:schemeClr val="dk1"/>
                        </a:solidFill>
                        <a:latin typeface="+mn-lt"/>
                        <a:ea typeface="+mn-ea"/>
                        <a:cs typeface="+mn-cs"/>
                      </a:endParaRPr>
                    </a:p>
                  </a:txBody>
                  <a:tcPr/>
                </a:tc>
                <a:tc>
                  <a:txBody>
                    <a:bodyPr/>
                    <a:lstStyle/>
                    <a:p>
                      <a:r>
                        <a:rPr lang="en-IN" sz="2000" b="0" kern="1200" dirty="0">
                          <a:solidFill>
                            <a:schemeClr val="dk1"/>
                          </a:solidFill>
                          <a:latin typeface="+mn-lt"/>
                          <a:ea typeface="+mn-ea"/>
                          <a:cs typeface="+mn-cs"/>
                        </a:rPr>
                        <a:t>Semaphore follows signalling mechanism.</a:t>
                      </a:r>
                      <a:endParaRPr lang="en-US" sz="2000" b="0" kern="1200" dirty="0">
                        <a:solidFill>
                          <a:schemeClr val="dk1"/>
                        </a:solidFill>
                        <a:latin typeface="+mn-lt"/>
                        <a:ea typeface="+mn-ea"/>
                        <a:cs typeface="+mn-cs"/>
                      </a:endParaRPr>
                    </a:p>
                  </a:txBody>
                  <a:tcPr/>
                </a:tc>
                <a:extLst>
                  <a:ext uri="{0D108BD9-81ED-4DB2-BD59-A6C34878D82A}">
                    <a16:rowId xmlns:a16="http://schemas.microsoft.com/office/drawing/2014/main" val="1575408722"/>
                  </a:ext>
                </a:extLst>
              </a:tr>
              <a:tr h="822529">
                <a:tc>
                  <a:txBody>
                    <a:bodyPr/>
                    <a:lstStyle/>
                    <a:p>
                      <a:r>
                        <a:rPr lang="en-IN" sz="2000" dirty="0"/>
                        <a:t>The process which holds the lock that process only can unlock the mutex</a:t>
                      </a:r>
                    </a:p>
                    <a:p>
                      <a:endParaRPr lang="en-IN" sz="2000" dirty="0"/>
                    </a:p>
                    <a:p>
                      <a:r>
                        <a:rPr lang="en-IN" sz="2000" dirty="0"/>
                        <a:t>So, mutex holds the ownership of the lock.</a:t>
                      </a:r>
                      <a:endParaRPr lang="en-US" sz="2000" dirty="0"/>
                    </a:p>
                  </a:txBody>
                  <a:tcPr/>
                </a:tc>
                <a:tc>
                  <a:txBody>
                    <a:bodyPr/>
                    <a:lstStyle/>
                    <a:p>
                      <a:r>
                        <a:rPr lang="en-IN" sz="2000" dirty="0"/>
                        <a:t>The process may acquired the semaphore but semaphore can be released for the high priority process.</a:t>
                      </a:r>
                    </a:p>
                    <a:p>
                      <a:r>
                        <a:rPr lang="en-IN" sz="2000" dirty="0"/>
                        <a:t>So, this won’t follow ownership mechanism.</a:t>
                      </a:r>
                      <a:endParaRPr lang="en-US" sz="2000" dirty="0"/>
                    </a:p>
                  </a:txBody>
                  <a:tcPr/>
                </a:tc>
                <a:extLst>
                  <a:ext uri="{0D108BD9-81ED-4DB2-BD59-A6C34878D82A}">
                    <a16:rowId xmlns:a16="http://schemas.microsoft.com/office/drawing/2014/main" val="2989270441"/>
                  </a:ext>
                </a:extLst>
              </a:tr>
              <a:tr h="822529">
                <a:tc>
                  <a:txBody>
                    <a:bodyPr/>
                    <a:lstStyle/>
                    <a:p>
                      <a:r>
                        <a:rPr lang="en-IN" sz="2000" dirty="0"/>
                        <a:t>Mutex cannot have counter because its an object</a:t>
                      </a:r>
                      <a:endParaRPr lang="en-US" sz="2000" dirty="0"/>
                    </a:p>
                  </a:txBody>
                  <a:tcPr/>
                </a:tc>
                <a:tc>
                  <a:txBody>
                    <a:bodyPr/>
                    <a:lstStyle/>
                    <a:p>
                      <a:r>
                        <a:rPr lang="en-IN" sz="2000" dirty="0"/>
                        <a:t>Semaphore can have counting variable</a:t>
                      </a:r>
                      <a:endParaRPr lang="en-US" sz="2000" dirty="0"/>
                    </a:p>
                  </a:txBody>
                  <a:tcPr/>
                </a:tc>
                <a:extLst>
                  <a:ext uri="{0D108BD9-81ED-4DB2-BD59-A6C34878D82A}">
                    <a16:rowId xmlns:a16="http://schemas.microsoft.com/office/drawing/2014/main" val="2210069935"/>
                  </a:ext>
                </a:extLst>
              </a:tr>
              <a:tr h="822529">
                <a:tc>
                  <a:txBody>
                    <a:bodyPr/>
                    <a:lstStyle/>
                    <a:p>
                      <a:r>
                        <a:rPr lang="en-IN" sz="2000" dirty="0"/>
                        <a:t>CPU time will be wasted</a:t>
                      </a:r>
                      <a:endParaRPr lang="en-US" sz="2000" dirty="0"/>
                    </a:p>
                  </a:txBody>
                  <a:tcPr/>
                </a:tc>
                <a:tc>
                  <a:txBody>
                    <a:bodyPr/>
                    <a:lstStyle/>
                    <a:p>
                      <a:r>
                        <a:rPr lang="en-IN" sz="2000" dirty="0"/>
                        <a:t>CPU time will not be wasted</a:t>
                      </a:r>
                      <a:endParaRPr lang="en-US" sz="2000" dirty="0"/>
                    </a:p>
                  </a:txBody>
                  <a:tcPr/>
                </a:tc>
                <a:extLst>
                  <a:ext uri="{0D108BD9-81ED-4DB2-BD59-A6C34878D82A}">
                    <a16:rowId xmlns:a16="http://schemas.microsoft.com/office/drawing/2014/main" val="4225171999"/>
                  </a:ext>
                </a:extLst>
              </a:tr>
              <a:tr h="822529">
                <a:tc>
                  <a:txBody>
                    <a:bodyPr/>
                    <a:lstStyle/>
                    <a:p>
                      <a:r>
                        <a:rPr lang="en-IN" sz="2000" dirty="0"/>
                        <a:t>Power also wasted</a:t>
                      </a:r>
                      <a:endParaRPr lang="en-US" sz="2000" dirty="0"/>
                    </a:p>
                  </a:txBody>
                  <a:tcPr/>
                </a:tc>
                <a:tc>
                  <a:txBody>
                    <a:bodyPr/>
                    <a:lstStyle/>
                    <a:p>
                      <a:r>
                        <a:rPr lang="en-IN" sz="2000" dirty="0"/>
                        <a:t>Power also not wasted</a:t>
                      </a:r>
                      <a:endParaRPr lang="en-US" sz="2000" dirty="0"/>
                    </a:p>
                  </a:txBody>
                  <a:tcPr/>
                </a:tc>
                <a:extLst>
                  <a:ext uri="{0D108BD9-81ED-4DB2-BD59-A6C34878D82A}">
                    <a16:rowId xmlns:a16="http://schemas.microsoft.com/office/drawing/2014/main" val="2080801348"/>
                  </a:ext>
                </a:extLst>
              </a:tr>
              <a:tr h="822529">
                <a:tc>
                  <a:txBody>
                    <a:bodyPr/>
                    <a:lstStyle/>
                    <a:p>
                      <a:r>
                        <a:rPr lang="en-IN" sz="2000" dirty="0"/>
                        <a:t>Mutex can be used for process or thread based on requirement</a:t>
                      </a:r>
                      <a:endParaRPr lang="en-US" sz="20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000" dirty="0"/>
                        <a:t>Semaphore can be used for process or thread based on requirement</a:t>
                      </a:r>
                      <a:endParaRPr lang="en-US" sz="2000" dirty="0"/>
                    </a:p>
                    <a:p>
                      <a:endParaRPr lang="en-US" sz="2000" dirty="0"/>
                    </a:p>
                  </a:txBody>
                  <a:tcPr/>
                </a:tc>
                <a:extLst>
                  <a:ext uri="{0D108BD9-81ED-4DB2-BD59-A6C34878D82A}">
                    <a16:rowId xmlns:a16="http://schemas.microsoft.com/office/drawing/2014/main" val="2815421753"/>
                  </a:ext>
                </a:extLst>
              </a:tr>
            </a:tbl>
          </a:graphicData>
        </a:graphic>
      </p:graphicFrame>
    </p:spTree>
    <p:extLst>
      <p:ext uri="{BB962C8B-B14F-4D97-AF65-F5344CB8AC3E}">
        <p14:creationId xmlns:p14="http://schemas.microsoft.com/office/powerpoint/2010/main" val="94132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AE2300-3BAD-341D-56FC-13CA47567EEA}"/>
              </a:ext>
            </a:extLst>
          </p:cNvPr>
          <p:cNvSpPr txBox="1"/>
          <p:nvPr/>
        </p:nvSpPr>
        <p:spPr>
          <a:xfrm>
            <a:off x="1447800" y="2949714"/>
            <a:ext cx="6324600" cy="707886"/>
          </a:xfrm>
          <a:prstGeom prst="rect">
            <a:avLst/>
          </a:prstGeom>
          <a:noFill/>
        </p:spPr>
        <p:txBody>
          <a:bodyPr wrap="square" rtlCol="0">
            <a:spAutoFit/>
          </a:bodyPr>
          <a:lstStyle/>
          <a:p>
            <a:pPr algn="ctr"/>
            <a:r>
              <a:rPr lang="en-IN" sz="4000" b="1" dirty="0">
                <a:solidFill>
                  <a:srgbClr val="0000CC"/>
                </a:solidFill>
              </a:rPr>
              <a:t>Thank you…</a:t>
            </a:r>
            <a:endParaRPr lang="en-US" sz="4000" b="1" dirty="0">
              <a:solidFill>
                <a:srgbClr val="0000CC"/>
              </a:solidFill>
            </a:endParaRPr>
          </a:p>
        </p:txBody>
      </p:sp>
    </p:spTree>
    <p:extLst>
      <p:ext uri="{BB962C8B-B14F-4D97-AF65-F5344CB8AC3E}">
        <p14:creationId xmlns:p14="http://schemas.microsoft.com/office/powerpoint/2010/main" val="31527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12695</TotalTime>
  <Words>2862</Words>
  <Application>Microsoft Office PowerPoint</Application>
  <PresentationFormat>On-screen Show (4:3)</PresentationFormat>
  <Paragraphs>378</Paragraphs>
  <Slides>38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Arial Black</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System Calls related to Shared Memory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Calls related to Semaphores</vt:lpstr>
      <vt:lpstr>PowerPoint Presentation</vt:lpstr>
      <vt:lpstr>semop</vt:lpstr>
      <vt:lpstr>sembuf structure</vt:lpstr>
      <vt:lpstr>PowerPoint Presentation</vt:lpstr>
      <vt:lpstr>PowerPoint Presentation</vt:lpstr>
      <vt:lpstr>Creating Semaphore</vt:lpstr>
      <vt:lpstr>Set Semaphore Value</vt:lpstr>
      <vt:lpstr>Using Semaphore</vt:lpstr>
      <vt:lpstr>Take Semaphore</vt:lpstr>
      <vt:lpstr>Critical Section</vt:lpstr>
      <vt:lpstr>Give Semaphore</vt:lpstr>
      <vt:lpstr>Set Semaphore Value</vt:lpstr>
      <vt:lpstr>Delete Semaphore</vt:lpstr>
      <vt:lpstr>Sample Program</vt:lpstr>
      <vt:lpstr>PowerPoint Presentation</vt:lpstr>
      <vt:lpstr>PowerPoint Presentation</vt:lpstr>
      <vt:lpstr>PowerPoint Presentation</vt:lpstr>
      <vt:lpstr>PowerPoint Presentation</vt:lpstr>
      <vt:lpstr>PowerPoint Presentation</vt:lpstr>
    </vt:vector>
  </TitlesOfParts>
  <Company>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Vinod Kumar Jadhav</cp:lastModifiedBy>
  <cp:revision>991</cp:revision>
  <dcterms:created xsi:type="dcterms:W3CDTF">2004-07-26T11:54:22Z</dcterms:created>
  <dcterms:modified xsi:type="dcterms:W3CDTF">2025-09-09T06:59:31Z</dcterms:modified>
</cp:coreProperties>
</file>