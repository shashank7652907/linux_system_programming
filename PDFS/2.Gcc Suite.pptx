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F1F6F8-7292-9624-5B8C-2E4866A0EF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2017BE-49E0-1008-207B-14EB45ABDC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41E836-49EE-9DD8-1A02-51064A98E4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4432D-F7EB-467B-9203-BE9B04FD6C1B}" type="datetimeFigureOut">
              <a:rPr lang="en-US" smtClean="0"/>
              <a:t>6/10/2024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096F14-19F9-979D-9999-F28D71EA16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B9D936-07DE-4357-49F3-EA7681DC6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8847C-61A2-46BE-97EF-CE5EEB4115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743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05B8F-0C90-5974-F451-B4CC4016A7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BE9EEE-7A9D-40B2-CB8B-E67BE5FAB0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6AA0DD-6166-41D9-03B1-344C5C724F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4432D-F7EB-467B-9203-BE9B04FD6C1B}" type="datetimeFigureOut">
              <a:rPr lang="en-US" smtClean="0"/>
              <a:t>6/10/2024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0DD9F0-C5FD-CB2F-2E61-CAA68A2E81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3182CE-BFE5-CC4C-7473-1A6E4A2F1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8847C-61A2-46BE-97EF-CE5EEB4115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8325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80296-6825-4072-A7CE-917CA64C4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959CEE-C9F2-366E-E6E3-B842237E0C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BC7699-FCE9-D036-EA26-4332EA9AA6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4432D-F7EB-467B-9203-BE9B04FD6C1B}" type="datetimeFigureOut">
              <a:rPr lang="en-US" smtClean="0"/>
              <a:t>6/10/2024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8147AD-A28C-1A29-CB6A-6BBD45313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680D2E-447D-95A5-DB4D-428C30F95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8847C-61A2-46BE-97EF-CE5EEB4115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1293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93931-480C-8275-B15E-BEB604123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474FE4-D6E4-5A5E-D599-E2860E4784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E9E819-F075-9F66-1288-621F46E221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3576D3-B433-4260-9163-E0AC76311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4432D-F7EB-467B-9203-BE9B04FD6C1B}" type="datetimeFigureOut">
              <a:rPr lang="en-US" smtClean="0"/>
              <a:t>6/10/2024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482C2E-846D-10FA-9441-B9DF5A8F30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A86208-A4AA-9B42-FD81-C9E8BA2CF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8847C-61A2-46BE-97EF-CE5EEB4115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6522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9C7FBC-F338-E951-8879-64E38AA06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93C6CC-4133-C38A-6189-66ACF84FDD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635AF8-FDB6-5BF8-5B56-2A73FFA6D5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CC69414-81EA-606A-81D6-694DFCA91D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B00EFEB-C650-2D7D-DA2A-23F5252EF0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72BDD8-0D45-F7E3-F339-EF00B3E746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4432D-F7EB-467B-9203-BE9B04FD6C1B}" type="datetimeFigureOut">
              <a:rPr lang="en-US" smtClean="0"/>
              <a:t>6/10/2024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B450526-A8F7-EA10-0356-479C1D4BA4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C40CD18-B346-8E9C-DD24-BBEF72C65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8847C-61A2-46BE-97EF-CE5EEB4115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2842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F58DB-D9DE-C70A-54D4-DCE8F49C6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57A5BDC-6BF5-8183-3EF4-2F35CFF4B4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4432D-F7EB-467B-9203-BE9B04FD6C1B}" type="datetimeFigureOut">
              <a:rPr lang="en-US" smtClean="0"/>
              <a:t>6/10/2024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09CEE-783C-CBE5-3293-30107EAD9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43706D-7D1E-28E3-4D80-3145FCC99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8847C-61A2-46BE-97EF-CE5EEB4115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6394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B893CE0-C897-CBD1-D414-3DD6E7354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4432D-F7EB-467B-9203-BE9B04FD6C1B}" type="datetimeFigureOut">
              <a:rPr lang="en-US" smtClean="0"/>
              <a:t>6/10/2024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972926-BCB9-6812-0E7C-FA0907AF87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BE6BD9-FBF7-ECB6-F9C2-8EEF1A3B6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8847C-61A2-46BE-97EF-CE5EEB4115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0378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3AB4A9-DBAB-9EF0-F57D-C8D00B2BB8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B996F7-38C6-238B-4369-CAD907D936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C91431-8F9D-8EA5-6D8C-D1C9BB2D03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7C9B8E-5D91-6DC9-48B6-205EABB33A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4432D-F7EB-467B-9203-BE9B04FD6C1B}" type="datetimeFigureOut">
              <a:rPr lang="en-US" smtClean="0"/>
              <a:t>6/10/2024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7BD33F-8C86-962A-D685-4A189CC99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3CDAD9-ED7E-15AE-D84A-81E26A8A7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8847C-61A2-46BE-97EF-CE5EEB4115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1278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D36BF-99EF-B293-72E0-020A864C4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B3AE45-80D2-2B62-D1DC-0D305C4D8E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03D16D-D7E9-8E95-AC71-ED12F16111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55B5C7-5D9C-6615-DF85-7A7F66D78D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4432D-F7EB-467B-9203-BE9B04FD6C1B}" type="datetimeFigureOut">
              <a:rPr lang="en-US" smtClean="0"/>
              <a:t>6/10/2024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82C287-A5C7-7028-4428-8DFEE1EFF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550D8C-35C7-AED5-C2C1-C69AF2036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8847C-61A2-46BE-97EF-CE5EEB4115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3715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10E3E2-8819-E31A-48C6-34A05A1D5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13FF90-B16F-B549-CC1D-438300C4DC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B6A86F-3BE0-2C19-2CD8-6D1288EA11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4432D-F7EB-467B-9203-BE9B04FD6C1B}" type="datetimeFigureOut">
              <a:rPr lang="en-US" smtClean="0"/>
              <a:t>6/10/2024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43A77A-7CCA-4A0B-E147-5E592B1C8E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95F6F7-B23E-7C4C-8AF9-3BDC896D2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8847C-61A2-46BE-97EF-CE5EEB4115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2342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C2C8222-3C84-F1FF-2DC5-0C4471C534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0D94DD-2876-F9B2-757C-BB1B711338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3D240A-FF0D-DD5C-80D2-07E39BCE42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4432D-F7EB-467B-9203-BE9B04FD6C1B}" type="datetimeFigureOut">
              <a:rPr lang="en-US" smtClean="0"/>
              <a:t>6/10/2024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FF064D-CE86-2681-E361-F770C1B78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0E3627-D4C1-4B2D-E45C-F3A2AD654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8847C-61A2-46BE-97EF-CE5EEB4115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4726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4CD0AE-9C03-0B05-A2AA-273E81AF9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165F62-C133-28EE-BC86-18A5FDACFE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56A4E9-8A75-03D3-E3F4-D64D64C70F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04432D-F7EB-467B-9203-BE9B04FD6C1B}" type="datetimeFigureOut">
              <a:rPr lang="en-US" smtClean="0"/>
              <a:t>6/10/2024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51D189-030F-86EA-509C-15EF8664EC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5E2363-0D30-870A-026B-DAA7222826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58847C-61A2-46BE-97EF-CE5EEB4115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864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C87144A-2F3C-ED34-1022-C2E501D06914}"/>
              </a:ext>
            </a:extLst>
          </p:cNvPr>
          <p:cNvSpPr/>
          <p:nvPr/>
        </p:nvSpPr>
        <p:spPr>
          <a:xfrm>
            <a:off x="1557338" y="1200155"/>
            <a:ext cx="9115425" cy="5715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bg1"/>
                </a:solidFill>
              </a:rPr>
              <a:t>What is </a:t>
            </a:r>
            <a:r>
              <a:rPr lang="en-US" sz="3600" b="1" dirty="0" err="1">
                <a:solidFill>
                  <a:schemeClr val="bg1"/>
                </a:solidFill>
              </a:rPr>
              <a:t>gcc</a:t>
            </a:r>
            <a:r>
              <a:rPr lang="en-US" sz="3600" b="1" dirty="0">
                <a:solidFill>
                  <a:schemeClr val="bg1"/>
                </a:solidFill>
              </a:rPr>
              <a:t> suite ?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FAD0F5-A499-2481-17F0-15798B18630B}"/>
              </a:ext>
            </a:extLst>
          </p:cNvPr>
          <p:cNvSpPr txBox="1"/>
          <p:nvPr/>
        </p:nvSpPr>
        <p:spPr>
          <a:xfrm>
            <a:off x="1128713" y="2035155"/>
            <a:ext cx="981551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indent="-457200">
              <a:buClr>
                <a:srgbClr val="0000CC"/>
              </a:buClr>
              <a:buFont typeface="Wingdings" panose="05000000000000000000" pitchFamily="2" charset="2"/>
              <a:buChar char="Ø"/>
            </a:pPr>
            <a:r>
              <a:rPr lang="en-US" sz="2000" dirty="0"/>
              <a:t>The GNU Compiler Collection, commonly known as GCC, is a set of compilers and development tools available for Linux, Windows, various BSDs, and a wide assortment of other operating systems</a:t>
            </a:r>
          </a:p>
          <a:p>
            <a:pPr marL="457200" indent="0">
              <a:buClr>
                <a:srgbClr val="0000CC"/>
              </a:buClr>
              <a:buNone/>
            </a:pPr>
            <a:endParaRPr lang="en-US" sz="2000" dirty="0"/>
          </a:p>
          <a:p>
            <a:pPr marL="914400" indent="-457200">
              <a:buClr>
                <a:srgbClr val="0000CC"/>
              </a:buClr>
              <a:buFont typeface="Wingdings" panose="05000000000000000000" pitchFamily="2" charset="2"/>
              <a:buChar char="Ø"/>
            </a:pPr>
            <a:r>
              <a:rPr lang="en-US" sz="2000" dirty="0"/>
              <a:t>It includes support primarily for C and C++ and also includes Objective-C, Ada, Go, Fortran, and D programming languages</a:t>
            </a:r>
          </a:p>
          <a:p>
            <a:pPr marL="914400" indent="-457200">
              <a:buClr>
                <a:srgbClr val="0000CC"/>
              </a:buClr>
              <a:buFont typeface="Wingdings" panose="05000000000000000000" pitchFamily="2" charset="2"/>
              <a:buChar char="Ø"/>
            </a:pPr>
            <a:endParaRPr lang="en-US" sz="2000" dirty="0"/>
          </a:p>
          <a:p>
            <a:pPr marL="914400" indent="-457200">
              <a:buClr>
                <a:srgbClr val="0000CC"/>
              </a:buClr>
              <a:buFont typeface="Wingdings" panose="05000000000000000000" pitchFamily="2" charset="2"/>
              <a:buChar char="Ø"/>
            </a:pPr>
            <a:r>
              <a:rPr lang="en-US" sz="2000" dirty="0"/>
              <a:t>The Free Software Foundation (FSF) wrote GCC and released it as completely free (as in libre) software.</a:t>
            </a:r>
          </a:p>
        </p:txBody>
      </p:sp>
    </p:spTree>
    <p:extLst>
      <p:ext uri="{BB962C8B-B14F-4D97-AF65-F5344CB8AC3E}">
        <p14:creationId xmlns:p14="http://schemas.microsoft.com/office/powerpoint/2010/main" val="28258118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EB10841-788F-6898-2D87-C1A2E92D818F}"/>
              </a:ext>
            </a:extLst>
          </p:cNvPr>
          <p:cNvSpPr/>
          <p:nvPr/>
        </p:nvSpPr>
        <p:spPr>
          <a:xfrm>
            <a:off x="1538284" y="552429"/>
            <a:ext cx="9115425" cy="5715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bg1"/>
                </a:solidFill>
              </a:rPr>
              <a:t>GNU C Compiler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C728060-AB68-6478-734A-BEB780F935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2671" y="1572514"/>
            <a:ext cx="7210425" cy="2828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50735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0ED0463-461D-6FC3-E252-07F0326802D1}"/>
              </a:ext>
            </a:extLst>
          </p:cNvPr>
          <p:cNvSpPr/>
          <p:nvPr/>
        </p:nvSpPr>
        <p:spPr>
          <a:xfrm>
            <a:off x="1214442" y="200025"/>
            <a:ext cx="9872662" cy="48577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/>
              <a:t>GNU binutils </a:t>
            </a:r>
            <a:endParaRPr lang="en-US" sz="28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D8C4EC-E0B6-B79C-8154-CC164C6C2716}"/>
              </a:ext>
            </a:extLst>
          </p:cNvPr>
          <p:cNvSpPr txBox="1"/>
          <p:nvPr/>
        </p:nvSpPr>
        <p:spPr>
          <a:xfrm>
            <a:off x="1214442" y="916745"/>
            <a:ext cx="7925986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</a:rPr>
              <a:t>The GNU </a:t>
            </a:r>
            <a:r>
              <a:rPr lang="en-US" sz="2000" b="0" i="0" dirty="0" err="1">
                <a:solidFill>
                  <a:srgbClr val="222222"/>
                </a:solidFill>
                <a:effectLst/>
                <a:latin typeface="Times New Roman" panose="02020603050405020304" pitchFamily="18" charset="0"/>
              </a:rPr>
              <a:t>Binutils</a:t>
            </a:r>
            <a:r>
              <a:rPr lang="en-US" sz="20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</a:rPr>
              <a:t> are a collection of binary tools. </a:t>
            </a:r>
          </a:p>
          <a:p>
            <a:pPr algn="l"/>
            <a:endParaRPr lang="en-US" sz="2000" dirty="0">
              <a:solidFill>
                <a:srgbClr val="222222"/>
              </a:solidFill>
              <a:latin typeface="Times New Roman" panose="02020603050405020304" pitchFamily="18" charset="0"/>
            </a:endParaRPr>
          </a:p>
          <a:p>
            <a:pPr algn="l"/>
            <a:r>
              <a:rPr lang="en-US" sz="2000" b="1" i="1" dirty="0">
                <a:solidFill>
                  <a:srgbClr val="222222"/>
                </a:solidFill>
                <a:effectLst/>
                <a:latin typeface="Times New Roman" panose="02020603050405020304" pitchFamily="18" charset="0"/>
              </a:rPr>
              <a:t>The main ones are:</a:t>
            </a:r>
          </a:p>
          <a:p>
            <a:endParaRPr lang="en-US" sz="2000" b="1" i="0" dirty="0">
              <a:solidFill>
                <a:srgbClr val="222222"/>
              </a:solidFill>
              <a:effectLst/>
              <a:latin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i="0" dirty="0" err="1">
                <a:solidFill>
                  <a:srgbClr val="222222"/>
                </a:solidFill>
                <a:effectLst/>
                <a:latin typeface="Times New Roman" panose="02020603050405020304" pitchFamily="18" charset="0"/>
              </a:rPr>
              <a:t>gdb</a:t>
            </a:r>
            <a:r>
              <a:rPr lang="en-US" sz="2000" b="1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</a:rPr>
              <a:t> – </a:t>
            </a:r>
            <a:r>
              <a:rPr lang="en-US" sz="200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</a:rPr>
              <a:t>the GNU debugger</a:t>
            </a:r>
            <a:endParaRPr lang="en-US" sz="2000" b="1" i="0" dirty="0">
              <a:solidFill>
                <a:srgbClr val="222222"/>
              </a:solidFill>
              <a:effectLst/>
              <a:latin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i="0" dirty="0" err="1">
                <a:solidFill>
                  <a:srgbClr val="222222"/>
                </a:solidFill>
                <a:effectLst/>
                <a:latin typeface="Times New Roman" panose="02020603050405020304" pitchFamily="18" charset="0"/>
              </a:rPr>
              <a:t>ld</a:t>
            </a:r>
            <a:r>
              <a:rPr lang="en-US" sz="20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</a:rPr>
              <a:t> - the GNU linker.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</a:rPr>
              <a:t>as</a:t>
            </a:r>
            <a:r>
              <a:rPr lang="en-US" sz="20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</a:rPr>
              <a:t> - the GNU assembler.</a:t>
            </a:r>
          </a:p>
          <a:p>
            <a:endParaRPr lang="en-US" sz="2000" b="0" i="0" dirty="0">
              <a:solidFill>
                <a:srgbClr val="222222"/>
              </a:solidFill>
              <a:effectLst/>
              <a:latin typeface="Times New Roman" panose="02020603050405020304" pitchFamily="18" charset="0"/>
            </a:endParaRPr>
          </a:p>
          <a:p>
            <a:r>
              <a:rPr lang="en-US" sz="20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</a:rPr>
              <a:t>But they also include: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1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</a:rPr>
              <a:t>nm</a:t>
            </a:r>
            <a:r>
              <a:rPr lang="en-US" sz="20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</a:rPr>
              <a:t>             - Lists symbols from object files.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1" dirty="0" err="1">
                <a:solidFill>
                  <a:srgbClr val="222222"/>
                </a:solidFill>
                <a:latin typeface="Times New Roman" panose="02020603050405020304" pitchFamily="18" charset="0"/>
              </a:rPr>
              <a:t>objdump</a:t>
            </a:r>
            <a:r>
              <a:rPr lang="en-US" sz="2000" dirty="0">
                <a:solidFill>
                  <a:srgbClr val="222222"/>
                </a:solidFill>
                <a:latin typeface="Times New Roman" panose="02020603050405020304" pitchFamily="18" charset="0"/>
              </a:rPr>
              <a:t>   - Displays information from object files.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1" dirty="0" err="1">
                <a:solidFill>
                  <a:srgbClr val="222222"/>
                </a:solidFill>
                <a:latin typeface="Times New Roman" panose="02020603050405020304" pitchFamily="18" charset="0"/>
              </a:rPr>
              <a:t>objcopy</a:t>
            </a:r>
            <a:r>
              <a:rPr lang="en-IN" sz="2000" dirty="0">
                <a:solidFill>
                  <a:srgbClr val="222222"/>
                </a:solidFill>
                <a:latin typeface="Times New Roman" panose="02020603050405020304" pitchFamily="18" charset="0"/>
              </a:rPr>
              <a:t>     - Copies and translates object files.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1" dirty="0" err="1">
                <a:solidFill>
                  <a:srgbClr val="222222"/>
                </a:solidFill>
                <a:latin typeface="Times New Roman" panose="02020603050405020304" pitchFamily="18" charset="0"/>
              </a:rPr>
              <a:t>readelf</a:t>
            </a:r>
            <a:r>
              <a:rPr lang="en-US" sz="2000" dirty="0">
                <a:solidFill>
                  <a:srgbClr val="222222"/>
                </a:solidFill>
                <a:latin typeface="Times New Roman" panose="02020603050405020304" pitchFamily="18" charset="0"/>
              </a:rPr>
              <a:t>       - Displays information from any ELF format object file.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222222"/>
                </a:solidFill>
                <a:latin typeface="Times New Roman" panose="02020603050405020304" pitchFamily="18" charset="0"/>
              </a:rPr>
              <a:t>size</a:t>
            </a:r>
            <a:r>
              <a:rPr lang="en-US" sz="2000" dirty="0">
                <a:solidFill>
                  <a:srgbClr val="222222"/>
                </a:solidFill>
                <a:latin typeface="Times New Roman" panose="02020603050405020304" pitchFamily="18" charset="0"/>
              </a:rPr>
              <a:t>             - Lists the section sizes of an object or archive file.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rgbClr val="222222"/>
                </a:solidFill>
                <a:latin typeface="Times New Roman" panose="02020603050405020304" pitchFamily="18" charset="0"/>
              </a:rPr>
              <a:t>addr2line</a:t>
            </a:r>
            <a:r>
              <a:rPr lang="en-IN" sz="2000" dirty="0">
                <a:solidFill>
                  <a:srgbClr val="222222"/>
                </a:solidFill>
                <a:latin typeface="Times New Roman" panose="02020603050405020304" pitchFamily="18" charset="0"/>
              </a:rPr>
              <a:t>   - Converts addresses into filenames and line numbers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rgbClr val="222222"/>
                </a:solidFill>
                <a:latin typeface="Times New Roman" panose="02020603050405020304" pitchFamily="18" charset="0"/>
              </a:rPr>
              <a:t>strings</a:t>
            </a:r>
            <a:r>
              <a:rPr lang="en-IN" sz="2000" dirty="0">
                <a:solidFill>
                  <a:srgbClr val="222222"/>
                </a:solidFill>
                <a:latin typeface="Times New Roman" panose="02020603050405020304" pitchFamily="18" charset="0"/>
              </a:rPr>
              <a:t>       - Lists printable strings from files.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222222"/>
                </a:solidFill>
                <a:latin typeface="Times New Roman" panose="02020603050405020304" pitchFamily="18" charset="0"/>
              </a:rPr>
              <a:t>strip</a:t>
            </a:r>
            <a:r>
              <a:rPr lang="en-US" sz="2000" dirty="0">
                <a:solidFill>
                  <a:srgbClr val="222222"/>
                </a:solidFill>
                <a:latin typeface="Times New Roman" panose="02020603050405020304" pitchFamily="18" charset="0"/>
              </a:rPr>
              <a:t>           - Discards symbols.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5677669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056AC0C-9662-EFFB-56BE-7CE51F9E0C37}"/>
              </a:ext>
            </a:extLst>
          </p:cNvPr>
          <p:cNvSpPr/>
          <p:nvPr/>
        </p:nvSpPr>
        <p:spPr>
          <a:xfrm>
            <a:off x="1100141" y="185738"/>
            <a:ext cx="9886950" cy="4572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r>
              <a:rPr lang="en-US" sz="3200" b="1" i="0">
                <a:solidFill>
                  <a:schemeClr val="bg1"/>
                </a:solidFill>
                <a:effectLst/>
                <a:latin typeface="urw-din"/>
              </a:rPr>
              <a:t>Working with readelf command and ELF files</a:t>
            </a:r>
            <a:endParaRPr lang="en-US" sz="3200" b="1" i="0" dirty="0">
              <a:solidFill>
                <a:schemeClr val="bg1"/>
              </a:solidFill>
              <a:effectLst/>
              <a:latin typeface="urw-din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F32EAE-5080-0ABA-8547-19DEBF55441E}"/>
              </a:ext>
            </a:extLst>
          </p:cNvPr>
          <p:cNvSpPr txBox="1"/>
          <p:nvPr/>
        </p:nvSpPr>
        <p:spPr>
          <a:xfrm>
            <a:off x="1128710" y="706412"/>
            <a:ext cx="9834559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/>
              <a:t>readelf</a:t>
            </a:r>
            <a:r>
              <a:rPr lang="en-US" b="1" dirty="0"/>
              <a:t> </a:t>
            </a:r>
          </a:p>
          <a:p>
            <a:r>
              <a:rPr lang="en-US" b="0" i="0" dirty="0">
                <a:solidFill>
                  <a:srgbClr val="273239"/>
                </a:solidFill>
                <a:effectLst/>
                <a:latin typeface="urw-din"/>
              </a:rPr>
              <a:t>When we compile source code, an object file is generated of the program and with the help of linker, this object files gets converted to a binary file which only the machine can understand.</a:t>
            </a:r>
          </a:p>
          <a:p>
            <a:endParaRPr lang="en-US" b="0" i="0" dirty="0">
              <a:solidFill>
                <a:srgbClr val="273239"/>
              </a:solidFill>
              <a:effectLst/>
              <a:latin typeface="urw-din"/>
            </a:endParaRPr>
          </a:p>
          <a:p>
            <a:r>
              <a:rPr lang="en-US" b="0" i="0" dirty="0">
                <a:solidFill>
                  <a:srgbClr val="273239"/>
                </a:solidFill>
                <a:effectLst/>
                <a:latin typeface="urw-din"/>
              </a:rPr>
              <a:t>This kind of file follows </a:t>
            </a:r>
            <a:r>
              <a:rPr lang="en-US" b="1" i="0" dirty="0">
                <a:solidFill>
                  <a:srgbClr val="273239"/>
                </a:solidFill>
                <a:effectLst/>
                <a:latin typeface="urw-din"/>
              </a:rPr>
              <a:t>some structures one of which is ELF(Executable and Linkable Format)</a:t>
            </a:r>
            <a:r>
              <a:rPr lang="en-US" b="0" i="0" dirty="0">
                <a:solidFill>
                  <a:srgbClr val="273239"/>
                </a:solidFill>
                <a:effectLst/>
                <a:latin typeface="urw-din"/>
              </a:rPr>
              <a:t>. </a:t>
            </a:r>
          </a:p>
          <a:p>
            <a:r>
              <a:rPr lang="en-US" b="0" i="0" dirty="0">
                <a:solidFill>
                  <a:srgbClr val="273239"/>
                </a:solidFill>
                <a:effectLst/>
                <a:latin typeface="urw-din"/>
              </a:rPr>
              <a:t>And to get the information of these ELF files </a:t>
            </a:r>
            <a:r>
              <a:rPr lang="en-US" b="1" i="0" dirty="0" err="1">
                <a:solidFill>
                  <a:srgbClr val="273239"/>
                </a:solidFill>
                <a:effectLst/>
                <a:latin typeface="urw-din"/>
              </a:rPr>
              <a:t>readelf</a:t>
            </a:r>
            <a:r>
              <a:rPr lang="en-US" b="0" i="0" dirty="0">
                <a:solidFill>
                  <a:srgbClr val="273239"/>
                </a:solidFill>
                <a:effectLst/>
                <a:latin typeface="urw-din"/>
              </a:rPr>
              <a:t> command is used</a:t>
            </a:r>
            <a:endParaRPr lang="en-IN" dirty="0"/>
          </a:p>
          <a:p>
            <a:endParaRPr lang="en-US" sz="1200" b="1" dirty="0">
              <a:solidFill>
                <a:srgbClr val="273239"/>
              </a:solidFill>
              <a:latin typeface="urw-din"/>
            </a:endParaRPr>
          </a:p>
          <a:p>
            <a:r>
              <a:rPr lang="en-US" b="0" i="0" dirty="0">
                <a:solidFill>
                  <a:srgbClr val="273239"/>
                </a:solidFill>
                <a:effectLst/>
                <a:latin typeface="urw-din"/>
              </a:rPr>
              <a:t>To display help of </a:t>
            </a:r>
            <a:r>
              <a:rPr lang="en-US" b="0" i="0" dirty="0" err="1">
                <a:solidFill>
                  <a:srgbClr val="273239"/>
                </a:solidFill>
                <a:effectLst/>
                <a:latin typeface="urw-din"/>
              </a:rPr>
              <a:t>readelf</a:t>
            </a:r>
            <a:r>
              <a:rPr lang="en-US" b="0" i="0" dirty="0">
                <a:solidFill>
                  <a:srgbClr val="273239"/>
                </a:solidFill>
                <a:effectLst/>
                <a:latin typeface="urw-din"/>
              </a:rPr>
              <a:t> command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C58FEDA-CBF5-4F2C-92B6-E6996DD305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9337" y="2887042"/>
            <a:ext cx="9917161" cy="3816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3469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D2EFD7B-EAD1-7663-545F-E9F4A0E15984}"/>
              </a:ext>
            </a:extLst>
          </p:cNvPr>
          <p:cNvSpPr txBox="1"/>
          <p:nvPr/>
        </p:nvSpPr>
        <p:spPr>
          <a:xfrm>
            <a:off x="1566869" y="203047"/>
            <a:ext cx="89154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0" dirty="0">
                <a:solidFill>
                  <a:srgbClr val="273239"/>
                </a:solidFill>
                <a:effectLst/>
                <a:latin typeface="urw-din"/>
              </a:rPr>
              <a:t>2.</a:t>
            </a:r>
            <a:r>
              <a:rPr lang="en-US" sz="2000" b="0" i="0" dirty="0">
                <a:solidFill>
                  <a:srgbClr val="273239"/>
                </a:solidFill>
                <a:effectLst/>
                <a:latin typeface="urw-din"/>
              </a:rPr>
              <a:t> To check whether a file is ELF file.</a:t>
            </a:r>
            <a:endParaRPr lang="en-US" sz="2000" dirty="0"/>
          </a:p>
          <a:p>
            <a:endParaRPr lang="en-IN" sz="2000" dirty="0"/>
          </a:p>
          <a:p>
            <a:endParaRPr lang="en-IN" sz="2000" dirty="0"/>
          </a:p>
          <a:p>
            <a:endParaRPr lang="en-IN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EF106C4-645E-5BF7-9A82-4B17D94532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2163" y="628683"/>
            <a:ext cx="8305800" cy="108581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6CDE110-DD51-19A6-6806-01B579129D0C}"/>
              </a:ext>
            </a:extLst>
          </p:cNvPr>
          <p:cNvSpPr txBox="1"/>
          <p:nvPr/>
        </p:nvSpPr>
        <p:spPr>
          <a:xfrm>
            <a:off x="1620439" y="1844150"/>
            <a:ext cx="609361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i="0" dirty="0">
                <a:solidFill>
                  <a:srgbClr val="273239"/>
                </a:solidFill>
                <a:effectLst/>
                <a:latin typeface="urw-din"/>
              </a:rPr>
              <a:t>3</a:t>
            </a:r>
            <a:r>
              <a:rPr lang="en-US" sz="2000" b="0" i="0" dirty="0">
                <a:solidFill>
                  <a:srgbClr val="273239"/>
                </a:solidFill>
                <a:effectLst/>
                <a:latin typeface="urw-din"/>
              </a:rPr>
              <a:t>. To generate a elf file using </a:t>
            </a:r>
            <a:r>
              <a:rPr lang="en-US" sz="2000" b="0" i="0" dirty="0" err="1">
                <a:solidFill>
                  <a:srgbClr val="273239"/>
                </a:solidFill>
                <a:effectLst/>
                <a:latin typeface="urw-din"/>
              </a:rPr>
              <a:t>gcc</a:t>
            </a:r>
            <a:r>
              <a:rPr lang="en-US" sz="2000" b="0" i="0" dirty="0">
                <a:solidFill>
                  <a:srgbClr val="273239"/>
                </a:solidFill>
                <a:effectLst/>
                <a:latin typeface="urw-din"/>
              </a:rPr>
              <a:t> compiler.</a:t>
            </a:r>
            <a:endParaRPr lang="en-US" sz="20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175FB5E-2AD4-A186-4E80-FB4ED0D0E6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6452" y="2276466"/>
            <a:ext cx="8305800" cy="29207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34E2A2E-293C-59B7-FFE1-29318FF5DD3A}"/>
              </a:ext>
            </a:extLst>
          </p:cNvPr>
          <p:cNvSpPr txBox="1"/>
          <p:nvPr/>
        </p:nvSpPr>
        <p:spPr>
          <a:xfrm>
            <a:off x="1624021" y="2721644"/>
            <a:ext cx="609361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i="0" dirty="0">
                <a:solidFill>
                  <a:srgbClr val="273239"/>
                </a:solidFill>
                <a:effectLst/>
                <a:latin typeface="urw-din"/>
              </a:rPr>
              <a:t>4.</a:t>
            </a:r>
            <a:r>
              <a:rPr lang="en-US" sz="2000" b="0" i="0" dirty="0">
                <a:solidFill>
                  <a:srgbClr val="273239"/>
                </a:solidFill>
                <a:effectLst/>
                <a:latin typeface="urw-din"/>
              </a:rPr>
              <a:t> To display file headers of a elf file.</a:t>
            </a:r>
            <a:endParaRPr lang="en-IN" sz="20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6EBB0FA-0DBD-B170-8BE6-47252820EE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47872" y="3081335"/>
            <a:ext cx="8382000" cy="3573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8635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67001F8-795C-7CE1-80D1-DDC135494A6C}"/>
              </a:ext>
            </a:extLst>
          </p:cNvPr>
          <p:cNvSpPr txBox="1"/>
          <p:nvPr/>
        </p:nvSpPr>
        <p:spPr>
          <a:xfrm>
            <a:off x="1106082" y="176884"/>
            <a:ext cx="976670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i="0" dirty="0">
                <a:solidFill>
                  <a:srgbClr val="273239"/>
                </a:solidFill>
                <a:effectLst/>
                <a:latin typeface="urw-din"/>
              </a:rPr>
              <a:t>5.</a:t>
            </a:r>
            <a:r>
              <a:rPr lang="en-US" sz="2000" b="0" i="0" dirty="0">
                <a:solidFill>
                  <a:srgbClr val="273239"/>
                </a:solidFill>
                <a:effectLst/>
                <a:latin typeface="urw-din"/>
              </a:rPr>
              <a:t> To display information about the different sections of the process’ address space.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A4D1BE8-5EB8-4E7C-3E20-91E8A7B367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9670" y="633403"/>
            <a:ext cx="8158667" cy="541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71831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F267E69-A73E-927A-6A43-80F0A0D99810}"/>
              </a:ext>
            </a:extLst>
          </p:cNvPr>
          <p:cNvSpPr txBox="1"/>
          <p:nvPr/>
        </p:nvSpPr>
        <p:spPr>
          <a:xfrm>
            <a:off x="1318023" y="215384"/>
            <a:ext cx="609361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i="0" dirty="0">
                <a:solidFill>
                  <a:srgbClr val="273239"/>
                </a:solidFill>
                <a:effectLst/>
                <a:latin typeface="urw-din"/>
              </a:rPr>
              <a:t>6.</a:t>
            </a:r>
            <a:r>
              <a:rPr lang="en-IN" sz="2000" b="0" i="0" dirty="0">
                <a:solidFill>
                  <a:srgbClr val="273239"/>
                </a:solidFill>
                <a:effectLst/>
                <a:latin typeface="urw-din"/>
              </a:rPr>
              <a:t> To display symbols table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6B34894-A219-51CC-9401-4F8775164D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3539" y="695022"/>
            <a:ext cx="6924675" cy="5647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14112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51F36C6-B2A9-A6F9-14D2-890A86C882A2}"/>
              </a:ext>
            </a:extLst>
          </p:cNvPr>
          <p:cNvSpPr txBox="1"/>
          <p:nvPr/>
        </p:nvSpPr>
        <p:spPr>
          <a:xfrm>
            <a:off x="1406119" y="185636"/>
            <a:ext cx="609361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i="0" dirty="0">
                <a:solidFill>
                  <a:srgbClr val="273239"/>
                </a:solidFill>
                <a:effectLst/>
                <a:latin typeface="urw-din"/>
              </a:rPr>
              <a:t>7.</a:t>
            </a:r>
            <a:r>
              <a:rPr lang="en-US" sz="2000" b="0" i="0" dirty="0">
                <a:solidFill>
                  <a:srgbClr val="273239"/>
                </a:solidFill>
                <a:effectLst/>
                <a:latin typeface="urw-din"/>
              </a:rPr>
              <a:t> To display core notes.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B3375A6-6DD8-6815-479F-6E811BA792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8305" y="676267"/>
            <a:ext cx="7762870" cy="258131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6FEF966-C0E0-5D3B-CCA8-528C7BF2E075}"/>
              </a:ext>
            </a:extLst>
          </p:cNvPr>
          <p:cNvSpPr txBox="1"/>
          <p:nvPr/>
        </p:nvSpPr>
        <p:spPr>
          <a:xfrm>
            <a:off x="1366839" y="3057501"/>
            <a:ext cx="609361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273239"/>
                </a:solidFill>
                <a:latin typeface="urw-din"/>
              </a:rPr>
              <a:t>8</a:t>
            </a:r>
            <a:r>
              <a:rPr lang="en-US" sz="2000" b="1" i="0" dirty="0">
                <a:solidFill>
                  <a:srgbClr val="273239"/>
                </a:solidFill>
                <a:effectLst/>
                <a:latin typeface="urw-din"/>
              </a:rPr>
              <a:t>.</a:t>
            </a:r>
            <a:r>
              <a:rPr lang="en-US" sz="2000" b="0" i="0" dirty="0">
                <a:solidFill>
                  <a:srgbClr val="273239"/>
                </a:solidFill>
                <a:effectLst/>
                <a:latin typeface="urw-din"/>
              </a:rPr>
              <a:t> </a:t>
            </a:r>
            <a:r>
              <a:rPr lang="en-IN" sz="2000" b="0" i="0" dirty="0">
                <a:solidFill>
                  <a:srgbClr val="273239"/>
                </a:solidFill>
                <a:effectLst/>
                <a:latin typeface="urw-din"/>
              </a:rPr>
              <a:t>To display relocation section</a:t>
            </a:r>
            <a:endParaRPr lang="en-IN" sz="20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4B63A38-2BA1-4FDE-D013-2104FE3F38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6885" y="3513819"/>
            <a:ext cx="7734290" cy="2215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18289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90C8F71-9F81-AA57-BE55-8949D5D194A0}"/>
              </a:ext>
            </a:extLst>
          </p:cNvPr>
          <p:cNvSpPr txBox="1"/>
          <p:nvPr/>
        </p:nvSpPr>
        <p:spPr>
          <a:xfrm>
            <a:off x="1460898" y="215384"/>
            <a:ext cx="609361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i="0" dirty="0">
                <a:solidFill>
                  <a:srgbClr val="273239"/>
                </a:solidFill>
                <a:effectLst/>
                <a:latin typeface="urw-din"/>
              </a:rPr>
              <a:t>9.</a:t>
            </a:r>
            <a:r>
              <a:rPr lang="en-US" sz="2000" b="0" i="0" dirty="0">
                <a:solidFill>
                  <a:srgbClr val="273239"/>
                </a:solidFill>
                <a:effectLst/>
                <a:latin typeface="urw-din"/>
              </a:rPr>
              <a:t> To display the dynamic section.</a:t>
            </a:r>
            <a:endParaRPr lang="en-US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A1109A9-1001-87E5-919D-84D6AD41C0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471" y="629782"/>
            <a:ext cx="7434263" cy="5753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42032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637CB88-E3D8-6EDC-06D3-80837921E706}"/>
              </a:ext>
            </a:extLst>
          </p:cNvPr>
          <p:cNvSpPr txBox="1"/>
          <p:nvPr/>
        </p:nvSpPr>
        <p:spPr>
          <a:xfrm>
            <a:off x="1171577" y="833848"/>
            <a:ext cx="10015536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 fontAlgn="base">
              <a:buNone/>
            </a:pPr>
            <a:r>
              <a:rPr lang="en-US" sz="2000" b="0" i="0" dirty="0">
                <a:solidFill>
                  <a:srgbClr val="273239"/>
                </a:solidFill>
                <a:effectLst/>
                <a:latin typeface="urw-din"/>
              </a:rPr>
              <a:t>When we have an object file and we don’t have the source code with us and we have to find out the maximum information from the file. </a:t>
            </a:r>
          </a:p>
          <a:p>
            <a:pPr marL="0" indent="0" algn="just" fontAlgn="base">
              <a:buNone/>
            </a:pPr>
            <a:r>
              <a:rPr lang="en-US" sz="2000" b="0" i="0" dirty="0">
                <a:solidFill>
                  <a:srgbClr val="273239"/>
                </a:solidFill>
                <a:effectLst/>
                <a:latin typeface="urw-din"/>
              </a:rPr>
              <a:t>To do so </a:t>
            </a:r>
            <a:r>
              <a:rPr lang="en-US" sz="2000" b="0" i="0" dirty="0" err="1">
                <a:solidFill>
                  <a:srgbClr val="273239"/>
                </a:solidFill>
                <a:effectLst/>
                <a:latin typeface="urw-din"/>
              </a:rPr>
              <a:t>objdump</a:t>
            </a:r>
            <a:r>
              <a:rPr lang="en-US" sz="2000" b="0" i="0" dirty="0">
                <a:solidFill>
                  <a:srgbClr val="273239"/>
                </a:solidFill>
                <a:effectLst/>
                <a:latin typeface="urw-din"/>
              </a:rPr>
              <a:t> plays a very vital role. </a:t>
            </a:r>
          </a:p>
          <a:p>
            <a:pPr marL="0" indent="0" algn="just" fontAlgn="base">
              <a:buNone/>
            </a:pPr>
            <a:endParaRPr lang="en-US" sz="2000" b="0" i="0" dirty="0">
              <a:solidFill>
                <a:srgbClr val="273239"/>
              </a:solidFill>
              <a:effectLst/>
              <a:latin typeface="urw-din"/>
            </a:endParaRPr>
          </a:p>
          <a:p>
            <a:pPr marL="0" indent="0" algn="just" fontAlgn="base">
              <a:buNone/>
            </a:pPr>
            <a:r>
              <a:rPr lang="en-US" sz="2000" b="0" i="0" dirty="0">
                <a:solidFill>
                  <a:srgbClr val="273239"/>
                </a:solidFill>
                <a:effectLst/>
                <a:latin typeface="urw-din"/>
              </a:rPr>
              <a:t>The main purpose of the </a:t>
            </a:r>
            <a:r>
              <a:rPr lang="en-US" sz="2000" b="0" i="0" dirty="0" err="1">
                <a:solidFill>
                  <a:srgbClr val="273239"/>
                </a:solidFill>
                <a:effectLst/>
                <a:latin typeface="urw-din"/>
              </a:rPr>
              <a:t>objdump</a:t>
            </a:r>
            <a:r>
              <a:rPr lang="en-US" sz="2000" b="0" i="0" dirty="0">
                <a:solidFill>
                  <a:srgbClr val="273239"/>
                </a:solidFill>
                <a:effectLst/>
                <a:latin typeface="urw-din"/>
              </a:rPr>
              <a:t> command is </a:t>
            </a:r>
            <a:r>
              <a:rPr lang="en-US" sz="2000" b="1" i="0" dirty="0">
                <a:solidFill>
                  <a:srgbClr val="273239"/>
                </a:solidFill>
                <a:effectLst/>
                <a:latin typeface="urw-din"/>
              </a:rPr>
              <a:t>to help in debugging the object file.</a:t>
            </a:r>
            <a:r>
              <a:rPr lang="en-US" sz="2000" b="0" i="0" dirty="0">
                <a:solidFill>
                  <a:srgbClr val="273239"/>
                </a:solidFill>
                <a:effectLst/>
                <a:latin typeface="urw-din"/>
              </a:rPr>
              <a:t> </a:t>
            </a:r>
          </a:p>
          <a:p>
            <a:pPr marL="0" indent="0" algn="just" fontAlgn="base">
              <a:buNone/>
            </a:pPr>
            <a:endParaRPr lang="en-US" sz="2000" b="0" i="0" dirty="0">
              <a:solidFill>
                <a:srgbClr val="273239"/>
              </a:solidFill>
              <a:effectLst/>
              <a:latin typeface="urw-din"/>
            </a:endParaRPr>
          </a:p>
          <a:p>
            <a:pPr marL="0" indent="0" algn="just" fontAlgn="base">
              <a:buNone/>
            </a:pPr>
            <a:r>
              <a:rPr lang="en-US" sz="2000" b="0" i="0" dirty="0">
                <a:solidFill>
                  <a:srgbClr val="273239"/>
                </a:solidFill>
                <a:effectLst/>
                <a:latin typeface="urw-din"/>
              </a:rPr>
              <a:t>It is used for the following listed purposes:</a:t>
            </a:r>
          </a:p>
          <a:p>
            <a:pPr algn="just" fontAlgn="base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273239"/>
                </a:solidFill>
                <a:effectLst/>
                <a:latin typeface="urw-din"/>
              </a:rPr>
              <a:t>To retrieve archive header</a:t>
            </a:r>
          </a:p>
          <a:p>
            <a:pPr algn="just" fontAlgn="base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273239"/>
                </a:solidFill>
                <a:effectLst/>
                <a:latin typeface="urw-din"/>
              </a:rPr>
              <a:t>To get the offset of the file</a:t>
            </a:r>
          </a:p>
          <a:p>
            <a:pPr algn="just" fontAlgn="base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273239"/>
                </a:solidFill>
                <a:effectLst/>
                <a:latin typeface="urw-din"/>
              </a:rPr>
              <a:t>To get the </a:t>
            </a:r>
            <a:r>
              <a:rPr lang="en-US" sz="2000" b="0" i="0" dirty="0" err="1">
                <a:solidFill>
                  <a:srgbClr val="273239"/>
                </a:solidFill>
                <a:effectLst/>
                <a:latin typeface="urw-din"/>
              </a:rPr>
              <a:t>bfdname</a:t>
            </a:r>
            <a:endParaRPr lang="en-US" sz="2000" b="0" i="0" dirty="0">
              <a:solidFill>
                <a:srgbClr val="273239"/>
              </a:solidFill>
              <a:effectLst/>
              <a:latin typeface="urw-din"/>
            </a:endParaRPr>
          </a:p>
          <a:p>
            <a:pPr algn="just" fontAlgn="base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273239"/>
                </a:solidFill>
                <a:effectLst/>
                <a:latin typeface="urw-din"/>
              </a:rPr>
              <a:t>To get the </a:t>
            </a:r>
            <a:r>
              <a:rPr lang="en-US" sz="2000" b="0" i="0" dirty="0" err="1">
                <a:solidFill>
                  <a:srgbClr val="273239"/>
                </a:solidFill>
                <a:effectLst/>
                <a:latin typeface="urw-din"/>
              </a:rPr>
              <a:t>demangle</a:t>
            </a:r>
            <a:endParaRPr lang="en-US" sz="2000" b="0" i="0" dirty="0">
              <a:solidFill>
                <a:srgbClr val="273239"/>
              </a:solidFill>
              <a:effectLst/>
              <a:latin typeface="urw-din"/>
            </a:endParaRPr>
          </a:p>
          <a:p>
            <a:pPr algn="just" fontAlgn="base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273239"/>
                </a:solidFill>
                <a:effectLst/>
                <a:latin typeface="urw-din"/>
              </a:rPr>
              <a:t>To debug the file</a:t>
            </a:r>
          </a:p>
          <a:p>
            <a:pPr algn="just" fontAlgn="base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273239"/>
                </a:solidFill>
                <a:effectLst/>
                <a:latin typeface="urw-din"/>
              </a:rPr>
              <a:t>To disassemble the file</a:t>
            </a:r>
          </a:p>
          <a:p>
            <a:pPr algn="just" fontAlgn="base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273239"/>
                </a:solidFill>
                <a:effectLst/>
                <a:latin typeface="urw-din"/>
              </a:rPr>
              <a:t>To retrieve the file headers</a:t>
            </a:r>
          </a:p>
          <a:p>
            <a:endParaRPr lang="en-IN" sz="2000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8267E50-AC51-9BA4-B1E9-3A71B3C53129}"/>
              </a:ext>
            </a:extLst>
          </p:cNvPr>
          <p:cNvSpPr/>
          <p:nvPr/>
        </p:nvSpPr>
        <p:spPr>
          <a:xfrm>
            <a:off x="1185863" y="228600"/>
            <a:ext cx="9786937" cy="47148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600" dirty="0" err="1"/>
              <a:t>Objdump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42487913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4CB4AE3-DD08-6DBB-45D4-2714F9ABD503}"/>
              </a:ext>
            </a:extLst>
          </p:cNvPr>
          <p:cNvSpPr txBox="1"/>
          <p:nvPr/>
        </p:nvSpPr>
        <p:spPr>
          <a:xfrm>
            <a:off x="1200148" y="52668"/>
            <a:ext cx="8740378" cy="8694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0" i="0" dirty="0">
                <a:solidFill>
                  <a:srgbClr val="273239"/>
                </a:solidFill>
                <a:effectLst/>
                <a:latin typeface="urw-din"/>
              </a:rPr>
              <a:t>1. To get the file headers of an Object File. </a:t>
            </a:r>
          </a:p>
          <a:p>
            <a:endParaRPr lang="en-US" sz="1050" dirty="0">
              <a:solidFill>
                <a:srgbClr val="273239"/>
              </a:solidFill>
              <a:latin typeface="urw-din"/>
            </a:endParaRPr>
          </a:p>
          <a:p>
            <a:r>
              <a:rPr lang="en-US" sz="2000" dirty="0">
                <a:solidFill>
                  <a:srgbClr val="273239"/>
                </a:solidFill>
                <a:latin typeface="urw-din"/>
              </a:rPr>
              <a:t>    </a:t>
            </a:r>
            <a:r>
              <a:rPr lang="en-US" sz="2000" b="0" i="0" dirty="0">
                <a:solidFill>
                  <a:srgbClr val="273239"/>
                </a:solidFill>
                <a:effectLst/>
                <a:latin typeface="urw-din"/>
              </a:rPr>
              <a:t>This command will print all the file headers related information of the file.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F17BAF5-02A2-6FAB-FE4C-FF6956B3F7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1348" y="1011173"/>
            <a:ext cx="4855190" cy="118910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ECCAC4B-7294-64F7-0415-AA8177B52050}"/>
              </a:ext>
            </a:extLst>
          </p:cNvPr>
          <p:cNvSpPr txBox="1"/>
          <p:nvPr/>
        </p:nvSpPr>
        <p:spPr>
          <a:xfrm>
            <a:off x="1200148" y="2135754"/>
            <a:ext cx="1030128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0" i="0" dirty="0">
                <a:solidFill>
                  <a:srgbClr val="273239"/>
                </a:solidFill>
                <a:effectLst/>
                <a:latin typeface="urw-din"/>
              </a:rPr>
              <a:t>2. To print the object-specific file header content. </a:t>
            </a:r>
          </a:p>
          <a:p>
            <a:endParaRPr lang="en-US" sz="800" dirty="0">
              <a:solidFill>
                <a:srgbClr val="273239"/>
              </a:solidFill>
              <a:latin typeface="urw-din"/>
            </a:endParaRPr>
          </a:p>
          <a:p>
            <a:r>
              <a:rPr lang="en-US" sz="2000" b="0" i="0" dirty="0">
                <a:solidFill>
                  <a:srgbClr val="273239"/>
                </a:solidFill>
                <a:effectLst/>
                <a:latin typeface="urw-din"/>
              </a:rPr>
              <a:t>    This command will print the object-specific file header content of the file</a:t>
            </a:r>
            <a:endParaRPr lang="en-IN" sz="20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13FC7F6-9801-DB0F-80FE-7241F558DF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7453" y="2966751"/>
            <a:ext cx="8105768" cy="3749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01190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00B01E3-5018-0394-F839-7EF712C9F688}"/>
              </a:ext>
            </a:extLst>
          </p:cNvPr>
          <p:cNvSpPr txBox="1"/>
          <p:nvPr/>
        </p:nvSpPr>
        <p:spPr>
          <a:xfrm>
            <a:off x="1332310" y="165824"/>
            <a:ext cx="914519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0" i="0" dirty="0">
                <a:solidFill>
                  <a:srgbClr val="273239"/>
                </a:solidFill>
                <a:effectLst/>
                <a:latin typeface="urw-din"/>
              </a:rPr>
              <a:t>3. To print the section header content of the file. </a:t>
            </a:r>
          </a:p>
          <a:p>
            <a:r>
              <a:rPr lang="en-US" sz="1000" dirty="0">
                <a:solidFill>
                  <a:srgbClr val="273239"/>
                </a:solidFill>
                <a:latin typeface="urw-din"/>
              </a:rPr>
              <a:t>  </a:t>
            </a:r>
          </a:p>
          <a:p>
            <a:r>
              <a:rPr lang="en-US" sz="2000" b="0" i="0" dirty="0">
                <a:solidFill>
                  <a:srgbClr val="273239"/>
                </a:solidFill>
                <a:effectLst/>
                <a:latin typeface="urw-din"/>
              </a:rPr>
              <a:t>     This command will print all the section header related information of the file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F024A1D-3A97-C821-4804-6496ACCF0E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4500" y="1052870"/>
            <a:ext cx="8058150" cy="5710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4718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49C7F23-7C1B-2184-24EF-8E4B64ADBDB9}"/>
              </a:ext>
            </a:extLst>
          </p:cNvPr>
          <p:cNvSpPr txBox="1"/>
          <p:nvPr/>
        </p:nvSpPr>
        <p:spPr>
          <a:xfrm>
            <a:off x="1171575" y="147161"/>
            <a:ext cx="7968853" cy="11772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i="0" dirty="0">
                <a:solidFill>
                  <a:srgbClr val="273239"/>
                </a:solidFill>
                <a:effectLst/>
                <a:latin typeface="urw-din"/>
              </a:rPr>
              <a:t>4. </a:t>
            </a:r>
            <a:r>
              <a:rPr lang="en-US" sz="2000" b="0" i="0" dirty="0">
                <a:solidFill>
                  <a:srgbClr val="273239"/>
                </a:solidFill>
                <a:effectLst/>
                <a:latin typeface="urw-din"/>
              </a:rPr>
              <a:t>To print the all header content of the file. </a:t>
            </a:r>
          </a:p>
          <a:p>
            <a:endParaRPr lang="en-US" sz="1050" dirty="0">
              <a:solidFill>
                <a:srgbClr val="273239"/>
              </a:solidFill>
              <a:latin typeface="urw-din"/>
            </a:endParaRPr>
          </a:p>
          <a:p>
            <a:r>
              <a:rPr lang="en-US" sz="2000" b="0" i="0" dirty="0">
                <a:solidFill>
                  <a:srgbClr val="273239"/>
                </a:solidFill>
                <a:effectLst/>
                <a:latin typeface="urw-din"/>
              </a:rPr>
              <a:t>     This command will print all the content header related information of the file.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83F8AD2-D8B9-389D-D911-117AA5E333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9003" y="1005631"/>
            <a:ext cx="7591425" cy="5338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40760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AA83002-9C94-F097-A1CF-A3752FF0D951}"/>
              </a:ext>
            </a:extLst>
          </p:cNvPr>
          <p:cNvSpPr txBox="1"/>
          <p:nvPr/>
        </p:nvSpPr>
        <p:spPr>
          <a:xfrm>
            <a:off x="1323975" y="147161"/>
            <a:ext cx="9544050" cy="8771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i="0" dirty="0">
                <a:solidFill>
                  <a:srgbClr val="273239"/>
                </a:solidFill>
                <a:effectLst/>
                <a:latin typeface="urw-din"/>
              </a:rPr>
              <a:t>5. </a:t>
            </a:r>
            <a:r>
              <a:rPr lang="en-US" sz="2000" b="0" i="0" dirty="0">
                <a:solidFill>
                  <a:srgbClr val="273239"/>
                </a:solidFill>
                <a:effectLst/>
                <a:latin typeface="urw-din"/>
              </a:rPr>
              <a:t>To print the assembler content of the sections capable of execution. </a:t>
            </a:r>
          </a:p>
          <a:p>
            <a:endParaRPr lang="en-US" sz="1100" dirty="0">
              <a:solidFill>
                <a:srgbClr val="273239"/>
              </a:solidFill>
              <a:latin typeface="urw-din"/>
            </a:endParaRPr>
          </a:p>
          <a:p>
            <a:r>
              <a:rPr lang="en-US" sz="2000" b="0" i="0" dirty="0">
                <a:solidFill>
                  <a:srgbClr val="273239"/>
                </a:solidFill>
                <a:effectLst/>
                <a:latin typeface="urw-din"/>
              </a:rPr>
              <a:t>     This command will print the content of the assembler of sections that are executable.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07B35E6-3E50-C30A-EB23-F87E6F8666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9270" y="1014411"/>
            <a:ext cx="6973033" cy="5718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93818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41AE7D5-E981-D821-6316-463553E512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9748" y="1143000"/>
            <a:ext cx="8534400" cy="5197474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3D68A38-DDB8-1DFD-905D-36B6E8E4DBD7}"/>
              </a:ext>
            </a:extLst>
          </p:cNvPr>
          <p:cNvSpPr/>
          <p:nvPr/>
        </p:nvSpPr>
        <p:spPr>
          <a:xfrm>
            <a:off x="1666884" y="271463"/>
            <a:ext cx="8377229" cy="47148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600" dirty="0"/>
              <a:t>nm tool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1531972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7F941-267D-4EDA-AE2E-1712C3ADC0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05582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Thank you!!!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184005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591</Words>
  <Application>Microsoft Office PowerPoint</Application>
  <PresentationFormat>Widescreen</PresentationFormat>
  <Paragraphs>73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Calibri</vt:lpstr>
      <vt:lpstr>Calibri Light</vt:lpstr>
      <vt:lpstr>Times New Roman</vt:lpstr>
      <vt:lpstr>urw-din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you!!!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Vinod Jadhav</dc:creator>
  <cp:lastModifiedBy>Vinod Jadhav</cp:lastModifiedBy>
  <cp:revision>20</cp:revision>
  <dcterms:created xsi:type="dcterms:W3CDTF">2023-06-26T13:45:43Z</dcterms:created>
  <dcterms:modified xsi:type="dcterms:W3CDTF">2024-06-10T06:57:19Z</dcterms:modified>
</cp:coreProperties>
</file>