
<file path=[Content_Types].xml><?xml version="1.0" encoding="utf-8"?>
<Types xmlns="http://schemas.openxmlformats.org/package/2006/content-types">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9" r:id="rId1"/>
  </p:sldMasterIdLst>
  <p:notesMasterIdLst>
    <p:notesMasterId r:id="rId45"/>
  </p:notesMasterIdLst>
  <p:sldIdLst>
    <p:sldId id="801" r:id="rId2"/>
    <p:sldId id="802" r:id="rId3"/>
    <p:sldId id="988" r:id="rId4"/>
    <p:sldId id="803" r:id="rId5"/>
    <p:sldId id="804" r:id="rId6"/>
    <p:sldId id="805" r:id="rId7"/>
    <p:sldId id="806" r:id="rId8"/>
    <p:sldId id="807" r:id="rId9"/>
    <p:sldId id="808" r:id="rId10"/>
    <p:sldId id="809" r:id="rId11"/>
    <p:sldId id="810" r:id="rId12"/>
    <p:sldId id="811" r:id="rId13"/>
    <p:sldId id="813" r:id="rId14"/>
    <p:sldId id="814" r:id="rId15"/>
    <p:sldId id="965" r:id="rId16"/>
    <p:sldId id="815" r:id="rId17"/>
    <p:sldId id="816" r:id="rId18"/>
    <p:sldId id="817" r:id="rId19"/>
    <p:sldId id="966" r:id="rId20"/>
    <p:sldId id="818" r:id="rId21"/>
    <p:sldId id="819" r:id="rId22"/>
    <p:sldId id="824" r:id="rId23"/>
    <p:sldId id="987" r:id="rId24"/>
    <p:sldId id="967" r:id="rId25"/>
    <p:sldId id="968" r:id="rId26"/>
    <p:sldId id="969" r:id="rId27"/>
    <p:sldId id="970" r:id="rId28"/>
    <p:sldId id="971" r:id="rId29"/>
    <p:sldId id="972" r:id="rId30"/>
    <p:sldId id="973" r:id="rId31"/>
    <p:sldId id="974" r:id="rId32"/>
    <p:sldId id="975" r:id="rId33"/>
    <p:sldId id="976" r:id="rId34"/>
    <p:sldId id="977" r:id="rId35"/>
    <p:sldId id="978" r:id="rId36"/>
    <p:sldId id="979" r:id="rId37"/>
    <p:sldId id="981" r:id="rId38"/>
    <p:sldId id="980" r:id="rId39"/>
    <p:sldId id="982" r:id="rId40"/>
    <p:sldId id="983" r:id="rId41"/>
    <p:sldId id="984" r:id="rId42"/>
    <p:sldId id="985" r:id="rId43"/>
    <p:sldId id="986"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33"/>
    <a:srgbClr val="0000CC"/>
    <a:srgbClr val="FF0066"/>
    <a:srgbClr val="00FF00"/>
    <a:srgbClr val="3399FF"/>
    <a:srgbClr val="FF0000"/>
    <a:srgbClr val="FF00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86486" autoAdjust="0"/>
  </p:normalViewPr>
  <p:slideViewPr>
    <p:cSldViewPr>
      <p:cViewPr varScale="1">
        <p:scale>
          <a:sx n="57" d="100"/>
          <a:sy n="57" d="100"/>
        </p:scale>
        <p:origin x="1488"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824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47104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386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7104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7104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471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4A06642B-1D29-4E0B-AB48-E4B7182D1F4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8" charset="0"/>
                <a:ea typeface="+mn-ea"/>
                <a:cs typeface="+mn-cs"/>
              </a:rPr>
              <a:t>Sleeping processes can be interruptible or uninterruptible. If a process receives a signal when it is in an interruptible sleep state, for example, waiting for terminal I/O, the kernel will awaken the process to handle the signal. </a:t>
            </a:r>
            <a:r>
              <a:rPr lang="en-US" sz="1200" kern="1200">
                <a:solidFill>
                  <a:schemeClr val="tx1"/>
                </a:solidFill>
                <a:latin typeface="Times New Roman" pitchFamily="18" charset="0"/>
                <a:ea typeface="+mn-ea"/>
                <a:cs typeface="+mn-cs"/>
              </a:rPr>
              <a:t>If a process receives a signal when it is in uninterruptible sleep, such as waiting for disk I/O, the kernel defers the signal until the event completes</a:t>
            </a:r>
            <a:endParaRPr lang="en-US"/>
          </a:p>
        </p:txBody>
      </p:sp>
      <p:sp>
        <p:nvSpPr>
          <p:cNvPr id="4" name="Slide Number Placeholder 3"/>
          <p:cNvSpPr>
            <a:spLocks noGrp="1"/>
          </p:cNvSpPr>
          <p:nvPr>
            <p:ph type="sldNum" sz="quarter" idx="10"/>
          </p:nvPr>
        </p:nvSpPr>
        <p:spPr/>
        <p:txBody>
          <a:bodyPr/>
          <a:lstStyle/>
          <a:p>
            <a:pPr>
              <a:defRPr/>
            </a:pPr>
            <a:fld id="{4A06642B-1D29-4E0B-AB48-E4B7182D1F46}" type="slidenum">
              <a:rPr lang="en-US" smtClean="0"/>
              <a:pPr>
                <a:defRPr/>
              </a:pPr>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36DF0-6886-497A-894B-81E47B34DA2F}"/>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F2826022-1DA6-43F6-8EF3-7E695134192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D42795-A8E7-4A7C-93ED-339042B5F714}"/>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5C8CFEB5-E4FF-4CE4-9284-6317180225D3}"/>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6AA4C383-A808-494A-BF37-5FEA93E8B4DB}"/>
              </a:ext>
            </a:extLst>
          </p:cNvPr>
          <p:cNvSpPr>
            <a:spLocks noGrp="1"/>
          </p:cNvSpPr>
          <p:nvPr>
            <p:ph type="sldNum" sz="quarter" idx="12"/>
          </p:nvPr>
        </p:nvSpPr>
        <p:spPr/>
        <p:txBody>
          <a:bodyPr/>
          <a:lstStyle/>
          <a:p>
            <a:pPr>
              <a:defRPr/>
            </a:pPr>
            <a:fld id="{CD4A6237-0A5F-42BC-910E-51D2322750C2}" type="slidenum">
              <a:rPr lang="en-US" smtClean="0"/>
              <a:pPr>
                <a:defRPr/>
              </a:pPr>
              <a:t>‹#›</a:t>
            </a:fld>
            <a:endParaRPr lang="en-US"/>
          </a:p>
        </p:txBody>
      </p:sp>
    </p:spTree>
    <p:extLst>
      <p:ext uri="{BB962C8B-B14F-4D97-AF65-F5344CB8AC3E}">
        <p14:creationId xmlns:p14="http://schemas.microsoft.com/office/powerpoint/2010/main" val="2395062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E93C6-14A7-490A-BEA7-8825152263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FB6D1A-6486-4A12-8009-992FF246CE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2022A8-F643-480F-AB15-AD8D1F16A0C1}"/>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E907DD46-54FB-4227-9677-E4457176F61D}"/>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0450B307-226B-4908-847E-CE72D07E13D2}"/>
              </a:ext>
            </a:extLst>
          </p:cNvPr>
          <p:cNvSpPr>
            <a:spLocks noGrp="1"/>
          </p:cNvSpPr>
          <p:nvPr>
            <p:ph type="sldNum" sz="quarter" idx="12"/>
          </p:nvPr>
        </p:nvSpPr>
        <p:spPr/>
        <p:txBody>
          <a:bodyPr/>
          <a:lstStyle/>
          <a:p>
            <a:pPr>
              <a:defRPr/>
            </a:pPr>
            <a:fld id="{916AD72C-C9BF-43FA-8646-3E5E011CFA5E}" type="slidenum">
              <a:rPr lang="en-US" smtClean="0"/>
              <a:pPr>
                <a:defRPr/>
              </a:pPr>
              <a:t>‹#›</a:t>
            </a:fld>
            <a:endParaRPr lang="en-US"/>
          </a:p>
        </p:txBody>
      </p:sp>
    </p:spTree>
    <p:extLst>
      <p:ext uri="{BB962C8B-B14F-4D97-AF65-F5344CB8AC3E}">
        <p14:creationId xmlns:p14="http://schemas.microsoft.com/office/powerpoint/2010/main" val="1374084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56A9E-4598-412D-9FD5-7F9EC52C668E}"/>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BF26A02-38B4-4EEF-886F-61518594FB26}"/>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CBD406-6118-44AF-9448-78F3493E8914}"/>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B9BB78BF-5369-40A6-9A71-7E9B0D624448}"/>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C277C9A-7A22-4B98-A762-747FD1FAA1F8}"/>
              </a:ext>
            </a:extLst>
          </p:cNvPr>
          <p:cNvSpPr>
            <a:spLocks noGrp="1"/>
          </p:cNvSpPr>
          <p:nvPr>
            <p:ph type="sldNum" sz="quarter" idx="12"/>
          </p:nvPr>
        </p:nvSpPr>
        <p:spPr/>
        <p:txBody>
          <a:bodyPr/>
          <a:lstStyle/>
          <a:p>
            <a:pPr>
              <a:defRPr/>
            </a:pPr>
            <a:fld id="{9C5297C2-EA89-45EB-97F9-79F224F57BD2}" type="slidenum">
              <a:rPr lang="en-US" smtClean="0"/>
              <a:pPr>
                <a:defRPr/>
              </a:pPr>
              <a:t>‹#›</a:t>
            </a:fld>
            <a:endParaRPr lang="en-US"/>
          </a:p>
        </p:txBody>
      </p:sp>
    </p:spTree>
    <p:extLst>
      <p:ext uri="{BB962C8B-B14F-4D97-AF65-F5344CB8AC3E}">
        <p14:creationId xmlns:p14="http://schemas.microsoft.com/office/powerpoint/2010/main" val="1648173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22F92-8E9C-41C1-81F1-406BB95ED5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32D63D-B816-47D0-9A1C-B6EF1AEEA28A}"/>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8340D24-D37D-40FD-98D0-81CA3039F5EC}"/>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15C9404-EA54-4864-9BF9-F920971FC856}"/>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9E80193F-5679-4C33-967B-FBCD25167AE2}"/>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230FADF2-BB1D-4B5D-9C59-DAE851552098}"/>
              </a:ext>
            </a:extLst>
          </p:cNvPr>
          <p:cNvSpPr>
            <a:spLocks noGrp="1"/>
          </p:cNvSpPr>
          <p:nvPr>
            <p:ph type="sldNum" sz="quarter" idx="12"/>
          </p:nvPr>
        </p:nvSpPr>
        <p:spPr/>
        <p:txBody>
          <a:bodyPr/>
          <a:lstStyle/>
          <a:p>
            <a:pPr>
              <a:defRPr/>
            </a:pPr>
            <a:fld id="{894ECD91-4445-40AD-BB08-A4CB96F51624}" type="slidenum">
              <a:rPr lang="en-US" smtClean="0"/>
              <a:pPr>
                <a:defRPr/>
              </a:pPr>
              <a:t>‹#›</a:t>
            </a:fld>
            <a:endParaRPr lang="en-US"/>
          </a:p>
        </p:txBody>
      </p:sp>
    </p:spTree>
    <p:extLst>
      <p:ext uri="{BB962C8B-B14F-4D97-AF65-F5344CB8AC3E}">
        <p14:creationId xmlns:p14="http://schemas.microsoft.com/office/powerpoint/2010/main" val="1048253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15ED3-6F6B-46F7-A96C-44752C5ECAA4}"/>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762080-D360-45D2-8C6D-19ADD67EADAB}"/>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03502D7A-38E3-4D6B-8021-0B55F83C126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CF2C3B-C167-4E04-A8ED-E479F4B7550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6E7143A-73E9-4AA9-B091-32C045388CAD}"/>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2C3C5D1-045A-4E08-8760-4397F41A7721}"/>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269A0022-55A0-4D3D-BBF0-7B650F35F3AA}"/>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CEBFA659-54FB-47D8-9179-11C029C521F4}"/>
              </a:ext>
            </a:extLst>
          </p:cNvPr>
          <p:cNvSpPr>
            <a:spLocks noGrp="1"/>
          </p:cNvSpPr>
          <p:nvPr>
            <p:ph type="sldNum" sz="quarter" idx="12"/>
          </p:nvPr>
        </p:nvSpPr>
        <p:spPr/>
        <p:txBody>
          <a:bodyPr/>
          <a:lstStyle/>
          <a:p>
            <a:pPr>
              <a:defRPr/>
            </a:pPr>
            <a:fld id="{996EC7A4-9ADF-49FB-9971-B0330EA2D2B2}" type="slidenum">
              <a:rPr lang="en-US" smtClean="0"/>
              <a:pPr>
                <a:defRPr/>
              </a:pPr>
              <a:t>‹#›</a:t>
            </a:fld>
            <a:endParaRPr lang="en-US"/>
          </a:p>
        </p:txBody>
      </p:sp>
    </p:spTree>
    <p:extLst>
      <p:ext uri="{BB962C8B-B14F-4D97-AF65-F5344CB8AC3E}">
        <p14:creationId xmlns:p14="http://schemas.microsoft.com/office/powerpoint/2010/main" val="2963011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BBE05-FA09-455C-9B99-9B7710936C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E3455BC-5167-4832-BA7B-237CEC6AB1D3}"/>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6B79F167-D557-4952-8F90-53F626FB5E9D}"/>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66483862-529D-42F6-9DE0-B5E2D399BD4E}"/>
              </a:ext>
            </a:extLst>
          </p:cNvPr>
          <p:cNvSpPr>
            <a:spLocks noGrp="1"/>
          </p:cNvSpPr>
          <p:nvPr>
            <p:ph type="sldNum" sz="quarter" idx="12"/>
          </p:nvPr>
        </p:nvSpPr>
        <p:spPr/>
        <p:txBody>
          <a:bodyPr/>
          <a:lstStyle/>
          <a:p>
            <a:pPr>
              <a:defRPr/>
            </a:pPr>
            <a:fld id="{91A21EC3-A3DB-44AC-882D-DFC849C5F437}" type="slidenum">
              <a:rPr lang="en-US" smtClean="0"/>
              <a:pPr>
                <a:defRPr/>
              </a:pPr>
              <a:t>‹#›</a:t>
            </a:fld>
            <a:endParaRPr lang="en-US"/>
          </a:p>
        </p:txBody>
      </p:sp>
    </p:spTree>
    <p:extLst>
      <p:ext uri="{BB962C8B-B14F-4D97-AF65-F5344CB8AC3E}">
        <p14:creationId xmlns:p14="http://schemas.microsoft.com/office/powerpoint/2010/main" val="2988814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D3C7B1-D9EE-4B43-903B-E57DF290ABDA}"/>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588CC852-C5E6-454A-9AB3-5B576DBF9D80}"/>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2F498EB5-67DF-4064-8DE6-65FB1453769E}"/>
              </a:ext>
            </a:extLst>
          </p:cNvPr>
          <p:cNvSpPr>
            <a:spLocks noGrp="1"/>
          </p:cNvSpPr>
          <p:nvPr>
            <p:ph type="sldNum" sz="quarter" idx="12"/>
          </p:nvPr>
        </p:nvSpPr>
        <p:spPr/>
        <p:txBody>
          <a:bodyPr/>
          <a:lstStyle/>
          <a:p>
            <a:pPr>
              <a:defRPr/>
            </a:pPr>
            <a:fld id="{559A21E6-9800-41E7-97E4-96DB6058F91B}" type="slidenum">
              <a:rPr lang="en-US" smtClean="0"/>
              <a:pPr>
                <a:defRPr/>
              </a:pPr>
              <a:t>‹#›</a:t>
            </a:fld>
            <a:endParaRPr lang="en-US"/>
          </a:p>
        </p:txBody>
      </p:sp>
    </p:spTree>
    <p:extLst>
      <p:ext uri="{BB962C8B-B14F-4D97-AF65-F5344CB8AC3E}">
        <p14:creationId xmlns:p14="http://schemas.microsoft.com/office/powerpoint/2010/main" val="1300877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880FE-28BB-43C3-8417-EC6E2E3D60B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BEA12A5-E0AF-4D07-80BC-09FB41904B02}"/>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73F197D-1D75-432B-A16B-201825E234D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E6DCA88-3BE3-46EF-A7E4-8D0465231CC9}"/>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96D23866-E1F3-44A0-A60D-AD19EC58EAD4}"/>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ED782309-51FC-4CB7-9F6F-74FC98C92FB5}"/>
              </a:ext>
            </a:extLst>
          </p:cNvPr>
          <p:cNvSpPr>
            <a:spLocks noGrp="1"/>
          </p:cNvSpPr>
          <p:nvPr>
            <p:ph type="sldNum" sz="quarter" idx="12"/>
          </p:nvPr>
        </p:nvSpPr>
        <p:spPr/>
        <p:txBody>
          <a:bodyPr/>
          <a:lstStyle/>
          <a:p>
            <a:pPr>
              <a:defRPr/>
            </a:pPr>
            <a:fld id="{968D52EE-987B-4EA2-8207-0A0D65484823}" type="slidenum">
              <a:rPr lang="en-US" smtClean="0"/>
              <a:pPr>
                <a:defRPr/>
              </a:pPr>
              <a:t>‹#›</a:t>
            </a:fld>
            <a:endParaRPr lang="en-US"/>
          </a:p>
        </p:txBody>
      </p:sp>
    </p:spTree>
    <p:extLst>
      <p:ext uri="{BB962C8B-B14F-4D97-AF65-F5344CB8AC3E}">
        <p14:creationId xmlns:p14="http://schemas.microsoft.com/office/powerpoint/2010/main" val="3213352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EDBD-5944-49BA-96CF-916A19A93C0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4399E4-AACE-4DCB-84C6-A5E07389B76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3787551F-DE2C-4B06-BB86-53BEF14BDAC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E94D263-F5C6-44AB-9F35-4B876821B28F}"/>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8056397B-4ADF-459B-8BFF-CB775218BE8F}"/>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1333DA26-4CC7-49AB-83F5-CC75930B5A86}"/>
              </a:ext>
            </a:extLst>
          </p:cNvPr>
          <p:cNvSpPr>
            <a:spLocks noGrp="1"/>
          </p:cNvSpPr>
          <p:nvPr>
            <p:ph type="sldNum" sz="quarter" idx="12"/>
          </p:nvPr>
        </p:nvSpPr>
        <p:spPr/>
        <p:txBody>
          <a:bodyPr/>
          <a:lstStyle/>
          <a:p>
            <a:pPr>
              <a:defRPr/>
            </a:pPr>
            <a:fld id="{7646C736-1C55-461B-ADDC-F6BE5CF456BA}" type="slidenum">
              <a:rPr lang="en-US" smtClean="0"/>
              <a:pPr>
                <a:defRPr/>
              </a:pPr>
              <a:t>‹#›</a:t>
            </a:fld>
            <a:endParaRPr lang="en-US"/>
          </a:p>
        </p:txBody>
      </p:sp>
    </p:spTree>
    <p:extLst>
      <p:ext uri="{BB962C8B-B14F-4D97-AF65-F5344CB8AC3E}">
        <p14:creationId xmlns:p14="http://schemas.microsoft.com/office/powerpoint/2010/main" val="62352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C7DE4-1342-47E5-B38E-62209536B4E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0985AC-B985-4E4A-9915-9E625BEC2F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711066-53B7-43D4-A54A-6AC1308FD3D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BED16633-E8CD-4EC5-AF85-7CD4A49D71AA}"/>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2E41636E-9462-4E0D-941C-BB94ADCCC3A9}"/>
              </a:ext>
            </a:extLst>
          </p:cNvPr>
          <p:cNvSpPr>
            <a:spLocks noGrp="1"/>
          </p:cNvSpPr>
          <p:nvPr>
            <p:ph type="sldNum" sz="quarter" idx="12"/>
          </p:nvPr>
        </p:nvSpPr>
        <p:spPr/>
        <p:txBody>
          <a:bodyPr/>
          <a:lstStyle/>
          <a:p>
            <a:pPr>
              <a:defRPr/>
            </a:pPr>
            <a:fld id="{01F9B691-87A5-40B0-9DDE-C8EA0A292B7D}" type="slidenum">
              <a:rPr lang="en-US" smtClean="0"/>
              <a:pPr>
                <a:defRPr/>
              </a:pPr>
              <a:t>‹#›</a:t>
            </a:fld>
            <a:endParaRPr lang="en-US"/>
          </a:p>
        </p:txBody>
      </p:sp>
    </p:spTree>
    <p:extLst>
      <p:ext uri="{BB962C8B-B14F-4D97-AF65-F5344CB8AC3E}">
        <p14:creationId xmlns:p14="http://schemas.microsoft.com/office/powerpoint/2010/main" val="252207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56267C-7BBD-4117-A9FE-AB8906C0B97D}"/>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DA5DCB-55D3-48F1-8F8C-53CE6DCF5F20}"/>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11067D-8304-4570-8CB4-7D36F69EE7B1}"/>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AEC3BDF7-BD14-4694-A658-38C597B1EA41}"/>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37EF8F9-DA79-4569-99A8-34F0E4880166}"/>
              </a:ext>
            </a:extLst>
          </p:cNvPr>
          <p:cNvSpPr>
            <a:spLocks noGrp="1"/>
          </p:cNvSpPr>
          <p:nvPr>
            <p:ph type="sldNum" sz="quarter" idx="12"/>
          </p:nvPr>
        </p:nvSpPr>
        <p:spPr/>
        <p:txBody>
          <a:bodyPr/>
          <a:lstStyle/>
          <a:p>
            <a:pPr>
              <a:defRPr/>
            </a:pPr>
            <a:fld id="{1512A05E-40C6-4BF9-888C-25617D7835CB}" type="slidenum">
              <a:rPr lang="en-US" smtClean="0"/>
              <a:pPr>
                <a:defRPr/>
              </a:pPr>
              <a:t>‹#›</a:t>
            </a:fld>
            <a:endParaRPr lang="en-US"/>
          </a:p>
        </p:txBody>
      </p:sp>
    </p:spTree>
    <p:extLst>
      <p:ext uri="{BB962C8B-B14F-4D97-AF65-F5344CB8AC3E}">
        <p14:creationId xmlns:p14="http://schemas.microsoft.com/office/powerpoint/2010/main" val="2865892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5BD717-9B66-40A3-B2EF-9049E0BF32F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B85CBA-2966-4BFA-8C7F-7C81F3FA18F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B049D1-1095-49A8-BBA9-7235906FC79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EA7592D0-A224-41BD-8EB5-666428FD237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5A7EAD25-F31D-4FF1-8F87-6FD32085B75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FB944E73-F787-4E6B-B9A8-4B4DB2A5C479}" type="slidenum">
              <a:rPr lang="en-US" smtClean="0"/>
              <a:pPr>
                <a:defRPr/>
              </a:pPr>
              <a:t>‹#›</a:t>
            </a:fld>
            <a:endParaRPr lang="en-US"/>
          </a:p>
        </p:txBody>
      </p:sp>
    </p:spTree>
    <p:extLst>
      <p:ext uri="{BB962C8B-B14F-4D97-AF65-F5344CB8AC3E}">
        <p14:creationId xmlns:p14="http://schemas.microsoft.com/office/powerpoint/2010/main" val="152449999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083" name="Line 3"/>
          <p:cNvSpPr>
            <a:spLocks noChangeShapeType="1"/>
          </p:cNvSpPr>
          <p:nvPr/>
        </p:nvSpPr>
        <p:spPr bwMode="auto">
          <a:xfrm>
            <a:off x="-19050" y="6172200"/>
            <a:ext cx="9144000" cy="0"/>
          </a:xfrm>
          <a:prstGeom prst="line">
            <a:avLst/>
          </a:prstGeom>
          <a:noFill/>
          <a:ln w="15875">
            <a:solidFill>
              <a:srgbClr val="996633"/>
            </a:solidFill>
            <a:round/>
            <a:headEnd/>
            <a:tailEnd/>
          </a:ln>
          <a:effectLst>
            <a:outerShdw dist="45791" dir="3378596" algn="ctr" rotWithShape="0">
              <a:srgbClr val="4D4D4D"/>
            </a:outerShdw>
          </a:effectLst>
        </p:spPr>
        <p:txBody>
          <a:bodyPr/>
          <a:lstStyle/>
          <a:p>
            <a:pPr>
              <a:defRPr/>
            </a:pPr>
            <a:endParaRPr lang="en-US"/>
          </a:p>
        </p:txBody>
      </p:sp>
      <p:sp>
        <p:nvSpPr>
          <p:cNvPr id="814084" name="Line 4"/>
          <p:cNvSpPr>
            <a:spLocks noChangeShapeType="1"/>
          </p:cNvSpPr>
          <p:nvPr/>
        </p:nvSpPr>
        <p:spPr bwMode="auto">
          <a:xfrm>
            <a:off x="0" y="1085850"/>
            <a:ext cx="9144000" cy="0"/>
          </a:xfrm>
          <a:prstGeom prst="line">
            <a:avLst/>
          </a:prstGeom>
          <a:noFill/>
          <a:ln w="15875">
            <a:solidFill>
              <a:srgbClr val="996633"/>
            </a:solidFill>
            <a:round/>
            <a:headEnd/>
            <a:tailEnd/>
          </a:ln>
          <a:effectLst>
            <a:outerShdw dist="45791" dir="3378596" algn="ctr" rotWithShape="0">
              <a:srgbClr val="4D4D4D"/>
            </a:outerShdw>
          </a:effectLst>
        </p:spPr>
        <p:txBody>
          <a:bodyPr/>
          <a:lstStyle/>
          <a:p>
            <a:pPr>
              <a:defRPr/>
            </a:pPr>
            <a:endParaRPr lang="en-US"/>
          </a:p>
        </p:txBody>
      </p:sp>
      <p:sp>
        <p:nvSpPr>
          <p:cNvPr id="814085" name="Text Box 5" descr="70%"/>
          <p:cNvSpPr txBox="1">
            <a:spLocks noChangeArrowheads="1"/>
          </p:cNvSpPr>
          <p:nvPr/>
        </p:nvSpPr>
        <p:spPr bwMode="auto">
          <a:xfrm>
            <a:off x="4495800" y="4114800"/>
            <a:ext cx="3657600" cy="457200"/>
          </a:xfrm>
          <a:prstGeom prst="rect">
            <a:avLst/>
          </a:prstGeom>
          <a:noFill/>
          <a:ln w="9525">
            <a:noFill/>
            <a:miter lim="800000"/>
            <a:headEnd/>
            <a:tailEnd/>
          </a:ln>
        </p:spPr>
        <p:txBody>
          <a:bodyPr>
            <a:spAutoFit/>
          </a:bodyPr>
          <a:lstStyle/>
          <a:p>
            <a:pPr>
              <a:spcBef>
                <a:spcPct val="50000"/>
              </a:spcBef>
            </a:pPr>
            <a:r>
              <a:rPr lang="en-US" b="1">
                <a:solidFill>
                  <a:srgbClr val="FFFF00"/>
                </a:solidFill>
              </a:rPr>
              <a:t>Yellow</a:t>
            </a:r>
            <a:r>
              <a:rPr lang="en-US" b="1">
                <a:solidFill>
                  <a:srgbClr val="339933"/>
                </a:solidFill>
              </a:rPr>
              <a:t> </a:t>
            </a:r>
            <a:r>
              <a:rPr lang="en-US" b="1">
                <a:solidFill>
                  <a:schemeClr val="bg2"/>
                </a:solidFill>
              </a:rPr>
              <a:t>or</a:t>
            </a:r>
            <a:r>
              <a:rPr lang="en-US"/>
              <a:t> </a:t>
            </a:r>
            <a:r>
              <a:rPr lang="en-US" b="1">
                <a:solidFill>
                  <a:srgbClr val="339933"/>
                </a:solidFill>
              </a:rPr>
              <a:t>Green</a:t>
            </a:r>
            <a:r>
              <a:rPr lang="en-US" b="1">
                <a:solidFill>
                  <a:schemeClr val="bg2"/>
                </a:solidFill>
              </a:rPr>
              <a:t> or </a:t>
            </a:r>
            <a:r>
              <a:rPr lang="en-US" b="1">
                <a:solidFill>
                  <a:srgbClr val="FF5050"/>
                </a:solidFill>
              </a:rPr>
              <a:t>red </a:t>
            </a:r>
            <a:r>
              <a:rPr lang="en-US" b="1">
                <a:solidFill>
                  <a:schemeClr val="bg2"/>
                </a:solidFill>
              </a:rPr>
              <a:t>?</a:t>
            </a:r>
          </a:p>
        </p:txBody>
      </p:sp>
      <p:sp>
        <p:nvSpPr>
          <p:cNvPr id="814095" name="WordArt 15"/>
          <p:cNvSpPr>
            <a:spLocks noChangeArrowheads="1" noChangeShapeType="1" noTextEdit="1"/>
          </p:cNvSpPr>
          <p:nvPr/>
        </p:nvSpPr>
        <p:spPr bwMode="auto">
          <a:xfrm>
            <a:off x="2971800" y="2743200"/>
            <a:ext cx="4038600" cy="1295400"/>
          </a:xfrm>
          <a:prstGeom prst="rect">
            <a:avLst/>
          </a:prstGeom>
        </p:spPr>
        <p:txBody>
          <a:bodyPr wrap="none" fromWordArt="1">
            <a:prstTxWarp prst="textWave2">
              <a:avLst>
                <a:gd name="adj1" fmla="val 9435"/>
                <a:gd name="adj2" fmla="val 0"/>
              </a:avLst>
            </a:prstTxWarp>
          </a:bodyPr>
          <a:lstStyle/>
          <a:p>
            <a:pPr algn="ctr"/>
            <a:r>
              <a:rPr lang="en-US" sz="4000" b="1" i="1" kern="10" spc="800">
                <a:ln w="15875">
                  <a:solidFill>
                    <a:srgbClr val="996633"/>
                  </a:solidFill>
                  <a:round/>
                  <a:headEnd/>
                  <a:tailEnd/>
                </a:ln>
                <a:gradFill rotWithShape="1">
                  <a:gsLst>
                    <a:gs pos="0">
                      <a:srgbClr val="AAAAAA"/>
                    </a:gs>
                    <a:gs pos="100000">
                      <a:srgbClr val="FFFFFF"/>
                    </a:gs>
                  </a:gsLst>
                  <a:lin ang="5400000" scaled="1"/>
                </a:gradFill>
                <a:effectLst>
                  <a:outerShdw dist="45791" dir="3378596" algn="ctr" rotWithShape="0">
                    <a:srgbClr val="4D4D4D"/>
                  </a:outerShdw>
                </a:effectLst>
                <a:latin typeface="Arial Black"/>
              </a:rPr>
              <a:t>Signals</a:t>
            </a: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14085"/>
                                        </p:tgtEl>
                                        <p:attrNameLst>
                                          <p:attrName>style.visibility</p:attrName>
                                        </p:attrNameLst>
                                      </p:cBhvr>
                                      <p:to>
                                        <p:strVal val="visible"/>
                                      </p:to>
                                    </p:set>
                                    <p:animEffect transition="in" filter="dissolve">
                                      <p:cBhvr>
                                        <p:cTn id="7" dur="500"/>
                                        <p:tgtEl>
                                          <p:spTgt spid="814085"/>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814084"/>
                                        </p:tgtEl>
                                        <p:attrNameLst>
                                          <p:attrName>style.visibility</p:attrName>
                                        </p:attrNameLst>
                                      </p:cBhvr>
                                      <p:to>
                                        <p:strVal val="visible"/>
                                      </p:to>
                                    </p:set>
                                    <p:anim calcmode="lin" valueType="num">
                                      <p:cBhvr additive="base">
                                        <p:cTn id="11" dur="500" fill="hold"/>
                                        <p:tgtEl>
                                          <p:spTgt spid="814084"/>
                                        </p:tgtEl>
                                        <p:attrNameLst>
                                          <p:attrName>ppt_x</p:attrName>
                                        </p:attrNameLst>
                                      </p:cBhvr>
                                      <p:tavLst>
                                        <p:tav tm="0">
                                          <p:val>
                                            <p:strVal val="0-#ppt_w/2"/>
                                          </p:val>
                                        </p:tav>
                                        <p:tav tm="100000">
                                          <p:val>
                                            <p:strVal val="#ppt_x"/>
                                          </p:val>
                                        </p:tav>
                                      </p:tavLst>
                                    </p:anim>
                                    <p:anim calcmode="lin" valueType="num">
                                      <p:cBhvr additive="base">
                                        <p:cTn id="12" dur="500" fill="hold"/>
                                        <p:tgtEl>
                                          <p:spTgt spid="814084"/>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814083"/>
                                        </p:tgtEl>
                                        <p:attrNameLst>
                                          <p:attrName>style.visibility</p:attrName>
                                        </p:attrNameLst>
                                      </p:cBhvr>
                                      <p:to>
                                        <p:strVal val="visible"/>
                                      </p:to>
                                    </p:set>
                                    <p:anim calcmode="lin" valueType="num">
                                      <p:cBhvr additive="base">
                                        <p:cTn id="16" dur="500" fill="hold"/>
                                        <p:tgtEl>
                                          <p:spTgt spid="814083"/>
                                        </p:tgtEl>
                                        <p:attrNameLst>
                                          <p:attrName>ppt_x</p:attrName>
                                        </p:attrNameLst>
                                      </p:cBhvr>
                                      <p:tavLst>
                                        <p:tav tm="0">
                                          <p:val>
                                            <p:strVal val="1+#ppt_w/2"/>
                                          </p:val>
                                        </p:tav>
                                        <p:tav tm="100000">
                                          <p:val>
                                            <p:strVal val="#ppt_x"/>
                                          </p:val>
                                        </p:tav>
                                      </p:tavLst>
                                    </p:anim>
                                    <p:anim calcmode="lin" valueType="num">
                                      <p:cBhvr additive="base">
                                        <p:cTn id="17" dur="500" fill="hold"/>
                                        <p:tgtEl>
                                          <p:spTgt spid="814083"/>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6" presetClass="entr" presetSubtype="21" fill="hold" grpId="0" nodeType="afterEffect">
                                  <p:stCondLst>
                                    <p:cond delay="0"/>
                                  </p:stCondLst>
                                  <p:childTnLst>
                                    <p:set>
                                      <p:cBhvr>
                                        <p:cTn id="20" dur="1" fill="hold">
                                          <p:stCondLst>
                                            <p:cond delay="0"/>
                                          </p:stCondLst>
                                        </p:cTn>
                                        <p:tgtEl>
                                          <p:spTgt spid="814095"/>
                                        </p:tgtEl>
                                        <p:attrNameLst>
                                          <p:attrName>style.visibility</p:attrName>
                                        </p:attrNameLst>
                                      </p:cBhvr>
                                      <p:to>
                                        <p:strVal val="visible"/>
                                      </p:to>
                                    </p:set>
                                    <p:animEffect transition="in" filter="barn(inVertical)">
                                      <p:cBhvr>
                                        <p:cTn id="21" dur="500"/>
                                        <p:tgtEl>
                                          <p:spTgt spid="814095"/>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4085" grpId="0" autoUpdateAnimBg="0"/>
      <p:bldP spid="81409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Text Box 3" descr="70%"/>
          <p:cNvSpPr txBox="1">
            <a:spLocks noChangeArrowheads="1"/>
          </p:cNvSpPr>
          <p:nvPr/>
        </p:nvSpPr>
        <p:spPr bwMode="auto">
          <a:xfrm>
            <a:off x="228600" y="1447800"/>
            <a:ext cx="8839200" cy="1015663"/>
          </a:xfrm>
          <a:prstGeom prst="rect">
            <a:avLst/>
          </a:prstGeom>
          <a:noFill/>
          <a:ln w="9525">
            <a:noFill/>
            <a:miter lim="800000"/>
            <a:headEnd/>
            <a:tailEnd/>
          </a:ln>
        </p:spPr>
        <p:txBody>
          <a:bodyPr wrap="square">
            <a:spAutoFit/>
          </a:bodyPr>
          <a:lstStyle/>
          <a:p>
            <a:pPr>
              <a:spcBef>
                <a:spcPct val="50000"/>
              </a:spcBef>
              <a:buClr>
                <a:srgbClr val="339933"/>
              </a:buClr>
              <a:buFont typeface="Wingdings" pitchFamily="2" charset="2"/>
              <a:buChar char="Ø"/>
            </a:pPr>
            <a:r>
              <a:rPr lang="en-US" sz="2400" dirty="0"/>
              <a:t>It is an event generated by system, based on a condition</a:t>
            </a:r>
          </a:p>
          <a:p>
            <a:pPr>
              <a:spcBef>
                <a:spcPct val="50000"/>
              </a:spcBef>
              <a:buClr>
                <a:srgbClr val="339933"/>
              </a:buClr>
              <a:buFont typeface="Wingdings" pitchFamily="2" charset="2"/>
              <a:buChar char="Ø"/>
            </a:pPr>
            <a:r>
              <a:rPr lang="en-US" sz="2400" dirty="0"/>
              <a:t>It is a short message that is sent to a process or group  of processes</a:t>
            </a:r>
          </a:p>
        </p:txBody>
      </p:sp>
      <p:sp>
        <p:nvSpPr>
          <p:cNvPr id="815108" name="Text Box 4" descr="70%"/>
          <p:cNvSpPr txBox="1">
            <a:spLocks noChangeArrowheads="1"/>
          </p:cNvSpPr>
          <p:nvPr/>
        </p:nvSpPr>
        <p:spPr bwMode="auto">
          <a:xfrm>
            <a:off x="304800" y="3048000"/>
            <a:ext cx="2209800" cy="519112"/>
          </a:xfrm>
          <a:prstGeom prst="rect">
            <a:avLst/>
          </a:prstGeom>
          <a:noFill/>
          <a:ln w="9525">
            <a:noFill/>
            <a:miter lim="800000"/>
            <a:headEnd/>
            <a:tailEnd/>
          </a:ln>
          <a:effectLst/>
        </p:spPr>
        <p:txBody>
          <a:bodyPr>
            <a:spAutoFit/>
          </a:bodyPr>
          <a:lstStyle/>
          <a:p>
            <a:pPr>
              <a:spcBef>
                <a:spcPct val="50000"/>
              </a:spcBef>
              <a:defRPr/>
            </a:pPr>
            <a:r>
              <a:rPr lang="en-US" sz="2800" b="1" i="1" u="sng">
                <a:solidFill>
                  <a:srgbClr val="339933"/>
                </a:solidFill>
                <a:effectLst>
                  <a:outerShdw blurRad="38100" dist="38100" dir="2700000" algn="tl">
                    <a:srgbClr val="C0C0C0"/>
                  </a:outerShdw>
                </a:effectLst>
              </a:rPr>
              <a:t>PURPOSE</a:t>
            </a:r>
          </a:p>
        </p:txBody>
      </p:sp>
      <p:sp>
        <p:nvSpPr>
          <p:cNvPr id="253956" name="Text Box 5" descr="70%"/>
          <p:cNvSpPr txBox="1">
            <a:spLocks noChangeArrowheads="1"/>
          </p:cNvSpPr>
          <p:nvPr/>
        </p:nvSpPr>
        <p:spPr bwMode="auto">
          <a:xfrm>
            <a:off x="228600" y="3751262"/>
            <a:ext cx="8839200" cy="1015663"/>
          </a:xfrm>
          <a:prstGeom prst="rect">
            <a:avLst/>
          </a:prstGeom>
          <a:noFill/>
          <a:ln w="9525">
            <a:noFill/>
            <a:miter lim="800000"/>
            <a:headEnd/>
            <a:tailEnd/>
          </a:ln>
        </p:spPr>
        <p:txBody>
          <a:bodyPr>
            <a:spAutoFit/>
          </a:bodyPr>
          <a:lstStyle/>
          <a:p>
            <a:pPr>
              <a:spcBef>
                <a:spcPct val="50000"/>
              </a:spcBef>
              <a:buClr>
                <a:srgbClr val="339933"/>
              </a:buClr>
              <a:buFont typeface="Wingdings" pitchFamily="2" charset="2"/>
              <a:buChar char="Ø"/>
            </a:pPr>
            <a:r>
              <a:rPr lang="en-US" sz="2400" dirty="0"/>
              <a:t>To make a process aware that specific event has occurred</a:t>
            </a:r>
          </a:p>
          <a:p>
            <a:pPr>
              <a:spcBef>
                <a:spcPct val="50000"/>
              </a:spcBef>
              <a:buClr>
                <a:srgbClr val="339933"/>
              </a:buClr>
              <a:buFont typeface="Wingdings" pitchFamily="2" charset="2"/>
              <a:buChar char="Ø"/>
            </a:pPr>
            <a:r>
              <a:rPr lang="en-US" sz="2400" dirty="0"/>
              <a:t>To force a process to execute a signal handler</a:t>
            </a:r>
          </a:p>
        </p:txBody>
      </p:sp>
      <p:sp>
        <p:nvSpPr>
          <p:cNvPr id="815117" name="Rectangle 13"/>
          <p:cNvSpPr>
            <a:spLocks noGrp="1" noChangeArrowheads="1"/>
          </p:cNvSpPr>
          <p:nvPr>
            <p:ph type="title" idx="4294967295"/>
          </p:nvPr>
        </p:nvSpPr>
        <p:spPr>
          <a:xfrm>
            <a:off x="0" y="228600"/>
            <a:ext cx="7772400" cy="1143000"/>
          </a:xfrm>
        </p:spPr>
        <p:txBody>
          <a:bodyPr/>
          <a:lstStyle/>
          <a:p>
            <a:pPr eaLnBrk="1" hangingPunct="1">
              <a:defRPr/>
            </a:pPr>
            <a:r>
              <a:rPr lang="en-US" b="1" i="1" dirty="0">
                <a:solidFill>
                  <a:srgbClr val="339933"/>
                </a:solidFill>
                <a:effectLst>
                  <a:outerShdw blurRad="38100" dist="38100" dir="2700000" algn="tl">
                    <a:srgbClr val="C0C0C0"/>
                  </a:outerShdw>
                </a:effectLst>
              </a:rPr>
              <a:t>What are signals?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95600" y="228600"/>
            <a:ext cx="3657600" cy="461665"/>
          </a:xfrm>
          <a:prstGeom prst="rect">
            <a:avLst/>
          </a:prstGeom>
        </p:spPr>
        <p:txBody>
          <a:bodyPr wrap="square">
            <a:spAutoFit/>
          </a:bodyPr>
          <a:lstStyle/>
          <a:p>
            <a:r>
              <a:rPr lang="en-US" b="1" dirty="0"/>
              <a:t>Signal Sources</a:t>
            </a:r>
            <a:endParaRPr lang="en-US" dirty="0"/>
          </a:p>
        </p:txBody>
      </p:sp>
      <p:pic>
        <p:nvPicPr>
          <p:cNvPr id="1026" name="Picture 2"/>
          <p:cNvPicPr>
            <a:picLocks noChangeAspect="1" noChangeArrowheads="1"/>
          </p:cNvPicPr>
          <p:nvPr/>
        </p:nvPicPr>
        <p:blipFill>
          <a:blip r:embed="rId2"/>
          <a:srcRect/>
          <a:stretch>
            <a:fillRect/>
          </a:stretch>
        </p:blipFill>
        <p:spPr bwMode="auto">
          <a:xfrm>
            <a:off x="457200" y="1295400"/>
            <a:ext cx="4648200" cy="4095750"/>
          </a:xfrm>
          <a:prstGeom prst="rect">
            <a:avLst/>
          </a:prstGeom>
          <a:noFill/>
          <a:ln w="9525">
            <a:noFill/>
            <a:miter lim="800000"/>
            <a:headEnd/>
            <a:tailEnd/>
          </a:ln>
          <a:effectLst/>
        </p:spPr>
      </p:pic>
      <p:sp>
        <p:nvSpPr>
          <p:cNvPr id="4" name="Rectangle 3"/>
          <p:cNvSpPr/>
          <p:nvPr/>
        </p:nvSpPr>
        <p:spPr>
          <a:xfrm>
            <a:off x="5105400" y="914400"/>
            <a:ext cx="3886200" cy="2031325"/>
          </a:xfrm>
          <a:prstGeom prst="rect">
            <a:avLst/>
          </a:prstGeom>
          <a:solidFill>
            <a:srgbClr val="339933"/>
          </a:solidFill>
        </p:spPr>
        <p:txBody>
          <a:bodyPr wrap="square">
            <a:spAutoFit/>
          </a:bodyPr>
          <a:lstStyle/>
          <a:p>
            <a:r>
              <a:rPr lang="en-US" b="1" dirty="0"/>
              <a:t>Signal Sources:</a:t>
            </a:r>
          </a:p>
          <a:p>
            <a:r>
              <a:rPr lang="en-US" b="1" dirty="0"/>
              <a:t>-&gt;Hardware (CPU) - division by zero</a:t>
            </a:r>
          </a:p>
          <a:p>
            <a:r>
              <a:rPr lang="en-US" b="1" dirty="0"/>
              <a:t>-&gt;Kernel – Notifying an I/O device for which a process is waiting</a:t>
            </a:r>
          </a:p>
          <a:p>
            <a:r>
              <a:rPr lang="en-US" b="1" dirty="0"/>
              <a:t>-&gt;Other Processes – a child notifies its parent that it has terminated</a:t>
            </a:r>
          </a:p>
          <a:p>
            <a:r>
              <a:rPr lang="en-US" b="1" dirty="0"/>
              <a:t>-&gt;User – key press (</a:t>
            </a:r>
            <a:r>
              <a:rPr lang="en-US" b="1" i="1" dirty="0"/>
              <a:t>i.e., Ctrl-C)</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Text Box 3" descr="70%"/>
          <p:cNvSpPr txBox="1">
            <a:spLocks noChangeArrowheads="1"/>
          </p:cNvSpPr>
          <p:nvPr/>
        </p:nvSpPr>
        <p:spPr bwMode="auto">
          <a:xfrm>
            <a:off x="76200" y="1447800"/>
            <a:ext cx="9067800" cy="3970318"/>
          </a:xfrm>
          <a:prstGeom prst="rect">
            <a:avLst/>
          </a:prstGeom>
          <a:noFill/>
          <a:ln w="9525">
            <a:noFill/>
            <a:miter lim="800000"/>
            <a:headEnd/>
            <a:tailEnd/>
          </a:ln>
        </p:spPr>
        <p:txBody>
          <a:bodyPr wrap="square">
            <a:spAutoFit/>
          </a:bodyPr>
          <a:lstStyle/>
          <a:p>
            <a:pPr>
              <a:spcBef>
                <a:spcPct val="50000"/>
              </a:spcBef>
              <a:buClr>
                <a:srgbClr val="339933"/>
              </a:buClr>
              <a:buFont typeface="Wingdings" pitchFamily="2" charset="2"/>
              <a:buChar char="Ø"/>
            </a:pPr>
            <a:r>
              <a:rPr lang="en-US" sz="2800" dirty="0"/>
              <a:t>Signals are software interrupts</a:t>
            </a:r>
          </a:p>
          <a:p>
            <a:pPr>
              <a:spcBef>
                <a:spcPct val="50000"/>
              </a:spcBef>
              <a:buClr>
                <a:srgbClr val="339933"/>
              </a:buClr>
              <a:buFont typeface="Wingdings" pitchFamily="2" charset="2"/>
              <a:buChar char="Ø"/>
            </a:pPr>
            <a:r>
              <a:rPr lang="en-US" sz="2800" dirty="0"/>
              <a:t>There are 31 unique signals representing different events</a:t>
            </a:r>
          </a:p>
          <a:p>
            <a:pPr>
              <a:spcBef>
                <a:spcPct val="50000"/>
              </a:spcBef>
              <a:buClr>
                <a:srgbClr val="339933"/>
              </a:buClr>
              <a:buFont typeface="Wingdings" pitchFamily="2" charset="2"/>
              <a:buChar char="Ø"/>
            </a:pPr>
            <a:r>
              <a:rPr lang="en-US" sz="2800" dirty="0"/>
              <a:t>No signal has the number </a:t>
            </a:r>
            <a:r>
              <a:rPr lang="en-US" sz="2800" i="1" dirty="0"/>
              <a:t>zero</a:t>
            </a:r>
            <a:endParaRPr lang="en-US" sz="2800" dirty="0"/>
          </a:p>
          <a:p>
            <a:pPr>
              <a:spcBef>
                <a:spcPct val="50000"/>
              </a:spcBef>
              <a:buClr>
                <a:srgbClr val="339933"/>
              </a:buClr>
              <a:buFont typeface="Wingdings" pitchFamily="2" charset="2"/>
              <a:buChar char="Ø"/>
            </a:pPr>
            <a:r>
              <a:rPr lang="en-US" sz="2800" dirty="0"/>
              <a:t>A set of macros whose name starts with ‘ SIG ‘ is used to identify signals </a:t>
            </a:r>
          </a:p>
          <a:p>
            <a:pPr>
              <a:spcBef>
                <a:spcPct val="50000"/>
              </a:spcBef>
              <a:buClr>
                <a:srgbClr val="339933"/>
              </a:buClr>
              <a:buFont typeface="Wingdings" pitchFamily="2" charset="2"/>
              <a:buChar char="Ø"/>
            </a:pPr>
            <a:r>
              <a:rPr lang="en-US" sz="2800" dirty="0"/>
              <a:t>All signals have some default actions that are abort, stop, dump, ignore etc.   </a:t>
            </a:r>
          </a:p>
        </p:txBody>
      </p:sp>
      <p:sp>
        <p:nvSpPr>
          <p:cNvPr id="816139" name="Rectangle 11"/>
          <p:cNvSpPr>
            <a:spLocks noGrp="1" noChangeArrowheads="1"/>
          </p:cNvSpPr>
          <p:nvPr>
            <p:ph type="title" idx="4294967295"/>
          </p:nvPr>
        </p:nvSpPr>
        <p:spPr>
          <a:xfrm>
            <a:off x="0" y="304800"/>
            <a:ext cx="7010400" cy="914400"/>
          </a:xfrm>
        </p:spPr>
        <p:txBody>
          <a:bodyPr/>
          <a:lstStyle/>
          <a:p>
            <a:pPr eaLnBrk="1" hangingPunct="1">
              <a:defRPr/>
            </a:pPr>
            <a:r>
              <a:rPr lang="en-US" b="1" i="1" dirty="0">
                <a:solidFill>
                  <a:srgbClr val="339933"/>
                </a:solidFill>
                <a:effectLst>
                  <a:outerShdw blurRad="38100" dist="38100" dir="2700000" algn="tl">
                    <a:srgbClr val="C0C0C0"/>
                  </a:outerShdw>
                </a:effectLst>
              </a:rPr>
              <a:t>Introduction of signals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Text Box 3" descr="70%"/>
          <p:cNvSpPr txBox="1">
            <a:spLocks noChangeArrowheads="1"/>
          </p:cNvSpPr>
          <p:nvPr/>
        </p:nvSpPr>
        <p:spPr bwMode="auto">
          <a:xfrm>
            <a:off x="381000" y="1624013"/>
            <a:ext cx="8610600" cy="519112"/>
          </a:xfrm>
          <a:prstGeom prst="rect">
            <a:avLst/>
          </a:prstGeom>
          <a:noFill/>
          <a:ln w="9525">
            <a:noFill/>
            <a:miter lim="800000"/>
            <a:headEnd/>
            <a:tailEnd/>
          </a:ln>
        </p:spPr>
        <p:txBody>
          <a:bodyPr>
            <a:spAutoFit/>
          </a:bodyPr>
          <a:lstStyle/>
          <a:p>
            <a:pPr>
              <a:spcBef>
                <a:spcPct val="50000"/>
              </a:spcBef>
              <a:buClr>
                <a:srgbClr val="339933"/>
              </a:buClr>
              <a:buFont typeface="Wingdings" pitchFamily="2" charset="2"/>
              <a:buChar char="Ø"/>
            </a:pPr>
            <a:endParaRPr lang="en-US" sz="2800">
              <a:solidFill>
                <a:schemeClr val="bg2"/>
              </a:solidFill>
            </a:endParaRPr>
          </a:p>
        </p:txBody>
      </p:sp>
      <p:sp>
        <p:nvSpPr>
          <p:cNvPr id="256003" name="Text Box 4" descr="70%"/>
          <p:cNvSpPr txBox="1">
            <a:spLocks noChangeArrowheads="1"/>
          </p:cNvSpPr>
          <p:nvPr/>
        </p:nvSpPr>
        <p:spPr bwMode="auto">
          <a:xfrm>
            <a:off x="152400" y="762000"/>
            <a:ext cx="8839200" cy="5909310"/>
          </a:xfrm>
          <a:prstGeom prst="rect">
            <a:avLst/>
          </a:prstGeom>
          <a:noFill/>
          <a:ln w="9525">
            <a:noFill/>
            <a:miter lim="800000"/>
            <a:headEnd/>
            <a:tailEnd/>
          </a:ln>
        </p:spPr>
        <p:txBody>
          <a:bodyPr wrap="square">
            <a:spAutoFit/>
          </a:bodyPr>
          <a:lstStyle/>
          <a:p>
            <a:pPr>
              <a:spcBef>
                <a:spcPct val="50000"/>
              </a:spcBef>
              <a:buClr>
                <a:srgbClr val="339933"/>
              </a:buClr>
              <a:buFont typeface="Wingdings" pitchFamily="2" charset="2"/>
              <a:buChar char="Ø"/>
            </a:pPr>
            <a:r>
              <a:rPr lang="en-US" sz="2800" dirty="0"/>
              <a:t>A signal  affects a running process state </a:t>
            </a:r>
          </a:p>
          <a:p>
            <a:pPr>
              <a:spcBef>
                <a:spcPct val="50000"/>
              </a:spcBef>
              <a:buClr>
                <a:srgbClr val="339933"/>
              </a:buClr>
              <a:buFont typeface="Wingdings" pitchFamily="2" charset="2"/>
              <a:buChar char="Ø"/>
            </a:pPr>
            <a:r>
              <a:rPr lang="en-US" sz="2800" dirty="0"/>
              <a:t> To send a signal, sending process must have permissions to do so</a:t>
            </a:r>
          </a:p>
          <a:p>
            <a:pPr>
              <a:spcBef>
                <a:spcPct val="50000"/>
              </a:spcBef>
              <a:buClr>
                <a:srgbClr val="339933"/>
              </a:buClr>
              <a:buFont typeface="Wingdings" pitchFamily="2" charset="2"/>
              <a:buChar char="Ø"/>
            </a:pPr>
            <a:r>
              <a:rPr lang="en-US" sz="2800" dirty="0"/>
              <a:t>No data is delivered with traditional signals</a:t>
            </a:r>
          </a:p>
          <a:p>
            <a:pPr>
              <a:spcBef>
                <a:spcPct val="50000"/>
              </a:spcBef>
              <a:buClr>
                <a:srgbClr val="339933"/>
              </a:buClr>
              <a:buFont typeface="Wingdings" pitchFamily="2" charset="2"/>
              <a:buChar char="Ø"/>
            </a:pPr>
            <a:r>
              <a:rPr lang="en-US" sz="2800" dirty="0"/>
              <a:t> If a Signal handler is not installed signal catch will  fail</a:t>
            </a:r>
          </a:p>
          <a:p>
            <a:pPr>
              <a:spcBef>
                <a:spcPct val="50000"/>
              </a:spcBef>
              <a:buClr>
                <a:srgbClr val="339933"/>
              </a:buClr>
              <a:buFont typeface="Wingdings" pitchFamily="2" charset="2"/>
              <a:buChar char="Ø"/>
            </a:pPr>
            <a:r>
              <a:rPr lang="en-US" sz="2800" dirty="0"/>
              <a:t>Signals which have been sent earlier but not received by any process become pending signals</a:t>
            </a:r>
          </a:p>
          <a:p>
            <a:pPr>
              <a:spcBef>
                <a:spcPct val="50000"/>
              </a:spcBef>
              <a:buClr>
                <a:srgbClr val="339933"/>
              </a:buClr>
              <a:buFont typeface="Wingdings" pitchFamily="2" charset="2"/>
              <a:buChar char="Ø"/>
            </a:pPr>
            <a:r>
              <a:rPr lang="en-US" sz="2800" dirty="0"/>
              <a:t>A process will receive a signal when it is running in user mode. If the receiving process is running in kernel mode, the execution of the signal will start only after the process returns to user mode</a:t>
            </a:r>
          </a:p>
        </p:txBody>
      </p:sp>
      <p:sp>
        <p:nvSpPr>
          <p:cNvPr id="817165" name="Rectangle 13"/>
          <p:cNvSpPr>
            <a:spLocks noGrp="1" noChangeArrowheads="1"/>
          </p:cNvSpPr>
          <p:nvPr>
            <p:ph type="title" idx="4294967295"/>
          </p:nvPr>
        </p:nvSpPr>
        <p:spPr>
          <a:xfrm>
            <a:off x="0" y="-152400"/>
            <a:ext cx="7772400" cy="1143000"/>
          </a:xfrm>
        </p:spPr>
        <p:txBody>
          <a:bodyPr/>
          <a:lstStyle/>
          <a:p>
            <a:pPr eaLnBrk="1" hangingPunct="1">
              <a:defRPr/>
            </a:pPr>
            <a:r>
              <a:rPr lang="en-US" b="1" i="1">
                <a:solidFill>
                  <a:srgbClr val="339933"/>
                </a:solidFill>
                <a:effectLst>
                  <a:outerShdw blurRad="38100" dist="38100" dir="2700000" algn="tl">
                    <a:srgbClr val="C0C0C0"/>
                  </a:outerShdw>
                </a:effectLst>
              </a:rPr>
              <a:t>Characteristics of signals</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Text Box 2" descr="70%"/>
          <p:cNvSpPr txBox="1">
            <a:spLocks noChangeArrowheads="1"/>
          </p:cNvSpPr>
          <p:nvPr/>
        </p:nvSpPr>
        <p:spPr bwMode="auto">
          <a:xfrm>
            <a:off x="381000" y="1471613"/>
            <a:ext cx="8610600" cy="519112"/>
          </a:xfrm>
          <a:prstGeom prst="rect">
            <a:avLst/>
          </a:prstGeom>
          <a:noFill/>
          <a:ln w="9525">
            <a:noFill/>
            <a:miter lim="800000"/>
            <a:headEnd/>
            <a:tailEnd/>
          </a:ln>
        </p:spPr>
        <p:txBody>
          <a:bodyPr>
            <a:spAutoFit/>
          </a:bodyPr>
          <a:lstStyle/>
          <a:p>
            <a:pPr>
              <a:spcBef>
                <a:spcPct val="50000"/>
              </a:spcBef>
              <a:buClr>
                <a:srgbClr val="339933"/>
              </a:buClr>
              <a:buFont typeface="Wingdings" pitchFamily="2" charset="2"/>
              <a:buChar char="Ø"/>
            </a:pPr>
            <a:endParaRPr lang="en-US" sz="2800">
              <a:solidFill>
                <a:schemeClr val="bg2"/>
              </a:solidFill>
            </a:endParaRPr>
          </a:p>
        </p:txBody>
      </p:sp>
      <p:sp>
        <p:nvSpPr>
          <p:cNvPr id="257027" name="Text Box 3" descr="70%"/>
          <p:cNvSpPr txBox="1">
            <a:spLocks noChangeArrowheads="1"/>
          </p:cNvSpPr>
          <p:nvPr/>
        </p:nvSpPr>
        <p:spPr bwMode="auto">
          <a:xfrm>
            <a:off x="304800" y="990600"/>
            <a:ext cx="8610600" cy="4792663"/>
          </a:xfrm>
          <a:prstGeom prst="rect">
            <a:avLst/>
          </a:prstGeom>
          <a:noFill/>
          <a:ln w="9525">
            <a:noFill/>
            <a:miter lim="800000"/>
            <a:headEnd/>
            <a:tailEnd/>
          </a:ln>
        </p:spPr>
        <p:txBody>
          <a:bodyPr>
            <a:spAutoFit/>
          </a:bodyPr>
          <a:lstStyle/>
          <a:p>
            <a:pPr>
              <a:spcBef>
                <a:spcPct val="50000"/>
              </a:spcBef>
              <a:buClr>
                <a:srgbClr val="339933"/>
              </a:buClr>
              <a:buFont typeface="Wingdings" pitchFamily="2" charset="2"/>
              <a:buChar char="Ø"/>
            </a:pPr>
            <a:r>
              <a:rPr lang="en-US" sz="2800" dirty="0"/>
              <a:t>Signal sent to a non running process must be saved by      kernel until process resumes</a:t>
            </a:r>
          </a:p>
          <a:p>
            <a:pPr>
              <a:spcBef>
                <a:spcPct val="50000"/>
              </a:spcBef>
              <a:buClr>
                <a:srgbClr val="339933"/>
              </a:buClr>
              <a:buFont typeface="Wingdings" pitchFamily="2" charset="2"/>
              <a:buChar char="Ø"/>
            </a:pPr>
            <a:r>
              <a:rPr lang="en-US" sz="2800" dirty="0"/>
              <a:t>Signals are asynchronous , kernel process a signal even without finishing the current line of code </a:t>
            </a:r>
          </a:p>
          <a:p>
            <a:pPr>
              <a:spcBef>
                <a:spcPct val="50000"/>
              </a:spcBef>
              <a:buClr>
                <a:srgbClr val="339933"/>
              </a:buClr>
              <a:buFont typeface="Wingdings" pitchFamily="2" charset="2"/>
              <a:buChar char="Ø"/>
            </a:pPr>
            <a:r>
              <a:rPr lang="en-US" sz="2800" dirty="0"/>
              <a:t>All signals are already defined, there are only two signals for user purpose (SIGUSR1,SIGUSR2)</a:t>
            </a:r>
          </a:p>
          <a:p>
            <a:pPr>
              <a:spcBef>
                <a:spcPct val="50000"/>
              </a:spcBef>
              <a:buClr>
                <a:srgbClr val="339933"/>
              </a:buClr>
              <a:buFont typeface="Wingdings" pitchFamily="2" charset="2"/>
              <a:buChar char="Ø"/>
            </a:pPr>
            <a:r>
              <a:rPr lang="en-US" sz="2800" dirty="0"/>
              <a:t>A signal handler can call system call</a:t>
            </a:r>
          </a:p>
          <a:p>
            <a:pPr>
              <a:spcBef>
                <a:spcPct val="50000"/>
              </a:spcBef>
              <a:buClr>
                <a:srgbClr val="339933"/>
              </a:buClr>
              <a:buFont typeface="Wingdings" pitchFamily="2" charset="2"/>
              <a:buChar char="Ø"/>
            </a:pPr>
            <a:r>
              <a:rPr lang="en-US" sz="2800" dirty="0"/>
              <a:t>Make sure that a signal handler can’t be interrupted by another signal (lead to race conditions)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8050" name="Group 39"/>
          <p:cNvGrpSpPr>
            <a:grpSpLocks/>
          </p:cNvGrpSpPr>
          <p:nvPr/>
        </p:nvGrpSpPr>
        <p:grpSpPr bwMode="auto">
          <a:xfrm>
            <a:off x="228600" y="1295400"/>
            <a:ext cx="8763000" cy="4648200"/>
            <a:chOff x="240" y="816"/>
            <a:chExt cx="5520" cy="2928"/>
          </a:xfrm>
        </p:grpSpPr>
        <p:sp>
          <p:nvSpPr>
            <p:cNvPr id="258052" name="Line 3"/>
            <p:cNvSpPr>
              <a:spLocks noChangeShapeType="1"/>
            </p:cNvSpPr>
            <p:nvPr/>
          </p:nvSpPr>
          <p:spPr bwMode="auto">
            <a:xfrm>
              <a:off x="582" y="1510"/>
              <a:ext cx="4815" cy="0"/>
            </a:xfrm>
            <a:prstGeom prst="line">
              <a:avLst/>
            </a:prstGeom>
            <a:noFill/>
            <a:ln w="9525">
              <a:solidFill>
                <a:schemeClr val="tx1"/>
              </a:solidFill>
              <a:round/>
              <a:headEnd/>
              <a:tailEnd/>
            </a:ln>
          </p:spPr>
          <p:txBody>
            <a:bodyPr/>
            <a:lstStyle/>
            <a:p>
              <a:endParaRPr lang="en-US"/>
            </a:p>
          </p:txBody>
        </p:sp>
        <p:sp>
          <p:nvSpPr>
            <p:cNvPr id="258053" name="Rectangle 5"/>
            <p:cNvSpPr>
              <a:spLocks noChangeArrowheads="1"/>
            </p:cNvSpPr>
            <p:nvPr/>
          </p:nvSpPr>
          <p:spPr bwMode="auto">
            <a:xfrm>
              <a:off x="264" y="1056"/>
              <a:ext cx="5496" cy="268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58054" name="Rectangle 6"/>
            <p:cNvSpPr>
              <a:spLocks noChangeArrowheads="1"/>
            </p:cNvSpPr>
            <p:nvPr/>
          </p:nvSpPr>
          <p:spPr bwMode="auto">
            <a:xfrm>
              <a:off x="264" y="855"/>
              <a:ext cx="5496" cy="288"/>
            </a:xfrm>
            <a:prstGeom prst="rect">
              <a:avLst/>
            </a:prstGeom>
            <a:solidFill>
              <a:schemeClr val="tx1"/>
            </a:solidFill>
            <a:ln w="9525">
              <a:solidFill>
                <a:schemeClr val="tx1"/>
              </a:solidFill>
              <a:miter lim="800000"/>
              <a:headEnd/>
              <a:tailEnd/>
            </a:ln>
          </p:spPr>
          <p:txBody>
            <a:bodyPr wrap="none" anchor="ctr"/>
            <a:lstStyle/>
            <a:p>
              <a:endParaRPr lang="en-US"/>
            </a:p>
          </p:txBody>
        </p:sp>
        <p:sp>
          <p:nvSpPr>
            <p:cNvPr id="258055" name="Line 7"/>
            <p:cNvSpPr>
              <a:spLocks noChangeShapeType="1"/>
            </p:cNvSpPr>
            <p:nvPr/>
          </p:nvSpPr>
          <p:spPr bwMode="auto">
            <a:xfrm>
              <a:off x="1700" y="888"/>
              <a:ext cx="0" cy="2856"/>
            </a:xfrm>
            <a:prstGeom prst="line">
              <a:avLst/>
            </a:prstGeom>
            <a:noFill/>
            <a:ln w="9525">
              <a:solidFill>
                <a:schemeClr val="tx1"/>
              </a:solidFill>
              <a:round/>
              <a:headEnd/>
              <a:tailEnd/>
            </a:ln>
          </p:spPr>
          <p:txBody>
            <a:bodyPr/>
            <a:lstStyle/>
            <a:p>
              <a:endParaRPr lang="en-US"/>
            </a:p>
          </p:txBody>
        </p:sp>
        <p:sp>
          <p:nvSpPr>
            <p:cNvPr id="258056" name="Text Box 8" descr="70%"/>
            <p:cNvSpPr txBox="1">
              <a:spLocks noChangeArrowheads="1"/>
            </p:cNvSpPr>
            <p:nvPr/>
          </p:nvSpPr>
          <p:spPr bwMode="auto">
            <a:xfrm>
              <a:off x="288" y="828"/>
              <a:ext cx="1027"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   signal</a:t>
              </a:r>
            </a:p>
          </p:txBody>
        </p:sp>
        <p:sp>
          <p:nvSpPr>
            <p:cNvPr id="258057" name="Text Box 9" descr="70%"/>
            <p:cNvSpPr txBox="1">
              <a:spLocks noChangeArrowheads="1"/>
            </p:cNvSpPr>
            <p:nvPr/>
          </p:nvSpPr>
          <p:spPr bwMode="auto">
            <a:xfrm>
              <a:off x="2041" y="828"/>
              <a:ext cx="1362"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Description</a:t>
              </a:r>
            </a:p>
          </p:txBody>
        </p:sp>
        <p:sp>
          <p:nvSpPr>
            <p:cNvPr id="258058" name="Line 10"/>
            <p:cNvSpPr>
              <a:spLocks noChangeShapeType="1"/>
            </p:cNvSpPr>
            <p:nvPr/>
          </p:nvSpPr>
          <p:spPr bwMode="auto">
            <a:xfrm>
              <a:off x="4157" y="888"/>
              <a:ext cx="0" cy="2856"/>
            </a:xfrm>
            <a:prstGeom prst="line">
              <a:avLst/>
            </a:prstGeom>
            <a:noFill/>
            <a:ln w="9525">
              <a:solidFill>
                <a:schemeClr val="tx1"/>
              </a:solidFill>
              <a:round/>
              <a:headEnd/>
              <a:tailEnd/>
            </a:ln>
          </p:spPr>
          <p:txBody>
            <a:bodyPr/>
            <a:lstStyle/>
            <a:p>
              <a:endParaRPr lang="en-US"/>
            </a:p>
          </p:txBody>
        </p:sp>
        <p:sp>
          <p:nvSpPr>
            <p:cNvPr id="258059" name="Text Box 11" descr="70%"/>
            <p:cNvSpPr txBox="1">
              <a:spLocks noChangeArrowheads="1"/>
            </p:cNvSpPr>
            <p:nvPr/>
          </p:nvSpPr>
          <p:spPr bwMode="auto">
            <a:xfrm>
              <a:off x="4132" y="816"/>
              <a:ext cx="1508"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Default action</a:t>
              </a:r>
            </a:p>
          </p:txBody>
        </p:sp>
        <p:sp>
          <p:nvSpPr>
            <p:cNvPr id="258060" name="Text Box 12" descr="70%"/>
            <p:cNvSpPr txBox="1">
              <a:spLocks noChangeArrowheads="1"/>
            </p:cNvSpPr>
            <p:nvPr/>
          </p:nvSpPr>
          <p:spPr bwMode="auto">
            <a:xfrm>
              <a:off x="302" y="1218"/>
              <a:ext cx="133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1  SIGHUP</a:t>
              </a:r>
            </a:p>
          </p:txBody>
        </p:sp>
        <p:sp>
          <p:nvSpPr>
            <p:cNvPr id="258061" name="Text Box 13" descr="70%"/>
            <p:cNvSpPr txBox="1">
              <a:spLocks noChangeArrowheads="1"/>
            </p:cNvSpPr>
            <p:nvPr/>
          </p:nvSpPr>
          <p:spPr bwMode="auto">
            <a:xfrm>
              <a:off x="240" y="1632"/>
              <a:ext cx="1119"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2  SIGINT</a:t>
              </a:r>
            </a:p>
          </p:txBody>
        </p:sp>
        <p:sp>
          <p:nvSpPr>
            <p:cNvPr id="258062" name="Text Box 14" descr="70%"/>
            <p:cNvSpPr txBox="1">
              <a:spLocks noChangeArrowheads="1"/>
            </p:cNvSpPr>
            <p:nvPr/>
          </p:nvSpPr>
          <p:spPr bwMode="auto">
            <a:xfrm>
              <a:off x="240" y="2073"/>
              <a:ext cx="1245"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3  SIGQUIT</a:t>
              </a:r>
            </a:p>
          </p:txBody>
        </p:sp>
        <p:sp>
          <p:nvSpPr>
            <p:cNvPr id="258063" name="Text Box 15" descr="70%"/>
            <p:cNvSpPr txBox="1">
              <a:spLocks noChangeArrowheads="1"/>
            </p:cNvSpPr>
            <p:nvPr/>
          </p:nvSpPr>
          <p:spPr bwMode="auto">
            <a:xfrm>
              <a:off x="291" y="2496"/>
              <a:ext cx="1341"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4  SIGILL </a:t>
              </a:r>
            </a:p>
          </p:txBody>
        </p:sp>
        <p:sp>
          <p:nvSpPr>
            <p:cNvPr id="258064" name="Text Box 16" descr="70%"/>
            <p:cNvSpPr txBox="1">
              <a:spLocks noChangeArrowheads="1"/>
            </p:cNvSpPr>
            <p:nvPr/>
          </p:nvSpPr>
          <p:spPr bwMode="auto">
            <a:xfrm>
              <a:off x="275" y="2959"/>
              <a:ext cx="1293"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5  SIGTRAP</a:t>
              </a:r>
            </a:p>
          </p:txBody>
        </p:sp>
        <p:sp>
          <p:nvSpPr>
            <p:cNvPr id="258065" name="Text Box 17" descr="70%"/>
            <p:cNvSpPr txBox="1">
              <a:spLocks noChangeArrowheads="1"/>
            </p:cNvSpPr>
            <p:nvPr/>
          </p:nvSpPr>
          <p:spPr bwMode="auto">
            <a:xfrm>
              <a:off x="1749" y="1207"/>
              <a:ext cx="2237"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Hang -up</a:t>
              </a:r>
            </a:p>
          </p:txBody>
        </p:sp>
        <p:sp>
          <p:nvSpPr>
            <p:cNvPr id="258066" name="Text Box 18" descr="70%"/>
            <p:cNvSpPr txBox="1">
              <a:spLocks noChangeArrowheads="1"/>
            </p:cNvSpPr>
            <p:nvPr/>
          </p:nvSpPr>
          <p:spPr bwMode="auto">
            <a:xfrm>
              <a:off x="1799" y="2496"/>
              <a:ext cx="1897"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Illegal instruction </a:t>
              </a:r>
            </a:p>
          </p:txBody>
        </p:sp>
        <p:sp>
          <p:nvSpPr>
            <p:cNvPr id="258067" name="Text Box 19" descr="70%"/>
            <p:cNvSpPr txBox="1">
              <a:spLocks noChangeArrowheads="1"/>
            </p:cNvSpPr>
            <p:nvPr/>
          </p:nvSpPr>
          <p:spPr bwMode="auto">
            <a:xfrm>
              <a:off x="1781" y="2928"/>
              <a:ext cx="2237"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Hardware fault</a:t>
              </a:r>
            </a:p>
          </p:txBody>
        </p:sp>
        <p:sp>
          <p:nvSpPr>
            <p:cNvPr id="258068" name="Text Box 20" descr="70%"/>
            <p:cNvSpPr txBox="1">
              <a:spLocks noChangeArrowheads="1"/>
            </p:cNvSpPr>
            <p:nvPr/>
          </p:nvSpPr>
          <p:spPr bwMode="auto">
            <a:xfrm>
              <a:off x="1749" y="1641"/>
              <a:ext cx="2237"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 tty interrupt (cntrl+c)</a:t>
              </a:r>
            </a:p>
          </p:txBody>
        </p:sp>
        <p:sp>
          <p:nvSpPr>
            <p:cNvPr id="258069" name="Text Box 21" descr="70%"/>
            <p:cNvSpPr txBox="1">
              <a:spLocks noChangeArrowheads="1"/>
            </p:cNvSpPr>
            <p:nvPr/>
          </p:nvSpPr>
          <p:spPr bwMode="auto">
            <a:xfrm>
              <a:off x="1749" y="2073"/>
              <a:ext cx="2331"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 tty quit signal (cntrl +\)</a:t>
              </a:r>
            </a:p>
          </p:txBody>
        </p:sp>
        <p:sp>
          <p:nvSpPr>
            <p:cNvPr id="258070" name="Text Box 22" descr="70%"/>
            <p:cNvSpPr txBox="1">
              <a:spLocks noChangeArrowheads="1"/>
            </p:cNvSpPr>
            <p:nvPr/>
          </p:nvSpPr>
          <p:spPr bwMode="auto">
            <a:xfrm>
              <a:off x="4278" y="1218"/>
              <a:ext cx="1119"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exit</a:t>
              </a:r>
            </a:p>
          </p:txBody>
        </p:sp>
        <p:sp>
          <p:nvSpPr>
            <p:cNvPr id="258071" name="Text Box 23" descr="70%"/>
            <p:cNvSpPr txBox="1">
              <a:spLocks noChangeArrowheads="1"/>
            </p:cNvSpPr>
            <p:nvPr/>
          </p:nvSpPr>
          <p:spPr bwMode="auto">
            <a:xfrm>
              <a:off x="4310" y="2928"/>
              <a:ext cx="73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abort</a:t>
              </a:r>
            </a:p>
          </p:txBody>
        </p:sp>
        <p:sp>
          <p:nvSpPr>
            <p:cNvPr id="258072" name="Text Box 24" descr="70%"/>
            <p:cNvSpPr txBox="1">
              <a:spLocks noChangeArrowheads="1"/>
            </p:cNvSpPr>
            <p:nvPr/>
          </p:nvSpPr>
          <p:spPr bwMode="auto">
            <a:xfrm>
              <a:off x="4278" y="2496"/>
              <a:ext cx="1119"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abort</a:t>
              </a:r>
            </a:p>
          </p:txBody>
        </p:sp>
        <p:sp>
          <p:nvSpPr>
            <p:cNvPr id="258073" name="Text Box 25" descr="70%"/>
            <p:cNvSpPr txBox="1">
              <a:spLocks noChangeArrowheads="1"/>
            </p:cNvSpPr>
            <p:nvPr/>
          </p:nvSpPr>
          <p:spPr bwMode="auto">
            <a:xfrm>
              <a:off x="4278" y="2073"/>
              <a:ext cx="1119"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abort </a:t>
              </a:r>
            </a:p>
          </p:txBody>
        </p:sp>
        <p:sp>
          <p:nvSpPr>
            <p:cNvPr id="258074" name="Text Box 26" descr="70%"/>
            <p:cNvSpPr txBox="1">
              <a:spLocks noChangeArrowheads="1"/>
            </p:cNvSpPr>
            <p:nvPr/>
          </p:nvSpPr>
          <p:spPr bwMode="auto">
            <a:xfrm>
              <a:off x="4278" y="1635"/>
              <a:ext cx="1119"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exit</a:t>
              </a:r>
            </a:p>
          </p:txBody>
        </p:sp>
        <p:sp>
          <p:nvSpPr>
            <p:cNvPr id="258075" name="Text Box 31" descr="70%"/>
            <p:cNvSpPr txBox="1">
              <a:spLocks noChangeArrowheads="1"/>
            </p:cNvSpPr>
            <p:nvPr/>
          </p:nvSpPr>
          <p:spPr bwMode="auto">
            <a:xfrm>
              <a:off x="243" y="3369"/>
              <a:ext cx="1293"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6  SIGIOT</a:t>
              </a:r>
            </a:p>
          </p:txBody>
        </p:sp>
        <p:sp>
          <p:nvSpPr>
            <p:cNvPr id="258076" name="Text Box 32" descr="70%"/>
            <p:cNvSpPr txBox="1">
              <a:spLocks noChangeArrowheads="1"/>
            </p:cNvSpPr>
            <p:nvPr/>
          </p:nvSpPr>
          <p:spPr bwMode="auto">
            <a:xfrm>
              <a:off x="1824" y="3369"/>
              <a:ext cx="2237"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I/o trap</a:t>
              </a:r>
            </a:p>
          </p:txBody>
        </p:sp>
        <p:sp>
          <p:nvSpPr>
            <p:cNvPr id="258077" name="Text Box 33" descr="70%"/>
            <p:cNvSpPr txBox="1">
              <a:spLocks noChangeArrowheads="1"/>
            </p:cNvSpPr>
            <p:nvPr/>
          </p:nvSpPr>
          <p:spPr bwMode="auto">
            <a:xfrm>
              <a:off x="4320" y="3321"/>
              <a:ext cx="73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abort</a:t>
              </a:r>
            </a:p>
          </p:txBody>
        </p:sp>
      </p:grpSp>
      <p:sp>
        <p:nvSpPr>
          <p:cNvPr id="819237" name="Rectangle 37"/>
          <p:cNvSpPr>
            <a:spLocks noGrp="1" noChangeArrowheads="1"/>
          </p:cNvSpPr>
          <p:nvPr>
            <p:ph type="title" idx="4294967295"/>
          </p:nvPr>
        </p:nvSpPr>
        <p:spPr>
          <a:xfrm>
            <a:off x="0" y="-152400"/>
            <a:ext cx="7772400" cy="1143000"/>
          </a:xfrm>
        </p:spPr>
        <p:txBody>
          <a:bodyPr/>
          <a:lstStyle/>
          <a:p>
            <a:pPr eaLnBrk="1" hangingPunct="1">
              <a:defRPr/>
            </a:pPr>
            <a:r>
              <a:rPr lang="en-US" b="1" i="1">
                <a:solidFill>
                  <a:srgbClr val="339933"/>
                </a:solidFill>
                <a:effectLst>
                  <a:outerShdw blurRad="38100" dist="38100" dir="2700000" algn="tl">
                    <a:srgbClr val="C0C0C0"/>
                  </a:outerShdw>
                </a:effectLst>
              </a:rPr>
              <a:t>Signal Set</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9074" name="Group 38"/>
          <p:cNvGrpSpPr>
            <a:grpSpLocks/>
          </p:cNvGrpSpPr>
          <p:nvPr/>
        </p:nvGrpSpPr>
        <p:grpSpPr bwMode="auto">
          <a:xfrm>
            <a:off x="171450" y="1219200"/>
            <a:ext cx="8686800" cy="4845050"/>
            <a:chOff x="108" y="675"/>
            <a:chExt cx="5472" cy="3052"/>
          </a:xfrm>
        </p:grpSpPr>
        <p:sp>
          <p:nvSpPr>
            <p:cNvPr id="259075" name="Line 2"/>
            <p:cNvSpPr>
              <a:spLocks noChangeShapeType="1"/>
            </p:cNvSpPr>
            <p:nvPr/>
          </p:nvSpPr>
          <p:spPr bwMode="auto">
            <a:xfrm>
              <a:off x="588" y="1431"/>
              <a:ext cx="4752" cy="0"/>
            </a:xfrm>
            <a:prstGeom prst="line">
              <a:avLst/>
            </a:prstGeom>
            <a:noFill/>
            <a:ln w="9525">
              <a:solidFill>
                <a:schemeClr val="tx1"/>
              </a:solidFill>
              <a:round/>
              <a:headEnd/>
              <a:tailEnd/>
            </a:ln>
          </p:spPr>
          <p:txBody>
            <a:bodyPr/>
            <a:lstStyle/>
            <a:p>
              <a:endParaRPr lang="en-US"/>
            </a:p>
          </p:txBody>
        </p:sp>
        <p:sp>
          <p:nvSpPr>
            <p:cNvPr id="259076" name="Rectangle 4"/>
            <p:cNvSpPr>
              <a:spLocks noChangeArrowheads="1"/>
            </p:cNvSpPr>
            <p:nvPr/>
          </p:nvSpPr>
          <p:spPr bwMode="auto">
            <a:xfrm>
              <a:off x="144" y="960"/>
              <a:ext cx="5424" cy="276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59077" name="Rectangle 5"/>
            <p:cNvSpPr>
              <a:spLocks noChangeArrowheads="1"/>
            </p:cNvSpPr>
            <p:nvPr/>
          </p:nvSpPr>
          <p:spPr bwMode="auto">
            <a:xfrm>
              <a:off x="156" y="720"/>
              <a:ext cx="5424" cy="276"/>
            </a:xfrm>
            <a:prstGeom prst="rect">
              <a:avLst/>
            </a:prstGeom>
            <a:solidFill>
              <a:schemeClr val="tx1"/>
            </a:solidFill>
            <a:ln w="9525">
              <a:solidFill>
                <a:schemeClr val="tx1"/>
              </a:solidFill>
              <a:miter lim="800000"/>
              <a:headEnd/>
              <a:tailEnd/>
            </a:ln>
          </p:spPr>
          <p:txBody>
            <a:bodyPr wrap="none" anchor="ctr"/>
            <a:lstStyle/>
            <a:p>
              <a:endParaRPr lang="en-US"/>
            </a:p>
          </p:txBody>
        </p:sp>
        <p:sp>
          <p:nvSpPr>
            <p:cNvPr id="259078" name="Text Box 6" descr="70%"/>
            <p:cNvSpPr txBox="1">
              <a:spLocks noChangeArrowheads="1"/>
            </p:cNvSpPr>
            <p:nvPr/>
          </p:nvSpPr>
          <p:spPr bwMode="auto">
            <a:xfrm>
              <a:off x="228" y="684"/>
              <a:ext cx="104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  Signal</a:t>
              </a:r>
            </a:p>
          </p:txBody>
        </p:sp>
        <p:sp>
          <p:nvSpPr>
            <p:cNvPr id="259079" name="Text Box 7" descr="70%"/>
            <p:cNvSpPr txBox="1">
              <a:spLocks noChangeArrowheads="1"/>
            </p:cNvSpPr>
            <p:nvPr/>
          </p:nvSpPr>
          <p:spPr bwMode="auto">
            <a:xfrm>
              <a:off x="2028" y="675"/>
              <a:ext cx="134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Description</a:t>
              </a:r>
            </a:p>
          </p:txBody>
        </p:sp>
        <p:sp>
          <p:nvSpPr>
            <p:cNvPr id="259080" name="Text Box 8" descr="70%"/>
            <p:cNvSpPr txBox="1">
              <a:spLocks noChangeArrowheads="1"/>
            </p:cNvSpPr>
            <p:nvPr/>
          </p:nvSpPr>
          <p:spPr bwMode="auto">
            <a:xfrm>
              <a:off x="4092" y="675"/>
              <a:ext cx="1488"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Default action</a:t>
              </a:r>
            </a:p>
          </p:txBody>
        </p:sp>
        <p:sp>
          <p:nvSpPr>
            <p:cNvPr id="259081" name="Text Box 9" descr="70%"/>
            <p:cNvSpPr txBox="1">
              <a:spLocks noChangeArrowheads="1"/>
            </p:cNvSpPr>
            <p:nvPr/>
          </p:nvSpPr>
          <p:spPr bwMode="auto">
            <a:xfrm>
              <a:off x="240" y="1161"/>
              <a:ext cx="120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7  SIGBUS</a:t>
              </a:r>
            </a:p>
          </p:txBody>
        </p:sp>
        <p:sp>
          <p:nvSpPr>
            <p:cNvPr id="259082" name="Text Box 10" descr="70%"/>
            <p:cNvSpPr txBox="1">
              <a:spLocks noChangeArrowheads="1"/>
            </p:cNvSpPr>
            <p:nvPr/>
          </p:nvSpPr>
          <p:spPr bwMode="auto">
            <a:xfrm>
              <a:off x="240" y="1593"/>
              <a:ext cx="120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8  SIGFPE </a:t>
              </a:r>
            </a:p>
          </p:txBody>
        </p:sp>
        <p:sp>
          <p:nvSpPr>
            <p:cNvPr id="259083" name="Text Box 11" descr="70%"/>
            <p:cNvSpPr txBox="1">
              <a:spLocks noChangeArrowheads="1"/>
            </p:cNvSpPr>
            <p:nvPr/>
          </p:nvSpPr>
          <p:spPr bwMode="auto">
            <a:xfrm>
              <a:off x="240" y="2042"/>
              <a:ext cx="1188"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9  SIGKILL</a:t>
              </a:r>
            </a:p>
          </p:txBody>
        </p:sp>
        <p:sp>
          <p:nvSpPr>
            <p:cNvPr id="259084" name="Text Box 12" descr="70%"/>
            <p:cNvSpPr txBox="1">
              <a:spLocks noChangeArrowheads="1"/>
            </p:cNvSpPr>
            <p:nvPr/>
          </p:nvSpPr>
          <p:spPr bwMode="auto">
            <a:xfrm>
              <a:off x="132" y="2457"/>
              <a:ext cx="1356"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10  SIGUSR1</a:t>
              </a:r>
            </a:p>
          </p:txBody>
        </p:sp>
        <p:sp>
          <p:nvSpPr>
            <p:cNvPr id="259085" name="Text Box 13" descr="70%"/>
            <p:cNvSpPr txBox="1">
              <a:spLocks noChangeArrowheads="1"/>
            </p:cNvSpPr>
            <p:nvPr/>
          </p:nvSpPr>
          <p:spPr bwMode="auto">
            <a:xfrm>
              <a:off x="144" y="2880"/>
              <a:ext cx="1392"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11  SIGSEGV</a:t>
              </a:r>
            </a:p>
          </p:txBody>
        </p:sp>
        <p:sp>
          <p:nvSpPr>
            <p:cNvPr id="259086" name="Text Box 14" descr="70%"/>
            <p:cNvSpPr txBox="1">
              <a:spLocks noChangeArrowheads="1"/>
            </p:cNvSpPr>
            <p:nvPr/>
          </p:nvSpPr>
          <p:spPr bwMode="auto">
            <a:xfrm>
              <a:off x="1728" y="2073"/>
              <a:ext cx="2304"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Kill process</a:t>
              </a:r>
            </a:p>
          </p:txBody>
        </p:sp>
        <p:sp>
          <p:nvSpPr>
            <p:cNvPr id="259087" name="Text Box 15" descr="70%"/>
            <p:cNvSpPr txBox="1">
              <a:spLocks noChangeArrowheads="1"/>
            </p:cNvSpPr>
            <p:nvPr/>
          </p:nvSpPr>
          <p:spPr bwMode="auto">
            <a:xfrm>
              <a:off x="1740" y="2496"/>
              <a:ext cx="1872"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User- defined</a:t>
              </a:r>
            </a:p>
          </p:txBody>
        </p:sp>
        <p:sp>
          <p:nvSpPr>
            <p:cNvPr id="259088" name="Text Box 16" descr="70%"/>
            <p:cNvSpPr txBox="1">
              <a:spLocks noChangeArrowheads="1"/>
            </p:cNvSpPr>
            <p:nvPr/>
          </p:nvSpPr>
          <p:spPr bwMode="auto">
            <a:xfrm>
              <a:off x="1740" y="2928"/>
              <a:ext cx="2208"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Segmentation fault</a:t>
              </a:r>
            </a:p>
          </p:txBody>
        </p:sp>
        <p:sp>
          <p:nvSpPr>
            <p:cNvPr id="259089" name="Text Box 17" descr="70%"/>
            <p:cNvSpPr txBox="1">
              <a:spLocks noChangeArrowheads="1"/>
            </p:cNvSpPr>
            <p:nvPr/>
          </p:nvSpPr>
          <p:spPr bwMode="auto">
            <a:xfrm>
              <a:off x="1728" y="1641"/>
              <a:ext cx="2208"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Arithmetic fault</a:t>
              </a:r>
            </a:p>
          </p:txBody>
        </p:sp>
        <p:sp>
          <p:nvSpPr>
            <p:cNvPr id="259090" name="Text Box 18" descr="70%"/>
            <p:cNvSpPr txBox="1">
              <a:spLocks noChangeArrowheads="1"/>
            </p:cNvSpPr>
            <p:nvPr/>
          </p:nvSpPr>
          <p:spPr bwMode="auto">
            <a:xfrm>
              <a:off x="4236" y="2928"/>
              <a:ext cx="72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abort</a:t>
              </a:r>
            </a:p>
          </p:txBody>
        </p:sp>
        <p:sp>
          <p:nvSpPr>
            <p:cNvPr id="259091" name="Text Box 19" descr="70%"/>
            <p:cNvSpPr txBox="1">
              <a:spLocks noChangeArrowheads="1"/>
            </p:cNvSpPr>
            <p:nvPr/>
          </p:nvSpPr>
          <p:spPr bwMode="auto">
            <a:xfrm>
              <a:off x="4236" y="2058"/>
              <a:ext cx="110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exit</a:t>
              </a:r>
            </a:p>
          </p:txBody>
        </p:sp>
        <p:sp>
          <p:nvSpPr>
            <p:cNvPr id="259092" name="Text Box 20" descr="70%"/>
            <p:cNvSpPr txBox="1">
              <a:spLocks noChangeArrowheads="1"/>
            </p:cNvSpPr>
            <p:nvPr/>
          </p:nvSpPr>
          <p:spPr bwMode="auto">
            <a:xfrm>
              <a:off x="4224" y="1584"/>
              <a:ext cx="110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abort</a:t>
              </a:r>
            </a:p>
          </p:txBody>
        </p:sp>
        <p:sp>
          <p:nvSpPr>
            <p:cNvPr id="259093" name="Text Box 21" descr="70%"/>
            <p:cNvSpPr txBox="1">
              <a:spLocks noChangeArrowheads="1"/>
            </p:cNvSpPr>
            <p:nvPr/>
          </p:nvSpPr>
          <p:spPr bwMode="auto">
            <a:xfrm>
              <a:off x="4272" y="1156"/>
              <a:ext cx="110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abort</a:t>
              </a:r>
            </a:p>
          </p:txBody>
        </p:sp>
        <p:sp>
          <p:nvSpPr>
            <p:cNvPr id="259094" name="Text Box 22" descr="70%"/>
            <p:cNvSpPr txBox="1">
              <a:spLocks noChangeArrowheads="1"/>
            </p:cNvSpPr>
            <p:nvPr/>
          </p:nvSpPr>
          <p:spPr bwMode="auto">
            <a:xfrm>
              <a:off x="4224" y="2496"/>
              <a:ext cx="1152"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exit</a:t>
              </a:r>
            </a:p>
          </p:txBody>
        </p:sp>
        <p:sp>
          <p:nvSpPr>
            <p:cNvPr id="259095" name="Text Box 23" descr="70%"/>
            <p:cNvSpPr txBox="1">
              <a:spLocks noChangeArrowheads="1"/>
            </p:cNvSpPr>
            <p:nvPr/>
          </p:nvSpPr>
          <p:spPr bwMode="auto">
            <a:xfrm>
              <a:off x="1740" y="3165"/>
              <a:ext cx="2352" cy="327"/>
            </a:xfrm>
            <a:prstGeom prst="rect">
              <a:avLst/>
            </a:prstGeom>
            <a:noFill/>
            <a:ln w="9525">
              <a:noFill/>
              <a:miter lim="800000"/>
              <a:headEnd/>
              <a:tailEnd/>
            </a:ln>
          </p:spPr>
          <p:txBody>
            <a:bodyPr>
              <a:spAutoFit/>
            </a:bodyPr>
            <a:lstStyle/>
            <a:p>
              <a:pPr>
                <a:spcBef>
                  <a:spcPct val="50000"/>
                </a:spcBef>
              </a:pPr>
              <a:endParaRPr lang="en-US" sz="2800">
                <a:solidFill>
                  <a:schemeClr val="bg1"/>
                </a:solidFill>
              </a:endParaRPr>
            </a:p>
          </p:txBody>
        </p:sp>
        <p:sp>
          <p:nvSpPr>
            <p:cNvPr id="259096" name="Line 24"/>
            <p:cNvSpPr>
              <a:spLocks noChangeShapeType="1"/>
            </p:cNvSpPr>
            <p:nvPr/>
          </p:nvSpPr>
          <p:spPr bwMode="auto">
            <a:xfrm>
              <a:off x="4044" y="774"/>
              <a:ext cx="0" cy="2937"/>
            </a:xfrm>
            <a:prstGeom prst="line">
              <a:avLst/>
            </a:prstGeom>
            <a:noFill/>
            <a:ln w="9525">
              <a:solidFill>
                <a:schemeClr val="tx1"/>
              </a:solidFill>
              <a:round/>
              <a:headEnd/>
              <a:tailEnd/>
            </a:ln>
          </p:spPr>
          <p:txBody>
            <a:bodyPr/>
            <a:lstStyle/>
            <a:p>
              <a:endParaRPr lang="en-US"/>
            </a:p>
          </p:txBody>
        </p:sp>
        <p:sp>
          <p:nvSpPr>
            <p:cNvPr id="259097" name="Line 25"/>
            <p:cNvSpPr>
              <a:spLocks noChangeShapeType="1"/>
            </p:cNvSpPr>
            <p:nvPr/>
          </p:nvSpPr>
          <p:spPr bwMode="auto">
            <a:xfrm>
              <a:off x="1551" y="771"/>
              <a:ext cx="0" cy="2937"/>
            </a:xfrm>
            <a:prstGeom prst="line">
              <a:avLst/>
            </a:prstGeom>
            <a:noFill/>
            <a:ln w="9525">
              <a:solidFill>
                <a:schemeClr val="tx1"/>
              </a:solidFill>
              <a:round/>
              <a:headEnd/>
              <a:tailEnd/>
            </a:ln>
          </p:spPr>
          <p:txBody>
            <a:bodyPr/>
            <a:lstStyle/>
            <a:p>
              <a:endParaRPr lang="en-US"/>
            </a:p>
          </p:txBody>
        </p:sp>
        <p:sp>
          <p:nvSpPr>
            <p:cNvPr id="259098" name="Text Box 30" descr="70%"/>
            <p:cNvSpPr txBox="1">
              <a:spLocks noChangeArrowheads="1"/>
            </p:cNvSpPr>
            <p:nvPr/>
          </p:nvSpPr>
          <p:spPr bwMode="auto">
            <a:xfrm>
              <a:off x="108" y="3321"/>
              <a:ext cx="1332"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12  SIGUSR2</a:t>
              </a:r>
            </a:p>
          </p:txBody>
        </p:sp>
        <p:sp>
          <p:nvSpPr>
            <p:cNvPr id="259099" name="Text Box 31" descr="70%"/>
            <p:cNvSpPr txBox="1">
              <a:spLocks noChangeArrowheads="1"/>
            </p:cNvSpPr>
            <p:nvPr/>
          </p:nvSpPr>
          <p:spPr bwMode="auto">
            <a:xfrm>
              <a:off x="1728" y="3314"/>
              <a:ext cx="2208"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User –defined </a:t>
              </a:r>
            </a:p>
          </p:txBody>
        </p:sp>
        <p:sp>
          <p:nvSpPr>
            <p:cNvPr id="259100" name="Text Box 32" descr="70%"/>
            <p:cNvSpPr txBox="1">
              <a:spLocks noChangeArrowheads="1"/>
            </p:cNvSpPr>
            <p:nvPr/>
          </p:nvSpPr>
          <p:spPr bwMode="auto">
            <a:xfrm>
              <a:off x="4320" y="3321"/>
              <a:ext cx="110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exit</a:t>
              </a:r>
            </a:p>
          </p:txBody>
        </p:sp>
        <p:sp>
          <p:nvSpPr>
            <p:cNvPr id="259101" name="Text Box 33" descr="70%"/>
            <p:cNvSpPr txBox="1">
              <a:spLocks noChangeArrowheads="1"/>
            </p:cNvSpPr>
            <p:nvPr/>
          </p:nvSpPr>
          <p:spPr bwMode="auto">
            <a:xfrm>
              <a:off x="1764" y="1173"/>
              <a:ext cx="2208"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Bus error </a:t>
              </a:r>
            </a:p>
          </p:txBody>
        </p:sp>
      </p:gr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0098" name="Group 31"/>
          <p:cNvGrpSpPr>
            <a:grpSpLocks/>
          </p:cNvGrpSpPr>
          <p:nvPr/>
        </p:nvGrpSpPr>
        <p:grpSpPr bwMode="auto">
          <a:xfrm>
            <a:off x="304800" y="1143000"/>
            <a:ext cx="8610600" cy="4953000"/>
            <a:chOff x="144" y="624"/>
            <a:chExt cx="5424" cy="3120"/>
          </a:xfrm>
        </p:grpSpPr>
        <p:sp>
          <p:nvSpPr>
            <p:cNvPr id="260099" name="Line 2"/>
            <p:cNvSpPr>
              <a:spLocks noChangeShapeType="1"/>
            </p:cNvSpPr>
            <p:nvPr/>
          </p:nvSpPr>
          <p:spPr bwMode="auto">
            <a:xfrm>
              <a:off x="576" y="1372"/>
              <a:ext cx="4752" cy="0"/>
            </a:xfrm>
            <a:prstGeom prst="line">
              <a:avLst/>
            </a:prstGeom>
            <a:noFill/>
            <a:ln w="9525">
              <a:solidFill>
                <a:schemeClr val="tx1"/>
              </a:solidFill>
              <a:round/>
              <a:headEnd/>
              <a:tailEnd/>
            </a:ln>
          </p:spPr>
          <p:txBody>
            <a:bodyPr/>
            <a:lstStyle/>
            <a:p>
              <a:endParaRPr lang="en-US"/>
            </a:p>
          </p:txBody>
        </p:sp>
        <p:sp>
          <p:nvSpPr>
            <p:cNvPr id="260100" name="Rectangle 4"/>
            <p:cNvSpPr>
              <a:spLocks noChangeArrowheads="1"/>
            </p:cNvSpPr>
            <p:nvPr/>
          </p:nvSpPr>
          <p:spPr bwMode="auto">
            <a:xfrm>
              <a:off x="144" y="904"/>
              <a:ext cx="5424" cy="284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60101" name="Rectangle 5"/>
            <p:cNvSpPr>
              <a:spLocks noChangeArrowheads="1"/>
            </p:cNvSpPr>
            <p:nvPr/>
          </p:nvSpPr>
          <p:spPr bwMode="auto">
            <a:xfrm>
              <a:off x="144" y="649"/>
              <a:ext cx="5424" cy="311"/>
            </a:xfrm>
            <a:prstGeom prst="rect">
              <a:avLst/>
            </a:prstGeom>
            <a:solidFill>
              <a:schemeClr val="tx1"/>
            </a:solidFill>
            <a:ln w="9525">
              <a:solidFill>
                <a:schemeClr val="tx1"/>
              </a:solidFill>
              <a:miter lim="800000"/>
              <a:headEnd/>
              <a:tailEnd/>
            </a:ln>
          </p:spPr>
          <p:txBody>
            <a:bodyPr wrap="none" anchor="ctr"/>
            <a:lstStyle/>
            <a:p>
              <a:endParaRPr lang="en-US"/>
            </a:p>
          </p:txBody>
        </p:sp>
        <p:sp>
          <p:nvSpPr>
            <p:cNvPr id="260102" name="Line 6"/>
            <p:cNvSpPr>
              <a:spLocks noChangeShapeType="1"/>
            </p:cNvSpPr>
            <p:nvPr/>
          </p:nvSpPr>
          <p:spPr bwMode="auto">
            <a:xfrm>
              <a:off x="1680" y="711"/>
              <a:ext cx="0" cy="3033"/>
            </a:xfrm>
            <a:prstGeom prst="line">
              <a:avLst/>
            </a:prstGeom>
            <a:noFill/>
            <a:ln w="9525">
              <a:solidFill>
                <a:schemeClr val="tx1"/>
              </a:solidFill>
              <a:round/>
              <a:headEnd/>
              <a:tailEnd/>
            </a:ln>
          </p:spPr>
          <p:txBody>
            <a:bodyPr/>
            <a:lstStyle/>
            <a:p>
              <a:endParaRPr lang="en-US"/>
            </a:p>
          </p:txBody>
        </p:sp>
        <p:sp>
          <p:nvSpPr>
            <p:cNvPr id="260103" name="Text Box 7" descr="70%"/>
            <p:cNvSpPr txBox="1">
              <a:spLocks noChangeArrowheads="1"/>
            </p:cNvSpPr>
            <p:nvPr/>
          </p:nvSpPr>
          <p:spPr bwMode="auto">
            <a:xfrm>
              <a:off x="300" y="624"/>
              <a:ext cx="108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   Signal</a:t>
              </a:r>
            </a:p>
          </p:txBody>
        </p:sp>
        <p:sp>
          <p:nvSpPr>
            <p:cNvPr id="260104" name="Text Box 8" descr="70%"/>
            <p:cNvSpPr txBox="1">
              <a:spLocks noChangeArrowheads="1"/>
            </p:cNvSpPr>
            <p:nvPr/>
          </p:nvSpPr>
          <p:spPr bwMode="auto">
            <a:xfrm>
              <a:off x="2016" y="624"/>
              <a:ext cx="134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Description</a:t>
              </a:r>
            </a:p>
          </p:txBody>
        </p:sp>
        <p:sp>
          <p:nvSpPr>
            <p:cNvPr id="260105" name="Line 9"/>
            <p:cNvSpPr>
              <a:spLocks noChangeShapeType="1"/>
            </p:cNvSpPr>
            <p:nvPr/>
          </p:nvSpPr>
          <p:spPr bwMode="auto">
            <a:xfrm>
              <a:off x="4104" y="711"/>
              <a:ext cx="0" cy="3033"/>
            </a:xfrm>
            <a:prstGeom prst="line">
              <a:avLst/>
            </a:prstGeom>
            <a:noFill/>
            <a:ln w="9525">
              <a:solidFill>
                <a:schemeClr val="tx1"/>
              </a:solidFill>
              <a:round/>
              <a:headEnd/>
              <a:tailEnd/>
            </a:ln>
          </p:spPr>
          <p:txBody>
            <a:bodyPr/>
            <a:lstStyle/>
            <a:p>
              <a:endParaRPr lang="en-US"/>
            </a:p>
          </p:txBody>
        </p:sp>
        <p:sp>
          <p:nvSpPr>
            <p:cNvPr id="260106" name="Text Box 10" descr="70%"/>
            <p:cNvSpPr txBox="1">
              <a:spLocks noChangeArrowheads="1"/>
            </p:cNvSpPr>
            <p:nvPr/>
          </p:nvSpPr>
          <p:spPr bwMode="auto">
            <a:xfrm>
              <a:off x="4080" y="624"/>
              <a:ext cx="1488"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Default action</a:t>
              </a:r>
            </a:p>
          </p:txBody>
        </p:sp>
        <p:sp>
          <p:nvSpPr>
            <p:cNvPr id="260107" name="Text Box 11" descr="70%"/>
            <p:cNvSpPr txBox="1">
              <a:spLocks noChangeArrowheads="1"/>
            </p:cNvSpPr>
            <p:nvPr/>
          </p:nvSpPr>
          <p:spPr bwMode="auto">
            <a:xfrm>
              <a:off x="240" y="1041"/>
              <a:ext cx="1308"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13  SIGPIPE</a:t>
              </a:r>
            </a:p>
          </p:txBody>
        </p:sp>
        <p:sp>
          <p:nvSpPr>
            <p:cNvPr id="260108" name="Text Box 12" descr="70%"/>
            <p:cNvSpPr txBox="1">
              <a:spLocks noChangeArrowheads="1"/>
            </p:cNvSpPr>
            <p:nvPr/>
          </p:nvSpPr>
          <p:spPr bwMode="auto">
            <a:xfrm>
              <a:off x="192" y="1644"/>
              <a:ext cx="144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14  SIGALRM</a:t>
              </a:r>
            </a:p>
          </p:txBody>
        </p:sp>
        <p:sp>
          <p:nvSpPr>
            <p:cNvPr id="260109" name="Text Box 13" descr="70%"/>
            <p:cNvSpPr txBox="1">
              <a:spLocks noChangeArrowheads="1"/>
            </p:cNvSpPr>
            <p:nvPr/>
          </p:nvSpPr>
          <p:spPr bwMode="auto">
            <a:xfrm>
              <a:off x="240" y="2112"/>
              <a:ext cx="144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15  SIGTERM</a:t>
              </a:r>
            </a:p>
          </p:txBody>
        </p:sp>
        <p:sp>
          <p:nvSpPr>
            <p:cNvPr id="260110" name="Text Box 14" descr="70%"/>
            <p:cNvSpPr txBox="1">
              <a:spLocks noChangeArrowheads="1"/>
            </p:cNvSpPr>
            <p:nvPr/>
          </p:nvSpPr>
          <p:spPr bwMode="auto">
            <a:xfrm>
              <a:off x="192" y="2601"/>
              <a:ext cx="144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16  SIGCHLD</a:t>
              </a:r>
            </a:p>
          </p:txBody>
        </p:sp>
        <p:sp>
          <p:nvSpPr>
            <p:cNvPr id="260111" name="Text Box 15" descr="70%"/>
            <p:cNvSpPr txBox="1">
              <a:spLocks noChangeArrowheads="1"/>
            </p:cNvSpPr>
            <p:nvPr/>
          </p:nvSpPr>
          <p:spPr bwMode="auto">
            <a:xfrm>
              <a:off x="1728" y="1051"/>
              <a:ext cx="2208" cy="596"/>
            </a:xfrm>
            <a:prstGeom prst="rect">
              <a:avLst/>
            </a:prstGeom>
            <a:noFill/>
            <a:ln w="9525">
              <a:noFill/>
              <a:miter lim="800000"/>
              <a:headEnd/>
              <a:tailEnd/>
            </a:ln>
          </p:spPr>
          <p:txBody>
            <a:bodyPr>
              <a:spAutoFit/>
            </a:bodyPr>
            <a:lstStyle/>
            <a:p>
              <a:pPr>
                <a:spcBef>
                  <a:spcPct val="50000"/>
                </a:spcBef>
              </a:pPr>
              <a:r>
                <a:rPr lang="en-US" sz="2800">
                  <a:solidFill>
                    <a:schemeClr val="bg1"/>
                  </a:solidFill>
                </a:rPr>
                <a:t>Write to pipe with no readers</a:t>
              </a:r>
            </a:p>
          </p:txBody>
        </p:sp>
        <p:sp>
          <p:nvSpPr>
            <p:cNvPr id="260112" name="Text Box 16" descr="70%"/>
            <p:cNvSpPr txBox="1">
              <a:spLocks noChangeArrowheads="1"/>
            </p:cNvSpPr>
            <p:nvPr/>
          </p:nvSpPr>
          <p:spPr bwMode="auto">
            <a:xfrm>
              <a:off x="1728" y="2121"/>
              <a:ext cx="1872"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Terminate process</a:t>
              </a:r>
            </a:p>
          </p:txBody>
        </p:sp>
        <p:sp>
          <p:nvSpPr>
            <p:cNvPr id="260113" name="Text Box 17" descr="70%"/>
            <p:cNvSpPr txBox="1">
              <a:spLocks noChangeArrowheads="1"/>
            </p:cNvSpPr>
            <p:nvPr/>
          </p:nvSpPr>
          <p:spPr bwMode="auto">
            <a:xfrm>
              <a:off x="1716" y="2628"/>
              <a:ext cx="2388" cy="327"/>
            </a:xfrm>
            <a:prstGeom prst="rect">
              <a:avLst/>
            </a:prstGeom>
            <a:noFill/>
            <a:ln w="9525">
              <a:noFill/>
              <a:miter lim="800000"/>
              <a:headEnd/>
              <a:tailEnd/>
            </a:ln>
          </p:spPr>
          <p:txBody>
            <a:bodyPr wrap="square">
              <a:spAutoFit/>
            </a:bodyPr>
            <a:lstStyle/>
            <a:p>
              <a:pPr>
                <a:spcBef>
                  <a:spcPct val="50000"/>
                </a:spcBef>
              </a:pPr>
              <a:r>
                <a:rPr lang="en-US" sz="2800" dirty="0">
                  <a:solidFill>
                    <a:schemeClr val="bg1"/>
                  </a:solidFill>
                </a:rPr>
                <a:t>Child died or suspended</a:t>
              </a:r>
            </a:p>
          </p:txBody>
        </p:sp>
        <p:sp>
          <p:nvSpPr>
            <p:cNvPr id="260114" name="Text Box 18" descr="70%"/>
            <p:cNvSpPr txBox="1">
              <a:spLocks noChangeArrowheads="1"/>
            </p:cNvSpPr>
            <p:nvPr/>
          </p:nvSpPr>
          <p:spPr bwMode="auto">
            <a:xfrm>
              <a:off x="1728" y="1644"/>
              <a:ext cx="2208"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Real – time alarm</a:t>
              </a:r>
            </a:p>
          </p:txBody>
        </p:sp>
        <p:sp>
          <p:nvSpPr>
            <p:cNvPr id="260115" name="Text Box 19" descr="70%"/>
            <p:cNvSpPr txBox="1">
              <a:spLocks noChangeArrowheads="1"/>
            </p:cNvSpPr>
            <p:nvPr/>
          </p:nvSpPr>
          <p:spPr bwMode="auto">
            <a:xfrm>
              <a:off x="4224" y="1061"/>
              <a:ext cx="110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exit</a:t>
              </a:r>
            </a:p>
          </p:txBody>
        </p:sp>
        <p:sp>
          <p:nvSpPr>
            <p:cNvPr id="260116" name="Text Box 20" descr="70%"/>
            <p:cNvSpPr txBox="1">
              <a:spLocks noChangeArrowheads="1"/>
            </p:cNvSpPr>
            <p:nvPr/>
          </p:nvSpPr>
          <p:spPr bwMode="auto">
            <a:xfrm>
              <a:off x="4224" y="2592"/>
              <a:ext cx="72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ignore</a:t>
              </a:r>
            </a:p>
          </p:txBody>
        </p:sp>
        <p:sp>
          <p:nvSpPr>
            <p:cNvPr id="260117" name="Text Box 21" descr="70%"/>
            <p:cNvSpPr txBox="1">
              <a:spLocks noChangeArrowheads="1"/>
            </p:cNvSpPr>
            <p:nvPr/>
          </p:nvSpPr>
          <p:spPr bwMode="auto">
            <a:xfrm>
              <a:off x="4224" y="1632"/>
              <a:ext cx="110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exit</a:t>
              </a:r>
            </a:p>
          </p:txBody>
        </p:sp>
        <p:sp>
          <p:nvSpPr>
            <p:cNvPr id="260118" name="Text Box 22" descr="70%"/>
            <p:cNvSpPr txBox="1">
              <a:spLocks noChangeArrowheads="1"/>
            </p:cNvSpPr>
            <p:nvPr/>
          </p:nvSpPr>
          <p:spPr bwMode="auto">
            <a:xfrm>
              <a:off x="4224" y="3024"/>
              <a:ext cx="1104" cy="596"/>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continue/ ignore</a:t>
              </a:r>
            </a:p>
          </p:txBody>
        </p:sp>
        <p:sp>
          <p:nvSpPr>
            <p:cNvPr id="260119" name="Text Box 23" descr="70%"/>
            <p:cNvSpPr txBox="1">
              <a:spLocks noChangeArrowheads="1"/>
            </p:cNvSpPr>
            <p:nvPr/>
          </p:nvSpPr>
          <p:spPr bwMode="auto">
            <a:xfrm>
              <a:off x="180" y="2985"/>
              <a:ext cx="140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17  SIGCONT</a:t>
              </a:r>
            </a:p>
          </p:txBody>
        </p:sp>
        <p:sp>
          <p:nvSpPr>
            <p:cNvPr id="260120" name="Text Box 24" descr="70%"/>
            <p:cNvSpPr txBox="1">
              <a:spLocks noChangeArrowheads="1"/>
            </p:cNvSpPr>
            <p:nvPr/>
          </p:nvSpPr>
          <p:spPr bwMode="auto">
            <a:xfrm>
              <a:off x="4224" y="2160"/>
              <a:ext cx="72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exit</a:t>
              </a:r>
            </a:p>
          </p:txBody>
        </p:sp>
        <p:sp>
          <p:nvSpPr>
            <p:cNvPr id="260121" name="Text Box 29" descr="70%"/>
            <p:cNvSpPr txBox="1">
              <a:spLocks noChangeArrowheads="1"/>
            </p:cNvSpPr>
            <p:nvPr/>
          </p:nvSpPr>
          <p:spPr bwMode="auto">
            <a:xfrm>
              <a:off x="1680" y="2985"/>
              <a:ext cx="2304" cy="596"/>
            </a:xfrm>
            <a:prstGeom prst="rect">
              <a:avLst/>
            </a:prstGeom>
            <a:noFill/>
            <a:ln w="9525">
              <a:noFill/>
              <a:miter lim="800000"/>
              <a:headEnd/>
              <a:tailEnd/>
            </a:ln>
          </p:spPr>
          <p:txBody>
            <a:bodyPr>
              <a:spAutoFit/>
            </a:bodyPr>
            <a:lstStyle/>
            <a:p>
              <a:pPr>
                <a:spcBef>
                  <a:spcPct val="50000"/>
                </a:spcBef>
              </a:pPr>
              <a:r>
                <a:rPr lang="en-US" sz="2800" dirty="0">
                  <a:solidFill>
                    <a:schemeClr val="bg1"/>
                  </a:solidFill>
                </a:rPr>
                <a:t>Resume suspended process</a:t>
              </a:r>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1122" name="Group 37"/>
          <p:cNvGrpSpPr>
            <a:grpSpLocks/>
          </p:cNvGrpSpPr>
          <p:nvPr/>
        </p:nvGrpSpPr>
        <p:grpSpPr bwMode="auto">
          <a:xfrm>
            <a:off x="228600" y="1033463"/>
            <a:ext cx="8667750" cy="5176837"/>
            <a:chOff x="108" y="576"/>
            <a:chExt cx="5460" cy="3261"/>
          </a:xfrm>
        </p:grpSpPr>
        <p:sp>
          <p:nvSpPr>
            <p:cNvPr id="261123" name="Line 2"/>
            <p:cNvSpPr>
              <a:spLocks noChangeShapeType="1"/>
            </p:cNvSpPr>
            <p:nvPr/>
          </p:nvSpPr>
          <p:spPr bwMode="auto">
            <a:xfrm>
              <a:off x="576" y="1351"/>
              <a:ext cx="4752" cy="0"/>
            </a:xfrm>
            <a:prstGeom prst="line">
              <a:avLst/>
            </a:prstGeom>
            <a:noFill/>
            <a:ln w="9525">
              <a:solidFill>
                <a:schemeClr val="tx1"/>
              </a:solidFill>
              <a:round/>
              <a:headEnd/>
              <a:tailEnd/>
            </a:ln>
          </p:spPr>
          <p:txBody>
            <a:bodyPr/>
            <a:lstStyle/>
            <a:p>
              <a:endParaRPr lang="en-US"/>
            </a:p>
          </p:txBody>
        </p:sp>
        <p:sp>
          <p:nvSpPr>
            <p:cNvPr id="261124" name="Rectangle 4"/>
            <p:cNvSpPr>
              <a:spLocks noChangeArrowheads="1"/>
            </p:cNvSpPr>
            <p:nvPr/>
          </p:nvSpPr>
          <p:spPr bwMode="auto">
            <a:xfrm>
              <a:off x="144" y="866"/>
              <a:ext cx="5424" cy="2952"/>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61125" name="Rectangle 5"/>
            <p:cNvSpPr>
              <a:spLocks noChangeArrowheads="1"/>
            </p:cNvSpPr>
            <p:nvPr/>
          </p:nvSpPr>
          <p:spPr bwMode="auto">
            <a:xfrm>
              <a:off x="144" y="642"/>
              <a:ext cx="5424" cy="274"/>
            </a:xfrm>
            <a:prstGeom prst="rect">
              <a:avLst/>
            </a:prstGeom>
            <a:solidFill>
              <a:schemeClr val="tx1"/>
            </a:solidFill>
            <a:ln w="9525">
              <a:solidFill>
                <a:schemeClr val="tx1"/>
              </a:solidFill>
              <a:miter lim="800000"/>
              <a:headEnd/>
              <a:tailEnd/>
            </a:ln>
          </p:spPr>
          <p:txBody>
            <a:bodyPr wrap="none" anchor="ctr"/>
            <a:lstStyle/>
            <a:p>
              <a:endParaRPr lang="en-US"/>
            </a:p>
          </p:txBody>
        </p:sp>
        <p:sp>
          <p:nvSpPr>
            <p:cNvPr id="261126" name="Line 6"/>
            <p:cNvSpPr>
              <a:spLocks noChangeShapeType="1"/>
            </p:cNvSpPr>
            <p:nvPr/>
          </p:nvSpPr>
          <p:spPr bwMode="auto">
            <a:xfrm>
              <a:off x="1620" y="664"/>
              <a:ext cx="0" cy="3154"/>
            </a:xfrm>
            <a:prstGeom prst="line">
              <a:avLst/>
            </a:prstGeom>
            <a:noFill/>
            <a:ln w="9525">
              <a:solidFill>
                <a:schemeClr val="tx1"/>
              </a:solidFill>
              <a:round/>
              <a:headEnd/>
              <a:tailEnd/>
            </a:ln>
          </p:spPr>
          <p:txBody>
            <a:bodyPr/>
            <a:lstStyle/>
            <a:p>
              <a:endParaRPr lang="en-US"/>
            </a:p>
          </p:txBody>
        </p:sp>
        <p:sp>
          <p:nvSpPr>
            <p:cNvPr id="261127" name="Text Box 7" descr="70%"/>
            <p:cNvSpPr txBox="1">
              <a:spLocks noChangeArrowheads="1"/>
            </p:cNvSpPr>
            <p:nvPr/>
          </p:nvSpPr>
          <p:spPr bwMode="auto">
            <a:xfrm>
              <a:off x="264" y="612"/>
              <a:ext cx="108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   Signal</a:t>
              </a:r>
            </a:p>
          </p:txBody>
        </p:sp>
        <p:sp>
          <p:nvSpPr>
            <p:cNvPr id="261128" name="Text Box 8" descr="70%"/>
            <p:cNvSpPr txBox="1">
              <a:spLocks noChangeArrowheads="1"/>
            </p:cNvSpPr>
            <p:nvPr/>
          </p:nvSpPr>
          <p:spPr bwMode="auto">
            <a:xfrm>
              <a:off x="2016" y="576"/>
              <a:ext cx="134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Description</a:t>
              </a:r>
            </a:p>
          </p:txBody>
        </p:sp>
        <p:sp>
          <p:nvSpPr>
            <p:cNvPr id="261129" name="Line 9"/>
            <p:cNvSpPr>
              <a:spLocks noChangeShapeType="1"/>
            </p:cNvSpPr>
            <p:nvPr/>
          </p:nvSpPr>
          <p:spPr bwMode="auto">
            <a:xfrm>
              <a:off x="4104" y="664"/>
              <a:ext cx="0" cy="3154"/>
            </a:xfrm>
            <a:prstGeom prst="line">
              <a:avLst/>
            </a:prstGeom>
            <a:noFill/>
            <a:ln w="9525">
              <a:solidFill>
                <a:schemeClr val="tx1"/>
              </a:solidFill>
              <a:round/>
              <a:headEnd/>
              <a:tailEnd/>
            </a:ln>
          </p:spPr>
          <p:txBody>
            <a:bodyPr/>
            <a:lstStyle/>
            <a:p>
              <a:endParaRPr lang="en-US"/>
            </a:p>
          </p:txBody>
        </p:sp>
        <p:sp>
          <p:nvSpPr>
            <p:cNvPr id="261130" name="Text Box 10" descr="70%"/>
            <p:cNvSpPr txBox="1">
              <a:spLocks noChangeArrowheads="1"/>
            </p:cNvSpPr>
            <p:nvPr/>
          </p:nvSpPr>
          <p:spPr bwMode="auto">
            <a:xfrm>
              <a:off x="4080" y="576"/>
              <a:ext cx="1488"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Default action</a:t>
              </a:r>
            </a:p>
          </p:txBody>
        </p:sp>
        <p:sp>
          <p:nvSpPr>
            <p:cNvPr id="261131" name="Text Box 11" descr="70%"/>
            <p:cNvSpPr txBox="1">
              <a:spLocks noChangeArrowheads="1"/>
            </p:cNvSpPr>
            <p:nvPr/>
          </p:nvSpPr>
          <p:spPr bwMode="auto">
            <a:xfrm>
              <a:off x="204" y="972"/>
              <a:ext cx="1488"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18  SIGSTOP</a:t>
              </a:r>
            </a:p>
          </p:txBody>
        </p:sp>
        <p:sp>
          <p:nvSpPr>
            <p:cNvPr id="261132" name="Text Box 12" descr="70%"/>
            <p:cNvSpPr txBox="1">
              <a:spLocks noChangeArrowheads="1"/>
            </p:cNvSpPr>
            <p:nvPr/>
          </p:nvSpPr>
          <p:spPr bwMode="auto">
            <a:xfrm>
              <a:off x="204" y="1356"/>
              <a:ext cx="144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19  SIGTSTP</a:t>
              </a:r>
            </a:p>
          </p:txBody>
        </p:sp>
        <p:sp>
          <p:nvSpPr>
            <p:cNvPr id="261133" name="Text Box 13" descr="70%"/>
            <p:cNvSpPr txBox="1">
              <a:spLocks noChangeArrowheads="1"/>
            </p:cNvSpPr>
            <p:nvPr/>
          </p:nvSpPr>
          <p:spPr bwMode="auto">
            <a:xfrm>
              <a:off x="204" y="1731"/>
              <a:ext cx="1296"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20  SIGTTIN</a:t>
              </a:r>
            </a:p>
          </p:txBody>
        </p:sp>
        <p:sp>
          <p:nvSpPr>
            <p:cNvPr id="261134" name="Text Box 14" descr="70%"/>
            <p:cNvSpPr txBox="1">
              <a:spLocks noChangeArrowheads="1"/>
            </p:cNvSpPr>
            <p:nvPr/>
          </p:nvSpPr>
          <p:spPr bwMode="auto">
            <a:xfrm>
              <a:off x="204" y="2326"/>
              <a:ext cx="1392"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21  SIGTTOU</a:t>
              </a:r>
            </a:p>
          </p:txBody>
        </p:sp>
        <p:sp>
          <p:nvSpPr>
            <p:cNvPr id="261135" name="Text Box 15" descr="70%"/>
            <p:cNvSpPr txBox="1">
              <a:spLocks noChangeArrowheads="1"/>
            </p:cNvSpPr>
            <p:nvPr/>
          </p:nvSpPr>
          <p:spPr bwMode="auto">
            <a:xfrm>
              <a:off x="168" y="2931"/>
              <a:ext cx="1296"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22  SIGURG </a:t>
              </a:r>
            </a:p>
          </p:txBody>
        </p:sp>
        <p:sp>
          <p:nvSpPr>
            <p:cNvPr id="261136" name="Text Box 16" descr="70%"/>
            <p:cNvSpPr txBox="1">
              <a:spLocks noChangeArrowheads="1"/>
            </p:cNvSpPr>
            <p:nvPr/>
          </p:nvSpPr>
          <p:spPr bwMode="auto">
            <a:xfrm>
              <a:off x="1740" y="974"/>
              <a:ext cx="2208"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Stop process</a:t>
              </a:r>
            </a:p>
          </p:txBody>
        </p:sp>
        <p:sp>
          <p:nvSpPr>
            <p:cNvPr id="261137" name="Text Box 17" descr="70%"/>
            <p:cNvSpPr txBox="1">
              <a:spLocks noChangeArrowheads="1"/>
            </p:cNvSpPr>
            <p:nvPr/>
          </p:nvSpPr>
          <p:spPr bwMode="auto">
            <a:xfrm>
              <a:off x="1740" y="1731"/>
              <a:ext cx="2304" cy="596"/>
            </a:xfrm>
            <a:prstGeom prst="rect">
              <a:avLst/>
            </a:prstGeom>
            <a:noFill/>
            <a:ln w="9525">
              <a:noFill/>
              <a:miter lim="800000"/>
              <a:headEnd/>
              <a:tailEnd/>
            </a:ln>
          </p:spPr>
          <p:txBody>
            <a:bodyPr>
              <a:spAutoFit/>
            </a:bodyPr>
            <a:lstStyle/>
            <a:p>
              <a:pPr>
                <a:spcBef>
                  <a:spcPct val="50000"/>
                </a:spcBef>
              </a:pPr>
              <a:r>
                <a:rPr lang="en-US" sz="2800">
                  <a:solidFill>
                    <a:schemeClr val="bg1"/>
                  </a:solidFill>
                </a:rPr>
                <a:t>tty read from background process</a:t>
              </a:r>
            </a:p>
          </p:txBody>
        </p:sp>
        <p:sp>
          <p:nvSpPr>
            <p:cNvPr id="261138" name="Text Box 18" descr="70%"/>
            <p:cNvSpPr txBox="1">
              <a:spLocks noChangeArrowheads="1"/>
            </p:cNvSpPr>
            <p:nvPr/>
          </p:nvSpPr>
          <p:spPr bwMode="auto">
            <a:xfrm>
              <a:off x="1740" y="2307"/>
              <a:ext cx="2208" cy="596"/>
            </a:xfrm>
            <a:prstGeom prst="rect">
              <a:avLst/>
            </a:prstGeom>
            <a:noFill/>
            <a:ln w="9525">
              <a:noFill/>
              <a:miter lim="800000"/>
              <a:headEnd/>
              <a:tailEnd/>
            </a:ln>
          </p:spPr>
          <p:txBody>
            <a:bodyPr>
              <a:spAutoFit/>
            </a:bodyPr>
            <a:lstStyle/>
            <a:p>
              <a:pPr>
                <a:spcBef>
                  <a:spcPct val="50000"/>
                </a:spcBef>
              </a:pPr>
              <a:r>
                <a:rPr lang="en-US" sz="2800">
                  <a:solidFill>
                    <a:schemeClr val="bg1"/>
                  </a:solidFill>
                </a:rPr>
                <a:t>tty write to background process</a:t>
              </a:r>
            </a:p>
          </p:txBody>
        </p:sp>
        <p:sp>
          <p:nvSpPr>
            <p:cNvPr id="261139" name="Text Box 19" descr="70%"/>
            <p:cNvSpPr txBox="1">
              <a:spLocks noChangeArrowheads="1"/>
            </p:cNvSpPr>
            <p:nvPr/>
          </p:nvSpPr>
          <p:spPr bwMode="auto">
            <a:xfrm>
              <a:off x="1740" y="1355"/>
              <a:ext cx="2304"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 tty stop signal(cntrl+z)</a:t>
              </a:r>
            </a:p>
          </p:txBody>
        </p:sp>
        <p:sp>
          <p:nvSpPr>
            <p:cNvPr id="261140" name="Text Box 20" descr="70%"/>
            <p:cNvSpPr txBox="1">
              <a:spLocks noChangeArrowheads="1"/>
            </p:cNvSpPr>
            <p:nvPr/>
          </p:nvSpPr>
          <p:spPr bwMode="auto">
            <a:xfrm>
              <a:off x="4236" y="983"/>
              <a:ext cx="110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stop</a:t>
              </a:r>
            </a:p>
          </p:txBody>
        </p:sp>
        <p:sp>
          <p:nvSpPr>
            <p:cNvPr id="261141" name="Text Box 21" descr="70%"/>
            <p:cNvSpPr txBox="1">
              <a:spLocks noChangeArrowheads="1"/>
            </p:cNvSpPr>
            <p:nvPr/>
          </p:nvSpPr>
          <p:spPr bwMode="auto">
            <a:xfrm>
              <a:off x="4236" y="2931"/>
              <a:ext cx="72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ignore</a:t>
              </a:r>
            </a:p>
          </p:txBody>
        </p:sp>
        <p:sp>
          <p:nvSpPr>
            <p:cNvPr id="261142" name="Text Box 22" descr="70%"/>
            <p:cNvSpPr txBox="1">
              <a:spLocks noChangeArrowheads="1"/>
            </p:cNvSpPr>
            <p:nvPr/>
          </p:nvSpPr>
          <p:spPr bwMode="auto">
            <a:xfrm>
              <a:off x="4236" y="1359"/>
              <a:ext cx="110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stop</a:t>
              </a:r>
            </a:p>
          </p:txBody>
        </p:sp>
        <p:sp>
          <p:nvSpPr>
            <p:cNvPr id="261143" name="Text Box 23" descr="70%"/>
            <p:cNvSpPr txBox="1">
              <a:spLocks noChangeArrowheads="1"/>
            </p:cNvSpPr>
            <p:nvPr/>
          </p:nvSpPr>
          <p:spPr bwMode="auto">
            <a:xfrm>
              <a:off x="4236" y="1851"/>
              <a:ext cx="72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stop</a:t>
              </a:r>
            </a:p>
          </p:txBody>
        </p:sp>
        <p:sp>
          <p:nvSpPr>
            <p:cNvPr id="261144" name="Text Box 24" descr="70%"/>
            <p:cNvSpPr txBox="1">
              <a:spLocks noChangeArrowheads="1"/>
            </p:cNvSpPr>
            <p:nvPr/>
          </p:nvSpPr>
          <p:spPr bwMode="auto">
            <a:xfrm>
              <a:off x="4236" y="2328"/>
              <a:ext cx="72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stop</a:t>
              </a:r>
            </a:p>
          </p:txBody>
        </p:sp>
        <p:sp>
          <p:nvSpPr>
            <p:cNvPr id="261145" name="Text Box 25" descr="70%"/>
            <p:cNvSpPr txBox="1">
              <a:spLocks noChangeArrowheads="1"/>
            </p:cNvSpPr>
            <p:nvPr/>
          </p:nvSpPr>
          <p:spPr bwMode="auto">
            <a:xfrm>
              <a:off x="1740" y="2931"/>
              <a:ext cx="2208" cy="596"/>
            </a:xfrm>
            <a:prstGeom prst="rect">
              <a:avLst/>
            </a:prstGeom>
            <a:noFill/>
            <a:ln w="9525">
              <a:noFill/>
              <a:miter lim="800000"/>
              <a:headEnd/>
              <a:tailEnd/>
            </a:ln>
          </p:spPr>
          <p:txBody>
            <a:bodyPr>
              <a:spAutoFit/>
            </a:bodyPr>
            <a:lstStyle/>
            <a:p>
              <a:pPr>
                <a:spcBef>
                  <a:spcPct val="50000"/>
                </a:spcBef>
              </a:pPr>
              <a:r>
                <a:rPr lang="en-US" sz="2800" dirty="0">
                  <a:solidFill>
                    <a:schemeClr val="bg1"/>
                  </a:solidFill>
                </a:rPr>
                <a:t>Urgent event on I/O channel</a:t>
              </a:r>
            </a:p>
          </p:txBody>
        </p:sp>
        <p:sp>
          <p:nvSpPr>
            <p:cNvPr id="261146" name="Text Box 30" descr="70%"/>
            <p:cNvSpPr txBox="1">
              <a:spLocks noChangeArrowheads="1"/>
            </p:cNvSpPr>
            <p:nvPr/>
          </p:nvSpPr>
          <p:spPr bwMode="auto">
            <a:xfrm>
              <a:off x="108" y="3510"/>
              <a:ext cx="152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23  SIGXCPU</a:t>
              </a:r>
            </a:p>
          </p:txBody>
        </p:sp>
        <p:sp>
          <p:nvSpPr>
            <p:cNvPr id="261147" name="Text Box 31" descr="70%"/>
            <p:cNvSpPr txBox="1">
              <a:spLocks noChangeArrowheads="1"/>
            </p:cNvSpPr>
            <p:nvPr/>
          </p:nvSpPr>
          <p:spPr bwMode="auto">
            <a:xfrm>
              <a:off x="1728" y="3489"/>
              <a:ext cx="2208"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Exceed cpu limit</a:t>
              </a:r>
            </a:p>
          </p:txBody>
        </p:sp>
        <p:sp>
          <p:nvSpPr>
            <p:cNvPr id="261148" name="Text Box 32" descr="70%"/>
            <p:cNvSpPr txBox="1">
              <a:spLocks noChangeArrowheads="1"/>
            </p:cNvSpPr>
            <p:nvPr/>
          </p:nvSpPr>
          <p:spPr bwMode="auto">
            <a:xfrm>
              <a:off x="4200" y="3444"/>
              <a:ext cx="72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abort</a:t>
              </a:r>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2146" name="Group 42"/>
          <p:cNvGrpSpPr>
            <a:grpSpLocks/>
          </p:cNvGrpSpPr>
          <p:nvPr/>
        </p:nvGrpSpPr>
        <p:grpSpPr bwMode="auto">
          <a:xfrm>
            <a:off x="233363" y="1033463"/>
            <a:ext cx="8667750" cy="5214937"/>
            <a:chOff x="129" y="624"/>
            <a:chExt cx="5460" cy="3285"/>
          </a:xfrm>
        </p:grpSpPr>
        <p:sp>
          <p:nvSpPr>
            <p:cNvPr id="262147" name="Line 6"/>
            <p:cNvSpPr>
              <a:spLocks noChangeShapeType="1"/>
            </p:cNvSpPr>
            <p:nvPr/>
          </p:nvSpPr>
          <p:spPr bwMode="auto">
            <a:xfrm>
              <a:off x="597" y="1357"/>
              <a:ext cx="4752" cy="0"/>
            </a:xfrm>
            <a:prstGeom prst="line">
              <a:avLst/>
            </a:prstGeom>
            <a:noFill/>
            <a:ln w="9525">
              <a:solidFill>
                <a:schemeClr val="tx1"/>
              </a:solidFill>
              <a:round/>
              <a:headEnd/>
              <a:tailEnd/>
            </a:ln>
          </p:spPr>
          <p:txBody>
            <a:bodyPr/>
            <a:lstStyle/>
            <a:p>
              <a:endParaRPr lang="en-US"/>
            </a:p>
          </p:txBody>
        </p:sp>
        <p:sp>
          <p:nvSpPr>
            <p:cNvPr id="262148" name="Rectangle 7"/>
            <p:cNvSpPr>
              <a:spLocks noChangeArrowheads="1"/>
            </p:cNvSpPr>
            <p:nvPr/>
          </p:nvSpPr>
          <p:spPr bwMode="auto">
            <a:xfrm>
              <a:off x="165" y="939"/>
              <a:ext cx="5424" cy="2961"/>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62149" name="Rectangle 8"/>
            <p:cNvSpPr>
              <a:spLocks noChangeArrowheads="1"/>
            </p:cNvSpPr>
            <p:nvPr/>
          </p:nvSpPr>
          <p:spPr bwMode="auto">
            <a:xfrm>
              <a:off x="165" y="672"/>
              <a:ext cx="5424" cy="258"/>
            </a:xfrm>
            <a:prstGeom prst="rect">
              <a:avLst/>
            </a:prstGeom>
            <a:solidFill>
              <a:schemeClr val="tx1"/>
            </a:solidFill>
            <a:ln w="9525">
              <a:solidFill>
                <a:schemeClr val="tx1"/>
              </a:solidFill>
              <a:miter lim="800000"/>
              <a:headEnd/>
              <a:tailEnd/>
            </a:ln>
          </p:spPr>
          <p:txBody>
            <a:bodyPr wrap="none" anchor="ctr"/>
            <a:lstStyle/>
            <a:p>
              <a:endParaRPr lang="en-US"/>
            </a:p>
          </p:txBody>
        </p:sp>
        <p:sp>
          <p:nvSpPr>
            <p:cNvPr id="262150" name="Line 9"/>
            <p:cNvSpPr>
              <a:spLocks noChangeShapeType="1"/>
            </p:cNvSpPr>
            <p:nvPr/>
          </p:nvSpPr>
          <p:spPr bwMode="auto">
            <a:xfrm>
              <a:off x="1749" y="746"/>
              <a:ext cx="0" cy="3163"/>
            </a:xfrm>
            <a:prstGeom prst="line">
              <a:avLst/>
            </a:prstGeom>
            <a:noFill/>
            <a:ln w="9525">
              <a:solidFill>
                <a:schemeClr val="tx1"/>
              </a:solidFill>
              <a:round/>
              <a:headEnd/>
              <a:tailEnd/>
            </a:ln>
          </p:spPr>
          <p:txBody>
            <a:bodyPr/>
            <a:lstStyle/>
            <a:p>
              <a:endParaRPr lang="en-US"/>
            </a:p>
          </p:txBody>
        </p:sp>
        <p:sp>
          <p:nvSpPr>
            <p:cNvPr id="262151" name="Text Box 10" descr="70%"/>
            <p:cNvSpPr txBox="1">
              <a:spLocks noChangeArrowheads="1"/>
            </p:cNvSpPr>
            <p:nvPr/>
          </p:nvSpPr>
          <p:spPr bwMode="auto">
            <a:xfrm>
              <a:off x="285" y="633"/>
              <a:ext cx="1128"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   Signal</a:t>
              </a:r>
            </a:p>
          </p:txBody>
        </p:sp>
        <p:sp>
          <p:nvSpPr>
            <p:cNvPr id="262152" name="Text Box 11" descr="70%"/>
            <p:cNvSpPr txBox="1">
              <a:spLocks noChangeArrowheads="1"/>
            </p:cNvSpPr>
            <p:nvPr/>
          </p:nvSpPr>
          <p:spPr bwMode="auto">
            <a:xfrm>
              <a:off x="2037" y="624"/>
              <a:ext cx="134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Description</a:t>
              </a:r>
            </a:p>
          </p:txBody>
        </p:sp>
        <p:sp>
          <p:nvSpPr>
            <p:cNvPr id="262153" name="Text Box 12" descr="70%"/>
            <p:cNvSpPr txBox="1">
              <a:spLocks noChangeArrowheads="1"/>
            </p:cNvSpPr>
            <p:nvPr/>
          </p:nvSpPr>
          <p:spPr bwMode="auto">
            <a:xfrm>
              <a:off x="4101" y="624"/>
              <a:ext cx="1488"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Default action</a:t>
              </a:r>
            </a:p>
          </p:txBody>
        </p:sp>
        <p:sp>
          <p:nvSpPr>
            <p:cNvPr id="262154" name="Text Box 13" descr="70%"/>
            <p:cNvSpPr txBox="1">
              <a:spLocks noChangeArrowheads="1"/>
            </p:cNvSpPr>
            <p:nvPr/>
          </p:nvSpPr>
          <p:spPr bwMode="auto">
            <a:xfrm>
              <a:off x="129" y="1419"/>
              <a:ext cx="1920" cy="327"/>
            </a:xfrm>
            <a:prstGeom prst="rect">
              <a:avLst/>
            </a:prstGeom>
            <a:noFill/>
            <a:ln w="9525">
              <a:noFill/>
              <a:miter lim="800000"/>
              <a:headEnd/>
              <a:tailEnd/>
            </a:ln>
          </p:spPr>
          <p:txBody>
            <a:bodyPr>
              <a:spAutoFit/>
            </a:bodyPr>
            <a:lstStyle/>
            <a:p>
              <a:pPr marL="457200" indent="-457200">
                <a:spcBef>
                  <a:spcPct val="50000"/>
                </a:spcBef>
              </a:pPr>
              <a:r>
                <a:rPr lang="en-US" sz="2800" i="1">
                  <a:solidFill>
                    <a:srgbClr val="FFFFFF"/>
                  </a:solidFill>
                </a:rPr>
                <a:t>25 SIGVTALRM</a:t>
              </a:r>
            </a:p>
          </p:txBody>
        </p:sp>
        <p:sp>
          <p:nvSpPr>
            <p:cNvPr id="262155" name="Text Box 14" descr="70%"/>
            <p:cNvSpPr txBox="1">
              <a:spLocks noChangeArrowheads="1"/>
            </p:cNvSpPr>
            <p:nvPr/>
          </p:nvSpPr>
          <p:spPr bwMode="auto">
            <a:xfrm>
              <a:off x="177" y="1795"/>
              <a:ext cx="1488"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26  SIGPROF</a:t>
              </a:r>
            </a:p>
          </p:txBody>
        </p:sp>
        <p:sp>
          <p:nvSpPr>
            <p:cNvPr id="262156" name="Text Box 15" descr="70%"/>
            <p:cNvSpPr txBox="1">
              <a:spLocks noChangeArrowheads="1"/>
            </p:cNvSpPr>
            <p:nvPr/>
          </p:nvSpPr>
          <p:spPr bwMode="auto">
            <a:xfrm>
              <a:off x="1785" y="2152"/>
              <a:ext cx="2208"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Window size change</a:t>
              </a:r>
            </a:p>
          </p:txBody>
        </p:sp>
        <p:sp>
          <p:nvSpPr>
            <p:cNvPr id="262157" name="Text Box 16" descr="70%"/>
            <p:cNvSpPr txBox="1">
              <a:spLocks noChangeArrowheads="1"/>
            </p:cNvSpPr>
            <p:nvPr/>
          </p:nvSpPr>
          <p:spPr bwMode="auto">
            <a:xfrm>
              <a:off x="1761" y="1432"/>
              <a:ext cx="2208"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Virtual time -alarm</a:t>
              </a:r>
            </a:p>
          </p:txBody>
        </p:sp>
        <p:sp>
          <p:nvSpPr>
            <p:cNvPr id="262158" name="Text Box 17" descr="70%"/>
            <p:cNvSpPr txBox="1">
              <a:spLocks noChangeArrowheads="1"/>
            </p:cNvSpPr>
            <p:nvPr/>
          </p:nvSpPr>
          <p:spPr bwMode="auto">
            <a:xfrm>
              <a:off x="4257" y="2107"/>
              <a:ext cx="72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ignore</a:t>
              </a:r>
            </a:p>
          </p:txBody>
        </p:sp>
        <p:sp>
          <p:nvSpPr>
            <p:cNvPr id="262159" name="Text Box 18" descr="70%"/>
            <p:cNvSpPr txBox="1">
              <a:spLocks noChangeArrowheads="1"/>
            </p:cNvSpPr>
            <p:nvPr/>
          </p:nvSpPr>
          <p:spPr bwMode="auto">
            <a:xfrm>
              <a:off x="4257" y="1039"/>
              <a:ext cx="72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abort</a:t>
              </a:r>
            </a:p>
          </p:txBody>
        </p:sp>
        <p:sp>
          <p:nvSpPr>
            <p:cNvPr id="262160" name="Text Box 19" descr="70%"/>
            <p:cNvSpPr txBox="1">
              <a:spLocks noChangeArrowheads="1"/>
            </p:cNvSpPr>
            <p:nvPr/>
          </p:nvSpPr>
          <p:spPr bwMode="auto">
            <a:xfrm>
              <a:off x="4305" y="1413"/>
              <a:ext cx="110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exit</a:t>
              </a:r>
            </a:p>
          </p:txBody>
        </p:sp>
        <p:sp>
          <p:nvSpPr>
            <p:cNvPr id="262161" name="Text Box 20" descr="70%"/>
            <p:cNvSpPr txBox="1">
              <a:spLocks noChangeArrowheads="1"/>
            </p:cNvSpPr>
            <p:nvPr/>
          </p:nvSpPr>
          <p:spPr bwMode="auto">
            <a:xfrm>
              <a:off x="225" y="991"/>
              <a:ext cx="134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24  SIGXFSZ</a:t>
              </a:r>
            </a:p>
          </p:txBody>
        </p:sp>
        <p:sp>
          <p:nvSpPr>
            <p:cNvPr id="262162" name="Text Box 21" descr="70%"/>
            <p:cNvSpPr txBox="1">
              <a:spLocks noChangeArrowheads="1"/>
            </p:cNvSpPr>
            <p:nvPr/>
          </p:nvSpPr>
          <p:spPr bwMode="auto">
            <a:xfrm>
              <a:off x="1761" y="1030"/>
              <a:ext cx="2208"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Exceed file size limit </a:t>
              </a:r>
            </a:p>
          </p:txBody>
        </p:sp>
        <p:sp>
          <p:nvSpPr>
            <p:cNvPr id="262163" name="Text Box 22" descr="70%"/>
            <p:cNvSpPr txBox="1">
              <a:spLocks noChangeArrowheads="1"/>
            </p:cNvSpPr>
            <p:nvPr/>
          </p:nvSpPr>
          <p:spPr bwMode="auto">
            <a:xfrm>
              <a:off x="153" y="2167"/>
              <a:ext cx="1536"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27  SIGWINCH  </a:t>
              </a:r>
            </a:p>
          </p:txBody>
        </p:sp>
        <p:sp>
          <p:nvSpPr>
            <p:cNvPr id="262164" name="Text Box 23" descr="70%"/>
            <p:cNvSpPr txBox="1">
              <a:spLocks noChangeArrowheads="1"/>
            </p:cNvSpPr>
            <p:nvPr/>
          </p:nvSpPr>
          <p:spPr bwMode="auto">
            <a:xfrm>
              <a:off x="1857" y="1793"/>
              <a:ext cx="2208"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Profiling timer</a:t>
              </a:r>
            </a:p>
          </p:txBody>
        </p:sp>
        <p:sp>
          <p:nvSpPr>
            <p:cNvPr id="262165" name="Text Box 24" descr="70%"/>
            <p:cNvSpPr txBox="1">
              <a:spLocks noChangeArrowheads="1"/>
            </p:cNvSpPr>
            <p:nvPr/>
          </p:nvSpPr>
          <p:spPr bwMode="auto">
            <a:xfrm>
              <a:off x="4305" y="1748"/>
              <a:ext cx="1104"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exit</a:t>
              </a:r>
            </a:p>
          </p:txBody>
        </p:sp>
        <p:sp>
          <p:nvSpPr>
            <p:cNvPr id="262166" name="Text Box 25" descr="70%"/>
            <p:cNvSpPr txBox="1">
              <a:spLocks noChangeArrowheads="1"/>
            </p:cNvSpPr>
            <p:nvPr/>
          </p:nvSpPr>
          <p:spPr bwMode="auto">
            <a:xfrm>
              <a:off x="177" y="2582"/>
              <a:ext cx="1488"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28  SIGIO</a:t>
              </a:r>
            </a:p>
          </p:txBody>
        </p:sp>
        <p:sp>
          <p:nvSpPr>
            <p:cNvPr id="262167" name="Text Box 26" descr="70%"/>
            <p:cNvSpPr txBox="1">
              <a:spLocks noChangeArrowheads="1"/>
            </p:cNvSpPr>
            <p:nvPr/>
          </p:nvSpPr>
          <p:spPr bwMode="auto">
            <a:xfrm>
              <a:off x="1905" y="2574"/>
              <a:ext cx="2208" cy="327"/>
            </a:xfrm>
            <a:prstGeom prst="rect">
              <a:avLst/>
            </a:prstGeom>
            <a:noFill/>
            <a:ln w="9525">
              <a:noFill/>
              <a:miter lim="800000"/>
              <a:headEnd/>
              <a:tailEnd/>
            </a:ln>
          </p:spPr>
          <p:txBody>
            <a:bodyPr>
              <a:spAutoFit/>
            </a:bodyPr>
            <a:lstStyle/>
            <a:p>
              <a:pPr>
                <a:spcBef>
                  <a:spcPct val="50000"/>
                </a:spcBef>
              </a:pPr>
              <a:r>
                <a:rPr lang="en-US" sz="2800" dirty="0">
                  <a:solidFill>
                    <a:schemeClr val="bg1"/>
                  </a:solidFill>
                </a:rPr>
                <a:t>Async I/O event</a:t>
              </a:r>
            </a:p>
          </p:txBody>
        </p:sp>
        <p:sp>
          <p:nvSpPr>
            <p:cNvPr id="262168" name="Text Box 27" descr="70%"/>
            <p:cNvSpPr txBox="1">
              <a:spLocks noChangeArrowheads="1"/>
            </p:cNvSpPr>
            <p:nvPr/>
          </p:nvSpPr>
          <p:spPr bwMode="auto">
            <a:xfrm>
              <a:off x="4149" y="2557"/>
              <a:ext cx="1152"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exit/ignore </a:t>
              </a:r>
            </a:p>
          </p:txBody>
        </p:sp>
        <p:sp>
          <p:nvSpPr>
            <p:cNvPr id="262169" name="Text Box 28" descr="70%"/>
            <p:cNvSpPr txBox="1">
              <a:spLocks noChangeArrowheads="1"/>
            </p:cNvSpPr>
            <p:nvPr/>
          </p:nvSpPr>
          <p:spPr bwMode="auto">
            <a:xfrm>
              <a:off x="165" y="2889"/>
              <a:ext cx="1488"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29  SIGPWR </a:t>
              </a:r>
            </a:p>
          </p:txBody>
        </p:sp>
        <p:sp>
          <p:nvSpPr>
            <p:cNvPr id="262170" name="Text Box 29" descr="70%"/>
            <p:cNvSpPr txBox="1">
              <a:spLocks noChangeArrowheads="1"/>
            </p:cNvSpPr>
            <p:nvPr/>
          </p:nvSpPr>
          <p:spPr bwMode="auto">
            <a:xfrm>
              <a:off x="1845" y="2934"/>
              <a:ext cx="2208"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Power fail</a:t>
              </a:r>
            </a:p>
          </p:txBody>
        </p:sp>
        <p:sp>
          <p:nvSpPr>
            <p:cNvPr id="262171" name="Text Box 30" descr="70%"/>
            <p:cNvSpPr txBox="1">
              <a:spLocks noChangeArrowheads="1"/>
            </p:cNvSpPr>
            <p:nvPr/>
          </p:nvSpPr>
          <p:spPr bwMode="auto">
            <a:xfrm>
              <a:off x="4197" y="2872"/>
              <a:ext cx="72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ignore</a:t>
              </a:r>
            </a:p>
          </p:txBody>
        </p:sp>
        <p:sp>
          <p:nvSpPr>
            <p:cNvPr id="262172" name="Text Box 31" descr="70%"/>
            <p:cNvSpPr txBox="1">
              <a:spLocks noChangeArrowheads="1"/>
            </p:cNvSpPr>
            <p:nvPr/>
          </p:nvSpPr>
          <p:spPr bwMode="auto">
            <a:xfrm>
              <a:off x="165" y="3204"/>
              <a:ext cx="1488"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30 SIGINFO</a:t>
              </a:r>
            </a:p>
          </p:txBody>
        </p:sp>
        <p:sp>
          <p:nvSpPr>
            <p:cNvPr id="262173" name="Text Box 32" descr="70%"/>
            <p:cNvSpPr txBox="1">
              <a:spLocks noChangeArrowheads="1"/>
            </p:cNvSpPr>
            <p:nvPr/>
          </p:nvSpPr>
          <p:spPr bwMode="auto">
            <a:xfrm>
              <a:off x="1797" y="3204"/>
              <a:ext cx="2208"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Status request(cntrl+t)</a:t>
              </a:r>
            </a:p>
          </p:txBody>
        </p:sp>
        <p:sp>
          <p:nvSpPr>
            <p:cNvPr id="262174" name="Text Box 33" descr="70%"/>
            <p:cNvSpPr txBox="1">
              <a:spLocks noChangeArrowheads="1"/>
            </p:cNvSpPr>
            <p:nvPr/>
          </p:nvSpPr>
          <p:spPr bwMode="auto">
            <a:xfrm>
              <a:off x="4197" y="3195"/>
              <a:ext cx="72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ignore </a:t>
              </a:r>
            </a:p>
          </p:txBody>
        </p:sp>
        <p:sp>
          <p:nvSpPr>
            <p:cNvPr id="262175" name="Line 34"/>
            <p:cNvSpPr>
              <a:spLocks noChangeShapeType="1"/>
            </p:cNvSpPr>
            <p:nvPr/>
          </p:nvSpPr>
          <p:spPr bwMode="auto">
            <a:xfrm>
              <a:off x="4005" y="739"/>
              <a:ext cx="0" cy="3162"/>
            </a:xfrm>
            <a:prstGeom prst="line">
              <a:avLst/>
            </a:prstGeom>
            <a:noFill/>
            <a:ln w="9525">
              <a:solidFill>
                <a:schemeClr val="tx1"/>
              </a:solidFill>
              <a:round/>
              <a:headEnd/>
              <a:tailEnd/>
            </a:ln>
          </p:spPr>
          <p:txBody>
            <a:bodyPr/>
            <a:lstStyle/>
            <a:p>
              <a:endParaRPr lang="en-US"/>
            </a:p>
          </p:txBody>
        </p:sp>
        <p:sp>
          <p:nvSpPr>
            <p:cNvPr id="262176" name="Text Box 35" descr="70%"/>
            <p:cNvSpPr txBox="1">
              <a:spLocks noChangeArrowheads="1"/>
            </p:cNvSpPr>
            <p:nvPr/>
          </p:nvSpPr>
          <p:spPr bwMode="auto">
            <a:xfrm>
              <a:off x="165" y="3554"/>
              <a:ext cx="1488"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31 SIGEMT </a:t>
              </a:r>
            </a:p>
          </p:txBody>
        </p:sp>
        <p:sp>
          <p:nvSpPr>
            <p:cNvPr id="262177" name="Text Box 36" descr="70%"/>
            <p:cNvSpPr txBox="1">
              <a:spLocks noChangeArrowheads="1"/>
            </p:cNvSpPr>
            <p:nvPr/>
          </p:nvSpPr>
          <p:spPr bwMode="auto">
            <a:xfrm>
              <a:off x="1797" y="3554"/>
              <a:ext cx="2208" cy="327"/>
            </a:xfrm>
            <a:prstGeom prst="rect">
              <a:avLst/>
            </a:prstGeom>
            <a:noFill/>
            <a:ln w="9525">
              <a:noFill/>
              <a:miter lim="800000"/>
              <a:headEnd/>
              <a:tailEnd/>
            </a:ln>
          </p:spPr>
          <p:txBody>
            <a:bodyPr>
              <a:spAutoFit/>
            </a:bodyPr>
            <a:lstStyle/>
            <a:p>
              <a:pPr>
                <a:spcBef>
                  <a:spcPct val="50000"/>
                </a:spcBef>
              </a:pPr>
              <a:r>
                <a:rPr lang="en-US" sz="2800">
                  <a:solidFill>
                    <a:schemeClr val="bg1"/>
                  </a:solidFill>
                </a:rPr>
                <a:t>Emulator trap</a:t>
              </a:r>
            </a:p>
          </p:txBody>
        </p:sp>
        <p:sp>
          <p:nvSpPr>
            <p:cNvPr id="262178" name="Text Box 37" descr="70%"/>
            <p:cNvSpPr txBox="1">
              <a:spLocks noChangeArrowheads="1"/>
            </p:cNvSpPr>
            <p:nvPr/>
          </p:nvSpPr>
          <p:spPr bwMode="auto">
            <a:xfrm>
              <a:off x="4197" y="3554"/>
              <a:ext cx="720" cy="327"/>
            </a:xfrm>
            <a:prstGeom prst="rect">
              <a:avLst/>
            </a:prstGeom>
            <a:noFill/>
            <a:ln w="9525">
              <a:noFill/>
              <a:miter lim="800000"/>
              <a:headEnd/>
              <a:tailEnd/>
            </a:ln>
          </p:spPr>
          <p:txBody>
            <a:bodyPr>
              <a:spAutoFit/>
            </a:bodyPr>
            <a:lstStyle/>
            <a:p>
              <a:pPr>
                <a:spcBef>
                  <a:spcPct val="50000"/>
                </a:spcBef>
              </a:pPr>
              <a:r>
                <a:rPr lang="en-US" sz="2800" i="1">
                  <a:solidFill>
                    <a:srgbClr val="FFFFFF"/>
                  </a:solidFill>
                </a:rPr>
                <a:t>abort</a:t>
              </a:r>
            </a:p>
          </p:txBody>
        </p:sp>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Text Box 3" descr="70%"/>
          <p:cNvSpPr txBox="1">
            <a:spLocks noChangeArrowheads="1"/>
          </p:cNvSpPr>
          <p:nvPr/>
        </p:nvSpPr>
        <p:spPr bwMode="auto">
          <a:xfrm>
            <a:off x="533400" y="1752600"/>
            <a:ext cx="8610600" cy="3477875"/>
          </a:xfrm>
          <a:prstGeom prst="rect">
            <a:avLst/>
          </a:prstGeom>
          <a:noFill/>
          <a:ln w="9525">
            <a:noFill/>
            <a:miter lim="800000"/>
            <a:headEnd/>
            <a:tailEnd/>
          </a:ln>
        </p:spPr>
        <p:txBody>
          <a:bodyPr>
            <a:spAutoFit/>
          </a:bodyPr>
          <a:lstStyle/>
          <a:p>
            <a:pPr>
              <a:spcBef>
                <a:spcPct val="50000"/>
              </a:spcBef>
              <a:buClr>
                <a:srgbClr val="339933"/>
              </a:buClr>
              <a:buFont typeface="Wingdings" pitchFamily="2" charset="2"/>
              <a:buChar char="Ø"/>
            </a:pPr>
            <a:r>
              <a:rPr lang="en-US" sz="2800" b="1" dirty="0">
                <a:solidFill>
                  <a:schemeClr val="bg2"/>
                </a:solidFill>
              </a:rPr>
              <a:t> </a:t>
            </a:r>
            <a:r>
              <a:rPr lang="en-US" sz="2800" b="1" dirty="0">
                <a:solidFill>
                  <a:srgbClr val="002060"/>
                </a:solidFill>
              </a:rPr>
              <a:t>Signal sending   ----  </a:t>
            </a:r>
            <a:r>
              <a:rPr lang="en-US" b="1" i="1" dirty="0">
                <a:solidFill>
                  <a:srgbClr val="002060"/>
                </a:solidFill>
              </a:rPr>
              <a:t>Rise signal (Generation of  signal)</a:t>
            </a:r>
          </a:p>
          <a:p>
            <a:pPr>
              <a:spcBef>
                <a:spcPct val="50000"/>
              </a:spcBef>
              <a:buClr>
                <a:srgbClr val="339933"/>
              </a:buClr>
              <a:buFont typeface="Wingdings" pitchFamily="2" charset="2"/>
              <a:buNone/>
            </a:pPr>
            <a:endParaRPr lang="en-US" sz="2800" b="1" i="1" dirty="0">
              <a:solidFill>
                <a:srgbClr val="002060"/>
              </a:solidFill>
            </a:endParaRPr>
          </a:p>
          <a:p>
            <a:pPr>
              <a:spcBef>
                <a:spcPct val="50000"/>
              </a:spcBef>
              <a:buClr>
                <a:srgbClr val="339933"/>
              </a:buClr>
              <a:buFont typeface="Wingdings" pitchFamily="2" charset="2"/>
              <a:buChar char="Ø"/>
            </a:pPr>
            <a:r>
              <a:rPr lang="en-US" sz="2800" b="1" dirty="0">
                <a:solidFill>
                  <a:srgbClr val="002060"/>
                </a:solidFill>
              </a:rPr>
              <a:t> Signal receiving ----  </a:t>
            </a:r>
            <a:r>
              <a:rPr lang="en-US" b="1" i="1" dirty="0">
                <a:solidFill>
                  <a:srgbClr val="002060"/>
                </a:solidFill>
              </a:rPr>
              <a:t>Catch signal (Receipt of signal)</a:t>
            </a:r>
          </a:p>
          <a:p>
            <a:pPr>
              <a:spcBef>
                <a:spcPct val="50000"/>
              </a:spcBef>
              <a:buClr>
                <a:srgbClr val="339933"/>
              </a:buClr>
              <a:buFont typeface="Wingdings" pitchFamily="2" charset="2"/>
              <a:buNone/>
            </a:pPr>
            <a:endParaRPr lang="en-US" sz="2800" b="1" i="1" dirty="0">
              <a:solidFill>
                <a:srgbClr val="002060"/>
              </a:solidFill>
            </a:endParaRPr>
          </a:p>
          <a:p>
            <a:pPr>
              <a:spcBef>
                <a:spcPct val="50000"/>
              </a:spcBef>
              <a:buClr>
                <a:srgbClr val="339933"/>
              </a:buClr>
              <a:buFont typeface="Wingdings" pitchFamily="2" charset="2"/>
              <a:buChar char="Ø"/>
            </a:pPr>
            <a:r>
              <a:rPr lang="en-US" sz="2800" b="1" dirty="0">
                <a:solidFill>
                  <a:srgbClr val="002060"/>
                </a:solidFill>
              </a:rPr>
              <a:t> Signal handling  ----  </a:t>
            </a:r>
            <a:r>
              <a:rPr lang="en-US" b="1" i="1" dirty="0">
                <a:solidFill>
                  <a:srgbClr val="002060"/>
                </a:solidFill>
              </a:rPr>
              <a:t>Action perform based on received signal</a:t>
            </a:r>
          </a:p>
        </p:txBody>
      </p:sp>
      <p:sp>
        <p:nvSpPr>
          <p:cNvPr id="824331" name="Rectangle 11"/>
          <p:cNvSpPr>
            <a:spLocks noGrp="1" noChangeArrowheads="1"/>
          </p:cNvSpPr>
          <p:nvPr>
            <p:ph type="title" idx="4294967295"/>
          </p:nvPr>
        </p:nvSpPr>
        <p:spPr>
          <a:xfrm>
            <a:off x="0" y="304800"/>
            <a:ext cx="7772400" cy="1143000"/>
          </a:xfrm>
        </p:spPr>
        <p:txBody>
          <a:bodyPr/>
          <a:lstStyle/>
          <a:p>
            <a:pPr eaLnBrk="1" hangingPunct="1">
              <a:defRPr/>
            </a:pPr>
            <a:r>
              <a:rPr lang="en-US" b="1" i="1" dirty="0">
                <a:solidFill>
                  <a:srgbClr val="339933"/>
                </a:solidFill>
                <a:effectLst>
                  <a:outerShdw blurRad="38100" dist="38100" dir="2700000" algn="tl">
                    <a:srgbClr val="C0C0C0"/>
                  </a:outerShdw>
                </a:effectLst>
              </a:rPr>
              <a:t>Performing functions</a:t>
            </a:r>
            <a:r>
              <a:rPr lang="en-US" b="1" i="1" dirty="0">
                <a:solidFill>
                  <a:schemeClr val="bg2"/>
                </a:solidFill>
                <a:effectLst>
                  <a:outerShdw blurRad="38100" dist="38100" dir="2700000" algn="tl">
                    <a:srgbClr val="C0C0C0"/>
                  </a:outerShdw>
                </a:effectLst>
              </a:rPr>
              <a:t>  </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ChangeArrowheads="1"/>
          </p:cNvSpPr>
          <p:nvPr/>
        </p:nvSpPr>
        <p:spPr bwMode="auto">
          <a:xfrm>
            <a:off x="228600" y="876300"/>
            <a:ext cx="4800600" cy="457200"/>
          </a:xfrm>
          <a:prstGeom prst="rect">
            <a:avLst/>
          </a:prstGeom>
          <a:noFill/>
          <a:ln w="12700">
            <a:noFill/>
            <a:miter lim="800000"/>
            <a:headEnd/>
            <a:tailEnd/>
          </a:ln>
          <a:effectLst/>
        </p:spPr>
        <p:txBody>
          <a:bodyPr lIns="90488" tIns="44450" rIns="90488" bIns="44450" anchor="b"/>
          <a:lstStyle/>
          <a:p>
            <a:pPr>
              <a:defRPr/>
            </a:pPr>
            <a:endParaRPr lang="en-US" sz="2800" b="1" i="1">
              <a:solidFill>
                <a:srgbClr val="339933"/>
              </a:solidFill>
              <a:effectLst>
                <a:outerShdw blurRad="38100" dist="38100" dir="2700000" algn="tl">
                  <a:srgbClr val="C0C0C0"/>
                </a:outerShdw>
              </a:effectLst>
            </a:endParaRPr>
          </a:p>
        </p:txBody>
      </p:sp>
      <p:sp>
        <p:nvSpPr>
          <p:cNvPr id="265219" name="Rectangle 3"/>
          <p:cNvSpPr>
            <a:spLocks noChangeArrowheads="1"/>
          </p:cNvSpPr>
          <p:nvPr/>
        </p:nvSpPr>
        <p:spPr bwMode="auto">
          <a:xfrm>
            <a:off x="228600" y="1219200"/>
            <a:ext cx="8686800" cy="5186548"/>
          </a:xfrm>
          <a:prstGeom prst="rect">
            <a:avLst/>
          </a:prstGeom>
          <a:noFill/>
          <a:ln w="12700">
            <a:noFill/>
            <a:miter lim="800000"/>
            <a:headEnd/>
            <a:tailEnd/>
          </a:ln>
        </p:spPr>
        <p:txBody>
          <a:bodyPr lIns="90488" tIns="44450" rIns="90488" bIns="44450">
            <a:spAutoFit/>
          </a:bodyPr>
          <a:lstStyle/>
          <a:p>
            <a:pPr marL="342900" indent="-342900">
              <a:spcBef>
                <a:spcPct val="20000"/>
              </a:spcBef>
              <a:buClr>
                <a:schemeClr val="tx1"/>
              </a:buClr>
              <a:buSzPct val="85000"/>
              <a:buFont typeface="Wingdings" pitchFamily="2" charset="2"/>
              <a:buChar char="Ø"/>
            </a:pPr>
            <a:r>
              <a:rPr lang="en-US" sz="4000" b="1" dirty="0" err="1">
                <a:solidFill>
                  <a:srgbClr val="339933"/>
                </a:solidFill>
              </a:rPr>
              <a:t>sigaction</a:t>
            </a:r>
            <a:r>
              <a:rPr lang="en-US" sz="3200" dirty="0">
                <a:solidFill>
                  <a:srgbClr val="339933"/>
                </a:solidFill>
              </a:rPr>
              <a:t> </a:t>
            </a:r>
            <a:r>
              <a:rPr lang="en-US" sz="3200" dirty="0"/>
              <a:t>contains handler </a:t>
            </a:r>
            <a:r>
              <a:rPr lang="en-US" sz="3200" dirty="0" err="1"/>
              <a:t>addresses,and</a:t>
            </a:r>
            <a:r>
              <a:rPr lang="en-US" sz="3200" dirty="0"/>
              <a:t> flags related  to actions  </a:t>
            </a:r>
          </a:p>
          <a:p>
            <a:pPr marL="342900" indent="-342900">
              <a:spcBef>
                <a:spcPct val="20000"/>
              </a:spcBef>
              <a:buClr>
                <a:schemeClr val="tx1"/>
              </a:buClr>
              <a:buSzPct val="85000"/>
              <a:buFont typeface="Wingdings" pitchFamily="2" charset="2"/>
              <a:buChar char="Ø"/>
            </a:pPr>
            <a:endParaRPr lang="en-US" sz="3200" b="1" i="1" dirty="0">
              <a:solidFill>
                <a:srgbClr val="339933"/>
              </a:solidFill>
            </a:endParaRPr>
          </a:p>
          <a:p>
            <a:pPr marL="342900" indent="-342900">
              <a:spcBef>
                <a:spcPct val="20000"/>
              </a:spcBef>
              <a:buClr>
                <a:schemeClr val="tx1"/>
              </a:buClr>
              <a:buSzPct val="85000"/>
              <a:buFont typeface="Wingdings" pitchFamily="2" charset="2"/>
              <a:buChar char="Ø"/>
            </a:pPr>
            <a:r>
              <a:rPr lang="en-US" sz="4000" b="1" dirty="0" err="1">
                <a:solidFill>
                  <a:srgbClr val="339933"/>
                </a:solidFill>
              </a:rPr>
              <a:t>sigset_t</a:t>
            </a:r>
            <a:r>
              <a:rPr lang="en-US" sz="3200" b="1" dirty="0"/>
              <a:t> </a:t>
            </a:r>
            <a:r>
              <a:rPr lang="en-US" sz="3200" dirty="0"/>
              <a:t>stores array of signals sent to a process.</a:t>
            </a:r>
          </a:p>
          <a:p>
            <a:pPr marL="342900" indent="-342900">
              <a:spcBef>
                <a:spcPct val="20000"/>
              </a:spcBef>
              <a:buClr>
                <a:schemeClr val="tx1"/>
              </a:buClr>
              <a:buSzPct val="85000"/>
              <a:buFont typeface="Wingdings" pitchFamily="2" charset="2"/>
              <a:buNone/>
            </a:pPr>
            <a:endParaRPr lang="en-US" sz="3200" dirty="0">
              <a:solidFill>
                <a:srgbClr val="339933"/>
              </a:solidFill>
            </a:endParaRPr>
          </a:p>
          <a:p>
            <a:pPr marL="342900" indent="-342900">
              <a:spcBef>
                <a:spcPct val="20000"/>
              </a:spcBef>
              <a:buSzPct val="85000"/>
              <a:buFont typeface="Wingdings" pitchFamily="2" charset="2"/>
              <a:buChar char="Ø"/>
            </a:pPr>
            <a:r>
              <a:rPr lang="en-US" sz="3200" dirty="0"/>
              <a:t>The process descriptor (</a:t>
            </a:r>
            <a:r>
              <a:rPr lang="en-US" sz="3200" dirty="0">
                <a:solidFill>
                  <a:srgbClr val="339933"/>
                </a:solidFill>
              </a:rPr>
              <a:t>struct </a:t>
            </a:r>
            <a:r>
              <a:rPr lang="en-US" sz="3200" dirty="0" err="1">
                <a:solidFill>
                  <a:srgbClr val="339933"/>
                </a:solidFill>
              </a:rPr>
              <a:t>task_struct</a:t>
            </a:r>
            <a:r>
              <a:rPr lang="en-US" sz="3200" dirty="0"/>
              <a:t> in </a:t>
            </a:r>
            <a:r>
              <a:rPr lang="en-US" sz="3200" b="1" dirty="0">
                <a:solidFill>
                  <a:srgbClr val="339933"/>
                </a:solidFill>
              </a:rPr>
              <a:t>&lt;</a:t>
            </a:r>
            <a:r>
              <a:rPr lang="en-US" sz="3200" dirty="0" err="1">
                <a:solidFill>
                  <a:srgbClr val="339933"/>
                </a:solidFill>
              </a:rPr>
              <a:t>linux</a:t>
            </a:r>
            <a:r>
              <a:rPr lang="en-US" sz="3200" dirty="0">
                <a:solidFill>
                  <a:srgbClr val="339933"/>
                </a:solidFill>
              </a:rPr>
              <a:t>/</a:t>
            </a:r>
            <a:r>
              <a:rPr lang="en-US" sz="3200" dirty="0" err="1">
                <a:solidFill>
                  <a:srgbClr val="339933"/>
                </a:solidFill>
              </a:rPr>
              <a:t>sched.h</a:t>
            </a:r>
            <a:r>
              <a:rPr lang="en-US" sz="3200" b="1" dirty="0">
                <a:solidFill>
                  <a:srgbClr val="339933"/>
                </a:solidFill>
              </a:rPr>
              <a:t>&gt;</a:t>
            </a:r>
            <a:r>
              <a:rPr lang="en-US" sz="3200" dirty="0">
                <a:solidFill>
                  <a:srgbClr val="339933"/>
                </a:solidFill>
              </a:rPr>
              <a:t>)</a:t>
            </a:r>
            <a:r>
              <a:rPr lang="en-US" sz="3200" dirty="0"/>
              <a:t> has several fields for tracking sent, blocked and pending signals.</a:t>
            </a:r>
          </a:p>
        </p:txBody>
      </p:sp>
      <p:sp>
        <p:nvSpPr>
          <p:cNvPr id="826379" name="Rectangle 11"/>
          <p:cNvSpPr>
            <a:spLocks noGrp="1" noChangeArrowheads="1"/>
          </p:cNvSpPr>
          <p:nvPr>
            <p:ph type="title" idx="4294967295"/>
          </p:nvPr>
        </p:nvSpPr>
        <p:spPr>
          <a:xfrm>
            <a:off x="0" y="-76200"/>
            <a:ext cx="7772400" cy="1143000"/>
          </a:xfrm>
        </p:spPr>
        <p:txBody>
          <a:bodyPr/>
          <a:lstStyle/>
          <a:p>
            <a:pPr eaLnBrk="1" hangingPunct="1">
              <a:defRPr/>
            </a:pPr>
            <a:r>
              <a:rPr lang="en-US" sz="3600" b="1" i="1">
                <a:solidFill>
                  <a:srgbClr val="339933"/>
                </a:solidFill>
                <a:effectLst>
                  <a:outerShdw blurRad="38100" dist="38100" dir="2700000" algn="tl">
                    <a:srgbClr val="C0C0C0"/>
                  </a:outerShdw>
                </a:effectLst>
              </a:rPr>
              <a:t>Signal-Related Data Structures </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Text Box 3" descr="70%"/>
          <p:cNvSpPr txBox="1">
            <a:spLocks noChangeArrowheads="1"/>
          </p:cNvSpPr>
          <p:nvPr/>
        </p:nvSpPr>
        <p:spPr bwMode="auto">
          <a:xfrm>
            <a:off x="0" y="1066800"/>
            <a:ext cx="9144000" cy="5293757"/>
          </a:xfrm>
          <a:prstGeom prst="rect">
            <a:avLst/>
          </a:prstGeom>
          <a:noFill/>
          <a:ln w="9525">
            <a:noFill/>
            <a:miter lim="800000"/>
            <a:headEnd/>
            <a:tailEnd/>
          </a:ln>
        </p:spPr>
        <p:txBody>
          <a:bodyPr>
            <a:spAutoFit/>
          </a:bodyPr>
          <a:lstStyle/>
          <a:p>
            <a:pPr>
              <a:spcBef>
                <a:spcPct val="50000"/>
              </a:spcBef>
            </a:pPr>
            <a:r>
              <a:rPr lang="en-US" sz="5200" b="1" dirty="0"/>
              <a:t> </a:t>
            </a:r>
            <a:r>
              <a:rPr lang="en-US" sz="5200" dirty="0">
                <a:solidFill>
                  <a:srgbClr val="339933"/>
                </a:solidFill>
              </a:rPr>
              <a:t>int </a:t>
            </a:r>
            <a:r>
              <a:rPr lang="en-US" sz="5200" dirty="0" err="1">
                <a:solidFill>
                  <a:srgbClr val="339933"/>
                </a:solidFill>
              </a:rPr>
              <a:t>sigaction</a:t>
            </a:r>
            <a:r>
              <a:rPr lang="en-US" sz="5200" dirty="0">
                <a:solidFill>
                  <a:srgbClr val="339933"/>
                </a:solidFill>
              </a:rPr>
              <a:t> 							(										int </a:t>
            </a:r>
            <a:r>
              <a:rPr lang="en-US" sz="5200" dirty="0" err="1">
                <a:solidFill>
                  <a:srgbClr val="339933"/>
                </a:solidFill>
              </a:rPr>
              <a:t>signo</a:t>
            </a:r>
            <a:r>
              <a:rPr lang="en-US" sz="5200" dirty="0">
                <a:solidFill>
                  <a:srgbClr val="339933"/>
                </a:solidFill>
              </a:rPr>
              <a:t>, 							const struct </a:t>
            </a:r>
            <a:r>
              <a:rPr lang="en-US" sz="5200" dirty="0" err="1">
                <a:solidFill>
                  <a:srgbClr val="339933"/>
                </a:solidFill>
              </a:rPr>
              <a:t>sigaction</a:t>
            </a:r>
            <a:r>
              <a:rPr lang="en-US" sz="5200" dirty="0">
                <a:solidFill>
                  <a:srgbClr val="339933"/>
                </a:solidFill>
              </a:rPr>
              <a:t> *act,      	       struct </a:t>
            </a:r>
            <a:r>
              <a:rPr lang="en-US" sz="5200" dirty="0" err="1">
                <a:solidFill>
                  <a:srgbClr val="339933"/>
                </a:solidFill>
              </a:rPr>
              <a:t>sigaction</a:t>
            </a:r>
            <a:r>
              <a:rPr lang="en-US" sz="5200" dirty="0">
                <a:solidFill>
                  <a:srgbClr val="339933"/>
                </a:solidFill>
              </a:rPr>
              <a:t>*</a:t>
            </a:r>
            <a:r>
              <a:rPr lang="en-US" sz="5200" dirty="0" err="1">
                <a:solidFill>
                  <a:srgbClr val="339933"/>
                </a:solidFill>
              </a:rPr>
              <a:t>oact</a:t>
            </a:r>
            <a:r>
              <a:rPr lang="en-US" sz="5200" dirty="0">
                <a:solidFill>
                  <a:srgbClr val="339933"/>
                </a:solidFill>
              </a:rPr>
              <a:t>	</a:t>
            </a:r>
          </a:p>
          <a:p>
            <a:pPr>
              <a:spcBef>
                <a:spcPct val="50000"/>
              </a:spcBef>
            </a:pPr>
            <a:r>
              <a:rPr lang="en-US" sz="5200" dirty="0">
                <a:solidFill>
                  <a:srgbClr val="339933"/>
                </a:solidFill>
              </a:rPr>
              <a:t>        )</a:t>
            </a:r>
            <a:endParaRPr lang="en-US" sz="5200" i="1" dirty="0"/>
          </a:p>
        </p:txBody>
      </p:sp>
      <p:sp>
        <p:nvSpPr>
          <p:cNvPr id="827405" name="Rectangle 13"/>
          <p:cNvSpPr>
            <a:spLocks noGrp="1" noChangeArrowheads="1"/>
          </p:cNvSpPr>
          <p:nvPr>
            <p:ph type="title" idx="4294967295"/>
          </p:nvPr>
        </p:nvSpPr>
        <p:spPr>
          <a:xfrm>
            <a:off x="0" y="-76200"/>
            <a:ext cx="7772400" cy="1143000"/>
          </a:xfrm>
        </p:spPr>
        <p:txBody>
          <a:bodyPr/>
          <a:lstStyle/>
          <a:p>
            <a:pPr eaLnBrk="1" hangingPunct="1">
              <a:defRPr/>
            </a:pPr>
            <a:r>
              <a:rPr lang="en-US" b="1" i="1">
                <a:solidFill>
                  <a:srgbClr val="339933"/>
                </a:solidFill>
                <a:effectLst>
                  <a:outerShdw blurRad="38100" dist="38100" dir="2700000" algn="tl">
                    <a:srgbClr val="C0C0C0"/>
                  </a:outerShdw>
                </a:effectLst>
              </a:rPr>
              <a:t>sigaction</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Text Box 3"/>
          <p:cNvSpPr txBox="1">
            <a:spLocks noChangeArrowheads="1"/>
          </p:cNvSpPr>
          <p:nvPr/>
        </p:nvSpPr>
        <p:spPr bwMode="auto">
          <a:xfrm>
            <a:off x="228600" y="1524000"/>
            <a:ext cx="8534400" cy="3838295"/>
          </a:xfrm>
          <a:prstGeom prst="rect">
            <a:avLst/>
          </a:prstGeom>
          <a:noFill/>
          <a:ln w="9525">
            <a:noFill/>
            <a:miter lim="800000"/>
            <a:headEnd/>
            <a:tailEnd/>
          </a:ln>
        </p:spPr>
        <p:txBody>
          <a:bodyPr wrap="square">
            <a:spAutoFit/>
          </a:bodyPr>
          <a:lstStyle/>
          <a:p>
            <a:pPr>
              <a:lnSpc>
                <a:spcPct val="75000"/>
              </a:lnSpc>
              <a:spcBef>
                <a:spcPct val="50000"/>
              </a:spcBef>
            </a:pPr>
            <a:r>
              <a:rPr lang="en-US" sz="5400" dirty="0" err="1">
                <a:solidFill>
                  <a:srgbClr val="339933"/>
                </a:solidFill>
              </a:rPr>
              <a:t>struct</a:t>
            </a:r>
            <a:r>
              <a:rPr lang="en-US" sz="5400" dirty="0">
                <a:solidFill>
                  <a:srgbClr val="339933"/>
                </a:solidFill>
              </a:rPr>
              <a:t> </a:t>
            </a:r>
            <a:r>
              <a:rPr lang="en-US" sz="5400" dirty="0" err="1">
                <a:solidFill>
                  <a:srgbClr val="339933"/>
                </a:solidFill>
              </a:rPr>
              <a:t>sigaction</a:t>
            </a:r>
            <a:r>
              <a:rPr lang="en-US" sz="5400" dirty="0">
                <a:solidFill>
                  <a:srgbClr val="339933"/>
                </a:solidFill>
              </a:rPr>
              <a:t> 						{								    	  void (*</a:t>
            </a:r>
            <a:r>
              <a:rPr lang="en-US" sz="5400" dirty="0" err="1">
                <a:solidFill>
                  <a:srgbClr val="339933"/>
                </a:solidFill>
              </a:rPr>
              <a:t>sa_handler</a:t>
            </a:r>
            <a:r>
              <a:rPr lang="en-US" sz="5400" dirty="0">
                <a:solidFill>
                  <a:srgbClr val="339933"/>
                </a:solidFill>
              </a:rPr>
              <a:t>)(</a:t>
            </a:r>
            <a:r>
              <a:rPr lang="en-US" sz="5400" dirty="0" err="1">
                <a:solidFill>
                  <a:srgbClr val="339933"/>
                </a:solidFill>
              </a:rPr>
              <a:t>int</a:t>
            </a:r>
            <a:r>
              <a:rPr lang="en-US" sz="5400" dirty="0">
                <a:solidFill>
                  <a:srgbClr val="339933"/>
                </a:solidFill>
              </a:rPr>
              <a:t>) ;</a:t>
            </a:r>
            <a:r>
              <a:rPr lang="en-US" sz="5400" dirty="0"/>
              <a:t> 	          	  </a:t>
            </a:r>
            <a:r>
              <a:rPr lang="en-US" sz="5400" dirty="0" err="1">
                <a:solidFill>
                  <a:srgbClr val="339933"/>
                </a:solidFill>
              </a:rPr>
              <a:t>sigset_t</a:t>
            </a:r>
            <a:r>
              <a:rPr lang="en-US" sz="5400" dirty="0">
                <a:solidFill>
                  <a:srgbClr val="339933"/>
                </a:solidFill>
              </a:rPr>
              <a:t>    </a:t>
            </a:r>
            <a:r>
              <a:rPr lang="en-US" sz="5400" dirty="0" err="1">
                <a:solidFill>
                  <a:srgbClr val="339933"/>
                </a:solidFill>
              </a:rPr>
              <a:t>sa_mask</a:t>
            </a:r>
            <a:r>
              <a:rPr lang="en-US" sz="5400" dirty="0">
                <a:solidFill>
                  <a:srgbClr val="339933"/>
                </a:solidFill>
              </a:rPr>
              <a:t>;</a:t>
            </a:r>
            <a:r>
              <a:rPr lang="en-US" sz="5400" dirty="0"/>
              <a:t> 		   	  </a:t>
            </a:r>
            <a:r>
              <a:rPr lang="en-US" sz="5400" dirty="0" err="1">
                <a:solidFill>
                  <a:srgbClr val="339933"/>
                </a:solidFill>
              </a:rPr>
              <a:t>int</a:t>
            </a:r>
            <a:r>
              <a:rPr lang="en-US" sz="5400" dirty="0">
                <a:solidFill>
                  <a:srgbClr val="339933"/>
                </a:solidFill>
              </a:rPr>
              <a:t>    </a:t>
            </a:r>
            <a:r>
              <a:rPr lang="en-US" sz="5400" dirty="0" err="1">
                <a:solidFill>
                  <a:srgbClr val="339933"/>
                </a:solidFill>
              </a:rPr>
              <a:t>sa_flags</a:t>
            </a:r>
            <a:r>
              <a:rPr lang="en-US" sz="5400" dirty="0">
                <a:solidFill>
                  <a:srgbClr val="339933"/>
                </a:solidFill>
              </a:rPr>
              <a:t>;  					};</a:t>
            </a:r>
            <a:r>
              <a:rPr lang="en-US" sz="5400" dirty="0"/>
              <a:t>	</a:t>
            </a:r>
            <a:endParaRPr lang="en-US" sz="5400" dirty="0">
              <a:solidFill>
                <a:srgbClr val="339933"/>
              </a:solidFill>
            </a:endParaRPr>
          </a:p>
        </p:txBody>
      </p:sp>
      <p:sp>
        <p:nvSpPr>
          <p:cNvPr id="1002501" name="Rectangle 5"/>
          <p:cNvSpPr>
            <a:spLocks noGrp="1" noChangeArrowheads="1"/>
          </p:cNvSpPr>
          <p:nvPr>
            <p:ph type="title" idx="4294967295"/>
          </p:nvPr>
        </p:nvSpPr>
        <p:spPr>
          <a:xfrm>
            <a:off x="0" y="-76200"/>
            <a:ext cx="7772400" cy="1143000"/>
          </a:xfrm>
        </p:spPr>
        <p:txBody>
          <a:bodyPr/>
          <a:lstStyle/>
          <a:p>
            <a:pPr eaLnBrk="1" hangingPunct="1">
              <a:defRPr/>
            </a:pPr>
            <a:r>
              <a:rPr lang="en-US" b="1" i="1">
                <a:solidFill>
                  <a:srgbClr val="339933"/>
                </a:solidFill>
                <a:effectLst>
                  <a:outerShdw blurRad="38100" dist="38100" dir="2700000" algn="tl">
                    <a:srgbClr val="C0C0C0"/>
                  </a:outerShdw>
                </a:effectLst>
              </a:rPr>
              <a:t>sigaction</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Text Box 2" descr="70%"/>
          <p:cNvSpPr txBox="1">
            <a:spLocks noChangeArrowheads="1"/>
          </p:cNvSpPr>
          <p:nvPr/>
        </p:nvSpPr>
        <p:spPr bwMode="auto">
          <a:xfrm>
            <a:off x="76200" y="990600"/>
            <a:ext cx="8991600" cy="5319713"/>
          </a:xfrm>
          <a:prstGeom prst="rect">
            <a:avLst/>
          </a:prstGeom>
          <a:noFill/>
          <a:ln w="9525">
            <a:solidFill>
              <a:srgbClr val="339933"/>
            </a:solidFill>
            <a:miter lim="800000"/>
            <a:headEnd/>
            <a:tailEnd/>
          </a:ln>
        </p:spPr>
        <p:txBody>
          <a:bodyPr>
            <a:spAutoFit/>
          </a:bodyPr>
          <a:lstStyle/>
          <a:p>
            <a:pPr>
              <a:spcBef>
                <a:spcPct val="50000"/>
              </a:spcBef>
            </a:pPr>
            <a:r>
              <a:rPr lang="en-US" sz="3600" dirty="0" err="1">
                <a:solidFill>
                  <a:srgbClr val="339933"/>
                </a:solidFill>
              </a:rPr>
              <a:t>sa_flags</a:t>
            </a:r>
            <a:r>
              <a:rPr lang="en-US" sz="3600" b="1" dirty="0">
                <a:solidFill>
                  <a:schemeClr val="bg2"/>
                </a:solidFill>
              </a:rPr>
              <a:t> --- </a:t>
            </a:r>
            <a:r>
              <a:rPr lang="en-US" sz="3600" i="1" dirty="0">
                <a:solidFill>
                  <a:srgbClr val="002060"/>
                </a:solidFill>
              </a:rPr>
              <a:t>SA_NOCLDSTO</a:t>
            </a:r>
            <a:r>
              <a:rPr lang="en-US" sz="3600" i="1" dirty="0"/>
              <a:t>P </a:t>
            </a:r>
            <a:r>
              <a:rPr lang="en-US" sz="3600" i="1" dirty="0">
                <a:solidFill>
                  <a:schemeClr val="bg2"/>
                </a:solidFill>
              </a:rPr>
              <a:t>						</a:t>
            </a:r>
            <a:r>
              <a:rPr lang="en-US" sz="2800" i="1" dirty="0">
                <a:solidFill>
                  <a:srgbClr val="FF0000"/>
                </a:solidFill>
              </a:rPr>
              <a:t>/*D</a:t>
            </a:r>
            <a:r>
              <a:rPr lang="en-US" i="1" dirty="0">
                <a:solidFill>
                  <a:srgbClr val="FF0000"/>
                </a:solidFill>
              </a:rPr>
              <a:t>on’t generate SIGCHLD when child stop */</a:t>
            </a:r>
            <a:endParaRPr lang="en-US" sz="2800" i="1" dirty="0">
              <a:solidFill>
                <a:srgbClr val="FF0000"/>
              </a:solidFill>
            </a:endParaRPr>
          </a:p>
          <a:p>
            <a:pPr>
              <a:spcBef>
                <a:spcPct val="50000"/>
              </a:spcBef>
            </a:pPr>
            <a:r>
              <a:rPr lang="en-US" sz="3600" b="1" dirty="0">
                <a:solidFill>
                  <a:schemeClr val="bg2"/>
                </a:solidFill>
              </a:rPr>
              <a:t>              </a:t>
            </a:r>
            <a:r>
              <a:rPr lang="en-US" sz="3600" b="1" dirty="0">
                <a:solidFill>
                  <a:srgbClr val="002060"/>
                </a:solidFill>
              </a:rPr>
              <a:t>--- </a:t>
            </a:r>
            <a:r>
              <a:rPr lang="en-US" sz="3600" i="1" dirty="0">
                <a:solidFill>
                  <a:srgbClr val="002060"/>
                </a:solidFill>
              </a:rPr>
              <a:t>SA_RESETHAND </a:t>
            </a:r>
            <a:r>
              <a:rPr lang="en-US" sz="3600" i="1" dirty="0">
                <a:solidFill>
                  <a:schemeClr val="bg2"/>
                </a:solidFill>
              </a:rPr>
              <a:t>						</a:t>
            </a:r>
            <a:r>
              <a:rPr lang="en-US" i="1" dirty="0">
                <a:solidFill>
                  <a:srgbClr val="FF0000"/>
                </a:solidFill>
              </a:rPr>
              <a:t>/*Reset signal action to SIG_DFL on receipt */</a:t>
            </a:r>
            <a:endParaRPr lang="en-US" sz="3600" i="1" dirty="0">
              <a:solidFill>
                <a:srgbClr val="FF0000"/>
              </a:solidFill>
            </a:endParaRPr>
          </a:p>
          <a:p>
            <a:pPr>
              <a:spcBef>
                <a:spcPct val="50000"/>
              </a:spcBef>
            </a:pPr>
            <a:r>
              <a:rPr lang="en-US" sz="3600" b="1" dirty="0">
                <a:solidFill>
                  <a:schemeClr val="bg2"/>
                </a:solidFill>
              </a:rPr>
              <a:t>              --- </a:t>
            </a:r>
            <a:r>
              <a:rPr lang="en-US" sz="3600" i="1" dirty="0">
                <a:solidFill>
                  <a:srgbClr val="002060"/>
                </a:solidFill>
              </a:rPr>
              <a:t>SA_RESTART</a:t>
            </a:r>
            <a:r>
              <a:rPr lang="en-US" sz="3600" i="1" dirty="0">
                <a:solidFill>
                  <a:schemeClr val="bg2"/>
                </a:solidFill>
              </a:rPr>
              <a:t>       						</a:t>
            </a:r>
            <a:r>
              <a:rPr lang="en-US" i="1" dirty="0">
                <a:solidFill>
                  <a:srgbClr val="FF0000"/>
                </a:solidFill>
              </a:rPr>
              <a:t>/* Restart interruptible functions */</a:t>
            </a:r>
            <a:endParaRPr lang="en-US" sz="3600" b="1" i="1" dirty="0">
              <a:solidFill>
                <a:srgbClr val="FF0000"/>
              </a:solidFill>
            </a:endParaRPr>
          </a:p>
          <a:p>
            <a:pPr>
              <a:spcBef>
                <a:spcPct val="50000"/>
              </a:spcBef>
            </a:pPr>
            <a:r>
              <a:rPr lang="en-US" sz="3600" b="1" dirty="0">
                <a:solidFill>
                  <a:schemeClr val="bg2"/>
                </a:solidFill>
              </a:rPr>
              <a:t>              --- </a:t>
            </a:r>
            <a:r>
              <a:rPr lang="en-US" sz="3600" i="1" dirty="0">
                <a:solidFill>
                  <a:srgbClr val="002060"/>
                </a:solidFill>
              </a:rPr>
              <a:t>SA_NODEFER</a:t>
            </a:r>
            <a:r>
              <a:rPr lang="en-US" sz="3600" i="1" dirty="0">
                <a:solidFill>
                  <a:schemeClr val="bg2"/>
                </a:solidFill>
              </a:rPr>
              <a:t>  							</a:t>
            </a:r>
            <a:r>
              <a:rPr lang="en-US" sz="2300" i="1" dirty="0">
                <a:solidFill>
                  <a:srgbClr val="FF0000"/>
                </a:solidFill>
              </a:rPr>
              <a:t>/* Don’t add signal to signal mask when caught */</a:t>
            </a:r>
            <a:endParaRPr lang="en-US" sz="2300" b="1" dirty="0">
              <a:solidFill>
                <a:srgbClr val="FF0000"/>
              </a:solidFill>
            </a:endParaRPr>
          </a:p>
        </p:txBody>
      </p:sp>
      <p:sp>
        <p:nvSpPr>
          <p:cNvPr id="268291" name="Line 10"/>
          <p:cNvSpPr>
            <a:spLocks noChangeShapeType="1"/>
          </p:cNvSpPr>
          <p:nvPr/>
        </p:nvSpPr>
        <p:spPr bwMode="auto">
          <a:xfrm>
            <a:off x="1781175" y="1371600"/>
            <a:ext cx="0" cy="4114800"/>
          </a:xfrm>
          <a:prstGeom prst="line">
            <a:avLst/>
          </a:prstGeom>
          <a:noFill/>
          <a:ln w="25400">
            <a:solidFill>
              <a:srgbClr val="808080"/>
            </a:solidFill>
            <a:prstDash val="dash"/>
            <a:round/>
            <a:headEnd/>
            <a:tailEnd/>
          </a:ln>
        </p:spPr>
        <p:txBody>
          <a:bodyPr/>
          <a:lstStyle/>
          <a:p>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Text Box 2" descr="70%"/>
          <p:cNvSpPr txBox="1">
            <a:spLocks noChangeArrowheads="1"/>
          </p:cNvSpPr>
          <p:nvPr/>
        </p:nvSpPr>
        <p:spPr bwMode="auto">
          <a:xfrm>
            <a:off x="228600" y="1203325"/>
            <a:ext cx="8610600" cy="4543425"/>
          </a:xfrm>
          <a:prstGeom prst="rect">
            <a:avLst/>
          </a:prstGeom>
          <a:noFill/>
          <a:ln w="9525">
            <a:noFill/>
            <a:miter lim="800000"/>
            <a:headEnd/>
            <a:tailEnd/>
          </a:ln>
        </p:spPr>
        <p:txBody>
          <a:bodyPr>
            <a:spAutoFit/>
          </a:bodyPr>
          <a:lstStyle/>
          <a:p>
            <a:pPr>
              <a:spcBef>
                <a:spcPct val="50000"/>
              </a:spcBef>
            </a:pPr>
            <a:r>
              <a:rPr lang="en-US" sz="4000" b="1">
                <a:solidFill>
                  <a:schemeClr val="bg2"/>
                </a:solidFill>
              </a:rPr>
              <a:t> </a:t>
            </a:r>
            <a:r>
              <a:rPr lang="en-US" sz="4000" b="1">
                <a:solidFill>
                  <a:srgbClr val="339933"/>
                </a:solidFill>
              </a:rPr>
              <a:t>typedef struct 							{ 									      unsigned long sig[2];    		     	}sigset_t ;</a:t>
            </a:r>
          </a:p>
          <a:p>
            <a:endParaRPr lang="en-US" b="1">
              <a:solidFill>
                <a:srgbClr val="339933"/>
              </a:solidFill>
            </a:endParaRPr>
          </a:p>
          <a:p>
            <a:pPr>
              <a:buClr>
                <a:srgbClr val="339933"/>
              </a:buClr>
              <a:buFont typeface="Wingdings" pitchFamily="2" charset="2"/>
              <a:buChar char="Ø"/>
            </a:pPr>
            <a:r>
              <a:rPr lang="en-US" sz="3600" i="1"/>
              <a:t>First byte consists signals</a:t>
            </a:r>
            <a:r>
              <a:rPr lang="en-US" sz="3600" b="1"/>
              <a:t> </a:t>
            </a:r>
          </a:p>
          <a:p>
            <a:pPr>
              <a:buClr>
                <a:srgbClr val="339933"/>
              </a:buClr>
              <a:buFont typeface="Wingdings" pitchFamily="2" charset="2"/>
              <a:buNone/>
            </a:pPr>
            <a:endParaRPr lang="en-US" sz="3600" b="1">
              <a:solidFill>
                <a:srgbClr val="339933"/>
              </a:solidFill>
            </a:endParaRPr>
          </a:p>
          <a:p>
            <a:pPr>
              <a:buClr>
                <a:srgbClr val="339933"/>
              </a:buClr>
              <a:buFont typeface="Wingdings" pitchFamily="2" charset="2"/>
              <a:buChar char="Ø"/>
            </a:pPr>
            <a:r>
              <a:rPr lang="en-US" sz="3600" i="1"/>
              <a:t>Second byte consists of real time signals</a:t>
            </a:r>
            <a:r>
              <a:rPr lang="en-US" sz="3600" b="1">
                <a:solidFill>
                  <a:srgbClr val="339933"/>
                </a:solidFill>
              </a:rPr>
              <a:t> </a:t>
            </a:r>
            <a:endParaRPr lang="en-US" sz="5400" b="1">
              <a:solidFill>
                <a:srgbClr val="339933"/>
              </a:solidFill>
            </a:endParaRPr>
          </a:p>
        </p:txBody>
      </p:sp>
      <p:sp>
        <p:nvSpPr>
          <p:cNvPr id="269315" name="Rectangle 10"/>
          <p:cNvSpPr>
            <a:spLocks noGrp="1" noChangeArrowheads="1"/>
          </p:cNvSpPr>
          <p:nvPr>
            <p:ph type="title" idx="4294967295"/>
          </p:nvPr>
        </p:nvSpPr>
        <p:spPr>
          <a:xfrm>
            <a:off x="0" y="-76200"/>
            <a:ext cx="7772400" cy="1143000"/>
          </a:xfrm>
        </p:spPr>
        <p:txBody>
          <a:bodyPr/>
          <a:lstStyle/>
          <a:p>
            <a:pPr eaLnBrk="1" hangingPunct="1"/>
            <a:r>
              <a:rPr lang="en-US">
                <a:solidFill>
                  <a:schemeClr val="tx1"/>
                </a:solidFill>
              </a:rPr>
              <a:t>sigset_t     structure</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Text Box 2" descr="70%"/>
          <p:cNvSpPr txBox="1">
            <a:spLocks noChangeArrowheads="1"/>
          </p:cNvSpPr>
          <p:nvPr/>
        </p:nvSpPr>
        <p:spPr bwMode="auto">
          <a:xfrm>
            <a:off x="228600" y="1374775"/>
            <a:ext cx="8686800" cy="4893647"/>
          </a:xfrm>
          <a:prstGeom prst="rect">
            <a:avLst/>
          </a:prstGeom>
          <a:noFill/>
          <a:ln w="9525">
            <a:noFill/>
            <a:miter lim="800000"/>
            <a:headEnd/>
            <a:tailEnd/>
          </a:ln>
        </p:spPr>
        <p:txBody>
          <a:bodyPr>
            <a:spAutoFit/>
          </a:bodyPr>
          <a:lstStyle/>
          <a:p>
            <a:pPr>
              <a:spcBef>
                <a:spcPct val="50000"/>
              </a:spcBef>
            </a:pPr>
            <a:r>
              <a:rPr lang="en-US" sz="4800" b="1" dirty="0"/>
              <a:t> </a:t>
            </a:r>
            <a:r>
              <a:rPr lang="en-US" sz="4800" dirty="0">
                <a:solidFill>
                  <a:srgbClr val="339933"/>
                </a:solidFill>
              </a:rPr>
              <a:t>int </a:t>
            </a:r>
            <a:r>
              <a:rPr lang="en-US" sz="4800" dirty="0" err="1">
                <a:solidFill>
                  <a:srgbClr val="339933"/>
                </a:solidFill>
              </a:rPr>
              <a:t>sigprocmask</a:t>
            </a:r>
            <a:r>
              <a:rPr lang="en-US" sz="4800" dirty="0">
                <a:solidFill>
                  <a:srgbClr val="339933"/>
                </a:solidFill>
              </a:rPr>
              <a:t> 						(										int how, 							const </a:t>
            </a:r>
            <a:r>
              <a:rPr lang="en-US" sz="4800" dirty="0" err="1">
                <a:solidFill>
                  <a:srgbClr val="339933"/>
                </a:solidFill>
              </a:rPr>
              <a:t>sigset_t</a:t>
            </a:r>
            <a:r>
              <a:rPr lang="en-US" sz="4800" dirty="0">
                <a:solidFill>
                  <a:srgbClr val="339933"/>
                </a:solidFill>
              </a:rPr>
              <a:t>  *set,                                                         	       </a:t>
            </a:r>
            <a:r>
              <a:rPr lang="en-US" sz="4800" dirty="0" err="1">
                <a:solidFill>
                  <a:srgbClr val="339933"/>
                </a:solidFill>
              </a:rPr>
              <a:t>sigset_t</a:t>
            </a:r>
            <a:r>
              <a:rPr lang="en-US" sz="4800" dirty="0">
                <a:solidFill>
                  <a:srgbClr val="339933"/>
                </a:solidFill>
              </a:rPr>
              <a:t>  *</a:t>
            </a:r>
            <a:r>
              <a:rPr lang="en-US" sz="4800" dirty="0" err="1">
                <a:solidFill>
                  <a:srgbClr val="339933"/>
                </a:solidFill>
              </a:rPr>
              <a:t>oset</a:t>
            </a:r>
            <a:r>
              <a:rPr lang="en-US" sz="4800" dirty="0">
                <a:solidFill>
                  <a:srgbClr val="339933"/>
                </a:solidFill>
              </a:rPr>
              <a:t>			</a:t>
            </a:r>
          </a:p>
          <a:p>
            <a:pPr>
              <a:spcBef>
                <a:spcPct val="50000"/>
              </a:spcBef>
            </a:pPr>
            <a:r>
              <a:rPr lang="en-US" sz="4800" dirty="0">
                <a:solidFill>
                  <a:srgbClr val="339933"/>
                </a:solidFill>
              </a:rPr>
              <a:t>      );</a:t>
            </a:r>
            <a:r>
              <a:rPr lang="en-US" sz="4800" dirty="0"/>
              <a:t>  </a:t>
            </a:r>
          </a:p>
        </p:txBody>
      </p:sp>
      <p:sp>
        <p:nvSpPr>
          <p:cNvPr id="830474" name="Rectangle 10"/>
          <p:cNvSpPr>
            <a:spLocks noGrp="1" noChangeArrowheads="1"/>
          </p:cNvSpPr>
          <p:nvPr>
            <p:ph type="title" idx="4294967295"/>
          </p:nvPr>
        </p:nvSpPr>
        <p:spPr>
          <a:xfrm>
            <a:off x="0" y="-152400"/>
            <a:ext cx="7772400" cy="1143000"/>
          </a:xfrm>
        </p:spPr>
        <p:txBody>
          <a:bodyPr/>
          <a:lstStyle/>
          <a:p>
            <a:pPr eaLnBrk="1" hangingPunct="1">
              <a:defRPr/>
            </a:pPr>
            <a:r>
              <a:rPr lang="en-US"/>
              <a:t> </a:t>
            </a:r>
            <a:r>
              <a:rPr lang="en-US" b="1" i="1">
                <a:solidFill>
                  <a:srgbClr val="339933"/>
                </a:solidFill>
                <a:effectLst>
                  <a:outerShdw blurRad="38100" dist="38100" dir="2700000" algn="tl">
                    <a:srgbClr val="C0C0C0"/>
                  </a:outerShdw>
                </a:effectLst>
              </a:rPr>
              <a:t>sigprocmask</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Text Box 2" descr="70%"/>
          <p:cNvSpPr txBox="1">
            <a:spLocks noChangeArrowheads="1"/>
          </p:cNvSpPr>
          <p:nvPr/>
        </p:nvSpPr>
        <p:spPr bwMode="auto">
          <a:xfrm>
            <a:off x="228600" y="1111250"/>
            <a:ext cx="8686800" cy="3381375"/>
          </a:xfrm>
          <a:prstGeom prst="rect">
            <a:avLst/>
          </a:prstGeom>
          <a:noFill/>
          <a:ln w="9525">
            <a:noFill/>
            <a:miter lim="800000"/>
            <a:headEnd/>
            <a:tailEnd/>
          </a:ln>
        </p:spPr>
        <p:txBody>
          <a:bodyPr>
            <a:spAutoFit/>
          </a:bodyPr>
          <a:lstStyle/>
          <a:p>
            <a:pPr>
              <a:spcBef>
                <a:spcPct val="50000"/>
              </a:spcBef>
            </a:pPr>
            <a:r>
              <a:rPr lang="en-US" sz="5400">
                <a:solidFill>
                  <a:srgbClr val="339933"/>
                </a:solidFill>
              </a:rPr>
              <a:t>how</a:t>
            </a:r>
            <a:r>
              <a:rPr lang="en-US" sz="5400" b="1">
                <a:solidFill>
                  <a:srgbClr val="339933"/>
                </a:solidFill>
              </a:rPr>
              <a:t>   </a:t>
            </a:r>
            <a:r>
              <a:rPr lang="en-US" sz="5400" b="1"/>
              <a:t>------  </a:t>
            </a:r>
            <a:r>
              <a:rPr lang="en-US" sz="4800" i="1"/>
              <a:t>SIG_BLOCK   	</a:t>
            </a:r>
          </a:p>
          <a:p>
            <a:pPr>
              <a:spcBef>
                <a:spcPct val="50000"/>
              </a:spcBef>
            </a:pPr>
            <a:r>
              <a:rPr lang="en-US" sz="4800" i="1"/>
              <a:t>	     </a:t>
            </a:r>
            <a:r>
              <a:rPr lang="en-US" sz="5400" b="1"/>
              <a:t>------</a:t>
            </a:r>
            <a:r>
              <a:rPr lang="en-US" sz="4800" i="1"/>
              <a:t> SIG_SETMASK </a:t>
            </a:r>
          </a:p>
          <a:p>
            <a:pPr>
              <a:spcBef>
                <a:spcPct val="50000"/>
              </a:spcBef>
            </a:pPr>
            <a:r>
              <a:rPr lang="en-US" sz="4800" i="1"/>
              <a:t>	     </a:t>
            </a:r>
            <a:r>
              <a:rPr lang="en-US" sz="5400" b="1"/>
              <a:t>------</a:t>
            </a:r>
            <a:r>
              <a:rPr lang="en-US" sz="4800" i="1"/>
              <a:t> SIG_UNBLOCK</a:t>
            </a:r>
          </a:p>
        </p:txBody>
      </p:sp>
      <p:sp>
        <p:nvSpPr>
          <p:cNvPr id="1003523" name="Rectangle 3"/>
          <p:cNvSpPr>
            <a:spLocks noGrp="1" noChangeArrowheads="1"/>
          </p:cNvSpPr>
          <p:nvPr>
            <p:ph type="title" idx="4294967295"/>
          </p:nvPr>
        </p:nvSpPr>
        <p:spPr>
          <a:xfrm>
            <a:off x="0" y="-152400"/>
            <a:ext cx="7772400" cy="1143000"/>
          </a:xfrm>
        </p:spPr>
        <p:txBody>
          <a:bodyPr/>
          <a:lstStyle/>
          <a:p>
            <a:pPr eaLnBrk="1" hangingPunct="1">
              <a:defRPr/>
            </a:pPr>
            <a:r>
              <a:rPr lang="en-US"/>
              <a:t> </a:t>
            </a:r>
            <a:r>
              <a:rPr lang="en-US" b="1" i="1">
                <a:solidFill>
                  <a:srgbClr val="339933"/>
                </a:solidFill>
                <a:effectLst>
                  <a:outerShdw blurRad="38100" dist="38100" dir="2700000" algn="tl">
                    <a:srgbClr val="C0C0C0"/>
                  </a:outerShdw>
                </a:effectLst>
              </a:rPr>
              <a:t>sigprocmask</a:t>
            </a:r>
          </a:p>
        </p:txBody>
      </p:sp>
      <p:sp>
        <p:nvSpPr>
          <p:cNvPr id="271364" name="Line 4"/>
          <p:cNvSpPr>
            <a:spLocks noChangeShapeType="1"/>
          </p:cNvSpPr>
          <p:nvPr/>
        </p:nvSpPr>
        <p:spPr bwMode="auto">
          <a:xfrm>
            <a:off x="1981200" y="1628775"/>
            <a:ext cx="0" cy="2514600"/>
          </a:xfrm>
          <a:prstGeom prst="line">
            <a:avLst/>
          </a:prstGeom>
          <a:noFill/>
          <a:ln w="38100">
            <a:solidFill>
              <a:schemeClr val="tx1"/>
            </a:solidFill>
            <a:prstDash val="dash"/>
            <a:round/>
            <a:headEnd/>
            <a:tailEnd/>
          </a:ln>
        </p:spPr>
        <p:txBody>
          <a:bodyPr/>
          <a:lstStyle/>
          <a:p>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Text Box 2" descr="70%"/>
          <p:cNvSpPr txBox="1">
            <a:spLocks noChangeArrowheads="1"/>
          </p:cNvSpPr>
          <p:nvPr/>
        </p:nvSpPr>
        <p:spPr bwMode="auto">
          <a:xfrm>
            <a:off x="0" y="1203325"/>
            <a:ext cx="8915400" cy="4664075"/>
          </a:xfrm>
          <a:prstGeom prst="rect">
            <a:avLst/>
          </a:prstGeom>
          <a:noFill/>
          <a:ln w="9525">
            <a:noFill/>
            <a:miter lim="800000"/>
            <a:headEnd/>
            <a:tailEnd/>
          </a:ln>
        </p:spPr>
        <p:txBody>
          <a:bodyPr>
            <a:spAutoFit/>
          </a:bodyPr>
          <a:lstStyle/>
          <a:p>
            <a:pPr>
              <a:lnSpc>
                <a:spcPct val="150000"/>
              </a:lnSpc>
              <a:spcBef>
                <a:spcPct val="50000"/>
              </a:spcBef>
              <a:buFont typeface="Wingdings" pitchFamily="2" charset="2"/>
              <a:buChar char="Ø"/>
            </a:pPr>
            <a:r>
              <a:rPr lang="en-US" sz="4000">
                <a:solidFill>
                  <a:srgbClr val="339933"/>
                </a:solidFill>
              </a:rPr>
              <a:t>int sigemptyset (sigset_t  *set);</a:t>
            </a:r>
          </a:p>
          <a:p>
            <a:pPr>
              <a:lnSpc>
                <a:spcPct val="150000"/>
              </a:lnSpc>
              <a:spcBef>
                <a:spcPct val="50000"/>
              </a:spcBef>
              <a:buFont typeface="Wingdings" pitchFamily="2" charset="2"/>
              <a:buChar char="Ø"/>
            </a:pPr>
            <a:r>
              <a:rPr lang="en-US" sz="4000">
                <a:solidFill>
                  <a:srgbClr val="339933"/>
                </a:solidFill>
              </a:rPr>
              <a:t>int sigfillset (sigset _t   *set) ;</a:t>
            </a:r>
          </a:p>
          <a:p>
            <a:pPr>
              <a:lnSpc>
                <a:spcPct val="150000"/>
              </a:lnSpc>
              <a:spcBef>
                <a:spcPct val="50000"/>
              </a:spcBef>
              <a:buFont typeface="Wingdings" pitchFamily="2" charset="2"/>
              <a:buChar char="Ø"/>
            </a:pPr>
            <a:r>
              <a:rPr lang="en-US" sz="4000">
                <a:solidFill>
                  <a:srgbClr val="339933"/>
                </a:solidFill>
              </a:rPr>
              <a:t>int sigaddset (sigset_t  *set, int  signo);</a:t>
            </a:r>
          </a:p>
          <a:p>
            <a:pPr>
              <a:lnSpc>
                <a:spcPct val="150000"/>
              </a:lnSpc>
              <a:spcBef>
                <a:spcPct val="50000"/>
              </a:spcBef>
              <a:buFont typeface="Wingdings" pitchFamily="2" charset="2"/>
              <a:buChar char="Ø"/>
            </a:pPr>
            <a:r>
              <a:rPr lang="en-US" sz="4000" b="1">
                <a:solidFill>
                  <a:srgbClr val="339933"/>
                </a:solidFill>
              </a:rPr>
              <a:t> </a:t>
            </a:r>
            <a:r>
              <a:rPr lang="en-US" sz="4000">
                <a:solidFill>
                  <a:srgbClr val="339933"/>
                </a:solidFill>
              </a:rPr>
              <a:t>int sigdelset (sigset_t   *set, int   signo); </a:t>
            </a:r>
            <a:endParaRPr lang="en-US" sz="3600" i="1"/>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descr="70%"/>
          <p:cNvSpPr>
            <a:spLocks noChangeArrowheads="1"/>
          </p:cNvSpPr>
          <p:nvPr/>
        </p:nvSpPr>
        <p:spPr bwMode="auto">
          <a:xfrm>
            <a:off x="76200" y="1243013"/>
            <a:ext cx="8763000" cy="3937000"/>
          </a:xfrm>
          <a:prstGeom prst="rect">
            <a:avLst/>
          </a:prstGeom>
          <a:noFill/>
          <a:ln w="9525">
            <a:noFill/>
            <a:miter lim="800000"/>
            <a:headEnd/>
            <a:tailEnd/>
          </a:ln>
        </p:spPr>
        <p:txBody>
          <a:bodyPr>
            <a:spAutoFit/>
          </a:bodyPr>
          <a:lstStyle/>
          <a:p>
            <a:pPr>
              <a:lnSpc>
                <a:spcPct val="200000"/>
              </a:lnSpc>
              <a:spcBef>
                <a:spcPct val="50000"/>
              </a:spcBef>
              <a:buFont typeface="Wingdings" pitchFamily="2" charset="2"/>
              <a:buChar char="Ø"/>
            </a:pPr>
            <a:r>
              <a:rPr lang="en-US" sz="3600">
                <a:solidFill>
                  <a:srgbClr val="339933"/>
                </a:solidFill>
              </a:rPr>
              <a:t>int sigpending (sigset_t  *set);</a:t>
            </a:r>
            <a:r>
              <a:rPr lang="en-US" sz="3600"/>
              <a:t>      </a:t>
            </a:r>
          </a:p>
          <a:p>
            <a:pPr>
              <a:lnSpc>
                <a:spcPct val="200000"/>
              </a:lnSpc>
              <a:spcBef>
                <a:spcPct val="50000"/>
              </a:spcBef>
              <a:buFont typeface="Wingdings" pitchFamily="2" charset="2"/>
              <a:buChar char="Ø"/>
            </a:pPr>
            <a:r>
              <a:rPr lang="en-US" sz="3600">
                <a:solidFill>
                  <a:srgbClr val="339933"/>
                </a:solidFill>
              </a:rPr>
              <a:t>int sigsuspend ( const sigset_t  *sigmask);</a:t>
            </a:r>
          </a:p>
          <a:p>
            <a:pPr>
              <a:lnSpc>
                <a:spcPct val="200000"/>
              </a:lnSpc>
              <a:spcBef>
                <a:spcPct val="50000"/>
              </a:spcBef>
              <a:buFont typeface="Wingdings" pitchFamily="2" charset="2"/>
              <a:buChar char="Ø"/>
            </a:pPr>
            <a:r>
              <a:rPr lang="en-US" sz="3600">
                <a:solidFill>
                  <a:srgbClr val="339933"/>
                </a:solidFill>
              </a:rPr>
              <a:t>int sigismember (sigset_t  *set, int  signo);</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descr="70%"/>
          <p:cNvSpPr>
            <a:spLocks noChangeArrowheads="1"/>
          </p:cNvSpPr>
          <p:nvPr/>
        </p:nvSpPr>
        <p:spPr bwMode="auto">
          <a:xfrm>
            <a:off x="304800" y="1600200"/>
            <a:ext cx="2971800" cy="4343400"/>
          </a:xfrm>
          <a:prstGeom prst="rect">
            <a:avLst/>
          </a:prstGeom>
          <a:noFill/>
          <a:ln w="9525">
            <a:solidFill>
              <a:schemeClr val="tx1"/>
            </a:solidFill>
            <a:prstDash val="dash"/>
            <a:miter lim="800000"/>
            <a:headEnd/>
            <a:tailEnd/>
          </a:ln>
        </p:spPr>
        <p:txBody>
          <a:bodyPr wrap="none" anchor="ctr"/>
          <a:lstStyle/>
          <a:p>
            <a:endParaRPr lang="en-US"/>
          </a:p>
        </p:txBody>
      </p:sp>
      <p:sp>
        <p:nvSpPr>
          <p:cNvPr id="837635" name="Rectangle 3" descr="70%"/>
          <p:cNvSpPr>
            <a:spLocks noChangeArrowheads="1"/>
          </p:cNvSpPr>
          <p:nvPr/>
        </p:nvSpPr>
        <p:spPr bwMode="auto">
          <a:xfrm>
            <a:off x="4419600" y="1600200"/>
            <a:ext cx="4495800" cy="4419600"/>
          </a:xfrm>
          <a:prstGeom prst="rect">
            <a:avLst/>
          </a:prstGeom>
          <a:noFill/>
          <a:ln w="9525">
            <a:solidFill>
              <a:schemeClr val="tx1"/>
            </a:solidFill>
            <a:prstDash val="dash"/>
            <a:miter lim="800000"/>
            <a:headEnd/>
            <a:tailEnd/>
          </a:ln>
        </p:spPr>
        <p:txBody>
          <a:bodyPr wrap="none" anchor="ctr"/>
          <a:lstStyle/>
          <a:p>
            <a:endParaRPr lang="en-US"/>
          </a:p>
        </p:txBody>
      </p:sp>
      <p:sp>
        <p:nvSpPr>
          <p:cNvPr id="837636" name="Text Box 4" descr="70%"/>
          <p:cNvSpPr txBox="1">
            <a:spLocks noChangeArrowheads="1"/>
          </p:cNvSpPr>
          <p:nvPr/>
        </p:nvSpPr>
        <p:spPr bwMode="auto">
          <a:xfrm>
            <a:off x="990600" y="1066800"/>
            <a:ext cx="1600200" cy="457200"/>
          </a:xfrm>
          <a:prstGeom prst="rect">
            <a:avLst/>
          </a:prstGeom>
          <a:noFill/>
          <a:ln w="9525">
            <a:noFill/>
            <a:miter lim="800000"/>
            <a:headEnd/>
            <a:tailEnd/>
          </a:ln>
        </p:spPr>
        <p:txBody>
          <a:bodyPr>
            <a:spAutoFit/>
          </a:bodyPr>
          <a:lstStyle/>
          <a:p>
            <a:pPr>
              <a:spcBef>
                <a:spcPct val="50000"/>
              </a:spcBef>
            </a:pPr>
            <a:r>
              <a:rPr lang="en-US" b="1" i="1"/>
              <a:t>User mode</a:t>
            </a:r>
          </a:p>
        </p:txBody>
      </p:sp>
      <p:sp>
        <p:nvSpPr>
          <p:cNvPr id="837637" name="Text Box 5" descr="70%"/>
          <p:cNvSpPr txBox="1">
            <a:spLocks noChangeArrowheads="1"/>
          </p:cNvSpPr>
          <p:nvPr/>
        </p:nvSpPr>
        <p:spPr bwMode="auto">
          <a:xfrm>
            <a:off x="5753100" y="1066800"/>
            <a:ext cx="1905000" cy="457200"/>
          </a:xfrm>
          <a:prstGeom prst="rect">
            <a:avLst/>
          </a:prstGeom>
          <a:noFill/>
          <a:ln w="9525">
            <a:noFill/>
            <a:miter lim="800000"/>
            <a:headEnd/>
            <a:tailEnd/>
          </a:ln>
        </p:spPr>
        <p:txBody>
          <a:bodyPr>
            <a:spAutoFit/>
          </a:bodyPr>
          <a:lstStyle/>
          <a:p>
            <a:pPr>
              <a:spcBef>
                <a:spcPct val="50000"/>
              </a:spcBef>
            </a:pPr>
            <a:r>
              <a:rPr lang="en-US" b="1" i="1"/>
              <a:t>kernel mode </a:t>
            </a:r>
          </a:p>
        </p:txBody>
      </p:sp>
      <p:sp>
        <p:nvSpPr>
          <p:cNvPr id="837638" name="Text Box 6" descr="70%"/>
          <p:cNvSpPr txBox="1">
            <a:spLocks noChangeArrowheads="1"/>
          </p:cNvSpPr>
          <p:nvPr/>
        </p:nvSpPr>
        <p:spPr bwMode="auto">
          <a:xfrm>
            <a:off x="457200" y="1752600"/>
            <a:ext cx="1447800" cy="1006475"/>
          </a:xfrm>
          <a:prstGeom prst="rect">
            <a:avLst/>
          </a:prstGeom>
          <a:noFill/>
          <a:ln w="9525">
            <a:noFill/>
            <a:miter lim="800000"/>
            <a:headEnd/>
            <a:tailEnd/>
          </a:ln>
        </p:spPr>
        <p:txBody>
          <a:bodyPr>
            <a:spAutoFit/>
          </a:bodyPr>
          <a:lstStyle/>
          <a:p>
            <a:pPr>
              <a:spcBef>
                <a:spcPct val="50000"/>
              </a:spcBef>
            </a:pPr>
            <a:r>
              <a:rPr lang="en-US" sz="2000" b="1" i="1">
                <a:solidFill>
                  <a:srgbClr val="339933"/>
                </a:solidFill>
              </a:rPr>
              <a:t>Normal programme flow</a:t>
            </a:r>
          </a:p>
        </p:txBody>
      </p:sp>
      <p:sp>
        <p:nvSpPr>
          <p:cNvPr id="837639" name="Line 7"/>
          <p:cNvSpPr>
            <a:spLocks noChangeShapeType="1"/>
          </p:cNvSpPr>
          <p:nvPr/>
        </p:nvSpPr>
        <p:spPr bwMode="auto">
          <a:xfrm>
            <a:off x="2133600" y="2286000"/>
            <a:ext cx="3200400" cy="0"/>
          </a:xfrm>
          <a:prstGeom prst="line">
            <a:avLst/>
          </a:prstGeom>
          <a:noFill/>
          <a:ln w="25400">
            <a:solidFill>
              <a:schemeClr val="tx1"/>
            </a:solidFill>
            <a:round/>
            <a:headEnd/>
            <a:tailEnd type="stealth" w="med" len="med"/>
          </a:ln>
        </p:spPr>
        <p:txBody>
          <a:bodyPr/>
          <a:lstStyle/>
          <a:p>
            <a:endParaRPr lang="en-US"/>
          </a:p>
        </p:txBody>
      </p:sp>
      <p:sp>
        <p:nvSpPr>
          <p:cNvPr id="837640" name="Text Box 8" descr="70%"/>
          <p:cNvSpPr txBox="1">
            <a:spLocks noChangeArrowheads="1"/>
          </p:cNvSpPr>
          <p:nvPr/>
        </p:nvSpPr>
        <p:spPr bwMode="auto">
          <a:xfrm>
            <a:off x="5562600" y="2038350"/>
            <a:ext cx="1828800" cy="457200"/>
          </a:xfrm>
          <a:prstGeom prst="rect">
            <a:avLst/>
          </a:prstGeom>
          <a:noFill/>
          <a:ln w="9525">
            <a:noFill/>
            <a:miter lim="800000"/>
            <a:headEnd/>
            <a:tailEnd/>
          </a:ln>
        </p:spPr>
        <p:txBody>
          <a:bodyPr>
            <a:spAutoFit/>
          </a:bodyPr>
          <a:lstStyle/>
          <a:p>
            <a:pPr>
              <a:spcBef>
                <a:spcPct val="50000"/>
              </a:spcBef>
            </a:pPr>
            <a:r>
              <a:rPr lang="en-US" b="1">
                <a:solidFill>
                  <a:srgbClr val="339933"/>
                </a:solidFill>
              </a:rPr>
              <a:t> do_signal()</a:t>
            </a:r>
          </a:p>
        </p:txBody>
      </p:sp>
      <p:sp>
        <p:nvSpPr>
          <p:cNvPr id="837641" name="Text Box 9" descr="70%"/>
          <p:cNvSpPr txBox="1">
            <a:spLocks noChangeArrowheads="1"/>
          </p:cNvSpPr>
          <p:nvPr/>
        </p:nvSpPr>
        <p:spPr bwMode="auto">
          <a:xfrm>
            <a:off x="6248400" y="2667000"/>
            <a:ext cx="2286000" cy="457200"/>
          </a:xfrm>
          <a:prstGeom prst="rect">
            <a:avLst/>
          </a:prstGeom>
          <a:noFill/>
          <a:ln w="9525">
            <a:noFill/>
            <a:miter lim="800000"/>
            <a:headEnd/>
            <a:tailEnd/>
          </a:ln>
        </p:spPr>
        <p:txBody>
          <a:bodyPr>
            <a:spAutoFit/>
          </a:bodyPr>
          <a:lstStyle/>
          <a:p>
            <a:pPr>
              <a:spcBef>
                <a:spcPct val="50000"/>
              </a:spcBef>
            </a:pPr>
            <a:r>
              <a:rPr lang="en-US" b="1">
                <a:solidFill>
                  <a:srgbClr val="339933"/>
                </a:solidFill>
              </a:rPr>
              <a:t>handle_signal() </a:t>
            </a:r>
          </a:p>
        </p:txBody>
      </p:sp>
      <p:sp>
        <p:nvSpPr>
          <p:cNvPr id="837642" name="Line 10"/>
          <p:cNvSpPr>
            <a:spLocks noChangeShapeType="1"/>
          </p:cNvSpPr>
          <p:nvPr/>
        </p:nvSpPr>
        <p:spPr bwMode="auto">
          <a:xfrm flipH="1">
            <a:off x="2438400" y="2514600"/>
            <a:ext cx="3124200" cy="838200"/>
          </a:xfrm>
          <a:prstGeom prst="line">
            <a:avLst/>
          </a:prstGeom>
          <a:noFill/>
          <a:ln w="25400">
            <a:solidFill>
              <a:schemeClr val="tx1"/>
            </a:solidFill>
            <a:round/>
            <a:headEnd/>
            <a:tailEnd type="stealth" w="med" len="med"/>
          </a:ln>
        </p:spPr>
        <p:txBody>
          <a:bodyPr/>
          <a:lstStyle/>
          <a:p>
            <a:endParaRPr lang="en-US"/>
          </a:p>
        </p:txBody>
      </p:sp>
      <p:sp>
        <p:nvSpPr>
          <p:cNvPr id="837643" name="Text Box 11" descr="70%"/>
          <p:cNvSpPr txBox="1">
            <a:spLocks noChangeArrowheads="1"/>
          </p:cNvSpPr>
          <p:nvPr/>
        </p:nvSpPr>
        <p:spPr bwMode="auto">
          <a:xfrm>
            <a:off x="1219200" y="3108325"/>
            <a:ext cx="1371600" cy="701675"/>
          </a:xfrm>
          <a:prstGeom prst="rect">
            <a:avLst/>
          </a:prstGeom>
          <a:noFill/>
          <a:ln w="9525">
            <a:noFill/>
            <a:miter lim="800000"/>
            <a:headEnd/>
            <a:tailEnd/>
          </a:ln>
        </p:spPr>
        <p:txBody>
          <a:bodyPr>
            <a:spAutoFit/>
          </a:bodyPr>
          <a:lstStyle/>
          <a:p>
            <a:pPr>
              <a:spcBef>
                <a:spcPct val="50000"/>
              </a:spcBef>
            </a:pPr>
            <a:r>
              <a:rPr lang="en-US" sz="2000" b="1" i="1">
                <a:solidFill>
                  <a:srgbClr val="339933"/>
                </a:solidFill>
              </a:rPr>
              <a:t>Signal handler</a:t>
            </a:r>
          </a:p>
        </p:txBody>
      </p:sp>
      <p:sp>
        <p:nvSpPr>
          <p:cNvPr id="837644" name="Text Box 12" descr="70%"/>
          <p:cNvSpPr txBox="1">
            <a:spLocks noChangeArrowheads="1"/>
          </p:cNvSpPr>
          <p:nvPr/>
        </p:nvSpPr>
        <p:spPr bwMode="auto">
          <a:xfrm>
            <a:off x="6553200" y="3200400"/>
            <a:ext cx="2133600" cy="457200"/>
          </a:xfrm>
          <a:prstGeom prst="rect">
            <a:avLst/>
          </a:prstGeom>
          <a:noFill/>
          <a:ln w="9525">
            <a:noFill/>
            <a:miter lim="800000"/>
            <a:headEnd/>
            <a:tailEnd/>
          </a:ln>
        </p:spPr>
        <p:txBody>
          <a:bodyPr>
            <a:spAutoFit/>
          </a:bodyPr>
          <a:lstStyle/>
          <a:p>
            <a:pPr>
              <a:spcBef>
                <a:spcPct val="50000"/>
              </a:spcBef>
            </a:pPr>
            <a:r>
              <a:rPr lang="en-US" b="1">
                <a:solidFill>
                  <a:srgbClr val="339933"/>
                </a:solidFill>
              </a:rPr>
              <a:t> setup_frame()</a:t>
            </a:r>
          </a:p>
        </p:txBody>
      </p:sp>
      <p:sp>
        <p:nvSpPr>
          <p:cNvPr id="837645" name="Line 13"/>
          <p:cNvSpPr>
            <a:spLocks noChangeShapeType="1"/>
          </p:cNvSpPr>
          <p:nvPr/>
        </p:nvSpPr>
        <p:spPr bwMode="auto">
          <a:xfrm>
            <a:off x="1676400" y="3810000"/>
            <a:ext cx="0" cy="685800"/>
          </a:xfrm>
          <a:prstGeom prst="line">
            <a:avLst/>
          </a:prstGeom>
          <a:noFill/>
          <a:ln w="9525">
            <a:solidFill>
              <a:schemeClr val="tx1"/>
            </a:solidFill>
            <a:round/>
            <a:headEnd/>
            <a:tailEnd type="triangle" w="med" len="med"/>
          </a:ln>
        </p:spPr>
        <p:txBody>
          <a:bodyPr/>
          <a:lstStyle/>
          <a:p>
            <a:endParaRPr lang="en-US"/>
          </a:p>
        </p:txBody>
      </p:sp>
      <p:sp>
        <p:nvSpPr>
          <p:cNvPr id="837646" name="Text Box 14" descr="70%"/>
          <p:cNvSpPr txBox="1">
            <a:spLocks noChangeArrowheads="1"/>
          </p:cNvSpPr>
          <p:nvPr/>
        </p:nvSpPr>
        <p:spPr bwMode="auto">
          <a:xfrm>
            <a:off x="1219200" y="4572000"/>
            <a:ext cx="1371600" cy="1006475"/>
          </a:xfrm>
          <a:prstGeom prst="rect">
            <a:avLst/>
          </a:prstGeom>
          <a:noFill/>
          <a:ln w="9525">
            <a:noFill/>
            <a:miter lim="800000"/>
            <a:headEnd/>
            <a:tailEnd/>
          </a:ln>
        </p:spPr>
        <p:txBody>
          <a:bodyPr>
            <a:spAutoFit/>
          </a:bodyPr>
          <a:lstStyle/>
          <a:p>
            <a:pPr>
              <a:spcBef>
                <a:spcPct val="50000"/>
              </a:spcBef>
            </a:pPr>
            <a:r>
              <a:rPr lang="en-US" sz="2000" b="1" i="1">
                <a:solidFill>
                  <a:srgbClr val="339933"/>
                </a:solidFill>
              </a:rPr>
              <a:t>Return code on the stack </a:t>
            </a:r>
          </a:p>
        </p:txBody>
      </p:sp>
      <p:sp>
        <p:nvSpPr>
          <p:cNvPr id="837647" name="Line 15"/>
          <p:cNvSpPr>
            <a:spLocks noChangeShapeType="1"/>
          </p:cNvSpPr>
          <p:nvPr/>
        </p:nvSpPr>
        <p:spPr bwMode="auto">
          <a:xfrm>
            <a:off x="2286000" y="4800600"/>
            <a:ext cx="3200400" cy="0"/>
          </a:xfrm>
          <a:prstGeom prst="line">
            <a:avLst/>
          </a:prstGeom>
          <a:noFill/>
          <a:ln w="25400">
            <a:solidFill>
              <a:schemeClr val="tx1"/>
            </a:solidFill>
            <a:round/>
            <a:headEnd/>
            <a:tailEnd type="stealth" w="med" len="med"/>
          </a:ln>
        </p:spPr>
        <p:txBody>
          <a:bodyPr/>
          <a:lstStyle/>
          <a:p>
            <a:endParaRPr lang="en-US"/>
          </a:p>
        </p:txBody>
      </p:sp>
      <p:sp>
        <p:nvSpPr>
          <p:cNvPr id="837648" name="Text Box 16" descr="70%"/>
          <p:cNvSpPr txBox="1">
            <a:spLocks noChangeArrowheads="1"/>
          </p:cNvSpPr>
          <p:nvPr/>
        </p:nvSpPr>
        <p:spPr bwMode="auto">
          <a:xfrm>
            <a:off x="5524500" y="4552950"/>
            <a:ext cx="2057400" cy="457200"/>
          </a:xfrm>
          <a:prstGeom prst="rect">
            <a:avLst/>
          </a:prstGeom>
          <a:noFill/>
          <a:ln w="9525">
            <a:noFill/>
            <a:miter lim="800000"/>
            <a:headEnd/>
            <a:tailEnd/>
          </a:ln>
        </p:spPr>
        <p:txBody>
          <a:bodyPr>
            <a:spAutoFit/>
          </a:bodyPr>
          <a:lstStyle/>
          <a:p>
            <a:pPr>
              <a:spcBef>
                <a:spcPct val="50000"/>
              </a:spcBef>
            </a:pPr>
            <a:r>
              <a:rPr lang="en-US" b="1">
                <a:solidFill>
                  <a:srgbClr val="339933"/>
                </a:solidFill>
              </a:rPr>
              <a:t>system_call()</a:t>
            </a:r>
          </a:p>
        </p:txBody>
      </p:sp>
      <p:sp>
        <p:nvSpPr>
          <p:cNvPr id="837649" name="Text Box 17" descr="70%"/>
          <p:cNvSpPr txBox="1">
            <a:spLocks noChangeArrowheads="1"/>
          </p:cNvSpPr>
          <p:nvPr/>
        </p:nvSpPr>
        <p:spPr bwMode="auto">
          <a:xfrm>
            <a:off x="5943600" y="4953000"/>
            <a:ext cx="2362200" cy="457200"/>
          </a:xfrm>
          <a:prstGeom prst="rect">
            <a:avLst/>
          </a:prstGeom>
          <a:noFill/>
          <a:ln w="9525">
            <a:noFill/>
            <a:miter lim="800000"/>
            <a:headEnd/>
            <a:tailEnd/>
          </a:ln>
        </p:spPr>
        <p:txBody>
          <a:bodyPr>
            <a:spAutoFit/>
          </a:bodyPr>
          <a:lstStyle/>
          <a:p>
            <a:pPr>
              <a:spcBef>
                <a:spcPct val="50000"/>
              </a:spcBef>
            </a:pPr>
            <a:r>
              <a:rPr lang="en-US" b="1">
                <a:solidFill>
                  <a:srgbClr val="339933"/>
                </a:solidFill>
              </a:rPr>
              <a:t>sys_sigreturn() </a:t>
            </a:r>
          </a:p>
        </p:txBody>
      </p:sp>
      <p:sp>
        <p:nvSpPr>
          <p:cNvPr id="837650" name="Text Box 18" descr="70%"/>
          <p:cNvSpPr txBox="1">
            <a:spLocks noChangeArrowheads="1"/>
          </p:cNvSpPr>
          <p:nvPr/>
        </p:nvSpPr>
        <p:spPr bwMode="auto">
          <a:xfrm>
            <a:off x="6096000" y="5410200"/>
            <a:ext cx="2895600" cy="457200"/>
          </a:xfrm>
          <a:prstGeom prst="rect">
            <a:avLst/>
          </a:prstGeom>
          <a:noFill/>
          <a:ln w="9525">
            <a:noFill/>
            <a:miter lim="800000"/>
            <a:headEnd/>
            <a:tailEnd/>
          </a:ln>
        </p:spPr>
        <p:txBody>
          <a:bodyPr>
            <a:spAutoFit/>
          </a:bodyPr>
          <a:lstStyle/>
          <a:p>
            <a:pPr>
              <a:spcBef>
                <a:spcPct val="50000"/>
              </a:spcBef>
            </a:pPr>
            <a:r>
              <a:rPr lang="en-US" b="1">
                <a:solidFill>
                  <a:srgbClr val="339933"/>
                </a:solidFill>
              </a:rPr>
              <a:t>restore_sigcontext()  </a:t>
            </a:r>
          </a:p>
        </p:txBody>
      </p:sp>
      <p:sp>
        <p:nvSpPr>
          <p:cNvPr id="837651" name="Freeform 19" descr="70%"/>
          <p:cNvSpPr>
            <a:spLocks/>
          </p:cNvSpPr>
          <p:nvPr/>
        </p:nvSpPr>
        <p:spPr bwMode="auto">
          <a:xfrm rot="110054">
            <a:off x="381000" y="2819400"/>
            <a:ext cx="5156200" cy="3276600"/>
          </a:xfrm>
          <a:custGeom>
            <a:avLst/>
            <a:gdLst>
              <a:gd name="T0" fmla="*/ 3248 w 3248"/>
              <a:gd name="T1" fmla="*/ 1536 h 2320"/>
              <a:gd name="T2" fmla="*/ 512 w 3248"/>
              <a:gd name="T3" fmla="*/ 2064 h 2320"/>
              <a:gd name="T4" fmla="*/ 176 w 3248"/>
              <a:gd name="T5" fmla="*/ 0 h 2320"/>
              <a:gd name="T6" fmla="*/ 0 60000 65536"/>
              <a:gd name="T7" fmla="*/ 0 60000 65536"/>
              <a:gd name="T8" fmla="*/ 0 60000 65536"/>
              <a:gd name="T9" fmla="*/ 0 w 3248"/>
              <a:gd name="T10" fmla="*/ 0 h 2320"/>
              <a:gd name="T11" fmla="*/ 3248 w 3248"/>
              <a:gd name="T12" fmla="*/ 2320 h 2320"/>
            </a:gdLst>
            <a:ahLst/>
            <a:cxnLst>
              <a:cxn ang="T6">
                <a:pos x="T0" y="T1"/>
              </a:cxn>
              <a:cxn ang="T7">
                <a:pos x="T2" y="T3"/>
              </a:cxn>
              <a:cxn ang="T8">
                <a:pos x="T4" y="T5"/>
              </a:cxn>
            </a:cxnLst>
            <a:rect l="T9" t="T10" r="T11" b="T12"/>
            <a:pathLst>
              <a:path w="3248" h="2320">
                <a:moveTo>
                  <a:pt x="3248" y="1536"/>
                </a:moveTo>
                <a:cubicBezTo>
                  <a:pt x="2136" y="1928"/>
                  <a:pt x="1024" y="2320"/>
                  <a:pt x="512" y="2064"/>
                </a:cubicBezTo>
                <a:cubicBezTo>
                  <a:pt x="0" y="1808"/>
                  <a:pt x="232" y="344"/>
                  <a:pt x="176" y="0"/>
                </a:cubicBezTo>
              </a:path>
            </a:pathLst>
          </a:custGeom>
          <a:noFill/>
          <a:ln w="25400">
            <a:solidFill>
              <a:schemeClr val="tx1"/>
            </a:solidFill>
            <a:round/>
            <a:headEnd/>
            <a:tailEnd/>
          </a:ln>
        </p:spPr>
        <p:txBody>
          <a:bodyPr/>
          <a:lstStyle/>
          <a:p>
            <a:endParaRPr lang="en-US"/>
          </a:p>
        </p:txBody>
      </p:sp>
      <p:sp>
        <p:nvSpPr>
          <p:cNvPr id="837652" name="Line 20"/>
          <p:cNvSpPr>
            <a:spLocks noChangeShapeType="1"/>
          </p:cNvSpPr>
          <p:nvPr/>
        </p:nvSpPr>
        <p:spPr bwMode="auto">
          <a:xfrm>
            <a:off x="685800" y="2743200"/>
            <a:ext cx="76200" cy="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837634"/>
                                        </p:tgtEl>
                                        <p:attrNameLst>
                                          <p:attrName>style.visibility</p:attrName>
                                        </p:attrNameLst>
                                      </p:cBhvr>
                                      <p:to>
                                        <p:strVal val="visible"/>
                                      </p:to>
                                    </p:set>
                                    <p:anim calcmode="lin" valueType="num">
                                      <p:cBhvr>
                                        <p:cTn id="7" dur="500" fill="hold"/>
                                        <p:tgtEl>
                                          <p:spTgt spid="837634"/>
                                        </p:tgtEl>
                                        <p:attrNameLst>
                                          <p:attrName>ppt_w</p:attrName>
                                        </p:attrNameLst>
                                      </p:cBhvr>
                                      <p:tavLst>
                                        <p:tav tm="0">
                                          <p:val>
                                            <p:fltVal val="0"/>
                                          </p:val>
                                        </p:tav>
                                        <p:tav tm="100000">
                                          <p:val>
                                            <p:strVal val="#ppt_w"/>
                                          </p:val>
                                        </p:tav>
                                      </p:tavLst>
                                    </p:anim>
                                    <p:anim calcmode="lin" valueType="num">
                                      <p:cBhvr>
                                        <p:cTn id="8" dur="500" fill="hold"/>
                                        <p:tgtEl>
                                          <p:spTgt spid="837634"/>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837636"/>
                                        </p:tgtEl>
                                        <p:attrNameLst>
                                          <p:attrName>style.visibility</p:attrName>
                                        </p:attrNameLst>
                                      </p:cBhvr>
                                      <p:to>
                                        <p:strVal val="visible"/>
                                      </p:to>
                                    </p:set>
                                    <p:animEffect transition="in" filter="dissolve">
                                      <p:cBhvr>
                                        <p:cTn id="12" dur="500"/>
                                        <p:tgtEl>
                                          <p:spTgt spid="837636"/>
                                        </p:tgtEl>
                                      </p:cBhvr>
                                    </p:animEffect>
                                  </p:childTnLst>
                                </p:cTn>
                              </p:par>
                            </p:childTnLst>
                          </p:cTn>
                        </p:par>
                        <p:par>
                          <p:cTn id="13" fill="hold">
                            <p:stCondLst>
                              <p:cond delay="1000"/>
                            </p:stCondLst>
                            <p:childTnLst>
                              <p:par>
                                <p:cTn id="14" presetID="17" presetClass="entr" presetSubtype="10" fill="hold" grpId="0" nodeType="afterEffect">
                                  <p:stCondLst>
                                    <p:cond delay="0"/>
                                  </p:stCondLst>
                                  <p:childTnLst>
                                    <p:set>
                                      <p:cBhvr>
                                        <p:cTn id="15" dur="1" fill="hold">
                                          <p:stCondLst>
                                            <p:cond delay="0"/>
                                          </p:stCondLst>
                                        </p:cTn>
                                        <p:tgtEl>
                                          <p:spTgt spid="837635"/>
                                        </p:tgtEl>
                                        <p:attrNameLst>
                                          <p:attrName>style.visibility</p:attrName>
                                        </p:attrNameLst>
                                      </p:cBhvr>
                                      <p:to>
                                        <p:strVal val="visible"/>
                                      </p:to>
                                    </p:set>
                                    <p:anim calcmode="lin" valueType="num">
                                      <p:cBhvr>
                                        <p:cTn id="16" dur="500" fill="hold"/>
                                        <p:tgtEl>
                                          <p:spTgt spid="837635"/>
                                        </p:tgtEl>
                                        <p:attrNameLst>
                                          <p:attrName>ppt_w</p:attrName>
                                        </p:attrNameLst>
                                      </p:cBhvr>
                                      <p:tavLst>
                                        <p:tav tm="0">
                                          <p:val>
                                            <p:fltVal val="0"/>
                                          </p:val>
                                        </p:tav>
                                        <p:tav tm="100000">
                                          <p:val>
                                            <p:strVal val="#ppt_w"/>
                                          </p:val>
                                        </p:tav>
                                      </p:tavLst>
                                    </p:anim>
                                    <p:anim calcmode="lin" valueType="num">
                                      <p:cBhvr>
                                        <p:cTn id="17" dur="500" fill="hold"/>
                                        <p:tgtEl>
                                          <p:spTgt spid="837635"/>
                                        </p:tgtEl>
                                        <p:attrNameLst>
                                          <p:attrName>ppt_h</p:attrName>
                                        </p:attrNameLst>
                                      </p:cBhvr>
                                      <p:tavLst>
                                        <p:tav tm="0">
                                          <p:val>
                                            <p:strVal val="#ppt_h"/>
                                          </p:val>
                                        </p:tav>
                                        <p:tav tm="100000">
                                          <p:val>
                                            <p:strVal val="#ppt_h"/>
                                          </p:val>
                                        </p:tav>
                                      </p:tavLst>
                                    </p:anim>
                                  </p:childTnLst>
                                </p:cTn>
                              </p:par>
                            </p:childTnLst>
                          </p:cTn>
                        </p:par>
                        <p:par>
                          <p:cTn id="18" fill="hold">
                            <p:stCondLst>
                              <p:cond delay="1500"/>
                            </p:stCondLst>
                            <p:childTnLst>
                              <p:par>
                                <p:cTn id="19" presetID="9" presetClass="entr" presetSubtype="0" fill="hold" grpId="0" nodeType="afterEffect">
                                  <p:stCondLst>
                                    <p:cond delay="0"/>
                                  </p:stCondLst>
                                  <p:childTnLst>
                                    <p:set>
                                      <p:cBhvr>
                                        <p:cTn id="20" dur="1" fill="hold">
                                          <p:stCondLst>
                                            <p:cond delay="0"/>
                                          </p:stCondLst>
                                        </p:cTn>
                                        <p:tgtEl>
                                          <p:spTgt spid="837637"/>
                                        </p:tgtEl>
                                        <p:attrNameLst>
                                          <p:attrName>style.visibility</p:attrName>
                                        </p:attrNameLst>
                                      </p:cBhvr>
                                      <p:to>
                                        <p:strVal val="visible"/>
                                      </p:to>
                                    </p:set>
                                    <p:animEffect transition="in" filter="dissolve">
                                      <p:cBhvr>
                                        <p:cTn id="21" dur="500"/>
                                        <p:tgtEl>
                                          <p:spTgt spid="837637"/>
                                        </p:tgtEl>
                                      </p:cBhvr>
                                    </p:animEffect>
                                  </p:childTnLst>
                                </p:cTn>
                              </p:par>
                            </p:childTnLst>
                          </p:cTn>
                        </p:par>
                        <p:par>
                          <p:cTn id="22" fill="hold">
                            <p:stCondLst>
                              <p:cond delay="2000"/>
                            </p:stCondLst>
                            <p:childTnLst>
                              <p:par>
                                <p:cTn id="23" presetID="9" presetClass="entr" presetSubtype="0" fill="hold" grpId="0" nodeType="afterEffect">
                                  <p:stCondLst>
                                    <p:cond delay="0"/>
                                  </p:stCondLst>
                                  <p:childTnLst>
                                    <p:set>
                                      <p:cBhvr>
                                        <p:cTn id="24" dur="1" fill="hold">
                                          <p:stCondLst>
                                            <p:cond delay="0"/>
                                          </p:stCondLst>
                                        </p:cTn>
                                        <p:tgtEl>
                                          <p:spTgt spid="837638"/>
                                        </p:tgtEl>
                                        <p:attrNameLst>
                                          <p:attrName>style.visibility</p:attrName>
                                        </p:attrNameLst>
                                      </p:cBhvr>
                                      <p:to>
                                        <p:strVal val="visible"/>
                                      </p:to>
                                    </p:set>
                                    <p:animEffect transition="in" filter="dissolve">
                                      <p:cBhvr>
                                        <p:cTn id="25" dur="500"/>
                                        <p:tgtEl>
                                          <p:spTgt spid="837638"/>
                                        </p:tgtEl>
                                      </p:cBhvr>
                                    </p:animEffect>
                                  </p:childTnLst>
                                </p:cTn>
                              </p:par>
                            </p:childTnLst>
                          </p:cTn>
                        </p:par>
                        <p:par>
                          <p:cTn id="26" fill="hold">
                            <p:stCondLst>
                              <p:cond delay="2500"/>
                            </p:stCondLst>
                            <p:childTnLst>
                              <p:par>
                                <p:cTn id="27" presetID="18" presetClass="entr" presetSubtype="3" fill="hold" grpId="0" nodeType="afterEffect">
                                  <p:stCondLst>
                                    <p:cond delay="1000"/>
                                  </p:stCondLst>
                                  <p:childTnLst>
                                    <p:set>
                                      <p:cBhvr>
                                        <p:cTn id="28" dur="1" fill="hold">
                                          <p:stCondLst>
                                            <p:cond delay="0"/>
                                          </p:stCondLst>
                                        </p:cTn>
                                        <p:tgtEl>
                                          <p:spTgt spid="837639"/>
                                        </p:tgtEl>
                                        <p:attrNameLst>
                                          <p:attrName>style.visibility</p:attrName>
                                        </p:attrNameLst>
                                      </p:cBhvr>
                                      <p:to>
                                        <p:strVal val="visible"/>
                                      </p:to>
                                    </p:set>
                                    <p:animEffect transition="in" filter="strips(upRight)">
                                      <p:cBhvr>
                                        <p:cTn id="29" dur="500"/>
                                        <p:tgtEl>
                                          <p:spTgt spid="837639"/>
                                        </p:tgtEl>
                                      </p:cBhvr>
                                    </p:animEffect>
                                  </p:childTnLst>
                                </p:cTn>
                              </p:par>
                            </p:childTnLst>
                          </p:cTn>
                        </p:par>
                        <p:par>
                          <p:cTn id="30" fill="hold">
                            <p:stCondLst>
                              <p:cond delay="4000"/>
                            </p:stCondLst>
                            <p:childTnLst>
                              <p:par>
                                <p:cTn id="31" presetID="9" presetClass="entr" presetSubtype="0" fill="hold" grpId="0" nodeType="afterEffect">
                                  <p:stCondLst>
                                    <p:cond delay="0"/>
                                  </p:stCondLst>
                                  <p:childTnLst>
                                    <p:set>
                                      <p:cBhvr>
                                        <p:cTn id="32" dur="1" fill="hold">
                                          <p:stCondLst>
                                            <p:cond delay="0"/>
                                          </p:stCondLst>
                                        </p:cTn>
                                        <p:tgtEl>
                                          <p:spTgt spid="837640"/>
                                        </p:tgtEl>
                                        <p:attrNameLst>
                                          <p:attrName>style.visibility</p:attrName>
                                        </p:attrNameLst>
                                      </p:cBhvr>
                                      <p:to>
                                        <p:strVal val="visible"/>
                                      </p:to>
                                    </p:set>
                                    <p:animEffect transition="in" filter="dissolve">
                                      <p:cBhvr>
                                        <p:cTn id="33" dur="500"/>
                                        <p:tgtEl>
                                          <p:spTgt spid="837640"/>
                                        </p:tgtEl>
                                      </p:cBhvr>
                                    </p:animEffect>
                                  </p:childTnLst>
                                </p:cTn>
                              </p:par>
                            </p:childTnLst>
                          </p:cTn>
                        </p:par>
                        <p:par>
                          <p:cTn id="34" fill="hold">
                            <p:stCondLst>
                              <p:cond delay="4500"/>
                            </p:stCondLst>
                            <p:childTnLst>
                              <p:par>
                                <p:cTn id="35" presetID="9" presetClass="entr" presetSubtype="0" fill="hold" grpId="0" nodeType="afterEffect">
                                  <p:stCondLst>
                                    <p:cond delay="0"/>
                                  </p:stCondLst>
                                  <p:childTnLst>
                                    <p:set>
                                      <p:cBhvr>
                                        <p:cTn id="36" dur="1" fill="hold">
                                          <p:stCondLst>
                                            <p:cond delay="0"/>
                                          </p:stCondLst>
                                        </p:cTn>
                                        <p:tgtEl>
                                          <p:spTgt spid="837641"/>
                                        </p:tgtEl>
                                        <p:attrNameLst>
                                          <p:attrName>style.visibility</p:attrName>
                                        </p:attrNameLst>
                                      </p:cBhvr>
                                      <p:to>
                                        <p:strVal val="visible"/>
                                      </p:to>
                                    </p:set>
                                    <p:animEffect transition="in" filter="dissolve">
                                      <p:cBhvr>
                                        <p:cTn id="37" dur="500"/>
                                        <p:tgtEl>
                                          <p:spTgt spid="837641"/>
                                        </p:tgtEl>
                                      </p:cBhvr>
                                    </p:animEffect>
                                  </p:childTnLst>
                                </p:cTn>
                              </p:par>
                            </p:childTnLst>
                          </p:cTn>
                        </p:par>
                        <p:par>
                          <p:cTn id="38" fill="hold">
                            <p:stCondLst>
                              <p:cond delay="5000"/>
                            </p:stCondLst>
                            <p:childTnLst>
                              <p:par>
                                <p:cTn id="39" presetID="18" presetClass="entr" presetSubtype="12" fill="hold" grpId="0" nodeType="afterEffect">
                                  <p:stCondLst>
                                    <p:cond delay="1000"/>
                                  </p:stCondLst>
                                  <p:childTnLst>
                                    <p:set>
                                      <p:cBhvr>
                                        <p:cTn id="40" dur="1" fill="hold">
                                          <p:stCondLst>
                                            <p:cond delay="0"/>
                                          </p:stCondLst>
                                        </p:cTn>
                                        <p:tgtEl>
                                          <p:spTgt spid="837642"/>
                                        </p:tgtEl>
                                        <p:attrNameLst>
                                          <p:attrName>style.visibility</p:attrName>
                                        </p:attrNameLst>
                                      </p:cBhvr>
                                      <p:to>
                                        <p:strVal val="visible"/>
                                      </p:to>
                                    </p:set>
                                    <p:animEffect transition="in" filter="strips(downLeft)">
                                      <p:cBhvr>
                                        <p:cTn id="41" dur="500"/>
                                        <p:tgtEl>
                                          <p:spTgt spid="837642"/>
                                        </p:tgtEl>
                                      </p:cBhvr>
                                    </p:animEffect>
                                  </p:childTnLst>
                                </p:cTn>
                              </p:par>
                            </p:childTnLst>
                          </p:cTn>
                        </p:par>
                        <p:par>
                          <p:cTn id="42" fill="hold">
                            <p:stCondLst>
                              <p:cond delay="6500"/>
                            </p:stCondLst>
                            <p:childTnLst>
                              <p:par>
                                <p:cTn id="43" presetID="9" presetClass="entr" presetSubtype="0" fill="hold" grpId="0" nodeType="afterEffect">
                                  <p:stCondLst>
                                    <p:cond delay="0"/>
                                  </p:stCondLst>
                                  <p:childTnLst>
                                    <p:set>
                                      <p:cBhvr>
                                        <p:cTn id="44" dur="1" fill="hold">
                                          <p:stCondLst>
                                            <p:cond delay="0"/>
                                          </p:stCondLst>
                                        </p:cTn>
                                        <p:tgtEl>
                                          <p:spTgt spid="837643"/>
                                        </p:tgtEl>
                                        <p:attrNameLst>
                                          <p:attrName>style.visibility</p:attrName>
                                        </p:attrNameLst>
                                      </p:cBhvr>
                                      <p:to>
                                        <p:strVal val="visible"/>
                                      </p:to>
                                    </p:set>
                                    <p:animEffect transition="in" filter="dissolve">
                                      <p:cBhvr>
                                        <p:cTn id="45" dur="500"/>
                                        <p:tgtEl>
                                          <p:spTgt spid="837643"/>
                                        </p:tgtEl>
                                      </p:cBhvr>
                                    </p:animEffect>
                                  </p:childTnLst>
                                </p:cTn>
                              </p:par>
                            </p:childTnLst>
                          </p:cTn>
                        </p:par>
                        <p:par>
                          <p:cTn id="46" fill="hold">
                            <p:stCondLst>
                              <p:cond delay="7000"/>
                            </p:stCondLst>
                            <p:childTnLst>
                              <p:par>
                                <p:cTn id="47" presetID="9" presetClass="entr" presetSubtype="0" fill="hold" grpId="0" nodeType="afterEffect">
                                  <p:stCondLst>
                                    <p:cond delay="0"/>
                                  </p:stCondLst>
                                  <p:childTnLst>
                                    <p:set>
                                      <p:cBhvr>
                                        <p:cTn id="48" dur="1" fill="hold">
                                          <p:stCondLst>
                                            <p:cond delay="0"/>
                                          </p:stCondLst>
                                        </p:cTn>
                                        <p:tgtEl>
                                          <p:spTgt spid="837644"/>
                                        </p:tgtEl>
                                        <p:attrNameLst>
                                          <p:attrName>style.visibility</p:attrName>
                                        </p:attrNameLst>
                                      </p:cBhvr>
                                      <p:to>
                                        <p:strVal val="visible"/>
                                      </p:to>
                                    </p:set>
                                    <p:animEffect transition="in" filter="dissolve">
                                      <p:cBhvr>
                                        <p:cTn id="49" dur="500"/>
                                        <p:tgtEl>
                                          <p:spTgt spid="837644"/>
                                        </p:tgtEl>
                                      </p:cBhvr>
                                    </p:animEffect>
                                  </p:childTnLst>
                                </p:cTn>
                              </p:par>
                            </p:childTnLst>
                          </p:cTn>
                        </p:par>
                        <p:par>
                          <p:cTn id="50" fill="hold">
                            <p:stCondLst>
                              <p:cond delay="7500"/>
                            </p:stCondLst>
                            <p:childTnLst>
                              <p:par>
                                <p:cTn id="51" presetID="2" presetClass="entr" presetSubtype="1" fill="hold" grpId="0" nodeType="afterEffect">
                                  <p:stCondLst>
                                    <p:cond delay="0"/>
                                  </p:stCondLst>
                                  <p:childTnLst>
                                    <p:set>
                                      <p:cBhvr>
                                        <p:cTn id="52" dur="1" fill="hold">
                                          <p:stCondLst>
                                            <p:cond delay="0"/>
                                          </p:stCondLst>
                                        </p:cTn>
                                        <p:tgtEl>
                                          <p:spTgt spid="837645"/>
                                        </p:tgtEl>
                                        <p:attrNameLst>
                                          <p:attrName>style.visibility</p:attrName>
                                        </p:attrNameLst>
                                      </p:cBhvr>
                                      <p:to>
                                        <p:strVal val="visible"/>
                                      </p:to>
                                    </p:set>
                                    <p:anim calcmode="lin" valueType="num">
                                      <p:cBhvr additive="base">
                                        <p:cTn id="53" dur="500" fill="hold"/>
                                        <p:tgtEl>
                                          <p:spTgt spid="837645"/>
                                        </p:tgtEl>
                                        <p:attrNameLst>
                                          <p:attrName>ppt_x</p:attrName>
                                        </p:attrNameLst>
                                      </p:cBhvr>
                                      <p:tavLst>
                                        <p:tav tm="0">
                                          <p:val>
                                            <p:strVal val="#ppt_x"/>
                                          </p:val>
                                        </p:tav>
                                        <p:tav tm="100000">
                                          <p:val>
                                            <p:strVal val="#ppt_x"/>
                                          </p:val>
                                        </p:tav>
                                      </p:tavLst>
                                    </p:anim>
                                    <p:anim calcmode="lin" valueType="num">
                                      <p:cBhvr additive="base">
                                        <p:cTn id="54" dur="500" fill="hold"/>
                                        <p:tgtEl>
                                          <p:spTgt spid="837645"/>
                                        </p:tgtEl>
                                        <p:attrNameLst>
                                          <p:attrName>ppt_y</p:attrName>
                                        </p:attrNameLst>
                                      </p:cBhvr>
                                      <p:tavLst>
                                        <p:tav tm="0">
                                          <p:val>
                                            <p:strVal val="0-#ppt_h/2"/>
                                          </p:val>
                                        </p:tav>
                                        <p:tav tm="100000">
                                          <p:val>
                                            <p:strVal val="#ppt_y"/>
                                          </p:val>
                                        </p:tav>
                                      </p:tavLst>
                                    </p:anim>
                                  </p:childTnLst>
                                </p:cTn>
                              </p:par>
                            </p:childTnLst>
                          </p:cTn>
                        </p:par>
                        <p:par>
                          <p:cTn id="55" fill="hold">
                            <p:stCondLst>
                              <p:cond delay="8000"/>
                            </p:stCondLst>
                            <p:childTnLst>
                              <p:par>
                                <p:cTn id="56" presetID="9" presetClass="entr" presetSubtype="0" fill="hold" grpId="0" nodeType="afterEffect">
                                  <p:stCondLst>
                                    <p:cond delay="0"/>
                                  </p:stCondLst>
                                  <p:childTnLst>
                                    <p:set>
                                      <p:cBhvr>
                                        <p:cTn id="57" dur="1" fill="hold">
                                          <p:stCondLst>
                                            <p:cond delay="0"/>
                                          </p:stCondLst>
                                        </p:cTn>
                                        <p:tgtEl>
                                          <p:spTgt spid="837646"/>
                                        </p:tgtEl>
                                        <p:attrNameLst>
                                          <p:attrName>style.visibility</p:attrName>
                                        </p:attrNameLst>
                                      </p:cBhvr>
                                      <p:to>
                                        <p:strVal val="visible"/>
                                      </p:to>
                                    </p:set>
                                    <p:animEffect transition="in" filter="dissolve">
                                      <p:cBhvr>
                                        <p:cTn id="58" dur="500"/>
                                        <p:tgtEl>
                                          <p:spTgt spid="837646"/>
                                        </p:tgtEl>
                                      </p:cBhvr>
                                    </p:animEffect>
                                  </p:childTnLst>
                                </p:cTn>
                              </p:par>
                            </p:childTnLst>
                          </p:cTn>
                        </p:par>
                        <p:par>
                          <p:cTn id="59" fill="hold">
                            <p:stCondLst>
                              <p:cond delay="8500"/>
                            </p:stCondLst>
                            <p:childTnLst>
                              <p:par>
                                <p:cTn id="60" presetID="9" presetClass="entr" presetSubtype="0" fill="hold" grpId="0" nodeType="afterEffect">
                                  <p:stCondLst>
                                    <p:cond delay="0"/>
                                  </p:stCondLst>
                                  <p:childTnLst>
                                    <p:set>
                                      <p:cBhvr>
                                        <p:cTn id="61" dur="1" fill="hold">
                                          <p:stCondLst>
                                            <p:cond delay="0"/>
                                          </p:stCondLst>
                                        </p:cTn>
                                        <p:tgtEl>
                                          <p:spTgt spid="837648"/>
                                        </p:tgtEl>
                                        <p:attrNameLst>
                                          <p:attrName>style.visibility</p:attrName>
                                        </p:attrNameLst>
                                      </p:cBhvr>
                                      <p:to>
                                        <p:strVal val="visible"/>
                                      </p:to>
                                    </p:set>
                                    <p:animEffect transition="in" filter="dissolve">
                                      <p:cBhvr>
                                        <p:cTn id="62" dur="500"/>
                                        <p:tgtEl>
                                          <p:spTgt spid="837648"/>
                                        </p:tgtEl>
                                      </p:cBhvr>
                                    </p:animEffect>
                                  </p:childTnLst>
                                </p:cTn>
                              </p:par>
                            </p:childTnLst>
                          </p:cTn>
                        </p:par>
                        <p:par>
                          <p:cTn id="63" fill="hold">
                            <p:stCondLst>
                              <p:cond delay="9000"/>
                            </p:stCondLst>
                            <p:childTnLst>
                              <p:par>
                                <p:cTn id="64" presetID="18" presetClass="entr" presetSubtype="3" fill="hold" grpId="0" nodeType="afterEffect">
                                  <p:stCondLst>
                                    <p:cond delay="1000"/>
                                  </p:stCondLst>
                                  <p:childTnLst>
                                    <p:set>
                                      <p:cBhvr>
                                        <p:cTn id="65" dur="1" fill="hold">
                                          <p:stCondLst>
                                            <p:cond delay="0"/>
                                          </p:stCondLst>
                                        </p:cTn>
                                        <p:tgtEl>
                                          <p:spTgt spid="837647"/>
                                        </p:tgtEl>
                                        <p:attrNameLst>
                                          <p:attrName>style.visibility</p:attrName>
                                        </p:attrNameLst>
                                      </p:cBhvr>
                                      <p:to>
                                        <p:strVal val="visible"/>
                                      </p:to>
                                    </p:set>
                                    <p:animEffect transition="in" filter="strips(upRight)">
                                      <p:cBhvr>
                                        <p:cTn id="66" dur="500"/>
                                        <p:tgtEl>
                                          <p:spTgt spid="837647"/>
                                        </p:tgtEl>
                                      </p:cBhvr>
                                    </p:animEffect>
                                  </p:childTnLst>
                                </p:cTn>
                              </p:par>
                            </p:childTnLst>
                          </p:cTn>
                        </p:par>
                        <p:par>
                          <p:cTn id="67" fill="hold">
                            <p:stCondLst>
                              <p:cond delay="10500"/>
                            </p:stCondLst>
                            <p:childTnLst>
                              <p:par>
                                <p:cTn id="68" presetID="9" presetClass="entr" presetSubtype="0" fill="hold" grpId="0" nodeType="afterEffect">
                                  <p:stCondLst>
                                    <p:cond delay="0"/>
                                  </p:stCondLst>
                                  <p:childTnLst>
                                    <p:set>
                                      <p:cBhvr>
                                        <p:cTn id="69" dur="1" fill="hold">
                                          <p:stCondLst>
                                            <p:cond delay="0"/>
                                          </p:stCondLst>
                                        </p:cTn>
                                        <p:tgtEl>
                                          <p:spTgt spid="837649"/>
                                        </p:tgtEl>
                                        <p:attrNameLst>
                                          <p:attrName>style.visibility</p:attrName>
                                        </p:attrNameLst>
                                      </p:cBhvr>
                                      <p:to>
                                        <p:strVal val="visible"/>
                                      </p:to>
                                    </p:set>
                                    <p:animEffect transition="in" filter="dissolve">
                                      <p:cBhvr>
                                        <p:cTn id="70" dur="500"/>
                                        <p:tgtEl>
                                          <p:spTgt spid="837649"/>
                                        </p:tgtEl>
                                      </p:cBhvr>
                                    </p:animEffect>
                                  </p:childTnLst>
                                </p:cTn>
                              </p:par>
                            </p:childTnLst>
                          </p:cTn>
                        </p:par>
                        <p:par>
                          <p:cTn id="71" fill="hold">
                            <p:stCondLst>
                              <p:cond delay="11000"/>
                            </p:stCondLst>
                            <p:childTnLst>
                              <p:par>
                                <p:cTn id="72" presetID="9" presetClass="entr" presetSubtype="0" fill="hold" grpId="0" nodeType="afterEffect">
                                  <p:stCondLst>
                                    <p:cond delay="0"/>
                                  </p:stCondLst>
                                  <p:childTnLst>
                                    <p:set>
                                      <p:cBhvr>
                                        <p:cTn id="73" dur="1" fill="hold">
                                          <p:stCondLst>
                                            <p:cond delay="0"/>
                                          </p:stCondLst>
                                        </p:cTn>
                                        <p:tgtEl>
                                          <p:spTgt spid="837650"/>
                                        </p:tgtEl>
                                        <p:attrNameLst>
                                          <p:attrName>style.visibility</p:attrName>
                                        </p:attrNameLst>
                                      </p:cBhvr>
                                      <p:to>
                                        <p:strVal val="visible"/>
                                      </p:to>
                                    </p:set>
                                    <p:animEffect transition="in" filter="dissolve">
                                      <p:cBhvr>
                                        <p:cTn id="74" dur="500"/>
                                        <p:tgtEl>
                                          <p:spTgt spid="837650"/>
                                        </p:tgtEl>
                                      </p:cBhvr>
                                    </p:animEffect>
                                  </p:childTnLst>
                                </p:cTn>
                              </p:par>
                            </p:childTnLst>
                          </p:cTn>
                        </p:par>
                        <p:par>
                          <p:cTn id="75" fill="hold">
                            <p:stCondLst>
                              <p:cond delay="11500"/>
                            </p:stCondLst>
                            <p:childTnLst>
                              <p:par>
                                <p:cTn id="76" presetID="18" presetClass="entr" presetSubtype="9" fill="hold" grpId="0" nodeType="afterEffect">
                                  <p:stCondLst>
                                    <p:cond delay="1000"/>
                                  </p:stCondLst>
                                  <p:childTnLst>
                                    <p:set>
                                      <p:cBhvr>
                                        <p:cTn id="77" dur="1" fill="hold">
                                          <p:stCondLst>
                                            <p:cond delay="0"/>
                                          </p:stCondLst>
                                        </p:cTn>
                                        <p:tgtEl>
                                          <p:spTgt spid="837651"/>
                                        </p:tgtEl>
                                        <p:attrNameLst>
                                          <p:attrName>style.visibility</p:attrName>
                                        </p:attrNameLst>
                                      </p:cBhvr>
                                      <p:to>
                                        <p:strVal val="visible"/>
                                      </p:to>
                                    </p:set>
                                    <p:animEffect transition="in" filter="strips(upLeft)">
                                      <p:cBhvr>
                                        <p:cTn id="78" dur="500"/>
                                        <p:tgtEl>
                                          <p:spTgt spid="837651"/>
                                        </p:tgtEl>
                                      </p:cBhvr>
                                    </p:animEffect>
                                  </p:childTnLst>
                                </p:cTn>
                              </p:par>
                            </p:childTnLst>
                          </p:cTn>
                        </p:par>
                        <p:par>
                          <p:cTn id="79" fill="hold">
                            <p:stCondLst>
                              <p:cond delay="13000"/>
                            </p:stCondLst>
                            <p:childTnLst>
                              <p:par>
                                <p:cTn id="80" presetID="9" presetClass="entr" presetSubtype="0" fill="hold" grpId="0" nodeType="afterEffect">
                                  <p:stCondLst>
                                    <p:cond delay="0"/>
                                  </p:stCondLst>
                                  <p:childTnLst>
                                    <p:set>
                                      <p:cBhvr>
                                        <p:cTn id="81" dur="1" fill="hold">
                                          <p:stCondLst>
                                            <p:cond delay="0"/>
                                          </p:stCondLst>
                                        </p:cTn>
                                        <p:tgtEl>
                                          <p:spTgt spid="837652"/>
                                        </p:tgtEl>
                                        <p:attrNameLst>
                                          <p:attrName>style.visibility</p:attrName>
                                        </p:attrNameLst>
                                      </p:cBhvr>
                                      <p:to>
                                        <p:strVal val="visible"/>
                                      </p:to>
                                    </p:set>
                                    <p:animEffect transition="in" filter="dissolve">
                                      <p:cBhvr>
                                        <p:cTn id="82" dur="500"/>
                                        <p:tgtEl>
                                          <p:spTgt spid="837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7634" grpId="0" animBg="1"/>
      <p:bldP spid="837635" grpId="0" animBg="1"/>
      <p:bldP spid="837636" grpId="0" autoUpdateAnimBg="0"/>
      <p:bldP spid="837637" grpId="0" autoUpdateAnimBg="0"/>
      <p:bldP spid="837638" grpId="0" autoUpdateAnimBg="0"/>
      <p:bldP spid="837639" grpId="0" animBg="1"/>
      <p:bldP spid="837640" grpId="0" autoUpdateAnimBg="0"/>
      <p:bldP spid="837641" grpId="0" autoUpdateAnimBg="0"/>
      <p:bldP spid="837642" grpId="0" animBg="1"/>
      <p:bldP spid="837643" grpId="0" autoUpdateAnimBg="0"/>
      <p:bldP spid="837644" grpId="0" autoUpdateAnimBg="0"/>
      <p:bldP spid="837645" grpId="0" animBg="1"/>
      <p:bldP spid="837646" grpId="0" autoUpdateAnimBg="0"/>
      <p:bldP spid="837647" grpId="0" animBg="1"/>
      <p:bldP spid="837648" grpId="0" autoUpdateAnimBg="0"/>
      <p:bldP spid="837649" grpId="0" autoUpdateAnimBg="0"/>
      <p:bldP spid="837650" grpId="0" autoUpdateAnimBg="0"/>
      <p:bldP spid="837651" grpId="0" animBg="1"/>
      <p:bldP spid="83765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WordArt 4"/>
          <p:cNvSpPr>
            <a:spLocks noChangeArrowheads="1" noChangeShapeType="1" noTextEdit="1"/>
          </p:cNvSpPr>
          <p:nvPr/>
        </p:nvSpPr>
        <p:spPr bwMode="auto">
          <a:xfrm>
            <a:off x="838200" y="2590800"/>
            <a:ext cx="7620000" cy="1695450"/>
          </a:xfrm>
          <a:prstGeom prst="rect">
            <a:avLst/>
          </a:prstGeom>
        </p:spPr>
        <p:txBody>
          <a:bodyPr wrap="none" fromWordArt="1">
            <a:prstTxWarp prst="textPlain">
              <a:avLst>
                <a:gd name="adj" fmla="val 50000"/>
              </a:avLst>
            </a:prstTxWarp>
          </a:bodyPr>
          <a:lstStyle/>
          <a:p>
            <a:pPr algn="ctr"/>
            <a:r>
              <a:rPr lang="en-US" sz="3600" kern="10" spc="720">
                <a:ln w="9525">
                  <a:noFill/>
                  <a:round/>
                  <a:headEnd/>
                  <a:tailEnd/>
                </a:ln>
                <a:gradFill rotWithShape="1">
                  <a:gsLst>
                    <a:gs pos="0">
                      <a:srgbClr val="AAAAAA"/>
                    </a:gs>
                    <a:gs pos="100000">
                      <a:srgbClr val="FFFFFF"/>
                    </a:gs>
                  </a:gsLst>
                  <a:lin ang="5400000" scaled="1"/>
                </a:gradFill>
                <a:effectLst>
                  <a:outerShdw dist="45791" dir="3378596" algn="ctr" rotWithShape="0">
                    <a:srgbClr val="4D4D4D">
                      <a:alpha val="79999"/>
                    </a:srgbClr>
                  </a:outerShdw>
                </a:effectLst>
                <a:latin typeface="Arial Black"/>
              </a:rPr>
              <a:t>Sample Program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4"/>
          <p:cNvSpPr>
            <a:spLocks noChangeArrowheads="1"/>
          </p:cNvSpPr>
          <p:nvPr/>
        </p:nvSpPr>
        <p:spPr bwMode="auto">
          <a:xfrm>
            <a:off x="152400" y="1143000"/>
            <a:ext cx="8229600" cy="5334000"/>
          </a:xfrm>
          <a:prstGeom prst="rect">
            <a:avLst/>
          </a:prstGeom>
          <a:noFill/>
          <a:ln w="9525">
            <a:noFill/>
            <a:miter lim="800000"/>
            <a:headEnd/>
            <a:tailEnd/>
          </a:ln>
        </p:spPr>
        <p:txBody>
          <a:bodyPr/>
          <a:lstStyle/>
          <a:p>
            <a:pPr>
              <a:lnSpc>
                <a:spcPct val="80000"/>
              </a:lnSpc>
              <a:spcBef>
                <a:spcPct val="20000"/>
              </a:spcBef>
            </a:pPr>
            <a:r>
              <a:rPr lang="en-US" sz="2800"/>
              <a:t>#include &lt;stdio.h&gt;</a:t>
            </a:r>
          </a:p>
          <a:p>
            <a:pPr>
              <a:lnSpc>
                <a:spcPct val="80000"/>
              </a:lnSpc>
              <a:spcBef>
                <a:spcPct val="20000"/>
              </a:spcBef>
            </a:pPr>
            <a:r>
              <a:rPr lang="en-US" sz="2800"/>
              <a:t>#include &lt;signal.h&gt;</a:t>
            </a:r>
          </a:p>
          <a:p>
            <a:pPr>
              <a:lnSpc>
                <a:spcPct val="80000"/>
              </a:lnSpc>
              <a:spcBef>
                <a:spcPct val="20000"/>
              </a:spcBef>
            </a:pPr>
            <a:r>
              <a:rPr lang="en-US" sz="2800"/>
              <a:t>int main()</a:t>
            </a:r>
          </a:p>
          <a:p>
            <a:pPr>
              <a:lnSpc>
                <a:spcPct val="80000"/>
              </a:lnSpc>
              <a:spcBef>
                <a:spcPct val="20000"/>
              </a:spcBef>
            </a:pPr>
            <a:r>
              <a:rPr lang="en-US" sz="2800"/>
              <a:t>{</a:t>
            </a:r>
          </a:p>
          <a:p>
            <a:pPr>
              <a:lnSpc>
                <a:spcPct val="80000"/>
              </a:lnSpc>
              <a:spcBef>
                <a:spcPct val="20000"/>
              </a:spcBef>
            </a:pPr>
            <a:r>
              <a:rPr lang="en-US" sz="2800"/>
              <a:t>	char nam[30];</a:t>
            </a:r>
          </a:p>
          <a:p>
            <a:pPr>
              <a:lnSpc>
                <a:spcPct val="80000"/>
              </a:lnSpc>
              <a:spcBef>
                <a:spcPct val="20000"/>
              </a:spcBef>
            </a:pPr>
            <a:r>
              <a:rPr lang="en-US" sz="2800"/>
              <a:t>	printf("Registering Signal Handler \n");</a:t>
            </a:r>
          </a:p>
          <a:p>
            <a:pPr>
              <a:lnSpc>
                <a:spcPct val="80000"/>
              </a:lnSpc>
              <a:spcBef>
                <a:spcPct val="20000"/>
              </a:spcBef>
            </a:pPr>
            <a:r>
              <a:rPr lang="en-US" sz="2800"/>
              <a:t>	</a:t>
            </a:r>
            <a:r>
              <a:rPr lang="en-US" sz="3600" b="1" i="1">
                <a:solidFill>
                  <a:srgbClr val="339933"/>
                </a:solidFill>
              </a:rPr>
              <a:t>signal(SIGINT,sigint_handler);</a:t>
            </a:r>
          </a:p>
          <a:p>
            <a:pPr>
              <a:lnSpc>
                <a:spcPct val="80000"/>
              </a:lnSpc>
              <a:spcBef>
                <a:spcPct val="20000"/>
              </a:spcBef>
            </a:pPr>
            <a:r>
              <a:rPr lang="en-US" sz="2800"/>
              <a:t>	printf("Enter Your Name \n");</a:t>
            </a:r>
          </a:p>
          <a:p>
            <a:pPr>
              <a:lnSpc>
                <a:spcPct val="80000"/>
              </a:lnSpc>
              <a:spcBef>
                <a:spcPct val="20000"/>
              </a:spcBef>
            </a:pPr>
            <a:r>
              <a:rPr lang="en-US" sz="2800"/>
              <a:t>	scanf("%s",nam);</a:t>
            </a:r>
          </a:p>
          <a:p>
            <a:pPr>
              <a:lnSpc>
                <a:spcPct val="80000"/>
              </a:lnSpc>
              <a:spcBef>
                <a:spcPct val="20000"/>
              </a:spcBef>
            </a:pPr>
            <a:r>
              <a:rPr lang="en-US" sz="2800"/>
              <a:t>	printf("%s : Your Name is So Sweet \n",nam);</a:t>
            </a:r>
          </a:p>
          <a:p>
            <a:pPr>
              <a:lnSpc>
                <a:spcPct val="80000"/>
              </a:lnSpc>
              <a:spcBef>
                <a:spcPct val="20000"/>
              </a:spcBef>
            </a:pPr>
            <a:r>
              <a:rPr lang="en-US" sz="2800"/>
              <a:t>	return 0;</a:t>
            </a:r>
          </a:p>
          <a:p>
            <a:pPr>
              <a:lnSpc>
                <a:spcPct val="80000"/>
              </a:lnSpc>
              <a:spcBef>
                <a:spcPct val="20000"/>
              </a:spcBef>
            </a:pPr>
            <a:r>
              <a:rPr lang="en-US" sz="2800"/>
              <a:t>}</a:t>
            </a:r>
          </a:p>
        </p:txBody>
      </p:sp>
      <p:sp>
        <p:nvSpPr>
          <p:cNvPr id="280579" name="Rectangle 6"/>
          <p:cNvSpPr>
            <a:spLocks noChangeArrowheads="1"/>
          </p:cNvSpPr>
          <p:nvPr/>
        </p:nvSpPr>
        <p:spPr bwMode="auto">
          <a:xfrm>
            <a:off x="3810000" y="1114425"/>
            <a:ext cx="5257800" cy="1809750"/>
          </a:xfrm>
          <a:prstGeom prst="rect">
            <a:avLst/>
          </a:prstGeom>
          <a:noFill/>
          <a:ln w="9525">
            <a:solidFill>
              <a:srgbClr val="339933"/>
            </a:solidFill>
            <a:miter lim="800000"/>
            <a:headEnd/>
            <a:tailEnd/>
          </a:ln>
        </p:spPr>
        <p:txBody>
          <a:bodyPr>
            <a:spAutoFit/>
          </a:bodyPr>
          <a:lstStyle/>
          <a:p>
            <a:r>
              <a:rPr lang="en-US" sz="2800"/>
              <a:t>void sigint_handler(int signum)</a:t>
            </a:r>
          </a:p>
          <a:p>
            <a:r>
              <a:rPr lang="en-US" sz="2800"/>
              <a:t>{</a:t>
            </a:r>
          </a:p>
          <a:p>
            <a:r>
              <a:rPr lang="en-US" sz="2800"/>
              <a:t>	printf("Inside Handler \n");</a:t>
            </a:r>
          </a:p>
          <a:p>
            <a:r>
              <a:rPr lang="en-US" sz="2800"/>
              <a:t>}</a:t>
            </a:r>
          </a:p>
        </p:txBody>
      </p:sp>
      <p:sp>
        <p:nvSpPr>
          <p:cNvPr id="280580" name="Rectangle 7"/>
          <p:cNvSpPr>
            <a:spLocks noGrp="1" noChangeArrowheads="1"/>
          </p:cNvSpPr>
          <p:nvPr>
            <p:ph type="title"/>
          </p:nvPr>
        </p:nvSpPr>
        <p:spPr>
          <a:xfrm>
            <a:off x="533400" y="-152400"/>
            <a:ext cx="7772400" cy="1143000"/>
          </a:xfrm>
        </p:spPr>
        <p:txBody>
          <a:bodyPr/>
          <a:lstStyle/>
          <a:p>
            <a:pPr algn="l" eaLnBrk="1" hangingPunct="1"/>
            <a:r>
              <a:rPr lang="en-US"/>
              <a:t>Program on Signal SIGINT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ChangeArrowheads="1"/>
          </p:cNvSpPr>
          <p:nvPr/>
        </p:nvSpPr>
        <p:spPr bwMode="auto">
          <a:xfrm>
            <a:off x="152400" y="990600"/>
            <a:ext cx="8991600" cy="5334000"/>
          </a:xfrm>
          <a:prstGeom prst="rect">
            <a:avLst/>
          </a:prstGeom>
          <a:noFill/>
          <a:ln w="9525">
            <a:noFill/>
            <a:miter lim="800000"/>
            <a:headEnd/>
            <a:tailEnd/>
          </a:ln>
        </p:spPr>
        <p:txBody>
          <a:bodyPr/>
          <a:lstStyle/>
          <a:p>
            <a:pPr>
              <a:spcBef>
                <a:spcPct val="20000"/>
              </a:spcBef>
            </a:pPr>
            <a:r>
              <a:rPr lang="en-US" sz="2800" dirty="0"/>
              <a:t>int main()</a:t>
            </a:r>
          </a:p>
          <a:p>
            <a:pPr>
              <a:spcBef>
                <a:spcPct val="20000"/>
              </a:spcBef>
            </a:pPr>
            <a:r>
              <a:rPr lang="en-US" sz="2800" dirty="0"/>
              <a:t>{</a:t>
            </a:r>
          </a:p>
          <a:p>
            <a:pPr>
              <a:spcBef>
                <a:spcPct val="20000"/>
              </a:spcBef>
            </a:pPr>
            <a:r>
              <a:rPr lang="en-US" sz="2800" dirty="0"/>
              <a:t>	char </a:t>
            </a:r>
            <a:r>
              <a:rPr lang="en-US" sz="2800" dirty="0" err="1"/>
              <a:t>nam</a:t>
            </a:r>
            <a:r>
              <a:rPr lang="en-US" sz="2800" dirty="0"/>
              <a:t>[30];</a:t>
            </a:r>
          </a:p>
          <a:p>
            <a:pPr>
              <a:spcBef>
                <a:spcPct val="20000"/>
              </a:spcBef>
            </a:pPr>
            <a:endParaRPr lang="en-US" sz="2800" dirty="0"/>
          </a:p>
          <a:p>
            <a:pPr>
              <a:spcBef>
                <a:spcPct val="20000"/>
              </a:spcBef>
            </a:pPr>
            <a:endParaRPr lang="en-US" sz="900" dirty="0"/>
          </a:p>
          <a:p>
            <a:pPr>
              <a:spcBef>
                <a:spcPct val="20000"/>
              </a:spcBef>
            </a:pPr>
            <a:r>
              <a:rPr lang="en-US" sz="2800" dirty="0"/>
              <a:t>	</a:t>
            </a:r>
            <a:r>
              <a:rPr lang="en-US" sz="2800" b="1" i="1" dirty="0">
                <a:solidFill>
                  <a:srgbClr val="339933"/>
                </a:solidFill>
              </a:rPr>
              <a:t>signal(</a:t>
            </a:r>
            <a:r>
              <a:rPr lang="en-US" sz="2800" b="1" i="1" dirty="0" err="1">
                <a:solidFill>
                  <a:srgbClr val="339933"/>
                </a:solidFill>
              </a:rPr>
              <a:t>SIGALRM,sigalrm_handler</a:t>
            </a:r>
            <a:r>
              <a:rPr lang="en-US" sz="2800" b="1" i="1" dirty="0">
                <a:solidFill>
                  <a:srgbClr val="339933"/>
                </a:solidFill>
              </a:rPr>
              <a:t>);</a:t>
            </a:r>
          </a:p>
          <a:p>
            <a:pPr>
              <a:spcBef>
                <a:spcPct val="20000"/>
              </a:spcBef>
            </a:pPr>
            <a:r>
              <a:rPr lang="en-US" sz="2800" dirty="0"/>
              <a:t>	</a:t>
            </a:r>
            <a:r>
              <a:rPr lang="en-US" sz="2800" dirty="0" err="1"/>
              <a:t>printf</a:t>
            </a:r>
            <a:r>
              <a:rPr lang="en-US" sz="2800" dirty="0"/>
              <a:t>("Enter Your Name \n");</a:t>
            </a:r>
          </a:p>
          <a:p>
            <a:pPr>
              <a:spcBef>
                <a:spcPct val="20000"/>
              </a:spcBef>
            </a:pPr>
            <a:r>
              <a:rPr lang="en-US" sz="2800" dirty="0"/>
              <a:t>	</a:t>
            </a:r>
            <a:r>
              <a:rPr lang="en-US" sz="3200" b="1" i="1" dirty="0">
                <a:solidFill>
                  <a:srgbClr val="339933"/>
                </a:solidFill>
              </a:rPr>
              <a:t>alarm(5);</a:t>
            </a:r>
          </a:p>
          <a:p>
            <a:pPr>
              <a:spcBef>
                <a:spcPct val="20000"/>
              </a:spcBef>
            </a:pPr>
            <a:r>
              <a:rPr lang="en-US" sz="2800" dirty="0"/>
              <a:t>	</a:t>
            </a:r>
            <a:r>
              <a:rPr lang="en-US" sz="2800" dirty="0" err="1"/>
              <a:t>scanf</a:t>
            </a:r>
            <a:r>
              <a:rPr lang="en-US" sz="2800" dirty="0"/>
              <a:t>("%s",</a:t>
            </a:r>
            <a:r>
              <a:rPr lang="en-US" sz="2800" dirty="0" err="1"/>
              <a:t>nam</a:t>
            </a:r>
            <a:r>
              <a:rPr lang="en-US" sz="2800" dirty="0"/>
              <a:t>);</a:t>
            </a:r>
          </a:p>
          <a:p>
            <a:pPr>
              <a:spcBef>
                <a:spcPct val="20000"/>
              </a:spcBef>
            </a:pPr>
            <a:r>
              <a:rPr lang="en-US" sz="2800" dirty="0"/>
              <a:t>	</a:t>
            </a:r>
            <a:r>
              <a:rPr lang="en-US" sz="2800" dirty="0" err="1"/>
              <a:t>printf</a:t>
            </a:r>
            <a:r>
              <a:rPr lang="en-US" sz="2800" dirty="0"/>
              <a:t>("%s : Your Name is So Sweet \n",</a:t>
            </a:r>
            <a:r>
              <a:rPr lang="en-US" sz="2800" dirty="0" err="1"/>
              <a:t>nam</a:t>
            </a:r>
            <a:r>
              <a:rPr lang="en-US" sz="2800" dirty="0"/>
              <a:t>);</a:t>
            </a:r>
          </a:p>
          <a:p>
            <a:pPr>
              <a:spcBef>
                <a:spcPct val="20000"/>
              </a:spcBef>
            </a:pPr>
            <a:r>
              <a:rPr lang="en-US" sz="2800" dirty="0"/>
              <a:t>	return 0;</a:t>
            </a:r>
          </a:p>
          <a:p>
            <a:pPr>
              <a:spcBef>
                <a:spcPct val="20000"/>
              </a:spcBef>
            </a:pPr>
            <a:r>
              <a:rPr lang="en-US" sz="2800" dirty="0"/>
              <a:t>}</a:t>
            </a:r>
          </a:p>
        </p:txBody>
      </p:sp>
      <p:sp>
        <p:nvSpPr>
          <p:cNvPr id="281603" name="Rectangle 3"/>
          <p:cNvSpPr>
            <a:spLocks noChangeArrowheads="1"/>
          </p:cNvSpPr>
          <p:nvPr/>
        </p:nvSpPr>
        <p:spPr bwMode="auto">
          <a:xfrm>
            <a:off x="3810000" y="982663"/>
            <a:ext cx="5257800" cy="2236787"/>
          </a:xfrm>
          <a:prstGeom prst="rect">
            <a:avLst/>
          </a:prstGeom>
          <a:noFill/>
          <a:ln w="9525">
            <a:solidFill>
              <a:srgbClr val="339933"/>
            </a:solidFill>
            <a:miter lim="800000"/>
            <a:headEnd/>
            <a:tailEnd/>
          </a:ln>
        </p:spPr>
        <p:txBody>
          <a:bodyPr>
            <a:spAutoFit/>
          </a:bodyPr>
          <a:lstStyle/>
          <a:p>
            <a:r>
              <a:rPr lang="en-US" sz="2800" dirty="0"/>
              <a:t>void </a:t>
            </a:r>
            <a:r>
              <a:rPr lang="en-US" sz="2800" dirty="0" err="1"/>
              <a:t>sigalrm_handler</a:t>
            </a:r>
            <a:r>
              <a:rPr lang="en-US" sz="2800" dirty="0"/>
              <a:t>(int signum)</a:t>
            </a:r>
          </a:p>
          <a:p>
            <a:r>
              <a:rPr lang="en-US" sz="2800" dirty="0"/>
              <a:t>{</a:t>
            </a:r>
          </a:p>
          <a:p>
            <a:r>
              <a:rPr lang="en-US" sz="2800" dirty="0"/>
              <a:t>	</a:t>
            </a:r>
            <a:r>
              <a:rPr lang="en-US" sz="2800" dirty="0" err="1"/>
              <a:t>printf</a:t>
            </a:r>
            <a:r>
              <a:rPr lang="en-US" sz="2800" dirty="0"/>
              <a:t>("You Are Lazy \n");</a:t>
            </a:r>
          </a:p>
          <a:p>
            <a:r>
              <a:rPr lang="en-US" sz="2800" dirty="0"/>
              <a:t>	exit(0);</a:t>
            </a:r>
          </a:p>
          <a:p>
            <a:r>
              <a:rPr lang="en-US" sz="2800" dirty="0"/>
              <a:t>}</a:t>
            </a:r>
          </a:p>
        </p:txBody>
      </p:sp>
      <p:sp>
        <p:nvSpPr>
          <p:cNvPr id="281604" name="Rectangle 4"/>
          <p:cNvSpPr>
            <a:spLocks noGrp="1" noChangeArrowheads="1"/>
          </p:cNvSpPr>
          <p:nvPr>
            <p:ph type="title"/>
          </p:nvPr>
        </p:nvSpPr>
        <p:spPr>
          <a:xfrm>
            <a:off x="533400" y="-152400"/>
            <a:ext cx="7772400" cy="1143000"/>
          </a:xfrm>
        </p:spPr>
        <p:txBody>
          <a:bodyPr/>
          <a:lstStyle/>
          <a:p>
            <a:pPr algn="l" eaLnBrk="1" hangingPunct="1"/>
            <a:r>
              <a:rPr lang="en-US" sz="4000"/>
              <a:t>Program on Signal SIGALRM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ChangeArrowheads="1"/>
          </p:cNvSpPr>
          <p:nvPr/>
        </p:nvSpPr>
        <p:spPr bwMode="auto">
          <a:xfrm>
            <a:off x="152400" y="914400"/>
            <a:ext cx="8991600" cy="5334000"/>
          </a:xfrm>
          <a:prstGeom prst="rect">
            <a:avLst/>
          </a:prstGeom>
          <a:noFill/>
          <a:ln w="9525">
            <a:noFill/>
            <a:miter lim="800000"/>
            <a:headEnd/>
            <a:tailEnd/>
          </a:ln>
        </p:spPr>
        <p:txBody>
          <a:bodyPr/>
          <a:lstStyle/>
          <a:p>
            <a:pPr>
              <a:spcBef>
                <a:spcPct val="20000"/>
              </a:spcBef>
            </a:pPr>
            <a:r>
              <a:rPr lang="en-US" sz="3000"/>
              <a:t>int main()</a:t>
            </a:r>
          </a:p>
          <a:p>
            <a:pPr>
              <a:spcBef>
                <a:spcPct val="20000"/>
              </a:spcBef>
            </a:pPr>
            <a:r>
              <a:rPr lang="en-US" sz="3000"/>
              <a:t>{	char nam[30];</a:t>
            </a:r>
          </a:p>
          <a:p>
            <a:pPr>
              <a:spcBef>
                <a:spcPct val="20000"/>
              </a:spcBef>
            </a:pPr>
            <a:r>
              <a:rPr lang="en-US" sz="3000"/>
              <a:t>	</a:t>
            </a:r>
            <a:r>
              <a:rPr lang="en-US" sz="3000" b="1" i="1">
                <a:solidFill>
                  <a:srgbClr val="339933"/>
                </a:solidFill>
              </a:rPr>
              <a:t>signal(SIGINT,sig_handler);</a:t>
            </a:r>
          </a:p>
          <a:p>
            <a:pPr>
              <a:spcBef>
                <a:spcPct val="20000"/>
              </a:spcBef>
            </a:pPr>
            <a:r>
              <a:rPr lang="en-US" sz="3000" b="1" i="1">
                <a:solidFill>
                  <a:srgbClr val="339933"/>
                </a:solidFill>
              </a:rPr>
              <a:t>	signal(SIGALRM,sig_handler);</a:t>
            </a:r>
          </a:p>
          <a:p>
            <a:pPr>
              <a:spcBef>
                <a:spcPct val="20000"/>
              </a:spcBef>
            </a:pPr>
            <a:r>
              <a:rPr lang="en-US" sz="3000"/>
              <a:t>	printf("Enter Your Name \n");</a:t>
            </a:r>
          </a:p>
          <a:p>
            <a:pPr>
              <a:spcBef>
                <a:spcPct val="20000"/>
              </a:spcBef>
            </a:pPr>
            <a:r>
              <a:rPr lang="en-US" sz="3000"/>
              <a:t>	alarm(5);</a:t>
            </a:r>
          </a:p>
          <a:p>
            <a:pPr>
              <a:spcBef>
                <a:spcPct val="20000"/>
              </a:spcBef>
            </a:pPr>
            <a:r>
              <a:rPr lang="en-US" sz="3000"/>
              <a:t>	scanf("%s",nam);</a:t>
            </a:r>
          </a:p>
          <a:p>
            <a:pPr>
              <a:spcBef>
                <a:spcPct val="20000"/>
              </a:spcBef>
            </a:pPr>
            <a:r>
              <a:rPr lang="en-US" sz="3000"/>
              <a:t>	alarm(0);</a:t>
            </a:r>
          </a:p>
          <a:p>
            <a:pPr>
              <a:spcBef>
                <a:spcPct val="20000"/>
              </a:spcBef>
            </a:pPr>
            <a:r>
              <a:rPr lang="en-US" sz="3000"/>
              <a:t>	printf("%s : Your Name is So Sweet \n",nam);</a:t>
            </a:r>
          </a:p>
          <a:p>
            <a:pPr>
              <a:spcBef>
                <a:spcPct val="20000"/>
              </a:spcBef>
            </a:pPr>
            <a:r>
              <a:rPr lang="en-US" sz="3000"/>
              <a:t>	return 0;	}</a:t>
            </a:r>
            <a:endParaRPr lang="en-US" sz="3000">
              <a:latin typeface="Courier New" pitchFamily="49" charset="0"/>
            </a:endParaRPr>
          </a:p>
        </p:txBody>
      </p:sp>
      <p:sp>
        <p:nvSpPr>
          <p:cNvPr id="282627" name="Rectangle 4"/>
          <p:cNvSpPr>
            <a:spLocks noGrp="1" noChangeArrowheads="1"/>
          </p:cNvSpPr>
          <p:nvPr>
            <p:ph type="title"/>
          </p:nvPr>
        </p:nvSpPr>
        <p:spPr>
          <a:xfrm>
            <a:off x="533400" y="-152400"/>
            <a:ext cx="7772400" cy="1143000"/>
          </a:xfrm>
        </p:spPr>
        <p:txBody>
          <a:bodyPr/>
          <a:lstStyle/>
          <a:p>
            <a:pPr eaLnBrk="1" hangingPunct="1"/>
            <a:r>
              <a:rPr lang="en-US"/>
              <a:t>Program on Signal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ChangeArrowheads="1"/>
          </p:cNvSpPr>
          <p:nvPr/>
        </p:nvSpPr>
        <p:spPr bwMode="auto">
          <a:xfrm>
            <a:off x="152400" y="1676400"/>
            <a:ext cx="8991600" cy="4419600"/>
          </a:xfrm>
          <a:prstGeom prst="rect">
            <a:avLst/>
          </a:prstGeom>
          <a:noFill/>
          <a:ln w="9525">
            <a:noFill/>
            <a:miter lim="800000"/>
            <a:headEnd/>
            <a:tailEnd/>
          </a:ln>
        </p:spPr>
        <p:txBody>
          <a:bodyPr/>
          <a:lstStyle/>
          <a:p>
            <a:pPr>
              <a:spcBef>
                <a:spcPct val="20000"/>
              </a:spcBef>
            </a:pPr>
            <a:r>
              <a:rPr lang="en-US" sz="3200"/>
              <a:t>void sig_handler(int signum)</a:t>
            </a:r>
          </a:p>
          <a:p>
            <a:pPr>
              <a:spcBef>
                <a:spcPct val="20000"/>
              </a:spcBef>
            </a:pPr>
            <a:r>
              <a:rPr lang="en-US" sz="3200"/>
              <a:t>{</a:t>
            </a:r>
          </a:p>
          <a:p>
            <a:pPr>
              <a:spcBef>
                <a:spcPct val="20000"/>
              </a:spcBef>
            </a:pPr>
            <a:r>
              <a:rPr lang="en-US" sz="3200"/>
              <a:t>	if(signum == SIGINT)</a:t>
            </a:r>
          </a:p>
          <a:p>
            <a:pPr>
              <a:spcBef>
                <a:spcPct val="20000"/>
              </a:spcBef>
            </a:pPr>
            <a:r>
              <a:rPr lang="en-US" sz="3200"/>
              <a:t>		printf("Inside SIGINT Handler \n");</a:t>
            </a:r>
          </a:p>
          <a:p>
            <a:pPr>
              <a:spcBef>
                <a:spcPct val="20000"/>
              </a:spcBef>
            </a:pPr>
            <a:r>
              <a:rPr lang="en-US" sz="3200"/>
              <a:t>	else</a:t>
            </a:r>
          </a:p>
          <a:p>
            <a:pPr>
              <a:spcBef>
                <a:spcPct val="20000"/>
              </a:spcBef>
            </a:pPr>
            <a:r>
              <a:rPr lang="en-US" sz="3200"/>
              <a:t>		printf("Inside SIGALARM Handler \n");</a:t>
            </a:r>
          </a:p>
          <a:p>
            <a:pPr>
              <a:spcBef>
                <a:spcPct val="20000"/>
              </a:spcBef>
            </a:pPr>
            <a:r>
              <a:rPr lang="en-US" sz="320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ChangeArrowheads="1"/>
          </p:cNvSpPr>
          <p:nvPr/>
        </p:nvSpPr>
        <p:spPr bwMode="auto">
          <a:xfrm>
            <a:off x="152400" y="1143000"/>
            <a:ext cx="8229600" cy="5334000"/>
          </a:xfrm>
          <a:prstGeom prst="rect">
            <a:avLst/>
          </a:prstGeom>
          <a:noFill/>
          <a:ln w="9525">
            <a:noFill/>
            <a:miter lim="800000"/>
            <a:headEnd/>
            <a:tailEnd/>
          </a:ln>
        </p:spPr>
        <p:txBody>
          <a:bodyPr/>
          <a:lstStyle/>
          <a:p>
            <a:pPr>
              <a:spcBef>
                <a:spcPct val="20000"/>
              </a:spcBef>
            </a:pPr>
            <a:r>
              <a:rPr lang="en-US" sz="3200"/>
              <a:t>int main()</a:t>
            </a:r>
          </a:p>
          <a:p>
            <a:pPr>
              <a:spcBef>
                <a:spcPct val="20000"/>
              </a:spcBef>
            </a:pPr>
            <a:r>
              <a:rPr lang="en-US" sz="3200"/>
              <a:t>{	</a:t>
            </a:r>
          </a:p>
          <a:p>
            <a:pPr>
              <a:spcBef>
                <a:spcPct val="20000"/>
              </a:spcBef>
            </a:pPr>
            <a:r>
              <a:rPr lang="en-US" sz="3200"/>
              <a:t>	char nam[30];</a:t>
            </a:r>
          </a:p>
          <a:p>
            <a:pPr>
              <a:spcBef>
                <a:spcPct val="20000"/>
              </a:spcBef>
            </a:pPr>
            <a:r>
              <a:rPr lang="en-US" sz="3200"/>
              <a:t>	signal(SIGINT,sigint_handler);</a:t>
            </a:r>
          </a:p>
          <a:p>
            <a:pPr>
              <a:spcBef>
                <a:spcPct val="20000"/>
              </a:spcBef>
            </a:pPr>
            <a:r>
              <a:rPr lang="en-US" sz="3200"/>
              <a:t>	printf("Raising Signal \n");</a:t>
            </a:r>
          </a:p>
          <a:p>
            <a:pPr>
              <a:spcBef>
                <a:spcPct val="20000"/>
              </a:spcBef>
            </a:pPr>
            <a:r>
              <a:rPr lang="en-US" sz="3200"/>
              <a:t>	</a:t>
            </a:r>
            <a:r>
              <a:rPr lang="en-US" sz="3200" b="1" i="1">
                <a:solidFill>
                  <a:srgbClr val="339933"/>
                </a:solidFill>
              </a:rPr>
              <a:t>raise(SIGINT);</a:t>
            </a:r>
          </a:p>
          <a:p>
            <a:pPr>
              <a:spcBef>
                <a:spcPct val="20000"/>
              </a:spcBef>
            </a:pPr>
            <a:r>
              <a:rPr lang="en-US" sz="3200"/>
              <a:t>	printf("Back to Program \n");</a:t>
            </a:r>
          </a:p>
          <a:p>
            <a:pPr>
              <a:spcBef>
                <a:spcPct val="20000"/>
              </a:spcBef>
            </a:pPr>
            <a:r>
              <a:rPr lang="en-US" sz="3200"/>
              <a:t>	return 0;</a:t>
            </a:r>
          </a:p>
          <a:p>
            <a:pPr>
              <a:spcBef>
                <a:spcPct val="20000"/>
              </a:spcBef>
            </a:pPr>
            <a:r>
              <a:rPr lang="en-US" sz="3200"/>
              <a:t>}</a:t>
            </a:r>
          </a:p>
        </p:txBody>
      </p:sp>
      <p:sp>
        <p:nvSpPr>
          <p:cNvPr id="284675" name="Rectangle 3"/>
          <p:cNvSpPr>
            <a:spLocks noChangeArrowheads="1"/>
          </p:cNvSpPr>
          <p:nvPr/>
        </p:nvSpPr>
        <p:spPr bwMode="auto">
          <a:xfrm>
            <a:off x="3810000" y="1114425"/>
            <a:ext cx="5257800" cy="1809750"/>
          </a:xfrm>
          <a:prstGeom prst="rect">
            <a:avLst/>
          </a:prstGeom>
          <a:noFill/>
          <a:ln w="9525">
            <a:solidFill>
              <a:srgbClr val="339933"/>
            </a:solidFill>
            <a:miter lim="800000"/>
            <a:headEnd/>
            <a:tailEnd/>
          </a:ln>
        </p:spPr>
        <p:txBody>
          <a:bodyPr>
            <a:spAutoFit/>
          </a:bodyPr>
          <a:lstStyle/>
          <a:p>
            <a:r>
              <a:rPr lang="en-US" sz="2800"/>
              <a:t>void sigint_handler(int signum)</a:t>
            </a:r>
          </a:p>
          <a:p>
            <a:r>
              <a:rPr lang="en-US" sz="2800"/>
              <a:t>{</a:t>
            </a:r>
          </a:p>
          <a:p>
            <a:r>
              <a:rPr lang="en-US" sz="2800"/>
              <a:t>	printf("Inside Handler \n");</a:t>
            </a:r>
          </a:p>
          <a:p>
            <a:r>
              <a:rPr lang="en-US" sz="2800"/>
              <a:t>}</a:t>
            </a:r>
          </a:p>
        </p:txBody>
      </p:sp>
      <p:sp>
        <p:nvSpPr>
          <p:cNvPr id="284676" name="Rectangle 4"/>
          <p:cNvSpPr>
            <a:spLocks noGrp="1" noChangeArrowheads="1"/>
          </p:cNvSpPr>
          <p:nvPr>
            <p:ph type="title"/>
          </p:nvPr>
        </p:nvSpPr>
        <p:spPr>
          <a:xfrm>
            <a:off x="533400" y="-152400"/>
            <a:ext cx="7772400" cy="1143000"/>
          </a:xfrm>
        </p:spPr>
        <p:txBody>
          <a:bodyPr/>
          <a:lstStyle/>
          <a:p>
            <a:pPr algn="l" eaLnBrk="1" hangingPunct="1"/>
            <a:r>
              <a:rPr lang="en-US"/>
              <a:t>Program on raise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ChangeArrowheads="1"/>
          </p:cNvSpPr>
          <p:nvPr/>
        </p:nvSpPr>
        <p:spPr bwMode="auto">
          <a:xfrm>
            <a:off x="152400" y="1143000"/>
            <a:ext cx="8229600" cy="5334000"/>
          </a:xfrm>
          <a:prstGeom prst="rect">
            <a:avLst/>
          </a:prstGeom>
          <a:noFill/>
          <a:ln w="9525">
            <a:noFill/>
            <a:miter lim="800000"/>
            <a:headEnd/>
            <a:tailEnd/>
          </a:ln>
        </p:spPr>
        <p:txBody>
          <a:bodyPr/>
          <a:lstStyle/>
          <a:p>
            <a:pPr>
              <a:spcBef>
                <a:spcPct val="20000"/>
              </a:spcBef>
            </a:pPr>
            <a:r>
              <a:rPr lang="en-US" sz="2800"/>
              <a:t>int main()</a:t>
            </a:r>
          </a:p>
          <a:p>
            <a:pPr>
              <a:spcBef>
                <a:spcPct val="20000"/>
              </a:spcBef>
            </a:pPr>
            <a:r>
              <a:rPr lang="en-US" sz="2800"/>
              <a:t>{</a:t>
            </a:r>
          </a:p>
          <a:p>
            <a:pPr>
              <a:spcBef>
                <a:spcPct val="20000"/>
              </a:spcBef>
            </a:pPr>
            <a:r>
              <a:rPr lang="en-US" sz="2800"/>
              <a:t>	char nam[30];</a:t>
            </a:r>
          </a:p>
          <a:p>
            <a:pPr>
              <a:spcBef>
                <a:spcPct val="20000"/>
              </a:spcBef>
            </a:pPr>
            <a:endParaRPr lang="en-US" sz="2800"/>
          </a:p>
          <a:p>
            <a:pPr>
              <a:spcBef>
                <a:spcPct val="20000"/>
              </a:spcBef>
            </a:pPr>
            <a:endParaRPr lang="en-US" sz="2800"/>
          </a:p>
          <a:p>
            <a:pPr>
              <a:spcBef>
                <a:spcPct val="20000"/>
              </a:spcBef>
            </a:pPr>
            <a:r>
              <a:rPr lang="en-US" sz="2800"/>
              <a:t>	signal(SIGINT,sigint_handler);</a:t>
            </a:r>
          </a:p>
          <a:p>
            <a:pPr>
              <a:spcBef>
                <a:spcPct val="20000"/>
              </a:spcBef>
            </a:pPr>
            <a:r>
              <a:rPr lang="en-US" sz="2800"/>
              <a:t>	printf("Enter Your Name \n");</a:t>
            </a:r>
          </a:p>
          <a:p>
            <a:pPr>
              <a:spcBef>
                <a:spcPct val="20000"/>
              </a:spcBef>
            </a:pPr>
            <a:r>
              <a:rPr lang="en-US" sz="2800"/>
              <a:t>	scanf("%s",nam);</a:t>
            </a:r>
          </a:p>
          <a:p>
            <a:pPr>
              <a:spcBef>
                <a:spcPct val="20000"/>
              </a:spcBef>
            </a:pPr>
            <a:r>
              <a:rPr lang="en-US" sz="2800"/>
              <a:t>	printf("%s : Your Name is So Sweet \n",nam);</a:t>
            </a:r>
          </a:p>
          <a:p>
            <a:pPr>
              <a:spcBef>
                <a:spcPct val="20000"/>
              </a:spcBef>
            </a:pPr>
            <a:r>
              <a:rPr lang="en-US" sz="2800"/>
              <a:t>	return 0;</a:t>
            </a:r>
          </a:p>
          <a:p>
            <a:pPr>
              <a:spcBef>
                <a:spcPct val="20000"/>
              </a:spcBef>
            </a:pPr>
            <a:r>
              <a:rPr lang="en-US" sz="2800"/>
              <a:t>}</a:t>
            </a:r>
          </a:p>
        </p:txBody>
      </p:sp>
      <p:sp>
        <p:nvSpPr>
          <p:cNvPr id="285699" name="Rectangle 3"/>
          <p:cNvSpPr>
            <a:spLocks noChangeArrowheads="1"/>
          </p:cNvSpPr>
          <p:nvPr/>
        </p:nvSpPr>
        <p:spPr bwMode="auto">
          <a:xfrm>
            <a:off x="3733800" y="1039813"/>
            <a:ext cx="5334000" cy="2236787"/>
          </a:xfrm>
          <a:prstGeom prst="rect">
            <a:avLst/>
          </a:prstGeom>
          <a:noFill/>
          <a:ln w="9525">
            <a:solidFill>
              <a:srgbClr val="339933"/>
            </a:solidFill>
            <a:miter lim="800000"/>
            <a:headEnd/>
            <a:tailEnd/>
          </a:ln>
        </p:spPr>
        <p:txBody>
          <a:bodyPr>
            <a:spAutoFit/>
          </a:bodyPr>
          <a:lstStyle/>
          <a:p>
            <a:r>
              <a:rPr lang="en-US" sz="2800"/>
              <a:t>void sigint_handler(int signum)</a:t>
            </a:r>
          </a:p>
          <a:p>
            <a:r>
              <a:rPr lang="en-US" sz="2800"/>
              <a:t>{	printf("Inside Handler \n");</a:t>
            </a:r>
          </a:p>
          <a:p>
            <a:r>
              <a:rPr lang="en-US" sz="2800"/>
              <a:t>	</a:t>
            </a:r>
            <a:r>
              <a:rPr lang="en-US" sz="2800" b="1" i="1">
                <a:solidFill>
                  <a:srgbClr val="339933"/>
                </a:solidFill>
              </a:rPr>
              <a:t>sleep(5);</a:t>
            </a:r>
          </a:p>
          <a:p>
            <a:r>
              <a:rPr lang="en-US" sz="2800"/>
              <a:t>printf("Out of Signal Handler \n");</a:t>
            </a:r>
          </a:p>
          <a:p>
            <a:r>
              <a:rPr lang="en-US" sz="2800"/>
              <a:t>}</a:t>
            </a:r>
          </a:p>
        </p:txBody>
      </p:sp>
      <p:sp>
        <p:nvSpPr>
          <p:cNvPr id="285700" name="Rectangle 4"/>
          <p:cNvSpPr>
            <a:spLocks noGrp="1" noChangeArrowheads="1"/>
          </p:cNvSpPr>
          <p:nvPr>
            <p:ph type="title"/>
          </p:nvPr>
        </p:nvSpPr>
        <p:spPr>
          <a:xfrm>
            <a:off x="533400" y="-152400"/>
            <a:ext cx="7772400" cy="1143000"/>
          </a:xfrm>
        </p:spPr>
        <p:txBody>
          <a:bodyPr/>
          <a:lstStyle/>
          <a:p>
            <a:pPr algn="l" eaLnBrk="1" hangingPunct="1"/>
            <a:r>
              <a:rPr lang="en-US"/>
              <a:t>Program on Recursive Signal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ChangeArrowheads="1"/>
          </p:cNvSpPr>
          <p:nvPr/>
        </p:nvSpPr>
        <p:spPr bwMode="auto">
          <a:xfrm>
            <a:off x="228600" y="914400"/>
            <a:ext cx="8915400" cy="5943600"/>
          </a:xfrm>
          <a:prstGeom prst="rect">
            <a:avLst/>
          </a:prstGeom>
          <a:noFill/>
          <a:ln w="9525">
            <a:noFill/>
            <a:miter lim="800000"/>
            <a:headEnd/>
            <a:tailEnd/>
          </a:ln>
        </p:spPr>
        <p:txBody>
          <a:bodyPr/>
          <a:lstStyle/>
          <a:p>
            <a:pPr>
              <a:spcBef>
                <a:spcPct val="20000"/>
              </a:spcBef>
            </a:pPr>
            <a:r>
              <a:rPr lang="en-US" sz="3200" dirty="0" err="1"/>
              <a:t>int</a:t>
            </a:r>
            <a:r>
              <a:rPr lang="en-US" sz="3200"/>
              <a:t> num=0</a:t>
            </a:r>
            <a:r>
              <a:rPr lang="en-US" sz="3200" dirty="0"/>
              <a:t>;</a:t>
            </a:r>
          </a:p>
          <a:p>
            <a:pPr>
              <a:spcBef>
                <a:spcPct val="20000"/>
              </a:spcBef>
            </a:pPr>
            <a:r>
              <a:rPr lang="en-US" sz="3200" dirty="0" err="1"/>
              <a:t>int</a:t>
            </a:r>
            <a:r>
              <a:rPr lang="en-US" sz="3200" dirty="0"/>
              <a:t> main()</a:t>
            </a:r>
          </a:p>
          <a:p>
            <a:pPr>
              <a:spcBef>
                <a:spcPct val="20000"/>
              </a:spcBef>
            </a:pPr>
            <a:r>
              <a:rPr lang="en-US" sz="3200" dirty="0"/>
              <a:t>{	char </a:t>
            </a:r>
            <a:r>
              <a:rPr lang="en-US" sz="3200" dirty="0" err="1"/>
              <a:t>nam</a:t>
            </a:r>
            <a:r>
              <a:rPr lang="en-US" sz="3200" dirty="0"/>
              <a:t>[30];</a:t>
            </a:r>
          </a:p>
          <a:p>
            <a:pPr>
              <a:spcBef>
                <a:spcPct val="20000"/>
              </a:spcBef>
            </a:pPr>
            <a:r>
              <a:rPr lang="en-US" sz="3200" dirty="0"/>
              <a:t>	</a:t>
            </a:r>
            <a:r>
              <a:rPr lang="en-US" sz="3200" dirty="0" err="1"/>
              <a:t>printf</a:t>
            </a:r>
            <a:r>
              <a:rPr lang="en-US" sz="3200" dirty="0"/>
              <a:t>("Registering Signal Handler \n");</a:t>
            </a:r>
          </a:p>
          <a:p>
            <a:pPr>
              <a:spcBef>
                <a:spcPct val="20000"/>
              </a:spcBef>
            </a:pPr>
            <a:r>
              <a:rPr lang="en-US" sz="3200" dirty="0"/>
              <a:t>	signal(</a:t>
            </a:r>
            <a:r>
              <a:rPr lang="en-US" sz="3200" dirty="0" err="1"/>
              <a:t>SIGINT,sigint_handler</a:t>
            </a:r>
            <a:r>
              <a:rPr lang="en-US" sz="3200" dirty="0"/>
              <a:t>);</a:t>
            </a:r>
          </a:p>
          <a:p>
            <a:pPr>
              <a:spcBef>
                <a:spcPct val="20000"/>
              </a:spcBef>
            </a:pPr>
            <a:r>
              <a:rPr lang="en-US" sz="3200" dirty="0"/>
              <a:t>	signal(SIGUSR1,sigusr1_handler);</a:t>
            </a:r>
          </a:p>
          <a:p>
            <a:pPr>
              <a:spcBef>
                <a:spcPct val="20000"/>
              </a:spcBef>
            </a:pPr>
            <a:r>
              <a:rPr lang="en-US" sz="3200" dirty="0"/>
              <a:t>	</a:t>
            </a:r>
            <a:r>
              <a:rPr lang="en-US" sz="3200" dirty="0" err="1"/>
              <a:t>printf</a:t>
            </a:r>
            <a:r>
              <a:rPr lang="en-US" sz="3200" dirty="0"/>
              <a:t>("Enter Your Name \n");</a:t>
            </a:r>
          </a:p>
          <a:p>
            <a:pPr>
              <a:spcBef>
                <a:spcPct val="20000"/>
              </a:spcBef>
            </a:pPr>
            <a:r>
              <a:rPr lang="en-US" sz="3200" dirty="0"/>
              <a:t>	</a:t>
            </a:r>
            <a:r>
              <a:rPr lang="en-US" sz="3200" dirty="0" err="1"/>
              <a:t>scanf</a:t>
            </a:r>
            <a:r>
              <a:rPr lang="en-US" sz="3200" dirty="0"/>
              <a:t>("%</a:t>
            </a:r>
            <a:r>
              <a:rPr lang="en-US" sz="3200" dirty="0" err="1"/>
              <a:t>s",nam</a:t>
            </a:r>
            <a:r>
              <a:rPr lang="en-US" sz="3200" dirty="0"/>
              <a:t>);</a:t>
            </a:r>
          </a:p>
          <a:p>
            <a:pPr>
              <a:spcBef>
                <a:spcPct val="20000"/>
              </a:spcBef>
            </a:pPr>
            <a:r>
              <a:rPr lang="en-US" sz="3200" dirty="0"/>
              <a:t>	</a:t>
            </a:r>
            <a:r>
              <a:rPr lang="en-US" sz="3200" dirty="0" err="1"/>
              <a:t>printf</a:t>
            </a:r>
            <a:r>
              <a:rPr lang="en-US" sz="3200" dirty="0"/>
              <a:t>("%s : Your Name is So Sweet \</a:t>
            </a:r>
            <a:r>
              <a:rPr lang="en-US" sz="3200" dirty="0" err="1"/>
              <a:t>n",nam</a:t>
            </a:r>
            <a:r>
              <a:rPr lang="en-US" sz="3200" dirty="0"/>
              <a:t>);</a:t>
            </a:r>
          </a:p>
          <a:p>
            <a:pPr>
              <a:spcBef>
                <a:spcPct val="20000"/>
              </a:spcBef>
            </a:pPr>
            <a:r>
              <a:rPr lang="en-US" sz="3200" dirty="0"/>
              <a:t>	return 0;</a:t>
            </a:r>
          </a:p>
          <a:p>
            <a:pPr>
              <a:spcBef>
                <a:spcPct val="20000"/>
              </a:spcBef>
            </a:pPr>
            <a:r>
              <a:rPr lang="en-US" sz="3200" dirty="0"/>
              <a:t>}</a:t>
            </a:r>
          </a:p>
        </p:txBody>
      </p:sp>
      <p:sp>
        <p:nvSpPr>
          <p:cNvPr id="286723" name="Rectangle 3"/>
          <p:cNvSpPr>
            <a:spLocks noGrp="1" noChangeArrowheads="1"/>
          </p:cNvSpPr>
          <p:nvPr>
            <p:ph type="title"/>
          </p:nvPr>
        </p:nvSpPr>
        <p:spPr>
          <a:xfrm>
            <a:off x="533400" y="-152400"/>
            <a:ext cx="7772400" cy="1143000"/>
          </a:xfrm>
        </p:spPr>
        <p:txBody>
          <a:bodyPr/>
          <a:lstStyle/>
          <a:p>
            <a:pPr eaLnBrk="1" hangingPunct="1"/>
            <a:r>
              <a:rPr lang="en-US"/>
              <a:t>Program on Signal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ChangeArrowheads="1"/>
          </p:cNvSpPr>
          <p:nvPr/>
        </p:nvSpPr>
        <p:spPr bwMode="auto">
          <a:xfrm>
            <a:off x="0" y="1524000"/>
            <a:ext cx="9144000" cy="5181600"/>
          </a:xfrm>
          <a:prstGeom prst="rect">
            <a:avLst/>
          </a:prstGeom>
          <a:noFill/>
          <a:ln w="9525">
            <a:noFill/>
            <a:miter lim="800000"/>
            <a:headEnd/>
            <a:tailEnd/>
          </a:ln>
        </p:spPr>
        <p:txBody>
          <a:bodyPr/>
          <a:lstStyle/>
          <a:p>
            <a:pPr>
              <a:spcBef>
                <a:spcPct val="20000"/>
              </a:spcBef>
            </a:pPr>
            <a:r>
              <a:rPr lang="en-US" sz="2600"/>
              <a:t>void sigint_handler(int signum)</a:t>
            </a:r>
          </a:p>
          <a:p>
            <a:pPr>
              <a:spcBef>
                <a:spcPct val="20000"/>
              </a:spcBef>
            </a:pPr>
            <a:r>
              <a:rPr lang="en-US" sz="2600"/>
              <a:t>{</a:t>
            </a:r>
          </a:p>
          <a:p>
            <a:pPr>
              <a:spcBef>
                <a:spcPct val="20000"/>
              </a:spcBef>
            </a:pPr>
            <a:r>
              <a:rPr lang="en-US" sz="2600"/>
              <a:t>printf("Inside SIGINT Handler \n");</a:t>
            </a:r>
          </a:p>
          <a:p>
            <a:pPr>
              <a:spcBef>
                <a:spcPct val="20000"/>
              </a:spcBef>
            </a:pPr>
            <a:r>
              <a:rPr lang="en-US" sz="2600"/>
              <a:t>if(num &lt;  1 )</a:t>
            </a:r>
          </a:p>
          <a:p>
            <a:pPr>
              <a:spcBef>
                <a:spcPct val="20000"/>
              </a:spcBef>
            </a:pPr>
            <a:r>
              <a:rPr lang="en-US" sz="2600"/>
              <a:t>{</a:t>
            </a:r>
          </a:p>
          <a:p>
            <a:pPr>
              <a:spcBef>
                <a:spcPct val="20000"/>
              </a:spcBef>
            </a:pPr>
            <a:r>
              <a:rPr lang="en-US" sz="2600"/>
              <a:t>	</a:t>
            </a:r>
            <a:r>
              <a:rPr lang="en-US" sz="2800" b="1" i="1">
                <a:solidFill>
                  <a:srgbClr val="339933"/>
                </a:solidFill>
              </a:rPr>
              <a:t>raise(SIGINT);	raise(SIGUSR1);	raise(SIGINT);</a:t>
            </a:r>
          </a:p>
          <a:p>
            <a:pPr>
              <a:spcBef>
                <a:spcPct val="20000"/>
              </a:spcBef>
            </a:pPr>
            <a:r>
              <a:rPr lang="en-US" sz="2600"/>
              <a:t>}</a:t>
            </a:r>
          </a:p>
          <a:p>
            <a:pPr>
              <a:spcBef>
                <a:spcPct val="20000"/>
              </a:spcBef>
            </a:pPr>
            <a:r>
              <a:rPr lang="en-US" sz="2600"/>
              <a:t>	num ++;</a:t>
            </a:r>
          </a:p>
          <a:p>
            <a:pPr>
              <a:spcBef>
                <a:spcPct val="20000"/>
              </a:spcBef>
            </a:pPr>
            <a:r>
              <a:rPr lang="en-US" sz="2600"/>
              <a:t>	printf("Out of Signal Handler \n");</a:t>
            </a:r>
          </a:p>
          <a:p>
            <a:pPr>
              <a:spcBef>
                <a:spcPct val="20000"/>
              </a:spcBef>
            </a:pPr>
            <a:r>
              <a:rPr lang="en-US" sz="2600"/>
              <a:t>}</a:t>
            </a:r>
          </a:p>
        </p:txBody>
      </p:sp>
      <p:sp>
        <p:nvSpPr>
          <p:cNvPr id="287747" name="Rectangle 3"/>
          <p:cNvSpPr>
            <a:spLocks noChangeArrowheads="1"/>
          </p:cNvSpPr>
          <p:nvPr/>
        </p:nvSpPr>
        <p:spPr bwMode="auto">
          <a:xfrm>
            <a:off x="4419600" y="1006475"/>
            <a:ext cx="4572000" cy="1562100"/>
          </a:xfrm>
          <a:prstGeom prst="rect">
            <a:avLst/>
          </a:prstGeom>
          <a:noFill/>
          <a:ln w="9525">
            <a:solidFill>
              <a:srgbClr val="339933"/>
            </a:solidFill>
            <a:miter lim="800000"/>
            <a:headEnd/>
            <a:tailEnd/>
          </a:ln>
        </p:spPr>
        <p:txBody>
          <a:bodyPr>
            <a:spAutoFit/>
          </a:bodyPr>
          <a:lstStyle/>
          <a:p>
            <a:r>
              <a:rPr lang="en-US"/>
              <a:t>void sigusr1_handler(int signum)</a:t>
            </a:r>
          </a:p>
          <a:p>
            <a:r>
              <a:rPr lang="en-US"/>
              <a:t>{</a:t>
            </a:r>
          </a:p>
          <a:p>
            <a:r>
              <a:rPr lang="en-US"/>
              <a:t>printf("Inside SIGUSR1 Handler");</a:t>
            </a:r>
          </a:p>
          <a:p>
            <a:r>
              <a:rPr lang="en-US"/>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ChangeArrowheads="1"/>
          </p:cNvSpPr>
          <p:nvPr/>
        </p:nvSpPr>
        <p:spPr bwMode="auto">
          <a:xfrm>
            <a:off x="228600" y="914400"/>
            <a:ext cx="8915400" cy="5943600"/>
          </a:xfrm>
          <a:prstGeom prst="rect">
            <a:avLst/>
          </a:prstGeom>
          <a:noFill/>
          <a:ln w="9525">
            <a:noFill/>
            <a:miter lim="800000"/>
            <a:headEnd/>
            <a:tailEnd/>
          </a:ln>
        </p:spPr>
        <p:txBody>
          <a:bodyPr/>
          <a:lstStyle/>
          <a:p>
            <a:pPr>
              <a:spcBef>
                <a:spcPct val="20000"/>
              </a:spcBef>
            </a:pPr>
            <a:r>
              <a:rPr lang="en-US" sz="2800"/>
              <a:t>int main()</a:t>
            </a:r>
          </a:p>
          <a:p>
            <a:pPr>
              <a:spcBef>
                <a:spcPct val="20000"/>
              </a:spcBef>
            </a:pPr>
            <a:r>
              <a:rPr lang="en-US" sz="2800"/>
              <a:t>{</a:t>
            </a:r>
          </a:p>
          <a:p>
            <a:pPr>
              <a:spcBef>
                <a:spcPct val="20000"/>
              </a:spcBef>
            </a:pPr>
            <a:r>
              <a:rPr lang="en-US" sz="2800"/>
              <a:t>	char nam[30];</a:t>
            </a:r>
          </a:p>
          <a:p>
            <a:pPr>
              <a:spcBef>
                <a:spcPct val="20000"/>
              </a:spcBef>
            </a:pPr>
            <a:r>
              <a:rPr lang="en-US" sz="2800"/>
              <a:t>	printf("Registering Signal Handler \n");</a:t>
            </a:r>
          </a:p>
          <a:p>
            <a:pPr>
              <a:spcBef>
                <a:spcPct val="20000"/>
              </a:spcBef>
            </a:pPr>
            <a:r>
              <a:rPr lang="en-US" sz="2800"/>
              <a:t>	signal(SIGINT,sigint_handler);</a:t>
            </a:r>
          </a:p>
          <a:p>
            <a:pPr>
              <a:spcBef>
                <a:spcPct val="20000"/>
              </a:spcBef>
            </a:pPr>
            <a:r>
              <a:rPr lang="en-US" sz="2800"/>
              <a:t>	signal(SIGUSR1,sigusr1_handler);</a:t>
            </a:r>
          </a:p>
          <a:p>
            <a:pPr>
              <a:spcBef>
                <a:spcPct val="20000"/>
              </a:spcBef>
            </a:pPr>
            <a:r>
              <a:rPr lang="en-US" sz="2800"/>
              <a:t>	printf("Enter Your Name \n");</a:t>
            </a:r>
          </a:p>
          <a:p>
            <a:pPr>
              <a:spcBef>
                <a:spcPct val="20000"/>
              </a:spcBef>
            </a:pPr>
            <a:r>
              <a:rPr lang="en-US" sz="2800"/>
              <a:t>	scanf("%s",nam);</a:t>
            </a:r>
          </a:p>
          <a:p>
            <a:pPr>
              <a:spcBef>
                <a:spcPct val="20000"/>
              </a:spcBef>
            </a:pPr>
            <a:r>
              <a:rPr lang="en-US" sz="2800"/>
              <a:t>	printf("%s : Your Name is So Sweet \n",nam);</a:t>
            </a:r>
          </a:p>
          <a:p>
            <a:pPr>
              <a:spcBef>
                <a:spcPct val="20000"/>
              </a:spcBef>
            </a:pPr>
            <a:r>
              <a:rPr lang="en-US" sz="2800"/>
              <a:t>	return 0;</a:t>
            </a:r>
          </a:p>
          <a:p>
            <a:pPr>
              <a:spcBef>
                <a:spcPct val="20000"/>
              </a:spcBef>
            </a:pPr>
            <a:r>
              <a:rPr lang="en-US" sz="2800"/>
              <a:t>}</a:t>
            </a:r>
          </a:p>
        </p:txBody>
      </p:sp>
      <p:sp>
        <p:nvSpPr>
          <p:cNvPr id="288771" name="Rectangle 3"/>
          <p:cNvSpPr>
            <a:spLocks noGrp="1" noChangeArrowheads="1"/>
          </p:cNvSpPr>
          <p:nvPr>
            <p:ph type="title"/>
          </p:nvPr>
        </p:nvSpPr>
        <p:spPr>
          <a:xfrm>
            <a:off x="533400" y="-152400"/>
            <a:ext cx="7772400" cy="1143000"/>
          </a:xfrm>
        </p:spPr>
        <p:txBody>
          <a:bodyPr/>
          <a:lstStyle/>
          <a:p>
            <a:pPr eaLnBrk="1" hangingPunct="1"/>
            <a:r>
              <a:rPr lang="en-US"/>
              <a:t>Program on sigblock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ChangeArrowheads="1"/>
          </p:cNvSpPr>
          <p:nvPr/>
        </p:nvSpPr>
        <p:spPr bwMode="auto">
          <a:xfrm>
            <a:off x="0" y="1143000"/>
            <a:ext cx="9144000" cy="5181600"/>
          </a:xfrm>
          <a:prstGeom prst="rect">
            <a:avLst/>
          </a:prstGeom>
          <a:noFill/>
          <a:ln w="9525">
            <a:noFill/>
            <a:miter lim="800000"/>
            <a:headEnd/>
            <a:tailEnd/>
          </a:ln>
        </p:spPr>
        <p:txBody>
          <a:bodyPr/>
          <a:lstStyle/>
          <a:p>
            <a:pPr>
              <a:spcBef>
                <a:spcPct val="20000"/>
              </a:spcBef>
            </a:pPr>
            <a:r>
              <a:rPr lang="en-US" sz="2600"/>
              <a:t>void sigint_handler(int signum)</a:t>
            </a:r>
          </a:p>
          <a:p>
            <a:pPr>
              <a:spcBef>
                <a:spcPct val="20000"/>
              </a:spcBef>
            </a:pPr>
            <a:r>
              <a:rPr lang="en-US" sz="2600"/>
              <a:t>{</a:t>
            </a:r>
          </a:p>
          <a:p>
            <a:pPr>
              <a:spcBef>
                <a:spcPct val="20000"/>
              </a:spcBef>
            </a:pPr>
            <a:r>
              <a:rPr lang="en-US" sz="3000" b="1" i="1">
                <a:solidFill>
                  <a:srgbClr val="339933"/>
                </a:solidFill>
              </a:rPr>
              <a:t>sigblock(0xFFFFFFFB);</a:t>
            </a:r>
          </a:p>
          <a:p>
            <a:pPr>
              <a:spcBef>
                <a:spcPct val="20000"/>
              </a:spcBef>
            </a:pPr>
            <a:r>
              <a:rPr lang="en-US" sz="2600"/>
              <a:t>printf("Inside SIGINT Handler \n");</a:t>
            </a:r>
          </a:p>
          <a:p>
            <a:pPr>
              <a:spcBef>
                <a:spcPct val="20000"/>
              </a:spcBef>
            </a:pPr>
            <a:r>
              <a:rPr lang="en-US" sz="2600"/>
              <a:t>if(num &lt;  1 )</a:t>
            </a:r>
          </a:p>
          <a:p>
            <a:pPr>
              <a:spcBef>
                <a:spcPct val="20000"/>
              </a:spcBef>
            </a:pPr>
            <a:r>
              <a:rPr lang="en-US" sz="2600"/>
              <a:t>{		</a:t>
            </a:r>
          </a:p>
          <a:p>
            <a:pPr>
              <a:spcBef>
                <a:spcPct val="20000"/>
              </a:spcBef>
            </a:pPr>
            <a:r>
              <a:rPr lang="en-US" sz="2600"/>
              <a:t>raise(SIGINT);	raise(SIGUSR1);	raise(SIGINT);</a:t>
            </a:r>
          </a:p>
          <a:p>
            <a:pPr>
              <a:spcBef>
                <a:spcPct val="20000"/>
              </a:spcBef>
            </a:pPr>
            <a:r>
              <a:rPr lang="en-US" sz="2600"/>
              <a:t>}</a:t>
            </a:r>
          </a:p>
          <a:p>
            <a:pPr>
              <a:spcBef>
                <a:spcPct val="20000"/>
              </a:spcBef>
            </a:pPr>
            <a:r>
              <a:rPr lang="en-US" sz="2600"/>
              <a:t>num ++;</a:t>
            </a:r>
          </a:p>
          <a:p>
            <a:pPr>
              <a:spcBef>
                <a:spcPct val="20000"/>
              </a:spcBef>
            </a:pPr>
            <a:r>
              <a:rPr lang="en-US" sz="2600"/>
              <a:t>printf("Out of Signal Handler \n");</a:t>
            </a:r>
          </a:p>
          <a:p>
            <a:pPr>
              <a:spcBef>
                <a:spcPct val="20000"/>
              </a:spcBef>
            </a:pPr>
            <a:r>
              <a:rPr lang="en-US" sz="2600"/>
              <a:t>}</a:t>
            </a:r>
          </a:p>
        </p:txBody>
      </p:sp>
      <p:sp>
        <p:nvSpPr>
          <p:cNvPr id="289795" name="Rectangle 3"/>
          <p:cNvSpPr>
            <a:spLocks noChangeArrowheads="1"/>
          </p:cNvSpPr>
          <p:nvPr/>
        </p:nvSpPr>
        <p:spPr bwMode="auto">
          <a:xfrm>
            <a:off x="4419600" y="1006475"/>
            <a:ext cx="4572000" cy="1562100"/>
          </a:xfrm>
          <a:prstGeom prst="rect">
            <a:avLst/>
          </a:prstGeom>
          <a:noFill/>
          <a:ln w="9525">
            <a:solidFill>
              <a:srgbClr val="339933"/>
            </a:solidFill>
            <a:miter lim="800000"/>
            <a:headEnd/>
            <a:tailEnd/>
          </a:ln>
        </p:spPr>
        <p:txBody>
          <a:bodyPr>
            <a:spAutoFit/>
          </a:bodyPr>
          <a:lstStyle/>
          <a:p>
            <a:r>
              <a:rPr lang="en-US"/>
              <a:t>void sigusr1_handler(int signum)</a:t>
            </a:r>
          </a:p>
          <a:p>
            <a:r>
              <a:rPr lang="en-US"/>
              <a:t>{</a:t>
            </a:r>
          </a:p>
          <a:p>
            <a:r>
              <a:rPr lang="en-US"/>
              <a:t>printf("Inside SIGUSR1 Handler");</a:t>
            </a:r>
          </a:p>
          <a:p>
            <a:r>
              <a:rPr lang="en-US"/>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ChangeArrowheads="1"/>
          </p:cNvSpPr>
          <p:nvPr/>
        </p:nvSpPr>
        <p:spPr bwMode="auto">
          <a:xfrm>
            <a:off x="228600" y="914400"/>
            <a:ext cx="8915400" cy="5943600"/>
          </a:xfrm>
          <a:prstGeom prst="rect">
            <a:avLst/>
          </a:prstGeom>
          <a:noFill/>
          <a:ln w="9525">
            <a:noFill/>
            <a:miter lim="800000"/>
            <a:headEnd/>
            <a:tailEnd/>
          </a:ln>
        </p:spPr>
        <p:txBody>
          <a:bodyPr/>
          <a:lstStyle/>
          <a:p>
            <a:pPr>
              <a:spcBef>
                <a:spcPct val="20000"/>
              </a:spcBef>
            </a:pPr>
            <a:r>
              <a:rPr lang="en-US" sz="2800"/>
              <a:t>int main()</a:t>
            </a:r>
          </a:p>
          <a:p>
            <a:pPr>
              <a:spcBef>
                <a:spcPct val="20000"/>
              </a:spcBef>
            </a:pPr>
            <a:r>
              <a:rPr lang="en-US" sz="2800"/>
              <a:t>{</a:t>
            </a:r>
          </a:p>
          <a:p>
            <a:pPr>
              <a:spcBef>
                <a:spcPct val="20000"/>
              </a:spcBef>
            </a:pPr>
            <a:r>
              <a:rPr lang="en-US" sz="2800"/>
              <a:t>	char nam[30];</a:t>
            </a:r>
          </a:p>
          <a:p>
            <a:pPr>
              <a:spcBef>
                <a:spcPct val="20000"/>
              </a:spcBef>
            </a:pPr>
            <a:r>
              <a:rPr lang="en-US" sz="2800"/>
              <a:t>	printf("Registering Signal Handler \n");</a:t>
            </a:r>
          </a:p>
          <a:p>
            <a:pPr>
              <a:spcBef>
                <a:spcPct val="20000"/>
              </a:spcBef>
            </a:pPr>
            <a:r>
              <a:rPr lang="en-US" sz="2800"/>
              <a:t>	signal(SIGINT,sigint_handler);</a:t>
            </a:r>
          </a:p>
          <a:p>
            <a:pPr>
              <a:spcBef>
                <a:spcPct val="20000"/>
              </a:spcBef>
            </a:pPr>
            <a:r>
              <a:rPr lang="en-US" sz="2800"/>
              <a:t>	signal(SIGUSR1,sigusr1_handler);</a:t>
            </a:r>
          </a:p>
          <a:p>
            <a:pPr>
              <a:spcBef>
                <a:spcPct val="20000"/>
              </a:spcBef>
            </a:pPr>
            <a:r>
              <a:rPr lang="en-US" sz="2800"/>
              <a:t>	printf("Enter Your Name \n");</a:t>
            </a:r>
          </a:p>
          <a:p>
            <a:pPr>
              <a:spcBef>
                <a:spcPct val="20000"/>
              </a:spcBef>
            </a:pPr>
            <a:r>
              <a:rPr lang="en-US" sz="2800"/>
              <a:t>	scanf("%s",nam);</a:t>
            </a:r>
          </a:p>
          <a:p>
            <a:pPr>
              <a:spcBef>
                <a:spcPct val="20000"/>
              </a:spcBef>
            </a:pPr>
            <a:r>
              <a:rPr lang="en-US" sz="2800"/>
              <a:t>	printf("%s : Your Name is So Sweet \n",nam);</a:t>
            </a:r>
          </a:p>
          <a:p>
            <a:pPr>
              <a:spcBef>
                <a:spcPct val="20000"/>
              </a:spcBef>
            </a:pPr>
            <a:r>
              <a:rPr lang="en-US" sz="2800"/>
              <a:t>	return 0;</a:t>
            </a:r>
          </a:p>
          <a:p>
            <a:pPr>
              <a:spcBef>
                <a:spcPct val="20000"/>
              </a:spcBef>
            </a:pPr>
            <a:r>
              <a:rPr lang="en-US" sz="2800"/>
              <a:t>}</a:t>
            </a:r>
          </a:p>
        </p:txBody>
      </p:sp>
      <p:sp>
        <p:nvSpPr>
          <p:cNvPr id="290819" name="Rectangle 3"/>
          <p:cNvSpPr>
            <a:spLocks noGrp="1" noChangeArrowheads="1"/>
          </p:cNvSpPr>
          <p:nvPr>
            <p:ph type="title"/>
          </p:nvPr>
        </p:nvSpPr>
        <p:spPr>
          <a:xfrm>
            <a:off x="533400" y="-152400"/>
            <a:ext cx="7772400" cy="1143000"/>
          </a:xfrm>
        </p:spPr>
        <p:txBody>
          <a:bodyPr/>
          <a:lstStyle/>
          <a:p>
            <a:pPr eaLnBrk="1" hangingPunct="1"/>
            <a:r>
              <a:rPr lang="en-US"/>
              <a:t>Program on sigprocmask</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ChangeArrowheads="1"/>
          </p:cNvSpPr>
          <p:nvPr/>
        </p:nvSpPr>
        <p:spPr bwMode="auto">
          <a:xfrm>
            <a:off x="0" y="1143000"/>
            <a:ext cx="9144000" cy="5181600"/>
          </a:xfrm>
          <a:prstGeom prst="rect">
            <a:avLst/>
          </a:prstGeom>
          <a:noFill/>
          <a:ln w="9525">
            <a:noFill/>
            <a:miter lim="800000"/>
            <a:headEnd/>
            <a:tailEnd/>
          </a:ln>
        </p:spPr>
        <p:txBody>
          <a:bodyPr/>
          <a:lstStyle/>
          <a:p>
            <a:pPr>
              <a:spcBef>
                <a:spcPct val="20000"/>
              </a:spcBef>
            </a:pPr>
            <a:r>
              <a:rPr lang="en-US" sz="2600" dirty="0"/>
              <a:t>void </a:t>
            </a:r>
            <a:r>
              <a:rPr lang="en-US" sz="2600" dirty="0" err="1"/>
              <a:t>sigint_handler</a:t>
            </a:r>
            <a:r>
              <a:rPr lang="en-US" sz="2600" dirty="0"/>
              <a:t>(int signum)</a:t>
            </a:r>
          </a:p>
          <a:p>
            <a:pPr>
              <a:spcBef>
                <a:spcPct val="20000"/>
              </a:spcBef>
            </a:pPr>
            <a:r>
              <a:rPr lang="en-US" sz="3200" dirty="0"/>
              <a:t>{	</a:t>
            </a:r>
            <a:r>
              <a:rPr lang="en-US" sz="3200" dirty="0" err="1"/>
              <a:t>sigset_t</a:t>
            </a:r>
            <a:r>
              <a:rPr lang="en-US" sz="3200" dirty="0"/>
              <a:t> set1;</a:t>
            </a:r>
          </a:p>
          <a:p>
            <a:pPr>
              <a:spcBef>
                <a:spcPct val="20000"/>
              </a:spcBef>
            </a:pPr>
            <a:r>
              <a:rPr lang="en-US" sz="3200" dirty="0"/>
              <a:t>	</a:t>
            </a:r>
            <a:r>
              <a:rPr lang="en-US" sz="3200" dirty="0" err="1"/>
              <a:t>sigemptyset</a:t>
            </a:r>
            <a:r>
              <a:rPr lang="en-US" sz="3200" dirty="0"/>
              <a:t>(&amp;set1);</a:t>
            </a:r>
          </a:p>
          <a:p>
            <a:pPr>
              <a:spcBef>
                <a:spcPct val="20000"/>
              </a:spcBef>
            </a:pPr>
            <a:r>
              <a:rPr lang="en-US" sz="3200" dirty="0"/>
              <a:t>	</a:t>
            </a:r>
            <a:r>
              <a:rPr lang="en-US" sz="3200" dirty="0" err="1"/>
              <a:t>sigaddset</a:t>
            </a:r>
            <a:r>
              <a:rPr lang="en-US" sz="3200" dirty="0"/>
              <a:t>(&amp;set1,SIGUSR1);</a:t>
            </a:r>
          </a:p>
          <a:p>
            <a:pPr>
              <a:spcBef>
                <a:spcPct val="20000"/>
              </a:spcBef>
            </a:pPr>
            <a:r>
              <a:rPr lang="en-US" sz="3200" dirty="0"/>
              <a:t>	</a:t>
            </a:r>
            <a:r>
              <a:rPr lang="en-US" sz="3200" b="1" i="1" dirty="0" err="1">
                <a:solidFill>
                  <a:srgbClr val="339933"/>
                </a:solidFill>
              </a:rPr>
              <a:t>sigprocmask</a:t>
            </a:r>
            <a:r>
              <a:rPr lang="en-US" sz="3200" b="1" i="1" dirty="0">
                <a:solidFill>
                  <a:srgbClr val="339933"/>
                </a:solidFill>
              </a:rPr>
              <a:t>(SIG_SETMASK,&amp;set1,NULL);</a:t>
            </a:r>
          </a:p>
          <a:p>
            <a:pPr>
              <a:spcBef>
                <a:spcPct val="20000"/>
              </a:spcBef>
            </a:pPr>
            <a:r>
              <a:rPr lang="en-US" sz="3200" dirty="0"/>
              <a:t>	</a:t>
            </a:r>
            <a:r>
              <a:rPr lang="en-US" sz="3200" dirty="0" err="1"/>
              <a:t>printf</a:t>
            </a:r>
            <a:r>
              <a:rPr lang="en-US" sz="3200" dirty="0"/>
              <a:t>("Inside SIGINT Handler \n");</a:t>
            </a:r>
          </a:p>
          <a:p>
            <a:pPr>
              <a:spcBef>
                <a:spcPct val="20000"/>
              </a:spcBef>
            </a:pPr>
            <a:r>
              <a:rPr lang="en-US" sz="3200" dirty="0"/>
              <a:t>		raise(SIGUSR1);</a:t>
            </a:r>
          </a:p>
          <a:p>
            <a:pPr>
              <a:spcBef>
                <a:spcPct val="20000"/>
              </a:spcBef>
            </a:pPr>
            <a:r>
              <a:rPr lang="en-US" sz="3200" dirty="0"/>
              <a:t>	</a:t>
            </a:r>
            <a:r>
              <a:rPr lang="en-US" sz="3200" dirty="0" err="1"/>
              <a:t>printf</a:t>
            </a:r>
            <a:r>
              <a:rPr lang="en-US" sz="3200" dirty="0"/>
              <a:t>("Out of Signal Handler \n");</a:t>
            </a:r>
          </a:p>
          <a:p>
            <a:pPr>
              <a:spcBef>
                <a:spcPct val="20000"/>
              </a:spcBef>
            </a:pPr>
            <a:r>
              <a:rPr lang="en-US" sz="3200" dirty="0"/>
              <a:t>}</a:t>
            </a:r>
          </a:p>
        </p:txBody>
      </p:sp>
      <p:sp>
        <p:nvSpPr>
          <p:cNvPr id="291843" name="Rectangle 3"/>
          <p:cNvSpPr>
            <a:spLocks noChangeArrowheads="1"/>
          </p:cNvSpPr>
          <p:nvPr/>
        </p:nvSpPr>
        <p:spPr bwMode="auto">
          <a:xfrm>
            <a:off x="4419600" y="1006475"/>
            <a:ext cx="4572000" cy="1562100"/>
          </a:xfrm>
          <a:prstGeom prst="rect">
            <a:avLst/>
          </a:prstGeom>
          <a:noFill/>
          <a:ln w="9525">
            <a:solidFill>
              <a:srgbClr val="339933"/>
            </a:solidFill>
            <a:miter lim="800000"/>
            <a:headEnd/>
            <a:tailEnd/>
          </a:ln>
        </p:spPr>
        <p:txBody>
          <a:bodyPr>
            <a:spAutoFit/>
          </a:bodyPr>
          <a:lstStyle/>
          <a:p>
            <a:r>
              <a:rPr lang="en-US"/>
              <a:t>void sigusr1_handler(int signum)</a:t>
            </a:r>
          </a:p>
          <a:p>
            <a:r>
              <a:rPr lang="en-US"/>
              <a:t>{</a:t>
            </a:r>
          </a:p>
          <a:p>
            <a:r>
              <a:rPr lang="en-US"/>
              <a:t>printf("Inside SIGUSR1 Handler");</a:t>
            </a:r>
          </a:p>
          <a:p>
            <a:r>
              <a:rPr lang="en-US"/>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ChangeArrowheads="1"/>
          </p:cNvSpPr>
          <p:nvPr/>
        </p:nvSpPr>
        <p:spPr bwMode="auto">
          <a:xfrm>
            <a:off x="228600" y="914400"/>
            <a:ext cx="8915400" cy="5943600"/>
          </a:xfrm>
          <a:prstGeom prst="rect">
            <a:avLst/>
          </a:prstGeom>
          <a:noFill/>
          <a:ln w="9525">
            <a:noFill/>
            <a:miter lim="800000"/>
            <a:headEnd/>
            <a:tailEnd/>
          </a:ln>
        </p:spPr>
        <p:txBody>
          <a:bodyPr/>
          <a:lstStyle/>
          <a:p>
            <a:pPr>
              <a:spcBef>
                <a:spcPct val="20000"/>
              </a:spcBef>
            </a:pPr>
            <a:r>
              <a:rPr lang="en-US" sz="2800"/>
              <a:t>int main()</a:t>
            </a:r>
          </a:p>
          <a:p>
            <a:pPr>
              <a:spcBef>
                <a:spcPct val="20000"/>
              </a:spcBef>
            </a:pPr>
            <a:r>
              <a:rPr lang="en-US" sz="2800"/>
              <a:t>{	char nam[30];</a:t>
            </a:r>
          </a:p>
          <a:p>
            <a:pPr>
              <a:spcBef>
                <a:spcPct val="20000"/>
              </a:spcBef>
            </a:pPr>
            <a:r>
              <a:rPr lang="en-US" sz="2800"/>
              <a:t>	printf("Registering Signal Handler \n");</a:t>
            </a:r>
          </a:p>
          <a:p>
            <a:pPr>
              <a:spcBef>
                <a:spcPct val="20000"/>
              </a:spcBef>
            </a:pPr>
            <a:r>
              <a:rPr lang="en-US" sz="2800"/>
              <a:t>	signal(SIGINT,sigint_handler);</a:t>
            </a:r>
          </a:p>
          <a:p>
            <a:pPr>
              <a:spcBef>
                <a:spcPct val="20000"/>
              </a:spcBef>
            </a:pPr>
            <a:r>
              <a:rPr lang="en-US" sz="2800"/>
              <a:t>	signal(SIGUSR1,sigusr1_handler);</a:t>
            </a:r>
          </a:p>
          <a:p>
            <a:pPr>
              <a:spcBef>
                <a:spcPct val="20000"/>
              </a:spcBef>
            </a:pPr>
            <a:r>
              <a:rPr lang="en-US" sz="2800"/>
              <a:t>	signal(SIGUSR2,sigusr2_handler);</a:t>
            </a:r>
          </a:p>
          <a:p>
            <a:pPr>
              <a:spcBef>
                <a:spcPct val="20000"/>
              </a:spcBef>
            </a:pPr>
            <a:r>
              <a:rPr lang="en-US" sz="2800"/>
              <a:t>	printf("Enter Your Name \n");</a:t>
            </a:r>
          </a:p>
          <a:p>
            <a:pPr>
              <a:spcBef>
                <a:spcPct val="20000"/>
              </a:spcBef>
            </a:pPr>
            <a:r>
              <a:rPr lang="en-US" sz="2800"/>
              <a:t>	scanf("%s",nam);</a:t>
            </a:r>
          </a:p>
          <a:p>
            <a:pPr>
              <a:spcBef>
                <a:spcPct val="20000"/>
              </a:spcBef>
            </a:pPr>
            <a:r>
              <a:rPr lang="en-US" sz="2800"/>
              <a:t>	printf("%s : Your Name is So Sweet \n",nam);</a:t>
            </a:r>
          </a:p>
          <a:p>
            <a:pPr>
              <a:spcBef>
                <a:spcPct val="20000"/>
              </a:spcBef>
            </a:pPr>
            <a:r>
              <a:rPr lang="en-US" sz="2800"/>
              <a:t>	return 0;</a:t>
            </a:r>
          </a:p>
          <a:p>
            <a:pPr>
              <a:spcBef>
                <a:spcPct val="20000"/>
              </a:spcBef>
            </a:pPr>
            <a:r>
              <a:rPr lang="en-US" sz="2800"/>
              <a:t>}</a:t>
            </a:r>
          </a:p>
        </p:txBody>
      </p:sp>
      <p:sp>
        <p:nvSpPr>
          <p:cNvPr id="292867" name="Rectangle 3"/>
          <p:cNvSpPr>
            <a:spLocks noGrp="1" noChangeArrowheads="1"/>
          </p:cNvSpPr>
          <p:nvPr>
            <p:ph type="title"/>
          </p:nvPr>
        </p:nvSpPr>
        <p:spPr>
          <a:xfrm>
            <a:off x="533400" y="-152400"/>
            <a:ext cx="7772400" cy="1143000"/>
          </a:xfrm>
        </p:spPr>
        <p:txBody>
          <a:bodyPr/>
          <a:lstStyle/>
          <a:p>
            <a:pPr algn="l" eaLnBrk="1" hangingPunct="1"/>
            <a:r>
              <a:rPr lang="en-US" sz="3200"/>
              <a:t>Program on sigprocmask &amp; Sigset Calls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ChangeArrowheads="1"/>
          </p:cNvSpPr>
          <p:nvPr/>
        </p:nvSpPr>
        <p:spPr bwMode="auto">
          <a:xfrm>
            <a:off x="228600" y="914400"/>
            <a:ext cx="8915400" cy="5943600"/>
          </a:xfrm>
          <a:prstGeom prst="rect">
            <a:avLst/>
          </a:prstGeom>
          <a:noFill/>
          <a:ln w="9525">
            <a:noFill/>
            <a:miter lim="800000"/>
            <a:headEnd/>
            <a:tailEnd/>
          </a:ln>
        </p:spPr>
        <p:txBody>
          <a:bodyPr/>
          <a:lstStyle/>
          <a:p>
            <a:pPr>
              <a:spcBef>
                <a:spcPct val="20000"/>
              </a:spcBef>
            </a:pPr>
            <a:r>
              <a:rPr lang="en-US" dirty="0"/>
              <a:t>void </a:t>
            </a:r>
            <a:r>
              <a:rPr lang="en-US" dirty="0" err="1"/>
              <a:t>sigint_handler</a:t>
            </a:r>
            <a:r>
              <a:rPr lang="en-US" dirty="0"/>
              <a:t>(int signum){	</a:t>
            </a:r>
          </a:p>
          <a:p>
            <a:pPr>
              <a:spcBef>
                <a:spcPct val="20000"/>
              </a:spcBef>
            </a:pPr>
            <a:r>
              <a:rPr lang="en-US" dirty="0"/>
              <a:t>                 </a:t>
            </a:r>
            <a:r>
              <a:rPr lang="en-US" dirty="0" err="1"/>
              <a:t>sigset_t</a:t>
            </a:r>
            <a:r>
              <a:rPr lang="en-US" dirty="0"/>
              <a:t> set1;</a:t>
            </a:r>
          </a:p>
          <a:p>
            <a:pPr>
              <a:spcBef>
                <a:spcPct val="20000"/>
              </a:spcBef>
            </a:pPr>
            <a:r>
              <a:rPr lang="en-US" dirty="0"/>
              <a:t>	</a:t>
            </a:r>
            <a:r>
              <a:rPr lang="en-US" b="1" dirty="0" err="1">
                <a:solidFill>
                  <a:srgbClr val="339933"/>
                </a:solidFill>
              </a:rPr>
              <a:t>sigemptyset</a:t>
            </a:r>
            <a:r>
              <a:rPr lang="en-US" b="1" dirty="0">
                <a:solidFill>
                  <a:srgbClr val="339933"/>
                </a:solidFill>
              </a:rPr>
              <a:t>(&amp;set1);		</a:t>
            </a:r>
          </a:p>
          <a:p>
            <a:pPr>
              <a:spcBef>
                <a:spcPct val="20000"/>
              </a:spcBef>
            </a:pPr>
            <a:r>
              <a:rPr lang="en-US" b="1" dirty="0">
                <a:solidFill>
                  <a:srgbClr val="339933"/>
                </a:solidFill>
              </a:rPr>
              <a:t>                 </a:t>
            </a:r>
            <a:r>
              <a:rPr lang="en-US" b="1" dirty="0" err="1">
                <a:solidFill>
                  <a:srgbClr val="339933"/>
                </a:solidFill>
              </a:rPr>
              <a:t>sigaddset</a:t>
            </a:r>
            <a:r>
              <a:rPr lang="en-US" b="1" dirty="0">
                <a:solidFill>
                  <a:srgbClr val="339933"/>
                </a:solidFill>
              </a:rPr>
              <a:t>(&amp;set1,SIGUSR1);</a:t>
            </a:r>
          </a:p>
          <a:p>
            <a:pPr>
              <a:spcBef>
                <a:spcPct val="20000"/>
              </a:spcBef>
            </a:pPr>
            <a:r>
              <a:rPr lang="en-US" b="1" dirty="0">
                <a:solidFill>
                  <a:srgbClr val="339933"/>
                </a:solidFill>
              </a:rPr>
              <a:t>	</a:t>
            </a:r>
            <a:r>
              <a:rPr lang="en-US" b="1" dirty="0" err="1">
                <a:solidFill>
                  <a:srgbClr val="339933"/>
                </a:solidFill>
              </a:rPr>
              <a:t>sigprocmask</a:t>
            </a:r>
            <a:r>
              <a:rPr lang="en-US" b="1" dirty="0">
                <a:solidFill>
                  <a:srgbClr val="339933"/>
                </a:solidFill>
              </a:rPr>
              <a:t>(SIG_SETMASK,&amp;set1,NULL);</a:t>
            </a:r>
          </a:p>
          <a:p>
            <a:pPr>
              <a:spcBef>
                <a:spcPct val="20000"/>
              </a:spcBef>
            </a:pPr>
            <a:r>
              <a:rPr lang="en-US" dirty="0"/>
              <a:t>	raise(SIGUSR2); 		//raise(SIGUSR1);</a:t>
            </a:r>
          </a:p>
          <a:p>
            <a:pPr>
              <a:spcBef>
                <a:spcPct val="20000"/>
              </a:spcBef>
            </a:pPr>
            <a:r>
              <a:rPr lang="en-US" dirty="0"/>
              <a:t>	</a:t>
            </a:r>
            <a:r>
              <a:rPr lang="en-US" b="1" i="1" dirty="0" err="1">
                <a:solidFill>
                  <a:srgbClr val="FF0000"/>
                </a:solidFill>
              </a:rPr>
              <a:t>sigemptyset</a:t>
            </a:r>
            <a:r>
              <a:rPr lang="en-US" b="1" i="1" dirty="0">
                <a:solidFill>
                  <a:srgbClr val="FF0000"/>
                </a:solidFill>
              </a:rPr>
              <a:t>(&amp;set1);		</a:t>
            </a:r>
          </a:p>
          <a:p>
            <a:pPr>
              <a:spcBef>
                <a:spcPct val="20000"/>
              </a:spcBef>
            </a:pPr>
            <a:r>
              <a:rPr lang="en-US" b="1" i="1" dirty="0">
                <a:solidFill>
                  <a:srgbClr val="FF0000"/>
                </a:solidFill>
              </a:rPr>
              <a:t>                 </a:t>
            </a:r>
            <a:r>
              <a:rPr lang="en-US" b="1" i="1" dirty="0" err="1">
                <a:solidFill>
                  <a:srgbClr val="FF0000"/>
                </a:solidFill>
              </a:rPr>
              <a:t>sigaddset</a:t>
            </a:r>
            <a:r>
              <a:rPr lang="en-US" b="1" i="1" dirty="0">
                <a:solidFill>
                  <a:srgbClr val="FF0000"/>
                </a:solidFill>
              </a:rPr>
              <a:t>(&amp;set1,SIGUSR2);</a:t>
            </a:r>
          </a:p>
          <a:p>
            <a:pPr>
              <a:spcBef>
                <a:spcPct val="20000"/>
              </a:spcBef>
            </a:pPr>
            <a:r>
              <a:rPr lang="en-US" b="1" i="1" dirty="0">
                <a:solidFill>
                  <a:srgbClr val="FF0000"/>
                </a:solidFill>
              </a:rPr>
              <a:t>	</a:t>
            </a:r>
            <a:r>
              <a:rPr lang="en-US" b="1" i="1" dirty="0" err="1">
                <a:solidFill>
                  <a:srgbClr val="FF0000"/>
                </a:solidFill>
              </a:rPr>
              <a:t>sigprocmask</a:t>
            </a:r>
            <a:r>
              <a:rPr lang="en-US" b="1" i="1" dirty="0">
                <a:solidFill>
                  <a:srgbClr val="FF0000"/>
                </a:solidFill>
              </a:rPr>
              <a:t>(SIG_SETMASK,&amp;set1,NULL);</a:t>
            </a:r>
          </a:p>
          <a:p>
            <a:pPr>
              <a:spcBef>
                <a:spcPct val="20000"/>
              </a:spcBef>
            </a:pPr>
            <a:r>
              <a:rPr lang="en-US" dirty="0"/>
              <a:t>	raise(SIGUSR1);		//raise(SIGUSR2);</a:t>
            </a:r>
          </a:p>
          <a:p>
            <a:pPr>
              <a:spcBef>
                <a:spcPct val="20000"/>
              </a:spcBef>
            </a:pPr>
            <a:r>
              <a:rPr lang="en-US" dirty="0"/>
              <a:t>	</a:t>
            </a:r>
            <a:r>
              <a:rPr lang="en-US" b="1" i="1" dirty="0" err="1">
                <a:solidFill>
                  <a:srgbClr val="0000CC"/>
                </a:solidFill>
              </a:rPr>
              <a:t>sigdelset</a:t>
            </a:r>
            <a:r>
              <a:rPr lang="en-US" b="1" i="1" dirty="0">
                <a:solidFill>
                  <a:srgbClr val="0000CC"/>
                </a:solidFill>
              </a:rPr>
              <a:t>(&amp;set1,SIGUSR2);	</a:t>
            </a:r>
          </a:p>
          <a:p>
            <a:pPr>
              <a:spcBef>
                <a:spcPct val="20000"/>
              </a:spcBef>
            </a:pPr>
            <a:r>
              <a:rPr lang="en-US" b="1" i="1" dirty="0">
                <a:solidFill>
                  <a:srgbClr val="0000CC"/>
                </a:solidFill>
              </a:rPr>
              <a:t>                 </a:t>
            </a:r>
            <a:r>
              <a:rPr lang="en-US" b="1" i="1" dirty="0" err="1">
                <a:solidFill>
                  <a:srgbClr val="0000CC"/>
                </a:solidFill>
              </a:rPr>
              <a:t>sigaddset</a:t>
            </a:r>
            <a:r>
              <a:rPr lang="en-US" b="1" i="1" dirty="0">
                <a:solidFill>
                  <a:srgbClr val="0000CC"/>
                </a:solidFill>
              </a:rPr>
              <a:t>(&amp;set1,SIGUSR1);</a:t>
            </a:r>
          </a:p>
          <a:p>
            <a:pPr>
              <a:spcBef>
                <a:spcPct val="20000"/>
              </a:spcBef>
            </a:pPr>
            <a:r>
              <a:rPr lang="en-US" b="1" i="1" dirty="0">
                <a:solidFill>
                  <a:srgbClr val="0000CC"/>
                </a:solidFill>
              </a:rPr>
              <a:t>	</a:t>
            </a:r>
            <a:r>
              <a:rPr lang="en-US" b="1" i="1" dirty="0" err="1">
                <a:solidFill>
                  <a:srgbClr val="0000CC"/>
                </a:solidFill>
              </a:rPr>
              <a:t>sigprocmask</a:t>
            </a:r>
            <a:r>
              <a:rPr lang="en-US" b="1" i="1" dirty="0">
                <a:solidFill>
                  <a:srgbClr val="0000CC"/>
                </a:solidFill>
              </a:rPr>
              <a:t>(SIG_BLOCK,&amp;set1,NULL);</a:t>
            </a:r>
          </a:p>
          <a:p>
            <a:pPr>
              <a:spcBef>
                <a:spcPct val="20000"/>
              </a:spcBef>
            </a:pPr>
            <a:r>
              <a:rPr lang="en-US" dirty="0"/>
              <a:t>	raise(SIGUSR2);		//raise(SIGUSR1);</a:t>
            </a:r>
          </a:p>
          <a:p>
            <a:pPr>
              <a:spcBef>
                <a:spcPct val="20000"/>
              </a:spcBef>
            </a:pPr>
            <a:r>
              <a:rPr lang="en-US" b="1" i="1" dirty="0"/>
              <a:t>	</a:t>
            </a:r>
            <a:r>
              <a:rPr lang="en-US" b="1" i="1" dirty="0" err="1">
                <a:solidFill>
                  <a:srgbClr val="FF00FF"/>
                </a:solidFill>
              </a:rPr>
              <a:t>sigaddset</a:t>
            </a:r>
            <a:r>
              <a:rPr lang="en-US" b="1" i="1" dirty="0">
                <a:solidFill>
                  <a:srgbClr val="FF00FF"/>
                </a:solidFill>
              </a:rPr>
              <a:t>(&amp;set1,SIGUSR2);</a:t>
            </a:r>
          </a:p>
          <a:p>
            <a:pPr>
              <a:spcBef>
                <a:spcPct val="20000"/>
              </a:spcBef>
            </a:pPr>
            <a:r>
              <a:rPr lang="en-US" b="1" i="1" dirty="0">
                <a:solidFill>
                  <a:srgbClr val="FF00FF"/>
                </a:solidFill>
              </a:rPr>
              <a:t>	</a:t>
            </a:r>
            <a:r>
              <a:rPr lang="en-US" b="1" i="1" dirty="0" err="1">
                <a:solidFill>
                  <a:srgbClr val="FF00FF"/>
                </a:solidFill>
              </a:rPr>
              <a:t>sigprocmask</a:t>
            </a:r>
            <a:r>
              <a:rPr lang="en-US" b="1" i="1" dirty="0">
                <a:solidFill>
                  <a:srgbClr val="FF00FF"/>
                </a:solidFill>
              </a:rPr>
              <a:t>(SIG_UNBLOCK,&amp;set1,NULL);</a:t>
            </a:r>
          </a:p>
          <a:p>
            <a:pPr>
              <a:spcBef>
                <a:spcPct val="20000"/>
              </a:spcBef>
            </a:pPr>
            <a:r>
              <a:rPr lang="en-US" dirty="0"/>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ChangeArrowheads="1"/>
          </p:cNvSpPr>
          <p:nvPr/>
        </p:nvSpPr>
        <p:spPr bwMode="auto">
          <a:xfrm>
            <a:off x="0" y="1143000"/>
            <a:ext cx="9144000" cy="5181600"/>
          </a:xfrm>
          <a:prstGeom prst="rect">
            <a:avLst/>
          </a:prstGeom>
          <a:noFill/>
          <a:ln w="9525">
            <a:noFill/>
            <a:miter lim="800000"/>
            <a:headEnd/>
            <a:tailEnd/>
          </a:ln>
        </p:spPr>
        <p:txBody>
          <a:bodyPr/>
          <a:lstStyle/>
          <a:p>
            <a:pPr>
              <a:spcBef>
                <a:spcPct val="20000"/>
              </a:spcBef>
            </a:pPr>
            <a:r>
              <a:rPr lang="en-US" sz="3200"/>
              <a:t>void sigusr1_handler(int signum)</a:t>
            </a:r>
          </a:p>
          <a:p>
            <a:pPr>
              <a:spcBef>
                <a:spcPct val="20000"/>
              </a:spcBef>
            </a:pPr>
            <a:r>
              <a:rPr lang="en-US" sz="3200"/>
              <a:t>{</a:t>
            </a:r>
          </a:p>
          <a:p>
            <a:pPr>
              <a:spcBef>
                <a:spcPct val="20000"/>
              </a:spcBef>
            </a:pPr>
            <a:r>
              <a:rPr lang="en-US" sz="3200"/>
              <a:t>	printf("Inside SIGUSR1 Handler \n");</a:t>
            </a:r>
          </a:p>
          <a:p>
            <a:pPr>
              <a:spcBef>
                <a:spcPct val="20000"/>
              </a:spcBef>
            </a:pPr>
            <a:r>
              <a:rPr lang="en-US" sz="3200"/>
              <a:t>}</a:t>
            </a:r>
          </a:p>
          <a:p>
            <a:pPr>
              <a:spcBef>
                <a:spcPct val="20000"/>
              </a:spcBef>
            </a:pPr>
            <a:r>
              <a:rPr lang="en-US" sz="3200"/>
              <a:t>void sigusr2_handler(int signum)</a:t>
            </a:r>
          </a:p>
          <a:p>
            <a:pPr>
              <a:spcBef>
                <a:spcPct val="20000"/>
              </a:spcBef>
            </a:pPr>
            <a:r>
              <a:rPr lang="en-US" sz="3200"/>
              <a:t>{</a:t>
            </a:r>
          </a:p>
          <a:p>
            <a:pPr>
              <a:spcBef>
                <a:spcPct val="20000"/>
              </a:spcBef>
            </a:pPr>
            <a:r>
              <a:rPr lang="en-US" sz="3200"/>
              <a:t>	printf("Inside SIGUSR2 Handler \n");</a:t>
            </a:r>
          </a:p>
          <a:p>
            <a:pPr>
              <a:spcBef>
                <a:spcPct val="20000"/>
              </a:spcBef>
            </a:pPr>
            <a:r>
              <a:rPr lang="en-US" sz="3200"/>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ChangeArrowheads="1"/>
          </p:cNvSpPr>
          <p:nvPr/>
        </p:nvSpPr>
        <p:spPr bwMode="auto">
          <a:xfrm>
            <a:off x="228600" y="914400"/>
            <a:ext cx="8915400" cy="5943600"/>
          </a:xfrm>
          <a:prstGeom prst="rect">
            <a:avLst/>
          </a:prstGeom>
          <a:noFill/>
          <a:ln w="9525">
            <a:noFill/>
            <a:miter lim="800000"/>
            <a:headEnd/>
            <a:tailEnd/>
          </a:ln>
        </p:spPr>
        <p:txBody>
          <a:bodyPr/>
          <a:lstStyle/>
          <a:p>
            <a:pPr>
              <a:spcBef>
                <a:spcPct val="20000"/>
              </a:spcBef>
            </a:pPr>
            <a:r>
              <a:rPr lang="en-US" sz="2800"/>
              <a:t>int main()</a:t>
            </a:r>
          </a:p>
          <a:p>
            <a:pPr>
              <a:spcBef>
                <a:spcPct val="20000"/>
              </a:spcBef>
            </a:pPr>
            <a:r>
              <a:rPr lang="en-US" sz="2800"/>
              <a:t>{</a:t>
            </a:r>
          </a:p>
          <a:p>
            <a:pPr>
              <a:spcBef>
                <a:spcPct val="20000"/>
              </a:spcBef>
            </a:pPr>
            <a:r>
              <a:rPr lang="en-US" sz="2800"/>
              <a:t>	char nam[30];</a:t>
            </a:r>
          </a:p>
          <a:p>
            <a:pPr>
              <a:spcBef>
                <a:spcPct val="20000"/>
              </a:spcBef>
            </a:pPr>
            <a:r>
              <a:rPr lang="en-US" sz="2800"/>
              <a:t>	printf("Registering Signal Handler \n");</a:t>
            </a:r>
          </a:p>
          <a:p>
            <a:pPr>
              <a:spcBef>
                <a:spcPct val="20000"/>
              </a:spcBef>
            </a:pPr>
            <a:r>
              <a:rPr lang="en-US" sz="2800"/>
              <a:t>	signal(SIGINT,sigint_handler);</a:t>
            </a:r>
          </a:p>
          <a:p>
            <a:pPr>
              <a:spcBef>
                <a:spcPct val="20000"/>
              </a:spcBef>
            </a:pPr>
            <a:r>
              <a:rPr lang="en-US" sz="2800"/>
              <a:t>	signal(SIGUSR1,sigusr1_handler);</a:t>
            </a:r>
          </a:p>
          <a:p>
            <a:pPr>
              <a:spcBef>
                <a:spcPct val="20000"/>
              </a:spcBef>
            </a:pPr>
            <a:r>
              <a:rPr lang="en-US" sz="2800"/>
              <a:t>	printf("Enter Your Name \n");</a:t>
            </a:r>
          </a:p>
          <a:p>
            <a:pPr>
              <a:spcBef>
                <a:spcPct val="20000"/>
              </a:spcBef>
            </a:pPr>
            <a:r>
              <a:rPr lang="en-US" sz="2800"/>
              <a:t>	scanf("%s",nam);</a:t>
            </a:r>
          </a:p>
          <a:p>
            <a:pPr>
              <a:spcBef>
                <a:spcPct val="20000"/>
              </a:spcBef>
            </a:pPr>
            <a:r>
              <a:rPr lang="en-US" sz="2800"/>
              <a:t>	printf("%s : Your Name is So Sweet \n",nam);</a:t>
            </a:r>
          </a:p>
          <a:p>
            <a:pPr>
              <a:spcBef>
                <a:spcPct val="20000"/>
              </a:spcBef>
            </a:pPr>
            <a:r>
              <a:rPr lang="en-US" sz="2800"/>
              <a:t>	return 0;</a:t>
            </a:r>
          </a:p>
          <a:p>
            <a:pPr>
              <a:spcBef>
                <a:spcPct val="20000"/>
              </a:spcBef>
            </a:pPr>
            <a:r>
              <a:rPr lang="en-US" sz="2800"/>
              <a:t>}</a:t>
            </a:r>
          </a:p>
        </p:txBody>
      </p:sp>
      <p:sp>
        <p:nvSpPr>
          <p:cNvPr id="295939" name="Rectangle 3"/>
          <p:cNvSpPr>
            <a:spLocks noGrp="1" noChangeArrowheads="1"/>
          </p:cNvSpPr>
          <p:nvPr>
            <p:ph type="title"/>
          </p:nvPr>
        </p:nvSpPr>
        <p:spPr>
          <a:xfrm>
            <a:off x="533400" y="-152400"/>
            <a:ext cx="7772400" cy="1143000"/>
          </a:xfrm>
        </p:spPr>
        <p:txBody>
          <a:bodyPr/>
          <a:lstStyle/>
          <a:p>
            <a:pPr eaLnBrk="1" hangingPunct="1"/>
            <a:r>
              <a:rPr lang="en-US"/>
              <a:t>Program on sigpending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ChangeArrowheads="1"/>
          </p:cNvSpPr>
          <p:nvPr/>
        </p:nvSpPr>
        <p:spPr bwMode="auto">
          <a:xfrm>
            <a:off x="0" y="1143000"/>
            <a:ext cx="9144000" cy="5181600"/>
          </a:xfrm>
          <a:prstGeom prst="rect">
            <a:avLst/>
          </a:prstGeom>
          <a:noFill/>
          <a:ln w="9525">
            <a:noFill/>
            <a:miter lim="800000"/>
            <a:headEnd/>
            <a:tailEnd/>
          </a:ln>
        </p:spPr>
        <p:txBody>
          <a:bodyPr/>
          <a:lstStyle/>
          <a:p>
            <a:pPr>
              <a:spcBef>
                <a:spcPct val="20000"/>
              </a:spcBef>
            </a:pPr>
            <a:r>
              <a:rPr lang="en-US" dirty="0"/>
              <a:t>void </a:t>
            </a:r>
            <a:r>
              <a:rPr lang="en-US" dirty="0" err="1"/>
              <a:t>sigint_handler</a:t>
            </a:r>
            <a:r>
              <a:rPr lang="en-US" dirty="0"/>
              <a:t>(int signum)</a:t>
            </a:r>
          </a:p>
          <a:p>
            <a:pPr>
              <a:spcBef>
                <a:spcPct val="20000"/>
              </a:spcBef>
            </a:pPr>
            <a:r>
              <a:rPr lang="en-US" sz="2800" dirty="0"/>
              <a:t>{	</a:t>
            </a:r>
            <a:r>
              <a:rPr lang="en-US" sz="2800" dirty="0" err="1"/>
              <a:t>sigset_t</a:t>
            </a:r>
            <a:r>
              <a:rPr lang="en-US" sz="2800" dirty="0"/>
              <a:t> set1;</a:t>
            </a:r>
          </a:p>
          <a:p>
            <a:pPr>
              <a:spcBef>
                <a:spcPct val="20000"/>
              </a:spcBef>
            </a:pPr>
            <a:r>
              <a:rPr lang="en-US" sz="2800" dirty="0"/>
              <a:t>if(num &lt;  1 )</a:t>
            </a:r>
          </a:p>
          <a:p>
            <a:pPr>
              <a:spcBef>
                <a:spcPct val="20000"/>
              </a:spcBef>
            </a:pPr>
            <a:r>
              <a:rPr lang="en-US" sz="2800" dirty="0"/>
              <a:t>{		raise(SIGINT);	raise(SIGUSR1);	}</a:t>
            </a:r>
          </a:p>
          <a:p>
            <a:pPr>
              <a:spcBef>
                <a:spcPct val="20000"/>
              </a:spcBef>
            </a:pPr>
            <a:r>
              <a:rPr lang="en-US" sz="2800" dirty="0"/>
              <a:t>	num ++;	</a:t>
            </a:r>
            <a:r>
              <a:rPr lang="en-US" sz="3600" b="1" i="1" dirty="0" err="1">
                <a:solidFill>
                  <a:srgbClr val="339933"/>
                </a:solidFill>
              </a:rPr>
              <a:t>sigpending</a:t>
            </a:r>
            <a:r>
              <a:rPr lang="en-US" sz="3600" b="1" i="1" dirty="0">
                <a:solidFill>
                  <a:srgbClr val="339933"/>
                </a:solidFill>
              </a:rPr>
              <a:t>(&amp;set1);</a:t>
            </a:r>
          </a:p>
          <a:p>
            <a:pPr>
              <a:spcBef>
                <a:spcPct val="20000"/>
              </a:spcBef>
            </a:pPr>
            <a:r>
              <a:rPr lang="en-US" sz="2800" dirty="0"/>
              <a:t>	if(</a:t>
            </a:r>
            <a:r>
              <a:rPr lang="en-US" sz="2800" dirty="0" err="1"/>
              <a:t>sigismember</a:t>
            </a:r>
            <a:r>
              <a:rPr lang="en-US" sz="2800" dirty="0"/>
              <a:t>(&amp;set1,SIGINT))</a:t>
            </a:r>
          </a:p>
          <a:p>
            <a:pPr>
              <a:spcBef>
                <a:spcPct val="20000"/>
              </a:spcBef>
            </a:pPr>
            <a:r>
              <a:rPr lang="en-US" sz="2800" dirty="0"/>
              <a:t>		</a:t>
            </a:r>
            <a:r>
              <a:rPr lang="en-US" sz="2800" dirty="0" err="1"/>
              <a:t>printf</a:t>
            </a:r>
            <a:r>
              <a:rPr lang="en-US" sz="2800" dirty="0"/>
              <a:t>("SIGINT is Pending \n");</a:t>
            </a:r>
          </a:p>
          <a:p>
            <a:pPr>
              <a:spcBef>
                <a:spcPct val="20000"/>
              </a:spcBef>
            </a:pPr>
            <a:r>
              <a:rPr lang="en-US" sz="2800" dirty="0"/>
              <a:t>	if(</a:t>
            </a:r>
            <a:r>
              <a:rPr lang="en-US" sz="2800" dirty="0" err="1"/>
              <a:t>sigismember</a:t>
            </a:r>
            <a:r>
              <a:rPr lang="en-US" sz="2800" dirty="0"/>
              <a:t>(&amp;set1,SIGUSR1))</a:t>
            </a:r>
          </a:p>
          <a:p>
            <a:pPr>
              <a:spcBef>
                <a:spcPct val="20000"/>
              </a:spcBef>
            </a:pPr>
            <a:r>
              <a:rPr lang="en-US" sz="2800" dirty="0"/>
              <a:t>		</a:t>
            </a:r>
            <a:r>
              <a:rPr lang="en-US" sz="2800" dirty="0" err="1"/>
              <a:t>printf</a:t>
            </a:r>
            <a:r>
              <a:rPr lang="en-US" sz="2800" dirty="0"/>
              <a:t>("SIGUSR1 is Pending \n");</a:t>
            </a:r>
          </a:p>
          <a:p>
            <a:pPr>
              <a:spcBef>
                <a:spcPct val="20000"/>
              </a:spcBef>
            </a:pPr>
            <a:r>
              <a:rPr lang="en-US" sz="2800" dirty="0"/>
              <a:t>	</a:t>
            </a:r>
            <a:r>
              <a:rPr lang="en-US" sz="2800" dirty="0" err="1"/>
              <a:t>printf</a:t>
            </a:r>
            <a:r>
              <a:rPr lang="en-US" sz="2800" dirty="0"/>
              <a:t>("Out of Signal Handler \n");</a:t>
            </a:r>
          </a:p>
          <a:p>
            <a:pPr>
              <a:spcBef>
                <a:spcPct val="20000"/>
              </a:spcBef>
            </a:pPr>
            <a:r>
              <a:rPr lang="en-US" sz="2800" dirty="0"/>
              <a:t>}</a:t>
            </a:r>
          </a:p>
        </p:txBody>
      </p:sp>
      <p:sp>
        <p:nvSpPr>
          <p:cNvPr id="296963" name="Rectangle 3"/>
          <p:cNvSpPr>
            <a:spLocks noChangeArrowheads="1"/>
          </p:cNvSpPr>
          <p:nvPr/>
        </p:nvSpPr>
        <p:spPr bwMode="auto">
          <a:xfrm>
            <a:off x="4419600" y="1006475"/>
            <a:ext cx="4572000" cy="1562100"/>
          </a:xfrm>
          <a:prstGeom prst="rect">
            <a:avLst/>
          </a:prstGeom>
          <a:noFill/>
          <a:ln w="9525">
            <a:solidFill>
              <a:srgbClr val="339933"/>
            </a:solidFill>
            <a:miter lim="800000"/>
            <a:headEnd/>
            <a:tailEnd/>
          </a:ln>
        </p:spPr>
        <p:txBody>
          <a:bodyPr>
            <a:spAutoFit/>
          </a:bodyPr>
          <a:lstStyle/>
          <a:p>
            <a:r>
              <a:rPr lang="en-US"/>
              <a:t>void sigusr1_handler(int signum)</a:t>
            </a:r>
          </a:p>
          <a:p>
            <a:r>
              <a:rPr lang="en-US"/>
              <a:t>{</a:t>
            </a:r>
          </a:p>
          <a:p>
            <a:r>
              <a:rPr lang="en-US"/>
              <a:t>printf("Inside SIGUSR1 Handler");</a:t>
            </a:r>
          </a:p>
          <a:p>
            <a:r>
              <a:rPr lang="en-US"/>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ChangeArrowheads="1"/>
          </p:cNvSpPr>
          <p:nvPr/>
        </p:nvSpPr>
        <p:spPr bwMode="auto">
          <a:xfrm>
            <a:off x="0" y="1143000"/>
            <a:ext cx="9144000" cy="5181600"/>
          </a:xfrm>
          <a:prstGeom prst="rect">
            <a:avLst/>
          </a:prstGeom>
          <a:noFill/>
          <a:ln w="9525">
            <a:noFill/>
            <a:miter lim="800000"/>
            <a:headEnd/>
            <a:tailEnd/>
          </a:ln>
        </p:spPr>
        <p:txBody>
          <a:bodyPr/>
          <a:lstStyle/>
          <a:p>
            <a:pPr>
              <a:spcBef>
                <a:spcPct val="20000"/>
              </a:spcBef>
            </a:pPr>
            <a:r>
              <a:rPr lang="en-US" sz="3200"/>
              <a:t>void parent_sigint_handler(int signum)</a:t>
            </a:r>
          </a:p>
          <a:p>
            <a:pPr>
              <a:spcBef>
                <a:spcPct val="20000"/>
              </a:spcBef>
            </a:pPr>
            <a:r>
              <a:rPr lang="en-US" sz="3200"/>
              <a:t>{	</a:t>
            </a:r>
          </a:p>
          <a:p>
            <a:pPr>
              <a:spcBef>
                <a:spcPct val="20000"/>
              </a:spcBef>
            </a:pPr>
            <a:r>
              <a:rPr lang="en-US" sz="3200"/>
              <a:t>	printf("Inside Parent Signal Handler \n");</a:t>
            </a:r>
          </a:p>
          <a:p>
            <a:pPr>
              <a:spcBef>
                <a:spcPct val="20000"/>
              </a:spcBef>
            </a:pPr>
            <a:r>
              <a:rPr lang="en-US" sz="3200"/>
              <a:t>}</a:t>
            </a:r>
          </a:p>
          <a:p>
            <a:pPr>
              <a:spcBef>
                <a:spcPct val="20000"/>
              </a:spcBef>
            </a:pPr>
            <a:r>
              <a:rPr lang="en-US" sz="3200"/>
              <a:t>int main()</a:t>
            </a:r>
          </a:p>
          <a:p>
            <a:pPr>
              <a:spcBef>
                <a:spcPct val="20000"/>
              </a:spcBef>
            </a:pPr>
            <a:r>
              <a:rPr lang="en-US" sz="3200"/>
              <a:t>{	int pid;</a:t>
            </a:r>
          </a:p>
          <a:p>
            <a:pPr>
              <a:spcBef>
                <a:spcPct val="20000"/>
              </a:spcBef>
            </a:pPr>
            <a:r>
              <a:rPr lang="en-US" sz="3200"/>
              <a:t>	printf("Registering Signal Handler \n");</a:t>
            </a:r>
          </a:p>
          <a:p>
            <a:pPr>
              <a:spcBef>
                <a:spcPct val="20000"/>
              </a:spcBef>
            </a:pPr>
            <a:r>
              <a:rPr lang="en-US" sz="3200"/>
              <a:t>	signal(SIGINT,parent_sigint_handler);</a:t>
            </a:r>
          </a:p>
          <a:p>
            <a:pPr>
              <a:spcBef>
                <a:spcPct val="20000"/>
              </a:spcBef>
            </a:pPr>
            <a:r>
              <a:rPr lang="en-US" sz="3200"/>
              <a:t>	pid = fork();</a:t>
            </a:r>
          </a:p>
        </p:txBody>
      </p:sp>
      <p:sp>
        <p:nvSpPr>
          <p:cNvPr id="297987" name="Rectangle 3"/>
          <p:cNvSpPr>
            <a:spLocks noGrp="1" noChangeArrowheads="1"/>
          </p:cNvSpPr>
          <p:nvPr>
            <p:ph type="title"/>
          </p:nvPr>
        </p:nvSpPr>
        <p:spPr>
          <a:xfrm>
            <a:off x="152400" y="-76200"/>
            <a:ext cx="7772400" cy="1143000"/>
          </a:xfrm>
        </p:spPr>
        <p:txBody>
          <a:bodyPr/>
          <a:lstStyle/>
          <a:p>
            <a:pPr eaLnBrk="1" hangingPunct="1"/>
            <a:r>
              <a:rPr lang="en-US" sz="4000"/>
              <a:t>Signal Between Related Process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ChangeArrowheads="1"/>
          </p:cNvSpPr>
          <p:nvPr/>
        </p:nvSpPr>
        <p:spPr bwMode="auto">
          <a:xfrm>
            <a:off x="0" y="1143000"/>
            <a:ext cx="9144000" cy="5181600"/>
          </a:xfrm>
          <a:prstGeom prst="rect">
            <a:avLst/>
          </a:prstGeom>
          <a:noFill/>
          <a:ln w="9525">
            <a:noFill/>
            <a:miter lim="800000"/>
            <a:headEnd/>
            <a:tailEnd/>
          </a:ln>
        </p:spPr>
        <p:txBody>
          <a:bodyPr/>
          <a:lstStyle/>
          <a:p>
            <a:pPr>
              <a:spcBef>
                <a:spcPct val="20000"/>
              </a:spcBef>
            </a:pPr>
            <a:r>
              <a:rPr lang="en-US" sz="3200"/>
              <a:t>if(pid == 0)</a:t>
            </a:r>
          </a:p>
          <a:p>
            <a:pPr>
              <a:spcBef>
                <a:spcPct val="20000"/>
              </a:spcBef>
            </a:pPr>
            <a:r>
              <a:rPr lang="en-US" sz="3200"/>
              <a:t>{</a:t>
            </a:r>
          </a:p>
          <a:p>
            <a:pPr>
              <a:spcBef>
                <a:spcPct val="20000"/>
              </a:spcBef>
            </a:pPr>
            <a:r>
              <a:rPr lang="en-US" sz="3200"/>
              <a:t>	printf("Inside Child Process \n");</a:t>
            </a:r>
          </a:p>
          <a:p>
            <a:pPr>
              <a:spcBef>
                <a:spcPct val="20000"/>
              </a:spcBef>
            </a:pPr>
            <a:r>
              <a:rPr lang="en-US" sz="3200"/>
              <a:t>	sleep(5);</a:t>
            </a:r>
          </a:p>
          <a:p>
            <a:pPr>
              <a:spcBef>
                <a:spcPct val="20000"/>
              </a:spcBef>
            </a:pPr>
            <a:r>
              <a:rPr lang="en-US" sz="3200"/>
              <a:t>	printf("Child is sending signal to Parent \n");</a:t>
            </a:r>
          </a:p>
          <a:p>
            <a:pPr>
              <a:spcBef>
                <a:spcPct val="20000"/>
              </a:spcBef>
            </a:pPr>
            <a:r>
              <a:rPr lang="en-US" sz="4000" b="1" i="1">
                <a:solidFill>
                  <a:srgbClr val="339933"/>
                </a:solidFill>
              </a:rPr>
              <a:t>	kill(getppid(),SIGINT);</a:t>
            </a:r>
          </a:p>
          <a:p>
            <a:pPr>
              <a:spcBef>
                <a:spcPct val="20000"/>
              </a:spcBef>
            </a:pPr>
            <a:r>
              <a:rPr lang="en-US" sz="3200"/>
              <a:t>	printf("End of Child Process \n");</a:t>
            </a:r>
          </a:p>
          <a:p>
            <a:pPr>
              <a:spcBef>
                <a:spcPct val="20000"/>
              </a:spcBef>
            </a:pPr>
            <a:r>
              <a:rPr lang="en-US" sz="3200"/>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ChangeArrowheads="1"/>
          </p:cNvSpPr>
          <p:nvPr/>
        </p:nvSpPr>
        <p:spPr bwMode="auto">
          <a:xfrm>
            <a:off x="0" y="990600"/>
            <a:ext cx="9144000" cy="5181600"/>
          </a:xfrm>
          <a:prstGeom prst="rect">
            <a:avLst/>
          </a:prstGeom>
          <a:noFill/>
          <a:ln w="9525">
            <a:noFill/>
            <a:miter lim="800000"/>
            <a:headEnd/>
            <a:tailEnd/>
          </a:ln>
        </p:spPr>
        <p:txBody>
          <a:bodyPr/>
          <a:lstStyle/>
          <a:p>
            <a:pPr>
              <a:spcBef>
                <a:spcPct val="20000"/>
              </a:spcBef>
            </a:pPr>
            <a:r>
              <a:rPr lang="en-US" sz="3200" dirty="0"/>
              <a:t>else</a:t>
            </a:r>
          </a:p>
          <a:p>
            <a:pPr>
              <a:spcBef>
                <a:spcPct val="20000"/>
              </a:spcBef>
            </a:pPr>
            <a:r>
              <a:rPr lang="en-US" sz="3200" dirty="0"/>
              <a:t>	{</a:t>
            </a:r>
          </a:p>
          <a:p>
            <a:pPr>
              <a:spcBef>
                <a:spcPct val="20000"/>
              </a:spcBef>
            </a:pPr>
            <a:r>
              <a:rPr lang="en-US" sz="3200" dirty="0"/>
              <a:t>		signal(</a:t>
            </a:r>
            <a:r>
              <a:rPr lang="en-US" sz="3200" dirty="0" err="1"/>
              <a:t>SIGINT,parent_sigint_handler</a:t>
            </a:r>
            <a:r>
              <a:rPr lang="en-US" sz="3200" dirty="0"/>
              <a:t>);</a:t>
            </a:r>
          </a:p>
          <a:p>
            <a:pPr>
              <a:spcBef>
                <a:spcPct val="20000"/>
              </a:spcBef>
            </a:pPr>
            <a:r>
              <a:rPr lang="en-US" sz="3200" dirty="0"/>
              <a:t>		</a:t>
            </a:r>
            <a:r>
              <a:rPr lang="en-US" sz="3200" dirty="0" err="1"/>
              <a:t>printf</a:t>
            </a:r>
            <a:r>
              <a:rPr lang="en-US" sz="3200" dirty="0"/>
              <a:t>("Inside Parent Process \n");</a:t>
            </a:r>
          </a:p>
          <a:p>
            <a:pPr>
              <a:spcBef>
                <a:spcPct val="20000"/>
              </a:spcBef>
            </a:pPr>
            <a:r>
              <a:rPr lang="en-US" sz="3200" dirty="0"/>
              <a:t>		</a:t>
            </a:r>
            <a:r>
              <a:rPr lang="en-US" sz="4000" b="1" i="1" dirty="0">
                <a:solidFill>
                  <a:srgbClr val="339933"/>
                </a:solidFill>
              </a:rPr>
              <a:t>pause();</a:t>
            </a:r>
          </a:p>
          <a:p>
            <a:pPr>
              <a:spcBef>
                <a:spcPct val="20000"/>
              </a:spcBef>
            </a:pPr>
            <a:r>
              <a:rPr lang="en-US" sz="3200" dirty="0"/>
              <a:t>		</a:t>
            </a:r>
            <a:r>
              <a:rPr lang="en-US" sz="3200" dirty="0" err="1"/>
              <a:t>printf</a:t>
            </a:r>
            <a:r>
              <a:rPr lang="en-US" sz="3200" dirty="0"/>
              <a:t>("End of Parent Process \n");</a:t>
            </a:r>
          </a:p>
          <a:p>
            <a:pPr>
              <a:spcBef>
                <a:spcPct val="20000"/>
              </a:spcBef>
            </a:pPr>
            <a:r>
              <a:rPr lang="en-US" sz="3200" dirty="0"/>
              <a:t>	}</a:t>
            </a:r>
          </a:p>
          <a:p>
            <a:pPr>
              <a:spcBef>
                <a:spcPct val="20000"/>
              </a:spcBef>
            </a:pPr>
            <a:r>
              <a:rPr lang="en-US" sz="3200" dirty="0"/>
              <a:t>	return 0;</a:t>
            </a:r>
          </a:p>
          <a:p>
            <a:pPr>
              <a:spcBef>
                <a:spcPct val="20000"/>
              </a:spcBef>
            </a:pPr>
            <a:r>
              <a:rPr lang="en-US" sz="3200"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9718</TotalTime>
  <Words>2702</Words>
  <Application>Microsoft Office PowerPoint</Application>
  <PresentationFormat>On-screen Show (4:3)</PresentationFormat>
  <Paragraphs>449</Paragraphs>
  <Slides>43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Arial Black</vt:lpstr>
      <vt:lpstr>Calibri</vt:lpstr>
      <vt:lpstr>Calibri Light</vt:lpstr>
      <vt:lpstr>Courier New</vt:lpstr>
      <vt:lpstr>Times New Roman</vt:lpstr>
      <vt:lpstr>Wingdings</vt:lpstr>
      <vt:lpstr>Office Theme</vt:lpstr>
      <vt:lpstr>PowerPoint Presentation</vt:lpstr>
      <vt:lpstr>What are signals?</vt:lpstr>
      <vt:lpstr>PowerPoint Presentation</vt:lpstr>
      <vt:lpstr>Introduction of signals</vt:lpstr>
      <vt:lpstr>Characteristics of signals</vt:lpstr>
      <vt:lpstr>PowerPoint Presentation</vt:lpstr>
      <vt:lpstr>Signal Set</vt:lpstr>
      <vt:lpstr>PowerPoint Presentation</vt:lpstr>
      <vt:lpstr>PowerPoint Presentation</vt:lpstr>
      <vt:lpstr>PowerPoint Presentation</vt:lpstr>
      <vt:lpstr>PowerPoint Presentation</vt:lpstr>
      <vt:lpstr>Performing functions  </vt:lpstr>
      <vt:lpstr>Signal-Related Data Structures </vt:lpstr>
      <vt:lpstr>sigaction</vt:lpstr>
      <vt:lpstr>sigaction</vt:lpstr>
      <vt:lpstr>PowerPoint Presentation</vt:lpstr>
      <vt:lpstr>sigset_t     structure</vt:lpstr>
      <vt:lpstr> sigprocmask</vt:lpstr>
      <vt:lpstr> sigprocmask</vt:lpstr>
      <vt:lpstr>PowerPoint Presentation</vt:lpstr>
      <vt:lpstr>PowerPoint Presentation</vt:lpstr>
      <vt:lpstr>PowerPoint Presentation</vt:lpstr>
      <vt:lpstr>PowerPoint Presentation</vt:lpstr>
      <vt:lpstr>Program on Signal SIGINT</vt:lpstr>
      <vt:lpstr>Program on Signal SIGALRM</vt:lpstr>
      <vt:lpstr>Program on Signal </vt:lpstr>
      <vt:lpstr>PowerPoint Presentation</vt:lpstr>
      <vt:lpstr>Program on raise</vt:lpstr>
      <vt:lpstr>Program on Recursive Signal</vt:lpstr>
      <vt:lpstr>Program on Signal </vt:lpstr>
      <vt:lpstr>PowerPoint Presentation</vt:lpstr>
      <vt:lpstr>Program on sigblock </vt:lpstr>
      <vt:lpstr>PowerPoint Presentation</vt:lpstr>
      <vt:lpstr>Program on sigprocmask</vt:lpstr>
      <vt:lpstr>PowerPoint Presentation</vt:lpstr>
      <vt:lpstr>Program on sigprocmask &amp; Sigset Calls</vt:lpstr>
      <vt:lpstr>PowerPoint Presentation</vt:lpstr>
      <vt:lpstr>PowerPoint Presentation</vt:lpstr>
      <vt:lpstr>Program on sigpending</vt:lpstr>
      <vt:lpstr>PowerPoint Presentation</vt:lpstr>
      <vt:lpstr>Signal Between Related Process</vt:lpstr>
      <vt:lpstr>PowerPoint Presentation</vt:lpstr>
      <vt:lpstr>PowerPoint Presentation</vt:lpstr>
    </vt:vector>
  </TitlesOfParts>
  <Company>abc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Vinod Kumar Jadhav</cp:lastModifiedBy>
  <cp:revision>987</cp:revision>
  <dcterms:created xsi:type="dcterms:W3CDTF">2004-07-26T11:54:22Z</dcterms:created>
  <dcterms:modified xsi:type="dcterms:W3CDTF">2025-09-11T03:30:50Z</dcterms:modified>
</cp:coreProperties>
</file>