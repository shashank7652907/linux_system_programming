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96" r:id="rId5"/>
    <p:sldId id="29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03CB-5A57-4106-A05C-C65EF38B2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18D64-0114-4EED-AB02-1C1DAE8A0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19207-3752-4959-A490-084349D7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9D59A-1D7F-451C-A339-7C3B2143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F44A4-C402-4412-8F41-AC913BAF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9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8E223-D915-40D5-9284-A499A926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C4690-30F9-42E6-973B-FBEDF5FF0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B961A-9F65-4E07-8A66-5D6A85B6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8711C-2A9B-4585-8A6C-4BCC5447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141D9-2BB9-4652-BC62-7AEFFC25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AD19-6B90-4D43-B9B6-84C37B71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046D9-A2CA-405C-85CA-8805575C1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00CB0-5E4F-47C4-BF83-7F9E3457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AF79-98B6-4FBC-B28C-932BC7CD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BE63E-F705-4ED6-9EE4-226A3E64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9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4710-AE7E-4764-A61C-C5B3E5C5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43D6D-9C74-4A65-80A9-E185D5600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01DBC-1999-4BDA-AB71-26336DFCA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53647-35B3-490B-8412-8BAE75B0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3F99F-5060-485F-89BE-AF38709D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8BD7A-88B9-4744-A6B0-A1B4C09E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75DE-299B-42D4-8F0A-A23359206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9D681-D3AC-4B3B-85FE-C2A897777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97CB5-B1D1-4885-85EB-F1F66BA33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1BCCE-3456-472F-9CCB-FF8B48877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04A8A-1274-4487-B7A8-A7A604A42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70610-0BEC-424F-B684-E24F4108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DC6009-1322-4563-A518-55912104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EBBE6-F356-4538-85CD-877C3849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8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0AF1D-5D4D-420D-83A8-7696A4E3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13E12-C5DE-4DDB-A0D4-E0D9F384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3CC69-F7F2-4AC0-A5C6-1FC4B8AB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F79A5-91A8-4503-91E8-3B32EB68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4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A59EE-89A8-478D-ABAD-2C067EB2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39FDE-178C-44CF-B35E-6104467B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9FE80-998D-4901-8C6D-3A19B5B6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6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825A-8DF0-4DA6-8A5E-0FB13863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0A396-DAD9-4748-9196-9D71D5396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97ECC-2CE8-4BE0-8376-28CED4A84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7994B-CBE1-4E80-9B60-517E02F1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273F1-3322-4D47-9933-6DE1A7EA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2DDC0-C12A-43DD-86B1-D94CBC26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93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C554-C52B-493F-9CD3-40D99261B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14CFD-1D60-4C5D-B5EB-882ACD6CD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35F54-D8CE-47CD-A74A-12AACF4B0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C5872-7678-4243-87B5-E0D6A1CD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C22A-E941-4F4B-B0FF-CECAE9BB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C8655-28B7-4430-B152-977B6F9A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7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B29D-B602-434C-AD10-0954E4E0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E3690-1070-43B2-BDB5-80A37C176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ED8B9-E895-4484-BCC4-737BF315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D3135-AA32-443B-B2AD-8B84354D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7365-84C3-42AE-A53D-6531B2E62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5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B4323-3B12-4AE5-96BC-2C91578A8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0FB5A-B84D-4F25-9B5E-48EF7EE87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B1954-9881-49E4-842A-79CCA112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6F80D-44F2-4F25-90C6-919A33CC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985C7-D54B-4907-8142-D318751A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3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D82892-139E-4BB9-A5B2-6BCB346C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C478F-5C1F-451E-BB7B-21E422AFB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1A838-DB47-492D-B7DC-D44D60AA8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B4FC2-48AF-47C6-8AB5-ED64B67837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FDAD7-82A1-41A9-A280-115BE2B6A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EC37C-26C1-4DAB-93AF-896A6EB0D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7BCE7-D0CB-4694-9C32-91A7F4F83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8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0AD338-79CD-EA27-DE52-B6FBC8823611}"/>
              </a:ext>
            </a:extLst>
          </p:cNvPr>
          <p:cNvSpPr/>
          <p:nvPr/>
        </p:nvSpPr>
        <p:spPr>
          <a:xfrm>
            <a:off x="1304366" y="389966"/>
            <a:ext cx="9601200" cy="4168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Threads</a:t>
            </a:r>
            <a:endParaRPr 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8608D-3B5B-AE97-D80E-40C8E41109DB}"/>
              </a:ext>
            </a:extLst>
          </p:cNvPr>
          <p:cNvSpPr txBox="1"/>
          <p:nvPr/>
        </p:nvSpPr>
        <p:spPr>
          <a:xfrm>
            <a:off x="1304366" y="926109"/>
            <a:ext cx="96012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000000"/>
                </a:solidFill>
                <a:effectLst/>
              </a:rPr>
              <a:t>A thread is a lightweight process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. </a:t>
            </a:r>
          </a:p>
          <a:p>
            <a:pPr algn="l"/>
            <a:r>
              <a:rPr lang="en-IN" sz="2000" b="0" i="0" dirty="0">
                <a:solidFill>
                  <a:srgbClr val="000000"/>
                </a:solidFill>
                <a:effectLst/>
              </a:rPr>
              <a:t>A process can do more than one unit of work concurrently by creating one or more threads. </a:t>
            </a:r>
          </a:p>
          <a:p>
            <a:pPr algn="l"/>
            <a:r>
              <a:rPr lang="en-IN" sz="2000" b="0" i="0" dirty="0">
                <a:solidFill>
                  <a:srgbClr val="000000"/>
                </a:solidFill>
                <a:effectLst/>
              </a:rPr>
              <a:t>These threads, being lightweight, can be spawned quickly.</a:t>
            </a:r>
          </a:p>
          <a:p>
            <a:pPr algn="l"/>
            <a:endParaRPr lang="en-IN" sz="700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2000" b="0" i="0" dirty="0">
                <a:solidFill>
                  <a:srgbClr val="000000"/>
                </a:solidFill>
                <a:effectLst/>
              </a:rPr>
              <a:t>Let’s see an example and identify the process and its thread in Linux using the </a:t>
            </a:r>
          </a:p>
          <a:p>
            <a:pPr algn="l"/>
            <a:r>
              <a:rPr lang="en-IN" sz="2000" b="0" i="1" dirty="0" err="1">
                <a:solidFill>
                  <a:srgbClr val="000000"/>
                </a:solidFill>
                <a:effectLst/>
              </a:rPr>
              <a:t>ps</a:t>
            </a:r>
            <a:r>
              <a:rPr lang="en-IN" sz="2000" b="0" i="1" dirty="0">
                <a:solidFill>
                  <a:srgbClr val="000000"/>
                </a:solidFill>
                <a:effectLst/>
              </a:rPr>
              <a:t> -</a:t>
            </a:r>
            <a:r>
              <a:rPr lang="en-IN" sz="2000" b="0" i="1" dirty="0" err="1">
                <a:solidFill>
                  <a:srgbClr val="000000"/>
                </a:solidFill>
                <a:effectLst/>
              </a:rPr>
              <a:t>eLf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 command. </a:t>
            </a:r>
          </a:p>
          <a:p>
            <a:pPr algn="l"/>
            <a:endParaRPr lang="en-IN" sz="1100" dirty="0">
              <a:solidFill>
                <a:srgbClr val="000000"/>
              </a:solidFill>
            </a:endParaRPr>
          </a:p>
          <a:p>
            <a:pPr algn="l"/>
            <a:r>
              <a:rPr lang="en-IN" sz="2000" b="0" i="0" dirty="0">
                <a:solidFill>
                  <a:srgbClr val="000000"/>
                </a:solidFill>
                <a:effectLst/>
              </a:rPr>
              <a:t>We’re interested in PID, LWP, and NLWP attributes: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</a:rPr>
              <a:t>PID: Unique process identifier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</a:rPr>
              <a:t>LWP: Unique thread identifier inside a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</a:rPr>
              <a:t>NLWP: Number of threads for a given process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2883E8-2B98-60DE-D685-E7B67D960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95" y="4343007"/>
            <a:ext cx="9843247" cy="231367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10B05D58-B04B-9FBF-9C3E-14785B1AA560}"/>
              </a:ext>
            </a:extLst>
          </p:cNvPr>
          <p:cNvSpPr/>
          <p:nvPr/>
        </p:nvSpPr>
        <p:spPr>
          <a:xfrm>
            <a:off x="4854388" y="4935071"/>
            <a:ext cx="349624" cy="1143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C2E91A-3F0F-A14F-8855-554EE82CC5C0}"/>
              </a:ext>
            </a:extLst>
          </p:cNvPr>
          <p:cNvSpPr/>
          <p:nvPr/>
        </p:nvSpPr>
        <p:spPr>
          <a:xfrm>
            <a:off x="9372601" y="2649073"/>
            <a:ext cx="1550897" cy="12102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Multi-threaded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90E0E0-DECE-994B-E2A3-E1ADD4307421}"/>
              </a:ext>
            </a:extLst>
          </p:cNvPr>
          <p:cNvCxnSpPr>
            <a:cxnSpLocks/>
          </p:cNvCxnSpPr>
          <p:nvPr/>
        </p:nvCxnSpPr>
        <p:spPr>
          <a:xfrm flipV="1">
            <a:off x="5204012" y="3429000"/>
            <a:ext cx="4168589" cy="2097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C58BD66-FA61-41FC-6E59-3F22F9491166}"/>
              </a:ext>
            </a:extLst>
          </p:cNvPr>
          <p:cNvSpPr/>
          <p:nvPr/>
        </p:nvSpPr>
        <p:spPr>
          <a:xfrm>
            <a:off x="4867835" y="6091518"/>
            <a:ext cx="349624" cy="54647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410FEDF-246F-60D8-EF71-2E63E5EA2948}"/>
              </a:ext>
            </a:extLst>
          </p:cNvPr>
          <p:cNvSpPr/>
          <p:nvPr/>
        </p:nvSpPr>
        <p:spPr>
          <a:xfrm>
            <a:off x="9525001" y="4052044"/>
            <a:ext cx="1550897" cy="12102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Single-threaded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CB3F7B-17D1-08A0-3133-00A43A8E801E}"/>
              </a:ext>
            </a:extLst>
          </p:cNvPr>
          <p:cNvCxnSpPr>
            <a:cxnSpLocks/>
          </p:cNvCxnSpPr>
          <p:nvPr/>
        </p:nvCxnSpPr>
        <p:spPr>
          <a:xfrm flipV="1">
            <a:off x="5217459" y="4831971"/>
            <a:ext cx="4307542" cy="1474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615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9E37E4-A557-3AE1-97A3-612E6334C46C}"/>
              </a:ext>
            </a:extLst>
          </p:cNvPr>
          <p:cNvSpPr txBox="1"/>
          <p:nvPr/>
        </p:nvSpPr>
        <p:spPr>
          <a:xfrm>
            <a:off x="1099298" y="380112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002060"/>
                </a:solidFill>
                <a:effectLst/>
              </a:rPr>
              <a:t>Single-Threaded 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AF6C1-33D1-4AB5-E7A1-C89A98D4C51F}"/>
              </a:ext>
            </a:extLst>
          </p:cNvPr>
          <p:cNvSpPr txBox="1"/>
          <p:nvPr/>
        </p:nvSpPr>
        <p:spPr>
          <a:xfrm>
            <a:off x="1139639" y="959697"/>
            <a:ext cx="99003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0" dirty="0">
                <a:solidFill>
                  <a:srgbClr val="000000"/>
                </a:solidFill>
                <a:effectLst/>
              </a:rPr>
              <a:t>Any thread created within the process shares the same memory and resources of the process. </a:t>
            </a:r>
          </a:p>
          <a:p>
            <a:r>
              <a:rPr lang="en-IN" sz="2000" i="0" dirty="0">
                <a:solidFill>
                  <a:srgbClr val="000000"/>
                </a:solidFill>
                <a:effectLst/>
              </a:rPr>
              <a:t>In a single-threaded process, the process and thread are the same.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BAAF53-9B93-750A-E6A6-340B45ECF8A7}"/>
              </a:ext>
            </a:extLst>
          </p:cNvPr>
          <p:cNvSpPr txBox="1"/>
          <p:nvPr/>
        </p:nvSpPr>
        <p:spPr>
          <a:xfrm>
            <a:off x="1185028" y="1832399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002060"/>
                </a:solidFill>
                <a:effectLst/>
              </a:rPr>
              <a:t>Multi-Threaded Process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3F1649-7140-71A4-B145-7060273E3E75}"/>
              </a:ext>
            </a:extLst>
          </p:cNvPr>
          <p:cNvSpPr txBox="1"/>
          <p:nvPr/>
        </p:nvSpPr>
        <p:spPr>
          <a:xfrm>
            <a:off x="1185028" y="2347514"/>
            <a:ext cx="9867333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dirty="0">
                <a:solidFill>
                  <a:srgbClr val="000000"/>
                </a:solidFill>
                <a:effectLst/>
              </a:rPr>
              <a:t>In a multi-threaded process, the process has more than one thread. </a:t>
            </a:r>
          </a:p>
          <a:p>
            <a:pPr algn="l"/>
            <a:r>
              <a:rPr lang="en-IN" sz="2000" b="0" i="0" dirty="0">
                <a:solidFill>
                  <a:srgbClr val="000000"/>
                </a:solidFill>
                <a:effectLst/>
              </a:rPr>
              <a:t>Such a process accomplishes multiple tasks simultaneously or almost at the same time.</a:t>
            </a:r>
          </a:p>
          <a:p>
            <a:pPr algn="l"/>
            <a:endParaRPr lang="en-IN" sz="1400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2000" i="0" dirty="0">
                <a:solidFill>
                  <a:srgbClr val="000000"/>
                </a:solidFill>
                <a:effectLst/>
              </a:rPr>
              <a:t>As we know, the thread shares the same address space of the process.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i="0" dirty="0">
                <a:solidFill>
                  <a:srgbClr val="000000"/>
                </a:solidFill>
                <a:effectLst/>
              </a:rPr>
              <a:t>Therefore, spawning a new thread within a process becomes cheap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 (in terms of the system resources) compared to starting a new process.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</a:rPr>
              <a:t>Threads can switch faster compared to the processes in the CPU.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i="0" dirty="0">
                <a:solidFill>
                  <a:srgbClr val="000000"/>
                </a:solidFill>
                <a:effectLst/>
              </a:rPr>
              <a:t>Internally, the thread has only a stack in the memory. </a:t>
            </a:r>
          </a:p>
          <a:p>
            <a:pPr lvl="1"/>
            <a:r>
              <a:rPr lang="en-IN" sz="2000" i="0" dirty="0">
                <a:solidFill>
                  <a:srgbClr val="000000"/>
                </a:solidFill>
                <a:effectLst/>
              </a:rPr>
              <a:t>      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Due to this nature of thread, we also call it a Light-Weight Process (LWP).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</a:rPr>
              <a:t>The advantage of thread is that we can create threads faster than processes since we don’t have to allocate memory and resources separately.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</a:rPr>
              <a:t>Another advantage is the low cost of inter-thread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</a:rPr>
              <a:t>The disadvantage of thread is that the threads share the same memory, they can become slow if the process does many concurrent tasks.</a:t>
            </a:r>
          </a:p>
        </p:txBody>
      </p:sp>
    </p:spTree>
    <p:extLst>
      <p:ext uri="{BB962C8B-B14F-4D97-AF65-F5344CB8AC3E}">
        <p14:creationId xmlns:p14="http://schemas.microsoft.com/office/powerpoint/2010/main" val="3608395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0C3-CA57-9320-C10D-B3D73FD3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002060"/>
                </a:solidFill>
              </a:rPr>
              <a:t>Thread APIs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357E0-343E-82AD-13AF-5E9955DFF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pthread_create</a:t>
            </a:r>
            <a:r>
              <a:rPr lang="en-IN" dirty="0"/>
              <a:t> - create a new thread</a:t>
            </a:r>
          </a:p>
          <a:p>
            <a:r>
              <a:rPr lang="en-US" dirty="0" err="1"/>
              <a:t>pthread_exit</a:t>
            </a:r>
            <a:r>
              <a:rPr lang="en-IN" dirty="0"/>
              <a:t> - terminate calling thread</a:t>
            </a:r>
          </a:p>
          <a:p>
            <a:r>
              <a:rPr lang="en-IN" dirty="0" err="1"/>
              <a:t>pthread_join</a:t>
            </a:r>
            <a:r>
              <a:rPr lang="en-IN" dirty="0"/>
              <a:t> - join with a terminated thread</a:t>
            </a:r>
          </a:p>
          <a:p>
            <a:r>
              <a:rPr lang="en-IN" dirty="0" err="1"/>
              <a:t>pthread_cancel</a:t>
            </a:r>
            <a:r>
              <a:rPr lang="en-IN" dirty="0"/>
              <a:t> - send a cancellation request to a thread</a:t>
            </a:r>
          </a:p>
          <a:p>
            <a:r>
              <a:rPr lang="en-IN" dirty="0" err="1"/>
              <a:t>pthread_attr_init</a:t>
            </a:r>
            <a:r>
              <a:rPr lang="en-IN" dirty="0"/>
              <a:t> – initialize thread attributes object</a:t>
            </a:r>
          </a:p>
          <a:p>
            <a:r>
              <a:rPr lang="en-IN" dirty="0" err="1"/>
              <a:t>pthread_attr_destroy</a:t>
            </a:r>
            <a:r>
              <a:rPr lang="en-IN" dirty="0"/>
              <a:t>   - destroy  thread attributes object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256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D0AEA4-5EA7-95C1-CFA2-0C716DB22BF0}"/>
              </a:ext>
            </a:extLst>
          </p:cNvPr>
          <p:cNvSpPr/>
          <p:nvPr/>
        </p:nvSpPr>
        <p:spPr>
          <a:xfrm>
            <a:off x="1358153" y="564776"/>
            <a:ext cx="9444323" cy="4840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/>
              <a:t>Process vs Thread</a:t>
            </a:r>
            <a:endParaRPr lang="en-US" sz="3200" b="1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35ABF6CF-4DE5-CE61-2B16-787E070A1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529618"/>
              </p:ext>
            </p:extLst>
          </p:nvPr>
        </p:nvGraphicFramePr>
        <p:xfrm>
          <a:off x="1402971" y="1375557"/>
          <a:ext cx="9386058" cy="521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3029">
                  <a:extLst>
                    <a:ext uri="{9D8B030D-6E8A-4147-A177-3AD203B41FA5}">
                      <a16:colId xmlns:a16="http://schemas.microsoft.com/office/drawing/2014/main" val="2827258863"/>
                    </a:ext>
                  </a:extLst>
                </a:gridCol>
                <a:gridCol w="4693029">
                  <a:extLst>
                    <a:ext uri="{9D8B030D-6E8A-4147-A177-3AD203B41FA5}">
                      <a16:colId xmlns:a16="http://schemas.microsoft.com/office/drawing/2014/main" val="2447370733"/>
                    </a:ext>
                  </a:extLst>
                </a:gridCol>
              </a:tblGrid>
              <a:tr h="428439">
                <a:tc>
                  <a:txBody>
                    <a:bodyPr/>
                    <a:lstStyle/>
                    <a:p>
                      <a:pPr algn="ctr"/>
                      <a:r>
                        <a:rPr lang="en-IN" sz="2300" dirty="0"/>
                        <a:t>Process</a:t>
                      </a:r>
                      <a:endParaRPr lang="en-US" sz="23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dirty="0"/>
                        <a:t>Thread</a:t>
                      </a:r>
                      <a:endParaRPr lang="en-US" sz="2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26759473"/>
                  </a:ext>
                </a:extLst>
              </a:tr>
              <a:tr h="616475">
                <a:tc>
                  <a:txBody>
                    <a:bodyPr/>
                    <a:lstStyle/>
                    <a:p>
                      <a:r>
                        <a:rPr lang="en-IN" sz="2000" dirty="0"/>
                        <a:t>Process is a program in execution and are separate entities</a:t>
                      </a:r>
                      <a:endParaRPr lang="en-US" sz="2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Threads are execution unit of the process</a:t>
                      </a:r>
                      <a:endParaRPr lang="en-US" sz="2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82531914"/>
                  </a:ext>
                </a:extLst>
              </a:tr>
              <a:tr h="772013">
                <a:tc>
                  <a:txBody>
                    <a:bodyPr/>
                    <a:lstStyle/>
                    <a:p>
                      <a:r>
                        <a:rPr lang="en-IN" sz="2000" dirty="0"/>
                        <a:t>Process will have its own address space (SS/HS/DS/CS)</a:t>
                      </a:r>
                      <a:endParaRPr lang="en-US" sz="2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Threads will be sharing the address space (HS/DS/CS) of process except SS</a:t>
                      </a:r>
                      <a:endParaRPr lang="en-US" sz="2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17146444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lang="en-IN" sz="2000" dirty="0"/>
                        <a:t>Process needs IPC mechanisms to communicate</a:t>
                      </a:r>
                      <a:endParaRPr lang="en-US" sz="2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Threads can directly communicate using global variable or heap memory and they don’t need any IPC kind of communication mechanisms but we can use if required</a:t>
                      </a:r>
                      <a:endParaRPr lang="en-US" sz="2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2986116"/>
                  </a:ext>
                </a:extLst>
              </a:tr>
              <a:tr h="729278"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Inter-process communication is slower due to isolated memory.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Inter-thread communication is faster due to shared memory.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295477645"/>
                  </a:ext>
                </a:extLst>
              </a:tr>
              <a:tr h="874358">
                <a:tc>
                  <a:txBody>
                    <a:bodyPr/>
                    <a:lstStyle/>
                    <a:p>
                      <a:r>
                        <a:rPr lang="en-IN" sz="2000" dirty="0"/>
                        <a:t>Based on requirement we can use either mutex or semaphore for process communication</a:t>
                      </a:r>
                      <a:endParaRPr lang="en-US" sz="2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Based on requirement we can use either mutex or semaphore for threads communication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42991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131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3A47C3-AB3C-C5CF-3A8C-80B707A4AEF2}"/>
              </a:ext>
            </a:extLst>
          </p:cNvPr>
          <p:cNvSpPr txBox="1"/>
          <p:nvPr/>
        </p:nvSpPr>
        <p:spPr>
          <a:xfrm>
            <a:off x="2218765" y="2971800"/>
            <a:ext cx="7785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rgbClr val="002060"/>
                </a:solidFill>
              </a:rPr>
              <a:t>Thank You…</a:t>
            </a:r>
            <a:endParaRPr lang="en-US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16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486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Thread APIs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Vinod Jadhav</dc:creator>
  <cp:lastModifiedBy>Vinod Kumar Jadhav</cp:lastModifiedBy>
  <cp:revision>11</cp:revision>
  <dcterms:created xsi:type="dcterms:W3CDTF">2023-07-02T11:53:43Z</dcterms:created>
  <dcterms:modified xsi:type="dcterms:W3CDTF">2025-09-11T03:30:19Z</dcterms:modified>
</cp:coreProperties>
</file>