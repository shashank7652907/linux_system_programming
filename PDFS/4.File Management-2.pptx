
<file path=[Content_Types].xml><?xml version="1.0" encoding="utf-8"?>
<Types xmlns="http://schemas.openxmlformats.org/package/2006/content-types">
  <Default Extension="bin" ContentType="image/unknown"/>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70" r:id="rId11"/>
    <p:sldId id="271" r:id="rId12"/>
    <p:sldId id="272" r:id="rId13"/>
    <p:sldId id="276" r:id="rId14"/>
    <p:sldId id="277" r:id="rId15"/>
    <p:sldId id="273" r:id="rId16"/>
    <p:sldId id="274" r:id="rId17"/>
    <p:sldId id="275" r:id="rId18"/>
    <p:sldId id="265" r:id="rId19"/>
    <p:sldId id="278" r:id="rId20"/>
    <p:sldId id="30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113" d="100"/>
          <a:sy n="113" d="100"/>
        </p:scale>
        <p:origin x="51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78F8B-CCB7-4F3A-A1D9-0BBB056BC89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A3632F7-0CAE-48D7-90B2-AD963B514E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21C4A73-E8AB-422D-B065-DBA5674E92B7}"/>
              </a:ext>
            </a:extLst>
          </p:cNvPr>
          <p:cNvSpPr>
            <a:spLocks noGrp="1"/>
          </p:cNvSpPr>
          <p:nvPr>
            <p:ph type="dt" sz="half" idx="10"/>
          </p:nvPr>
        </p:nvSpPr>
        <p:spPr/>
        <p:txBody>
          <a:bodyPr/>
          <a:lstStyle/>
          <a:p>
            <a:fld id="{E61C10B3-2EAE-487B-8257-D93E8582431E}" type="datetimeFigureOut">
              <a:rPr lang="en-US" smtClean="0"/>
              <a:t>9/9/2025</a:t>
            </a:fld>
            <a:endParaRPr lang="en-US"/>
          </a:p>
        </p:txBody>
      </p:sp>
      <p:sp>
        <p:nvSpPr>
          <p:cNvPr id="5" name="Footer Placeholder 4">
            <a:extLst>
              <a:ext uri="{FF2B5EF4-FFF2-40B4-BE49-F238E27FC236}">
                <a16:creationId xmlns:a16="http://schemas.microsoft.com/office/drawing/2014/main" id="{20B68001-0822-47F9-8806-49960C7BE0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48E37B-D6EC-4E31-A5DA-B811387DA7CC}"/>
              </a:ext>
            </a:extLst>
          </p:cNvPr>
          <p:cNvSpPr>
            <a:spLocks noGrp="1"/>
          </p:cNvSpPr>
          <p:nvPr>
            <p:ph type="sldNum" sz="quarter" idx="12"/>
          </p:nvPr>
        </p:nvSpPr>
        <p:spPr/>
        <p:txBody>
          <a:bodyPr/>
          <a:lstStyle/>
          <a:p>
            <a:fld id="{6B123ED5-90E7-4464-B584-46B5D9B0C2D5}" type="slidenum">
              <a:rPr lang="en-US" smtClean="0"/>
              <a:t>‹#›</a:t>
            </a:fld>
            <a:endParaRPr lang="en-US"/>
          </a:p>
        </p:txBody>
      </p:sp>
    </p:spTree>
    <p:extLst>
      <p:ext uri="{BB962C8B-B14F-4D97-AF65-F5344CB8AC3E}">
        <p14:creationId xmlns:p14="http://schemas.microsoft.com/office/powerpoint/2010/main" val="4351544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A19ED-3AD2-4F6D-8899-B61D655AE7A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964F2FF-D756-462B-93D9-169D4EC1CD1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34B736-FF7D-4179-B272-965220ABC706}"/>
              </a:ext>
            </a:extLst>
          </p:cNvPr>
          <p:cNvSpPr>
            <a:spLocks noGrp="1"/>
          </p:cNvSpPr>
          <p:nvPr>
            <p:ph type="dt" sz="half" idx="10"/>
          </p:nvPr>
        </p:nvSpPr>
        <p:spPr/>
        <p:txBody>
          <a:bodyPr/>
          <a:lstStyle/>
          <a:p>
            <a:fld id="{E61C10B3-2EAE-487B-8257-D93E8582431E}" type="datetimeFigureOut">
              <a:rPr lang="en-US" smtClean="0"/>
              <a:t>9/9/2025</a:t>
            </a:fld>
            <a:endParaRPr lang="en-US"/>
          </a:p>
        </p:txBody>
      </p:sp>
      <p:sp>
        <p:nvSpPr>
          <p:cNvPr id="5" name="Footer Placeholder 4">
            <a:extLst>
              <a:ext uri="{FF2B5EF4-FFF2-40B4-BE49-F238E27FC236}">
                <a16:creationId xmlns:a16="http://schemas.microsoft.com/office/drawing/2014/main" id="{FE9D20DE-2BB0-4C37-A5FD-2A52D13988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2F760F-8753-4C97-B011-DFD5E07C24CB}"/>
              </a:ext>
            </a:extLst>
          </p:cNvPr>
          <p:cNvSpPr>
            <a:spLocks noGrp="1"/>
          </p:cNvSpPr>
          <p:nvPr>
            <p:ph type="sldNum" sz="quarter" idx="12"/>
          </p:nvPr>
        </p:nvSpPr>
        <p:spPr/>
        <p:txBody>
          <a:bodyPr/>
          <a:lstStyle/>
          <a:p>
            <a:fld id="{6B123ED5-90E7-4464-B584-46B5D9B0C2D5}" type="slidenum">
              <a:rPr lang="en-US" smtClean="0"/>
              <a:t>‹#›</a:t>
            </a:fld>
            <a:endParaRPr lang="en-US"/>
          </a:p>
        </p:txBody>
      </p:sp>
    </p:spTree>
    <p:extLst>
      <p:ext uri="{BB962C8B-B14F-4D97-AF65-F5344CB8AC3E}">
        <p14:creationId xmlns:p14="http://schemas.microsoft.com/office/powerpoint/2010/main" val="17926674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BFAE1-DCCB-41A8-BC6C-62F26C23AB5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D13BC5A-60B2-41BF-A7F9-029580E35FD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4D8F16A-0904-4A0F-8955-292DA1104DCD}"/>
              </a:ext>
            </a:extLst>
          </p:cNvPr>
          <p:cNvSpPr>
            <a:spLocks noGrp="1"/>
          </p:cNvSpPr>
          <p:nvPr>
            <p:ph type="dt" sz="half" idx="10"/>
          </p:nvPr>
        </p:nvSpPr>
        <p:spPr/>
        <p:txBody>
          <a:bodyPr/>
          <a:lstStyle/>
          <a:p>
            <a:fld id="{E61C10B3-2EAE-487B-8257-D93E8582431E}" type="datetimeFigureOut">
              <a:rPr lang="en-US" smtClean="0"/>
              <a:t>9/9/2025</a:t>
            </a:fld>
            <a:endParaRPr lang="en-US"/>
          </a:p>
        </p:txBody>
      </p:sp>
      <p:sp>
        <p:nvSpPr>
          <p:cNvPr id="5" name="Footer Placeholder 4">
            <a:extLst>
              <a:ext uri="{FF2B5EF4-FFF2-40B4-BE49-F238E27FC236}">
                <a16:creationId xmlns:a16="http://schemas.microsoft.com/office/drawing/2014/main" id="{F8F45103-020F-45CD-B9D0-58278C5636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94C849-DC5C-45BF-B734-3FF74ED9F8EA}"/>
              </a:ext>
            </a:extLst>
          </p:cNvPr>
          <p:cNvSpPr>
            <a:spLocks noGrp="1"/>
          </p:cNvSpPr>
          <p:nvPr>
            <p:ph type="sldNum" sz="quarter" idx="12"/>
          </p:nvPr>
        </p:nvSpPr>
        <p:spPr/>
        <p:txBody>
          <a:bodyPr/>
          <a:lstStyle/>
          <a:p>
            <a:fld id="{6B123ED5-90E7-4464-B584-46B5D9B0C2D5}" type="slidenum">
              <a:rPr lang="en-US" smtClean="0"/>
              <a:t>‹#›</a:t>
            </a:fld>
            <a:endParaRPr lang="en-US"/>
          </a:p>
        </p:txBody>
      </p:sp>
    </p:spTree>
    <p:extLst>
      <p:ext uri="{BB962C8B-B14F-4D97-AF65-F5344CB8AC3E}">
        <p14:creationId xmlns:p14="http://schemas.microsoft.com/office/powerpoint/2010/main" val="8624735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15195-2966-4236-B827-00F777156CF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84D3E86-96EF-4158-B6EC-2F365581CCC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2CD52D5-CFCC-4A4A-B59E-3105463CD87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FF0E7C0-764F-46F0-AF43-7B64CA1C57E2}"/>
              </a:ext>
            </a:extLst>
          </p:cNvPr>
          <p:cNvSpPr>
            <a:spLocks noGrp="1"/>
          </p:cNvSpPr>
          <p:nvPr>
            <p:ph type="dt" sz="half" idx="10"/>
          </p:nvPr>
        </p:nvSpPr>
        <p:spPr/>
        <p:txBody>
          <a:bodyPr/>
          <a:lstStyle/>
          <a:p>
            <a:fld id="{E61C10B3-2EAE-487B-8257-D93E8582431E}" type="datetimeFigureOut">
              <a:rPr lang="en-US" smtClean="0"/>
              <a:t>9/9/2025</a:t>
            </a:fld>
            <a:endParaRPr lang="en-US"/>
          </a:p>
        </p:txBody>
      </p:sp>
      <p:sp>
        <p:nvSpPr>
          <p:cNvPr id="6" name="Footer Placeholder 5">
            <a:extLst>
              <a:ext uri="{FF2B5EF4-FFF2-40B4-BE49-F238E27FC236}">
                <a16:creationId xmlns:a16="http://schemas.microsoft.com/office/drawing/2014/main" id="{A2F15768-86A5-43BB-B572-C21368FF830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0BF98D-2BF1-4E3C-AA39-FB2A73A7CDD8}"/>
              </a:ext>
            </a:extLst>
          </p:cNvPr>
          <p:cNvSpPr>
            <a:spLocks noGrp="1"/>
          </p:cNvSpPr>
          <p:nvPr>
            <p:ph type="sldNum" sz="quarter" idx="12"/>
          </p:nvPr>
        </p:nvSpPr>
        <p:spPr/>
        <p:txBody>
          <a:bodyPr/>
          <a:lstStyle/>
          <a:p>
            <a:fld id="{6B123ED5-90E7-4464-B584-46B5D9B0C2D5}" type="slidenum">
              <a:rPr lang="en-US" smtClean="0"/>
              <a:t>‹#›</a:t>
            </a:fld>
            <a:endParaRPr lang="en-US"/>
          </a:p>
        </p:txBody>
      </p:sp>
    </p:spTree>
    <p:extLst>
      <p:ext uri="{BB962C8B-B14F-4D97-AF65-F5344CB8AC3E}">
        <p14:creationId xmlns:p14="http://schemas.microsoft.com/office/powerpoint/2010/main" val="23522924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09CBF-A97D-4C37-AF97-1D575BC13D2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2EC5058-9212-40A2-9EE9-EF05DC92C8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0FBFB65-F84A-4FA7-AB71-C6D5FF475F0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CB71668-EE97-4EAF-9FC6-10B213DBCF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133A3F8-1428-4043-9426-A668A9757F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C5654CD-4108-462E-8221-D6193E4D36C6}"/>
              </a:ext>
            </a:extLst>
          </p:cNvPr>
          <p:cNvSpPr>
            <a:spLocks noGrp="1"/>
          </p:cNvSpPr>
          <p:nvPr>
            <p:ph type="dt" sz="half" idx="10"/>
          </p:nvPr>
        </p:nvSpPr>
        <p:spPr/>
        <p:txBody>
          <a:bodyPr/>
          <a:lstStyle/>
          <a:p>
            <a:fld id="{E61C10B3-2EAE-487B-8257-D93E8582431E}" type="datetimeFigureOut">
              <a:rPr lang="en-US" smtClean="0"/>
              <a:t>9/9/2025</a:t>
            </a:fld>
            <a:endParaRPr lang="en-US"/>
          </a:p>
        </p:txBody>
      </p:sp>
      <p:sp>
        <p:nvSpPr>
          <p:cNvPr id="8" name="Footer Placeholder 7">
            <a:extLst>
              <a:ext uri="{FF2B5EF4-FFF2-40B4-BE49-F238E27FC236}">
                <a16:creationId xmlns:a16="http://schemas.microsoft.com/office/drawing/2014/main" id="{C369B755-311B-4656-81B7-FBD50E447A7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5ADDABB-396E-4514-A0B3-CC2785753DEF}"/>
              </a:ext>
            </a:extLst>
          </p:cNvPr>
          <p:cNvSpPr>
            <a:spLocks noGrp="1"/>
          </p:cNvSpPr>
          <p:nvPr>
            <p:ph type="sldNum" sz="quarter" idx="12"/>
          </p:nvPr>
        </p:nvSpPr>
        <p:spPr/>
        <p:txBody>
          <a:bodyPr/>
          <a:lstStyle/>
          <a:p>
            <a:fld id="{6B123ED5-90E7-4464-B584-46B5D9B0C2D5}" type="slidenum">
              <a:rPr lang="en-US" smtClean="0"/>
              <a:t>‹#›</a:t>
            </a:fld>
            <a:endParaRPr lang="en-US"/>
          </a:p>
        </p:txBody>
      </p:sp>
    </p:spTree>
    <p:extLst>
      <p:ext uri="{BB962C8B-B14F-4D97-AF65-F5344CB8AC3E}">
        <p14:creationId xmlns:p14="http://schemas.microsoft.com/office/powerpoint/2010/main" val="37528965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4F59B-6E48-4F03-8BA4-A3349B4CC38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1C1D37A-3162-46F4-91C2-2C054FA8A18D}"/>
              </a:ext>
            </a:extLst>
          </p:cNvPr>
          <p:cNvSpPr>
            <a:spLocks noGrp="1"/>
          </p:cNvSpPr>
          <p:nvPr>
            <p:ph type="dt" sz="half" idx="10"/>
          </p:nvPr>
        </p:nvSpPr>
        <p:spPr/>
        <p:txBody>
          <a:bodyPr/>
          <a:lstStyle/>
          <a:p>
            <a:fld id="{E61C10B3-2EAE-487B-8257-D93E8582431E}" type="datetimeFigureOut">
              <a:rPr lang="en-US" smtClean="0"/>
              <a:t>9/9/2025</a:t>
            </a:fld>
            <a:endParaRPr lang="en-US"/>
          </a:p>
        </p:txBody>
      </p:sp>
      <p:sp>
        <p:nvSpPr>
          <p:cNvPr id="4" name="Footer Placeholder 3">
            <a:extLst>
              <a:ext uri="{FF2B5EF4-FFF2-40B4-BE49-F238E27FC236}">
                <a16:creationId xmlns:a16="http://schemas.microsoft.com/office/drawing/2014/main" id="{02D3393F-09B2-42E0-AA27-DDBD340F1B8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8467050-3EED-4414-BD84-649590F603AB}"/>
              </a:ext>
            </a:extLst>
          </p:cNvPr>
          <p:cNvSpPr>
            <a:spLocks noGrp="1"/>
          </p:cNvSpPr>
          <p:nvPr>
            <p:ph type="sldNum" sz="quarter" idx="12"/>
          </p:nvPr>
        </p:nvSpPr>
        <p:spPr/>
        <p:txBody>
          <a:bodyPr/>
          <a:lstStyle/>
          <a:p>
            <a:fld id="{6B123ED5-90E7-4464-B584-46B5D9B0C2D5}" type="slidenum">
              <a:rPr lang="en-US" smtClean="0"/>
              <a:t>‹#›</a:t>
            </a:fld>
            <a:endParaRPr lang="en-US"/>
          </a:p>
        </p:txBody>
      </p:sp>
    </p:spTree>
    <p:extLst>
      <p:ext uri="{BB962C8B-B14F-4D97-AF65-F5344CB8AC3E}">
        <p14:creationId xmlns:p14="http://schemas.microsoft.com/office/powerpoint/2010/main" val="3658011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482C1B2-964B-406B-9316-5F4C5B6D0C92}"/>
              </a:ext>
            </a:extLst>
          </p:cNvPr>
          <p:cNvSpPr>
            <a:spLocks noGrp="1"/>
          </p:cNvSpPr>
          <p:nvPr>
            <p:ph type="dt" sz="half" idx="10"/>
          </p:nvPr>
        </p:nvSpPr>
        <p:spPr/>
        <p:txBody>
          <a:bodyPr/>
          <a:lstStyle/>
          <a:p>
            <a:fld id="{E61C10B3-2EAE-487B-8257-D93E8582431E}" type="datetimeFigureOut">
              <a:rPr lang="en-US" smtClean="0"/>
              <a:t>9/9/2025</a:t>
            </a:fld>
            <a:endParaRPr lang="en-US"/>
          </a:p>
        </p:txBody>
      </p:sp>
      <p:sp>
        <p:nvSpPr>
          <p:cNvPr id="3" name="Footer Placeholder 2">
            <a:extLst>
              <a:ext uri="{FF2B5EF4-FFF2-40B4-BE49-F238E27FC236}">
                <a16:creationId xmlns:a16="http://schemas.microsoft.com/office/drawing/2014/main" id="{4680DC75-7D19-4A3D-8B4A-053B2824EDE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2850E01-E516-4D89-8277-8B6233BB7E6F}"/>
              </a:ext>
            </a:extLst>
          </p:cNvPr>
          <p:cNvSpPr>
            <a:spLocks noGrp="1"/>
          </p:cNvSpPr>
          <p:nvPr>
            <p:ph type="sldNum" sz="quarter" idx="12"/>
          </p:nvPr>
        </p:nvSpPr>
        <p:spPr/>
        <p:txBody>
          <a:bodyPr/>
          <a:lstStyle/>
          <a:p>
            <a:fld id="{6B123ED5-90E7-4464-B584-46B5D9B0C2D5}" type="slidenum">
              <a:rPr lang="en-US" smtClean="0"/>
              <a:t>‹#›</a:t>
            </a:fld>
            <a:endParaRPr lang="en-US"/>
          </a:p>
        </p:txBody>
      </p:sp>
    </p:spTree>
    <p:extLst>
      <p:ext uri="{BB962C8B-B14F-4D97-AF65-F5344CB8AC3E}">
        <p14:creationId xmlns:p14="http://schemas.microsoft.com/office/powerpoint/2010/main" val="4016808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B59DF-610F-493C-8716-137AB7119A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F0C786E-C69D-4B8F-9086-3862E0A504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7FE8F3E-1CF3-4F17-8C29-B964CA95B3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DCEC1C-1B84-4C5B-8AD5-038732D7C5A3}"/>
              </a:ext>
            </a:extLst>
          </p:cNvPr>
          <p:cNvSpPr>
            <a:spLocks noGrp="1"/>
          </p:cNvSpPr>
          <p:nvPr>
            <p:ph type="dt" sz="half" idx="10"/>
          </p:nvPr>
        </p:nvSpPr>
        <p:spPr/>
        <p:txBody>
          <a:bodyPr/>
          <a:lstStyle/>
          <a:p>
            <a:fld id="{E61C10B3-2EAE-487B-8257-D93E8582431E}" type="datetimeFigureOut">
              <a:rPr lang="en-US" smtClean="0"/>
              <a:t>9/9/2025</a:t>
            </a:fld>
            <a:endParaRPr lang="en-US"/>
          </a:p>
        </p:txBody>
      </p:sp>
      <p:sp>
        <p:nvSpPr>
          <p:cNvPr id="6" name="Footer Placeholder 5">
            <a:extLst>
              <a:ext uri="{FF2B5EF4-FFF2-40B4-BE49-F238E27FC236}">
                <a16:creationId xmlns:a16="http://schemas.microsoft.com/office/drawing/2014/main" id="{3C7D835E-E249-4A7F-B9AC-A8D8E71BB4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10B176-3AA0-4F4E-9563-8B100D9E9F88}"/>
              </a:ext>
            </a:extLst>
          </p:cNvPr>
          <p:cNvSpPr>
            <a:spLocks noGrp="1"/>
          </p:cNvSpPr>
          <p:nvPr>
            <p:ph type="sldNum" sz="quarter" idx="12"/>
          </p:nvPr>
        </p:nvSpPr>
        <p:spPr/>
        <p:txBody>
          <a:bodyPr/>
          <a:lstStyle/>
          <a:p>
            <a:fld id="{6B123ED5-90E7-4464-B584-46B5D9B0C2D5}" type="slidenum">
              <a:rPr lang="en-US" smtClean="0"/>
              <a:t>‹#›</a:t>
            </a:fld>
            <a:endParaRPr lang="en-US"/>
          </a:p>
        </p:txBody>
      </p:sp>
    </p:spTree>
    <p:extLst>
      <p:ext uri="{BB962C8B-B14F-4D97-AF65-F5344CB8AC3E}">
        <p14:creationId xmlns:p14="http://schemas.microsoft.com/office/powerpoint/2010/main" val="17885382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AC164-0528-4ECB-8125-5CE4F4D0F2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FD53433-9DC8-4257-AA19-DB296B9C21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A414E00-E0C2-475B-B98B-EF10D3B52E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BD425A-888B-4A19-B9CB-7482EF924984}"/>
              </a:ext>
            </a:extLst>
          </p:cNvPr>
          <p:cNvSpPr>
            <a:spLocks noGrp="1"/>
          </p:cNvSpPr>
          <p:nvPr>
            <p:ph type="dt" sz="half" idx="10"/>
          </p:nvPr>
        </p:nvSpPr>
        <p:spPr/>
        <p:txBody>
          <a:bodyPr/>
          <a:lstStyle/>
          <a:p>
            <a:fld id="{E61C10B3-2EAE-487B-8257-D93E8582431E}" type="datetimeFigureOut">
              <a:rPr lang="en-US" smtClean="0"/>
              <a:t>9/9/2025</a:t>
            </a:fld>
            <a:endParaRPr lang="en-US"/>
          </a:p>
        </p:txBody>
      </p:sp>
      <p:sp>
        <p:nvSpPr>
          <p:cNvPr id="6" name="Footer Placeholder 5">
            <a:extLst>
              <a:ext uri="{FF2B5EF4-FFF2-40B4-BE49-F238E27FC236}">
                <a16:creationId xmlns:a16="http://schemas.microsoft.com/office/drawing/2014/main" id="{E68BF800-3F28-42F0-889F-9BA05C2D0D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FFCB95-40A8-4512-9AF4-FAB1B3680CFD}"/>
              </a:ext>
            </a:extLst>
          </p:cNvPr>
          <p:cNvSpPr>
            <a:spLocks noGrp="1"/>
          </p:cNvSpPr>
          <p:nvPr>
            <p:ph type="sldNum" sz="quarter" idx="12"/>
          </p:nvPr>
        </p:nvSpPr>
        <p:spPr/>
        <p:txBody>
          <a:bodyPr/>
          <a:lstStyle/>
          <a:p>
            <a:fld id="{6B123ED5-90E7-4464-B584-46B5D9B0C2D5}" type="slidenum">
              <a:rPr lang="en-US" smtClean="0"/>
              <a:t>‹#›</a:t>
            </a:fld>
            <a:endParaRPr lang="en-US"/>
          </a:p>
        </p:txBody>
      </p:sp>
    </p:spTree>
    <p:extLst>
      <p:ext uri="{BB962C8B-B14F-4D97-AF65-F5344CB8AC3E}">
        <p14:creationId xmlns:p14="http://schemas.microsoft.com/office/powerpoint/2010/main" val="21352206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9E615-92F3-41CD-A509-C33C331B011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48903B-F5C6-4344-A54B-5B6D9932247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C71909-00A1-4895-A6E4-AC9C5C6C6031}"/>
              </a:ext>
            </a:extLst>
          </p:cNvPr>
          <p:cNvSpPr>
            <a:spLocks noGrp="1"/>
          </p:cNvSpPr>
          <p:nvPr>
            <p:ph type="dt" sz="half" idx="10"/>
          </p:nvPr>
        </p:nvSpPr>
        <p:spPr/>
        <p:txBody>
          <a:bodyPr/>
          <a:lstStyle/>
          <a:p>
            <a:fld id="{E61C10B3-2EAE-487B-8257-D93E8582431E}" type="datetimeFigureOut">
              <a:rPr lang="en-US" smtClean="0"/>
              <a:t>9/9/2025</a:t>
            </a:fld>
            <a:endParaRPr lang="en-US"/>
          </a:p>
        </p:txBody>
      </p:sp>
      <p:sp>
        <p:nvSpPr>
          <p:cNvPr id="5" name="Footer Placeholder 4">
            <a:extLst>
              <a:ext uri="{FF2B5EF4-FFF2-40B4-BE49-F238E27FC236}">
                <a16:creationId xmlns:a16="http://schemas.microsoft.com/office/drawing/2014/main" id="{189A7465-D8D5-4824-BB55-3BAE64A8A1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22E77C-9CD3-4E68-A953-244B1227DE1F}"/>
              </a:ext>
            </a:extLst>
          </p:cNvPr>
          <p:cNvSpPr>
            <a:spLocks noGrp="1"/>
          </p:cNvSpPr>
          <p:nvPr>
            <p:ph type="sldNum" sz="quarter" idx="12"/>
          </p:nvPr>
        </p:nvSpPr>
        <p:spPr/>
        <p:txBody>
          <a:bodyPr/>
          <a:lstStyle/>
          <a:p>
            <a:fld id="{6B123ED5-90E7-4464-B584-46B5D9B0C2D5}" type="slidenum">
              <a:rPr lang="en-US" smtClean="0"/>
              <a:t>‹#›</a:t>
            </a:fld>
            <a:endParaRPr lang="en-US"/>
          </a:p>
        </p:txBody>
      </p:sp>
    </p:spTree>
    <p:extLst>
      <p:ext uri="{BB962C8B-B14F-4D97-AF65-F5344CB8AC3E}">
        <p14:creationId xmlns:p14="http://schemas.microsoft.com/office/powerpoint/2010/main" val="12440615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FC25277-9DC9-4098-884E-F8AFBF36992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5BD25E9-D022-4F12-B4EE-88B59156AE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D3006D6-5F95-43B2-AD7B-A96CD6CA53F5}"/>
              </a:ext>
            </a:extLst>
          </p:cNvPr>
          <p:cNvSpPr>
            <a:spLocks noGrp="1"/>
          </p:cNvSpPr>
          <p:nvPr>
            <p:ph type="dt" sz="half" idx="10"/>
          </p:nvPr>
        </p:nvSpPr>
        <p:spPr/>
        <p:txBody>
          <a:bodyPr/>
          <a:lstStyle/>
          <a:p>
            <a:fld id="{E61C10B3-2EAE-487B-8257-D93E8582431E}" type="datetimeFigureOut">
              <a:rPr lang="en-US" smtClean="0"/>
              <a:t>9/9/2025</a:t>
            </a:fld>
            <a:endParaRPr lang="en-US"/>
          </a:p>
        </p:txBody>
      </p:sp>
      <p:sp>
        <p:nvSpPr>
          <p:cNvPr id="5" name="Footer Placeholder 4">
            <a:extLst>
              <a:ext uri="{FF2B5EF4-FFF2-40B4-BE49-F238E27FC236}">
                <a16:creationId xmlns:a16="http://schemas.microsoft.com/office/drawing/2014/main" id="{A298FF7D-9033-4C1F-8198-CC1341A02B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3F5B94-6499-4900-B265-E7EC250D5A18}"/>
              </a:ext>
            </a:extLst>
          </p:cNvPr>
          <p:cNvSpPr>
            <a:spLocks noGrp="1"/>
          </p:cNvSpPr>
          <p:nvPr>
            <p:ph type="sldNum" sz="quarter" idx="12"/>
          </p:nvPr>
        </p:nvSpPr>
        <p:spPr/>
        <p:txBody>
          <a:bodyPr/>
          <a:lstStyle/>
          <a:p>
            <a:fld id="{6B123ED5-90E7-4464-B584-46B5D9B0C2D5}" type="slidenum">
              <a:rPr lang="en-US" smtClean="0"/>
              <a:t>‹#›</a:t>
            </a:fld>
            <a:endParaRPr lang="en-US"/>
          </a:p>
        </p:txBody>
      </p:sp>
    </p:spTree>
    <p:extLst>
      <p:ext uri="{BB962C8B-B14F-4D97-AF65-F5344CB8AC3E}">
        <p14:creationId xmlns:p14="http://schemas.microsoft.com/office/powerpoint/2010/main" val="12374458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B01F8CC-C186-4400-A933-402EBCF9FE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AA452EE-F9D8-48CA-A574-78F92A72A4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3DE60F-8438-4E51-AD8E-87EFE8D32E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1C10B3-2EAE-487B-8257-D93E8582431E}" type="datetimeFigureOut">
              <a:rPr lang="en-US" smtClean="0"/>
              <a:t>9/9/2025</a:t>
            </a:fld>
            <a:endParaRPr lang="en-US"/>
          </a:p>
        </p:txBody>
      </p:sp>
      <p:sp>
        <p:nvSpPr>
          <p:cNvPr id="5" name="Footer Placeholder 4">
            <a:extLst>
              <a:ext uri="{FF2B5EF4-FFF2-40B4-BE49-F238E27FC236}">
                <a16:creationId xmlns:a16="http://schemas.microsoft.com/office/drawing/2014/main" id="{1997AB7B-C711-4EF6-B356-DFC14462F5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3A8C185-EF65-427C-B250-244FEB17C9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123ED5-90E7-4464-B584-46B5D9B0C2D5}" type="slidenum">
              <a:rPr lang="en-US" smtClean="0"/>
              <a:t>‹#›</a:t>
            </a:fld>
            <a:endParaRPr lang="en-US"/>
          </a:p>
        </p:txBody>
      </p:sp>
    </p:spTree>
    <p:extLst>
      <p:ext uri="{BB962C8B-B14F-4D97-AF65-F5344CB8AC3E}">
        <p14:creationId xmlns:p14="http://schemas.microsoft.com/office/powerpoint/2010/main" val="58744176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geeksforgeeks.org/soft-hard-links-unixlinux/"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bin"/><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69512A1-A8D3-2686-48D2-08DA8BB2346C}"/>
              </a:ext>
            </a:extLst>
          </p:cNvPr>
          <p:cNvSpPr txBox="1"/>
          <p:nvPr/>
        </p:nvSpPr>
        <p:spPr>
          <a:xfrm>
            <a:off x="779932" y="2931457"/>
            <a:ext cx="10636623" cy="1015663"/>
          </a:xfrm>
          <a:prstGeom prst="rect">
            <a:avLst/>
          </a:prstGeom>
          <a:noFill/>
        </p:spPr>
        <p:txBody>
          <a:bodyPr wrap="square" rtlCol="0">
            <a:spAutoFit/>
          </a:bodyPr>
          <a:lstStyle/>
          <a:p>
            <a:pPr algn="ctr"/>
            <a:r>
              <a:rPr lang="en-IN" sz="6000" dirty="0">
                <a:solidFill>
                  <a:schemeClr val="tx2"/>
                </a:solidFill>
              </a:rPr>
              <a:t>Linux File System</a:t>
            </a:r>
            <a:endParaRPr lang="en-US" sz="6000" dirty="0">
              <a:solidFill>
                <a:schemeClr val="tx2"/>
              </a:solidFill>
            </a:endParaRPr>
          </a:p>
        </p:txBody>
      </p:sp>
    </p:spTree>
    <p:extLst>
      <p:ext uri="{BB962C8B-B14F-4D97-AF65-F5344CB8AC3E}">
        <p14:creationId xmlns:p14="http://schemas.microsoft.com/office/powerpoint/2010/main" val="7308468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8117E-5EE9-3AF6-3CE0-E613B4365964}"/>
              </a:ext>
            </a:extLst>
          </p:cNvPr>
          <p:cNvSpPr>
            <a:spLocks noGrp="1"/>
          </p:cNvSpPr>
          <p:nvPr>
            <p:ph type="title"/>
          </p:nvPr>
        </p:nvSpPr>
        <p:spPr>
          <a:xfrm>
            <a:off x="838200" y="1521567"/>
            <a:ext cx="10515600" cy="1325563"/>
          </a:xfrm>
        </p:spPr>
        <p:txBody>
          <a:bodyPr>
            <a:normAutofit/>
          </a:bodyPr>
          <a:lstStyle/>
          <a:p>
            <a:r>
              <a:rPr lang="en-IN" sz="4800" b="1" u="sng" dirty="0"/>
              <a:t>AGENDA</a:t>
            </a:r>
            <a:endParaRPr lang="en-US" sz="4800" b="1" u="sng" dirty="0"/>
          </a:p>
        </p:txBody>
      </p:sp>
      <p:sp>
        <p:nvSpPr>
          <p:cNvPr id="3" name="Content Placeholder 2">
            <a:extLst>
              <a:ext uri="{FF2B5EF4-FFF2-40B4-BE49-F238E27FC236}">
                <a16:creationId xmlns:a16="http://schemas.microsoft.com/office/drawing/2014/main" id="{6861B479-39F6-8FEF-C312-9EA87B2E9A32}"/>
              </a:ext>
            </a:extLst>
          </p:cNvPr>
          <p:cNvSpPr>
            <a:spLocks noGrp="1"/>
          </p:cNvSpPr>
          <p:nvPr>
            <p:ph idx="1"/>
          </p:nvPr>
        </p:nvSpPr>
        <p:spPr>
          <a:xfrm>
            <a:off x="770965" y="2686233"/>
            <a:ext cx="10515600" cy="2356410"/>
          </a:xfrm>
        </p:spPr>
        <p:txBody>
          <a:bodyPr>
            <a:normAutofit lnSpcReduction="10000"/>
          </a:bodyPr>
          <a:lstStyle/>
          <a:p>
            <a:r>
              <a:rPr lang="en-IN" dirty="0"/>
              <a:t>What is a Linux File system?</a:t>
            </a:r>
          </a:p>
          <a:p>
            <a:r>
              <a:rPr lang="en-IN" dirty="0"/>
              <a:t>Types of Linux File System (Logical FS and Physical FS)</a:t>
            </a:r>
          </a:p>
          <a:p>
            <a:r>
              <a:rPr lang="en-IN" dirty="0"/>
              <a:t>File System Architecture</a:t>
            </a:r>
          </a:p>
          <a:p>
            <a:r>
              <a:rPr lang="en-IN" dirty="0"/>
              <a:t>File System Directories</a:t>
            </a:r>
          </a:p>
          <a:p>
            <a:r>
              <a:rPr lang="en-US" dirty="0"/>
              <a:t>Features of Linux File Systems</a:t>
            </a:r>
          </a:p>
        </p:txBody>
      </p:sp>
    </p:spTree>
    <p:extLst>
      <p:ext uri="{BB962C8B-B14F-4D97-AF65-F5344CB8AC3E}">
        <p14:creationId xmlns:p14="http://schemas.microsoft.com/office/powerpoint/2010/main" val="21500926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B454C-5657-7378-9057-0BD68DBCBA39}"/>
              </a:ext>
            </a:extLst>
          </p:cNvPr>
          <p:cNvSpPr>
            <a:spLocks noGrp="1"/>
          </p:cNvSpPr>
          <p:nvPr>
            <p:ph type="title"/>
          </p:nvPr>
        </p:nvSpPr>
        <p:spPr>
          <a:xfrm>
            <a:off x="838200" y="405466"/>
            <a:ext cx="10515600" cy="1325563"/>
          </a:xfrm>
        </p:spPr>
        <p:txBody>
          <a:bodyPr/>
          <a:lstStyle/>
          <a:p>
            <a:r>
              <a:rPr lang="en-IN" dirty="0"/>
              <a:t>What is Linux File System?</a:t>
            </a:r>
            <a:endParaRPr lang="en-US" dirty="0"/>
          </a:p>
        </p:txBody>
      </p:sp>
      <p:sp>
        <p:nvSpPr>
          <p:cNvPr id="3" name="Content Placeholder 2">
            <a:extLst>
              <a:ext uri="{FF2B5EF4-FFF2-40B4-BE49-F238E27FC236}">
                <a16:creationId xmlns:a16="http://schemas.microsoft.com/office/drawing/2014/main" id="{507BBA82-500B-3FE7-D857-3C6E2AA7652F}"/>
              </a:ext>
            </a:extLst>
          </p:cNvPr>
          <p:cNvSpPr>
            <a:spLocks noGrp="1"/>
          </p:cNvSpPr>
          <p:nvPr>
            <p:ph idx="1"/>
          </p:nvPr>
        </p:nvSpPr>
        <p:spPr>
          <a:xfrm>
            <a:off x="838200" y="1865966"/>
            <a:ext cx="10515600" cy="2423646"/>
          </a:xfrm>
        </p:spPr>
        <p:txBody>
          <a:bodyPr>
            <a:normAutofit lnSpcReduction="10000"/>
          </a:bodyPr>
          <a:lstStyle/>
          <a:p>
            <a:r>
              <a:rPr lang="en-IN" b="0" i="0" dirty="0">
                <a:solidFill>
                  <a:srgbClr val="333333"/>
                </a:solidFill>
                <a:effectLst/>
                <a:latin typeface="inter-regular"/>
              </a:rPr>
              <a:t>A Linux file system is a structured collection of files on a disk drive or a partition. </a:t>
            </a:r>
          </a:p>
          <a:p>
            <a:r>
              <a:rPr lang="en-IN" b="0" i="0" dirty="0">
                <a:solidFill>
                  <a:srgbClr val="333333"/>
                </a:solidFill>
                <a:effectLst/>
                <a:latin typeface="inter-regular"/>
              </a:rPr>
              <a:t>A partition is a segment of memory and it contains some specific data.</a:t>
            </a:r>
          </a:p>
          <a:p>
            <a:r>
              <a:rPr lang="en-IN" dirty="0">
                <a:solidFill>
                  <a:srgbClr val="333333"/>
                </a:solidFill>
                <a:latin typeface="inter-regular"/>
              </a:rPr>
              <a:t>A file system is a set of processes that controls on how, where and what data is stored and retrieved from a storage devices.</a:t>
            </a:r>
          </a:p>
          <a:p>
            <a:pPr marL="0" indent="0">
              <a:buNone/>
            </a:pPr>
            <a:endParaRPr lang="en-US" dirty="0"/>
          </a:p>
        </p:txBody>
      </p:sp>
    </p:spTree>
    <p:extLst>
      <p:ext uri="{BB962C8B-B14F-4D97-AF65-F5344CB8AC3E}">
        <p14:creationId xmlns:p14="http://schemas.microsoft.com/office/powerpoint/2010/main" val="24864880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5EA47-F339-9C98-DE01-09EEF89DBE74}"/>
              </a:ext>
            </a:extLst>
          </p:cNvPr>
          <p:cNvSpPr>
            <a:spLocks noGrp="1"/>
          </p:cNvSpPr>
          <p:nvPr>
            <p:ph type="title"/>
          </p:nvPr>
        </p:nvSpPr>
        <p:spPr/>
        <p:txBody>
          <a:bodyPr/>
          <a:lstStyle/>
          <a:p>
            <a:pPr algn="ctr"/>
            <a:r>
              <a:rPr lang="en-IN" b="1" dirty="0"/>
              <a:t>Types of Linux File Systems</a:t>
            </a:r>
            <a:endParaRPr lang="en-US" b="1" dirty="0"/>
          </a:p>
        </p:txBody>
      </p:sp>
      <p:sp>
        <p:nvSpPr>
          <p:cNvPr id="3" name="Content Placeholder 2">
            <a:extLst>
              <a:ext uri="{FF2B5EF4-FFF2-40B4-BE49-F238E27FC236}">
                <a16:creationId xmlns:a16="http://schemas.microsoft.com/office/drawing/2014/main" id="{F877A9A4-26F0-060F-A6E3-039248A3944E}"/>
              </a:ext>
            </a:extLst>
          </p:cNvPr>
          <p:cNvSpPr>
            <a:spLocks noGrp="1"/>
          </p:cNvSpPr>
          <p:nvPr>
            <p:ph idx="1"/>
          </p:nvPr>
        </p:nvSpPr>
        <p:spPr>
          <a:xfrm>
            <a:off x="255495" y="1556684"/>
            <a:ext cx="11779624" cy="4803775"/>
          </a:xfrm>
        </p:spPr>
        <p:txBody>
          <a:bodyPr>
            <a:normAutofit/>
          </a:bodyPr>
          <a:lstStyle/>
          <a:p>
            <a:pPr marL="0" indent="0">
              <a:buNone/>
            </a:pPr>
            <a:r>
              <a:rPr lang="en-IN" b="0" i="0" dirty="0">
                <a:solidFill>
                  <a:srgbClr val="3A3A3A"/>
                </a:solidFill>
                <a:effectLst/>
                <a:latin typeface="Muli"/>
              </a:rPr>
              <a:t>A standard Linux Distribution provides the choice of partitioning disk with the file formats listed below, each of which has special meaning associated with it.</a:t>
            </a:r>
          </a:p>
          <a:p>
            <a:pPr>
              <a:buFont typeface="Wingdings" panose="05000000000000000000" pitchFamily="2" charset="2"/>
              <a:buChar char="Ø"/>
            </a:pPr>
            <a:r>
              <a:rPr lang="en-US" b="0" i="0" dirty="0">
                <a:solidFill>
                  <a:srgbClr val="3A3A3A"/>
                </a:solidFill>
                <a:effectLst/>
                <a:latin typeface="Muli"/>
              </a:rPr>
              <a:t>ext2</a:t>
            </a:r>
          </a:p>
          <a:p>
            <a:pPr>
              <a:buFont typeface="Wingdings" panose="05000000000000000000" pitchFamily="2" charset="2"/>
              <a:buChar char="Ø"/>
            </a:pPr>
            <a:r>
              <a:rPr lang="en-US" b="0" i="0" dirty="0">
                <a:solidFill>
                  <a:srgbClr val="3A3A3A"/>
                </a:solidFill>
                <a:effectLst/>
                <a:latin typeface="Muli"/>
              </a:rPr>
              <a:t>ext3</a:t>
            </a:r>
          </a:p>
          <a:p>
            <a:pPr>
              <a:buFont typeface="Wingdings" panose="05000000000000000000" pitchFamily="2" charset="2"/>
              <a:buChar char="Ø"/>
            </a:pPr>
            <a:r>
              <a:rPr lang="en-US" b="0" i="0" dirty="0">
                <a:solidFill>
                  <a:srgbClr val="3A3A3A"/>
                </a:solidFill>
                <a:effectLst/>
                <a:latin typeface="Muli"/>
              </a:rPr>
              <a:t>ext4</a:t>
            </a:r>
          </a:p>
          <a:p>
            <a:pPr>
              <a:buFont typeface="Wingdings" panose="05000000000000000000" pitchFamily="2" charset="2"/>
              <a:buChar char="Ø"/>
            </a:pPr>
            <a:r>
              <a:rPr lang="en-US" b="0" i="0" dirty="0" err="1">
                <a:solidFill>
                  <a:srgbClr val="3A3A3A"/>
                </a:solidFill>
                <a:effectLst/>
                <a:latin typeface="Muli"/>
              </a:rPr>
              <a:t>Jfs</a:t>
            </a:r>
            <a:endParaRPr lang="en-US" b="0" i="0" dirty="0">
              <a:solidFill>
                <a:srgbClr val="3A3A3A"/>
              </a:solidFill>
              <a:effectLst/>
              <a:latin typeface="Muli"/>
            </a:endParaRPr>
          </a:p>
          <a:p>
            <a:pPr>
              <a:buFont typeface="Wingdings" panose="05000000000000000000" pitchFamily="2" charset="2"/>
              <a:buChar char="Ø"/>
            </a:pPr>
            <a:r>
              <a:rPr lang="en-US" b="0" i="0" dirty="0">
                <a:solidFill>
                  <a:srgbClr val="3A3A3A"/>
                </a:solidFill>
                <a:effectLst/>
                <a:latin typeface="Muli"/>
              </a:rPr>
              <a:t>XFS</a:t>
            </a:r>
          </a:p>
          <a:p>
            <a:pPr>
              <a:buFont typeface="Wingdings" panose="05000000000000000000" pitchFamily="2" charset="2"/>
              <a:buChar char="Ø"/>
            </a:pPr>
            <a:r>
              <a:rPr lang="en-US" b="0" i="0" dirty="0" err="1">
                <a:solidFill>
                  <a:srgbClr val="3A3A3A"/>
                </a:solidFill>
                <a:effectLst/>
                <a:latin typeface="Muli"/>
              </a:rPr>
              <a:t>ReiserFS</a:t>
            </a:r>
            <a:endParaRPr lang="en-US" b="0" i="0" dirty="0">
              <a:solidFill>
                <a:srgbClr val="3A3A3A"/>
              </a:solidFill>
              <a:effectLst/>
              <a:latin typeface="Muli"/>
            </a:endParaRPr>
          </a:p>
          <a:p>
            <a:pPr>
              <a:buFont typeface="Wingdings" panose="05000000000000000000" pitchFamily="2" charset="2"/>
              <a:buChar char="Ø"/>
            </a:pPr>
            <a:r>
              <a:rPr lang="en-US" b="0" i="0" dirty="0" err="1">
                <a:solidFill>
                  <a:srgbClr val="3A3A3A"/>
                </a:solidFill>
                <a:effectLst/>
                <a:latin typeface="Muli"/>
              </a:rPr>
              <a:t>Btrfs</a:t>
            </a:r>
            <a:endParaRPr lang="en-US" b="0" i="0" dirty="0">
              <a:solidFill>
                <a:srgbClr val="3A3A3A"/>
              </a:solidFill>
              <a:effectLst/>
              <a:latin typeface="Muli"/>
            </a:endParaRPr>
          </a:p>
          <a:p>
            <a:pPr marL="0" indent="0">
              <a:buNone/>
            </a:pPr>
            <a:endParaRPr lang="en-US" dirty="0"/>
          </a:p>
        </p:txBody>
      </p:sp>
    </p:spTree>
    <p:extLst>
      <p:ext uri="{BB962C8B-B14F-4D97-AF65-F5344CB8AC3E}">
        <p14:creationId xmlns:p14="http://schemas.microsoft.com/office/powerpoint/2010/main" val="982852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4D8F8-EF57-35C3-D07E-7AC0205AEB3F}"/>
              </a:ext>
            </a:extLst>
          </p:cNvPr>
          <p:cNvSpPr>
            <a:spLocks noGrp="1"/>
          </p:cNvSpPr>
          <p:nvPr>
            <p:ph type="title"/>
          </p:nvPr>
        </p:nvSpPr>
        <p:spPr>
          <a:xfrm>
            <a:off x="502025" y="365125"/>
            <a:ext cx="10515600" cy="1325563"/>
          </a:xfrm>
        </p:spPr>
        <p:txBody>
          <a:bodyPr/>
          <a:lstStyle/>
          <a:p>
            <a:r>
              <a:rPr lang="en-US" b="1" i="0" dirty="0">
                <a:effectLst/>
              </a:rPr>
              <a:t>ext2, ext3, ext4</a:t>
            </a:r>
            <a:endParaRPr lang="en-US" dirty="0"/>
          </a:p>
        </p:txBody>
      </p:sp>
      <p:sp>
        <p:nvSpPr>
          <p:cNvPr id="3" name="Content Placeholder 2">
            <a:extLst>
              <a:ext uri="{FF2B5EF4-FFF2-40B4-BE49-F238E27FC236}">
                <a16:creationId xmlns:a16="http://schemas.microsoft.com/office/drawing/2014/main" id="{D821E123-C165-DB6B-37CB-DA0AEF3613E7}"/>
              </a:ext>
            </a:extLst>
          </p:cNvPr>
          <p:cNvSpPr>
            <a:spLocks noGrp="1"/>
          </p:cNvSpPr>
          <p:nvPr>
            <p:ph idx="1"/>
          </p:nvPr>
        </p:nvSpPr>
        <p:spPr>
          <a:xfrm>
            <a:off x="389963" y="1825625"/>
            <a:ext cx="11510682" cy="4351338"/>
          </a:xfrm>
        </p:spPr>
        <p:txBody>
          <a:bodyPr/>
          <a:lstStyle/>
          <a:p>
            <a:pPr marL="0" indent="0">
              <a:buNone/>
            </a:pPr>
            <a:r>
              <a:rPr lang="en-IN" b="0" i="0" dirty="0">
                <a:solidFill>
                  <a:srgbClr val="3A3A3A"/>
                </a:solidFill>
                <a:effectLst/>
                <a:latin typeface="Muli"/>
              </a:rPr>
              <a:t>These are the progressive version of </a:t>
            </a:r>
            <a:r>
              <a:rPr lang="en-IN" b="1" i="0" dirty="0">
                <a:solidFill>
                  <a:srgbClr val="3A3A3A"/>
                </a:solidFill>
                <a:effectLst/>
                <a:latin typeface="Muli"/>
              </a:rPr>
              <a:t>Extended Filesystem</a:t>
            </a:r>
            <a:r>
              <a:rPr lang="en-IN" b="0" i="0" dirty="0">
                <a:solidFill>
                  <a:srgbClr val="3A3A3A"/>
                </a:solidFill>
                <a:effectLst/>
                <a:latin typeface="Muli"/>
              </a:rPr>
              <a:t> (</a:t>
            </a:r>
            <a:r>
              <a:rPr lang="en-IN" b="1" i="0" dirty="0" err="1">
                <a:solidFill>
                  <a:srgbClr val="3A3A3A"/>
                </a:solidFill>
                <a:effectLst/>
                <a:latin typeface="Muli"/>
              </a:rPr>
              <a:t>ext</a:t>
            </a:r>
            <a:r>
              <a:rPr lang="en-IN" b="0" i="0" dirty="0">
                <a:solidFill>
                  <a:srgbClr val="3A3A3A"/>
                </a:solidFill>
                <a:effectLst/>
                <a:latin typeface="Muli"/>
              </a:rPr>
              <a:t>), which primarily was developed for </a:t>
            </a:r>
            <a:r>
              <a:rPr lang="en-IN" b="1" i="0" dirty="0">
                <a:solidFill>
                  <a:srgbClr val="3A3A3A"/>
                </a:solidFill>
                <a:effectLst/>
                <a:latin typeface="Muli"/>
              </a:rPr>
              <a:t>MINIX</a:t>
            </a:r>
            <a:r>
              <a:rPr lang="en-IN" b="0" i="0" dirty="0">
                <a:solidFill>
                  <a:srgbClr val="3A3A3A"/>
                </a:solidFill>
                <a:effectLst/>
                <a:latin typeface="Muli"/>
              </a:rPr>
              <a:t>. </a:t>
            </a:r>
          </a:p>
          <a:p>
            <a:r>
              <a:rPr lang="en-IN" b="0" i="0" dirty="0">
                <a:solidFill>
                  <a:srgbClr val="3A3A3A"/>
                </a:solidFill>
                <a:effectLst/>
                <a:latin typeface="Muli"/>
              </a:rPr>
              <a:t>The second extended version (</a:t>
            </a:r>
            <a:r>
              <a:rPr lang="en-IN" b="1" i="0" dirty="0">
                <a:solidFill>
                  <a:srgbClr val="3A3A3A"/>
                </a:solidFill>
                <a:effectLst/>
                <a:latin typeface="Muli"/>
              </a:rPr>
              <a:t>ext2</a:t>
            </a:r>
            <a:r>
              <a:rPr lang="en-IN" b="0" i="0" dirty="0">
                <a:solidFill>
                  <a:srgbClr val="3A3A3A"/>
                </a:solidFill>
                <a:effectLst/>
                <a:latin typeface="Muli"/>
              </a:rPr>
              <a:t>) was an improved version. </a:t>
            </a:r>
          </a:p>
          <a:p>
            <a:r>
              <a:rPr lang="en-IN" b="1" i="0" dirty="0">
                <a:solidFill>
                  <a:srgbClr val="3A3A3A"/>
                </a:solidFill>
                <a:effectLst/>
                <a:latin typeface="Muli"/>
              </a:rPr>
              <a:t>Ext3</a:t>
            </a:r>
            <a:r>
              <a:rPr lang="en-IN" b="0" i="0" dirty="0">
                <a:solidFill>
                  <a:srgbClr val="3A3A3A"/>
                </a:solidFill>
                <a:effectLst/>
                <a:latin typeface="Muli"/>
              </a:rPr>
              <a:t> added performance improvement. </a:t>
            </a:r>
          </a:p>
          <a:p>
            <a:r>
              <a:rPr lang="en-IN" b="1" i="0" dirty="0">
                <a:solidFill>
                  <a:srgbClr val="3A3A3A"/>
                </a:solidFill>
                <a:effectLst/>
                <a:latin typeface="Muli"/>
              </a:rPr>
              <a:t>Ext4</a:t>
            </a:r>
            <a:r>
              <a:rPr lang="en-IN" b="0" i="0" dirty="0">
                <a:solidFill>
                  <a:srgbClr val="3A3A3A"/>
                </a:solidFill>
                <a:effectLst/>
                <a:latin typeface="Muli"/>
              </a:rPr>
              <a:t> was a performance improvement besides providing additional features.</a:t>
            </a:r>
            <a:endParaRPr lang="en-US" dirty="0"/>
          </a:p>
        </p:txBody>
      </p:sp>
    </p:spTree>
    <p:extLst>
      <p:ext uri="{BB962C8B-B14F-4D97-AF65-F5344CB8AC3E}">
        <p14:creationId xmlns:p14="http://schemas.microsoft.com/office/powerpoint/2010/main" val="19845487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F8988-B0E9-4C38-FE51-387E4FAD1C0F}"/>
              </a:ext>
            </a:extLst>
          </p:cNvPr>
          <p:cNvSpPr>
            <a:spLocks noGrp="1"/>
          </p:cNvSpPr>
          <p:nvPr>
            <p:ph type="title"/>
          </p:nvPr>
        </p:nvSpPr>
        <p:spPr>
          <a:xfrm>
            <a:off x="475131" y="365125"/>
            <a:ext cx="10515600" cy="670299"/>
          </a:xfrm>
        </p:spPr>
        <p:txBody>
          <a:bodyPr>
            <a:normAutofit fontScale="90000"/>
          </a:bodyPr>
          <a:lstStyle/>
          <a:p>
            <a:r>
              <a:rPr lang="en-IN" b="1" dirty="0"/>
              <a:t>JFS</a:t>
            </a:r>
            <a:endParaRPr lang="en-US" b="1" dirty="0"/>
          </a:p>
        </p:txBody>
      </p:sp>
      <p:sp>
        <p:nvSpPr>
          <p:cNvPr id="3" name="Content Placeholder 2">
            <a:extLst>
              <a:ext uri="{FF2B5EF4-FFF2-40B4-BE49-F238E27FC236}">
                <a16:creationId xmlns:a16="http://schemas.microsoft.com/office/drawing/2014/main" id="{9A9A7917-8CA5-FC36-A29F-2BA76AA1F033}"/>
              </a:ext>
            </a:extLst>
          </p:cNvPr>
          <p:cNvSpPr>
            <a:spLocks noGrp="1"/>
          </p:cNvSpPr>
          <p:nvPr>
            <p:ph idx="1"/>
          </p:nvPr>
        </p:nvSpPr>
        <p:spPr>
          <a:xfrm>
            <a:off x="363069" y="1112934"/>
            <a:ext cx="11353800" cy="2316066"/>
          </a:xfrm>
        </p:spPr>
        <p:txBody>
          <a:bodyPr/>
          <a:lstStyle/>
          <a:p>
            <a:pPr marL="0" indent="0">
              <a:buNone/>
            </a:pPr>
            <a:r>
              <a:rPr lang="en-IN" b="0" i="0" dirty="0">
                <a:solidFill>
                  <a:srgbClr val="3A3A3A"/>
                </a:solidFill>
                <a:effectLst/>
                <a:latin typeface="Muli"/>
              </a:rPr>
              <a:t>The </a:t>
            </a:r>
            <a:r>
              <a:rPr lang="en-IN" b="1" i="0" dirty="0">
                <a:solidFill>
                  <a:srgbClr val="3A3A3A"/>
                </a:solidFill>
                <a:effectLst/>
                <a:latin typeface="Muli"/>
              </a:rPr>
              <a:t>Journaled File System</a:t>
            </a:r>
            <a:r>
              <a:rPr lang="en-IN" b="0" i="0" dirty="0">
                <a:solidFill>
                  <a:srgbClr val="3A3A3A"/>
                </a:solidFill>
                <a:effectLst/>
                <a:latin typeface="Muli"/>
              </a:rPr>
              <a:t> (</a:t>
            </a:r>
            <a:r>
              <a:rPr lang="en-IN" b="1" i="0" dirty="0">
                <a:solidFill>
                  <a:srgbClr val="3A3A3A"/>
                </a:solidFill>
                <a:effectLst/>
                <a:latin typeface="Muli"/>
              </a:rPr>
              <a:t>JFS</a:t>
            </a:r>
            <a:r>
              <a:rPr lang="en-IN" b="0" i="0" dirty="0">
                <a:solidFill>
                  <a:srgbClr val="3A3A3A"/>
                </a:solidFill>
                <a:effectLst/>
                <a:latin typeface="Muli"/>
              </a:rPr>
              <a:t>) was developed by IBM for AIX UNIX which was used as an alternative to file system ext. </a:t>
            </a:r>
          </a:p>
          <a:p>
            <a:r>
              <a:rPr lang="en-IN" b="0" i="0" dirty="0">
                <a:solidFill>
                  <a:srgbClr val="3A3A3A"/>
                </a:solidFill>
                <a:effectLst/>
                <a:latin typeface="Muli"/>
              </a:rPr>
              <a:t>JFS is an alternative to </a:t>
            </a:r>
            <a:r>
              <a:rPr lang="en-IN" b="1" i="0" dirty="0">
                <a:solidFill>
                  <a:srgbClr val="3A3A3A"/>
                </a:solidFill>
                <a:effectLst/>
                <a:latin typeface="Muli"/>
              </a:rPr>
              <a:t>ext4</a:t>
            </a:r>
            <a:r>
              <a:rPr lang="en-IN" b="0" i="0" dirty="0">
                <a:solidFill>
                  <a:srgbClr val="3A3A3A"/>
                </a:solidFill>
                <a:effectLst/>
                <a:latin typeface="Muli"/>
              </a:rPr>
              <a:t> currently and is used where stability is required with the use of very few resources. </a:t>
            </a:r>
          </a:p>
          <a:p>
            <a:r>
              <a:rPr lang="en-IN" b="0" i="0" dirty="0">
                <a:solidFill>
                  <a:srgbClr val="3A3A3A"/>
                </a:solidFill>
                <a:effectLst/>
                <a:latin typeface="Muli"/>
              </a:rPr>
              <a:t>When CPU power is limited JFS comes handy.</a:t>
            </a:r>
            <a:endParaRPr lang="en-US" dirty="0"/>
          </a:p>
        </p:txBody>
      </p:sp>
      <p:sp>
        <p:nvSpPr>
          <p:cNvPr id="6" name="Title 1">
            <a:extLst>
              <a:ext uri="{FF2B5EF4-FFF2-40B4-BE49-F238E27FC236}">
                <a16:creationId xmlns:a16="http://schemas.microsoft.com/office/drawing/2014/main" id="{FA18EE43-038D-5238-1B84-5FEB097D8C75}"/>
              </a:ext>
            </a:extLst>
          </p:cNvPr>
          <p:cNvSpPr txBox="1">
            <a:spLocks/>
          </p:cNvSpPr>
          <p:nvPr/>
        </p:nvSpPr>
        <p:spPr>
          <a:xfrm>
            <a:off x="439273" y="3758255"/>
            <a:ext cx="10515600" cy="670299"/>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b="1" dirty="0"/>
              <a:t>XFS</a:t>
            </a:r>
            <a:endParaRPr lang="en-US" b="1" dirty="0"/>
          </a:p>
        </p:txBody>
      </p:sp>
      <p:sp>
        <p:nvSpPr>
          <p:cNvPr id="7" name="Content Placeholder 2">
            <a:extLst>
              <a:ext uri="{FF2B5EF4-FFF2-40B4-BE49-F238E27FC236}">
                <a16:creationId xmlns:a16="http://schemas.microsoft.com/office/drawing/2014/main" id="{DB61056F-055E-C055-FDFB-76A50C9F388B}"/>
              </a:ext>
            </a:extLst>
          </p:cNvPr>
          <p:cNvSpPr txBox="1">
            <a:spLocks/>
          </p:cNvSpPr>
          <p:nvPr/>
        </p:nvSpPr>
        <p:spPr>
          <a:xfrm>
            <a:off x="380999" y="4506064"/>
            <a:ext cx="11353800" cy="231606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N" b="1" i="0" dirty="0">
                <a:solidFill>
                  <a:srgbClr val="3A3A3A"/>
                </a:solidFill>
                <a:effectLst/>
                <a:latin typeface="Muli"/>
              </a:rPr>
              <a:t>XFS</a:t>
            </a:r>
            <a:r>
              <a:rPr lang="en-IN" b="0" i="0" dirty="0">
                <a:solidFill>
                  <a:srgbClr val="3A3A3A"/>
                </a:solidFill>
                <a:effectLst/>
                <a:latin typeface="Muli"/>
              </a:rPr>
              <a:t> was a high speed </a:t>
            </a:r>
            <a:r>
              <a:rPr lang="en-IN" b="1" i="0" dirty="0">
                <a:solidFill>
                  <a:srgbClr val="3A3A3A"/>
                </a:solidFill>
                <a:effectLst/>
                <a:latin typeface="Muli"/>
              </a:rPr>
              <a:t>JFS</a:t>
            </a:r>
            <a:r>
              <a:rPr lang="en-IN" b="0" i="0" dirty="0">
                <a:solidFill>
                  <a:srgbClr val="3A3A3A"/>
                </a:solidFill>
                <a:effectLst/>
                <a:latin typeface="Muli"/>
              </a:rPr>
              <a:t> which aimed at parallel </a:t>
            </a:r>
            <a:r>
              <a:rPr lang="en-IN" b="1" i="0" dirty="0">
                <a:solidFill>
                  <a:srgbClr val="3A3A3A"/>
                </a:solidFill>
                <a:effectLst/>
                <a:latin typeface="Muli"/>
              </a:rPr>
              <a:t>I/O</a:t>
            </a:r>
            <a:r>
              <a:rPr lang="en-IN" b="0" i="0" dirty="0">
                <a:solidFill>
                  <a:srgbClr val="3A3A3A"/>
                </a:solidFill>
                <a:effectLst/>
                <a:latin typeface="Muli"/>
              </a:rPr>
              <a:t> processing. </a:t>
            </a:r>
          </a:p>
          <a:p>
            <a:pPr marL="0" indent="0">
              <a:buFont typeface="Arial" panose="020B0604020202020204" pitchFamily="34" charset="0"/>
              <a:buNone/>
            </a:pPr>
            <a:r>
              <a:rPr lang="en-IN" b="0" i="0" dirty="0">
                <a:solidFill>
                  <a:srgbClr val="3A3A3A"/>
                </a:solidFill>
                <a:effectLst/>
                <a:latin typeface="Muli"/>
              </a:rPr>
              <a:t>NASA still usages this file system on their </a:t>
            </a:r>
            <a:r>
              <a:rPr lang="en-IN" b="1" i="0" dirty="0">
                <a:solidFill>
                  <a:srgbClr val="3A3A3A"/>
                </a:solidFill>
                <a:effectLst/>
                <a:latin typeface="Muli"/>
              </a:rPr>
              <a:t>300+</a:t>
            </a:r>
            <a:r>
              <a:rPr lang="en-IN" b="0" i="0" dirty="0">
                <a:solidFill>
                  <a:srgbClr val="3A3A3A"/>
                </a:solidFill>
                <a:effectLst/>
                <a:latin typeface="Muli"/>
              </a:rPr>
              <a:t> terabyte storage server.</a:t>
            </a:r>
            <a:endParaRPr lang="en-US" dirty="0"/>
          </a:p>
        </p:txBody>
      </p:sp>
    </p:spTree>
    <p:extLst>
      <p:ext uri="{BB962C8B-B14F-4D97-AF65-F5344CB8AC3E}">
        <p14:creationId xmlns:p14="http://schemas.microsoft.com/office/powerpoint/2010/main" val="31846358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6CB6B-FE0F-EE8D-33DE-26E752C4B7D9}"/>
              </a:ext>
            </a:extLst>
          </p:cNvPr>
          <p:cNvSpPr>
            <a:spLocks noGrp="1"/>
          </p:cNvSpPr>
          <p:nvPr>
            <p:ph type="title"/>
          </p:nvPr>
        </p:nvSpPr>
        <p:spPr>
          <a:xfrm>
            <a:off x="488578" y="365125"/>
            <a:ext cx="10515600" cy="1325563"/>
          </a:xfrm>
        </p:spPr>
        <p:txBody>
          <a:bodyPr/>
          <a:lstStyle/>
          <a:p>
            <a:r>
              <a:rPr lang="en-US" b="1" dirty="0" err="1"/>
              <a:t>ReiserFS</a:t>
            </a:r>
            <a:endParaRPr lang="en-US" b="1" dirty="0"/>
          </a:p>
        </p:txBody>
      </p:sp>
      <p:sp>
        <p:nvSpPr>
          <p:cNvPr id="3" name="Content Placeholder 2">
            <a:extLst>
              <a:ext uri="{FF2B5EF4-FFF2-40B4-BE49-F238E27FC236}">
                <a16:creationId xmlns:a16="http://schemas.microsoft.com/office/drawing/2014/main" id="{20756EDC-31DA-787D-B24D-391FA64E9891}"/>
              </a:ext>
            </a:extLst>
          </p:cNvPr>
          <p:cNvSpPr>
            <a:spLocks noGrp="1"/>
          </p:cNvSpPr>
          <p:nvPr>
            <p:ph idx="1"/>
          </p:nvPr>
        </p:nvSpPr>
        <p:spPr>
          <a:xfrm>
            <a:off x="416857" y="1543238"/>
            <a:ext cx="11246224" cy="1885762"/>
          </a:xfrm>
        </p:spPr>
        <p:txBody>
          <a:bodyPr/>
          <a:lstStyle/>
          <a:p>
            <a:pPr marL="0" indent="0">
              <a:buNone/>
            </a:pPr>
            <a:r>
              <a:rPr lang="en-IN" b="0" i="0" dirty="0">
                <a:solidFill>
                  <a:srgbClr val="3A3A3A"/>
                </a:solidFill>
                <a:effectLst/>
              </a:rPr>
              <a:t>It was introduced as an alternative to </a:t>
            </a:r>
            <a:r>
              <a:rPr lang="en-IN" b="1" i="0" dirty="0">
                <a:solidFill>
                  <a:srgbClr val="3A3A3A"/>
                </a:solidFill>
                <a:effectLst/>
              </a:rPr>
              <a:t>ext3</a:t>
            </a:r>
            <a:r>
              <a:rPr lang="en-IN" b="0" i="0" dirty="0">
                <a:solidFill>
                  <a:srgbClr val="3A3A3A"/>
                </a:solidFill>
                <a:effectLst/>
              </a:rPr>
              <a:t> with improved performance and advanced features. </a:t>
            </a:r>
          </a:p>
          <a:p>
            <a:pPr marL="0" indent="0">
              <a:buNone/>
            </a:pPr>
            <a:r>
              <a:rPr lang="en-IN" b="0" i="0" dirty="0" err="1">
                <a:solidFill>
                  <a:srgbClr val="3A3A3A"/>
                </a:solidFill>
                <a:effectLst/>
              </a:rPr>
              <a:t>ReiserFS</a:t>
            </a:r>
            <a:r>
              <a:rPr lang="en-IN" b="0" i="0" dirty="0">
                <a:solidFill>
                  <a:srgbClr val="3A3A3A"/>
                </a:solidFill>
                <a:effectLst/>
              </a:rPr>
              <a:t> supports File System Extension dynamically which was relatively an advanced feature but the file system lacked certain area of performance.</a:t>
            </a:r>
            <a:endParaRPr lang="en-US" dirty="0"/>
          </a:p>
        </p:txBody>
      </p:sp>
      <p:sp>
        <p:nvSpPr>
          <p:cNvPr id="4" name="TextBox 3">
            <a:extLst>
              <a:ext uri="{FF2B5EF4-FFF2-40B4-BE49-F238E27FC236}">
                <a16:creationId xmlns:a16="http://schemas.microsoft.com/office/drawing/2014/main" id="{E3EF5443-E65E-9084-912E-0F60098284AB}"/>
              </a:ext>
            </a:extLst>
          </p:cNvPr>
          <p:cNvSpPr txBox="1"/>
          <p:nvPr/>
        </p:nvSpPr>
        <p:spPr>
          <a:xfrm>
            <a:off x="510989" y="3980329"/>
            <a:ext cx="11134165" cy="2523768"/>
          </a:xfrm>
          <a:prstGeom prst="rect">
            <a:avLst/>
          </a:prstGeom>
          <a:noFill/>
        </p:spPr>
        <p:txBody>
          <a:bodyPr wrap="square" rtlCol="0">
            <a:spAutoFit/>
          </a:bodyPr>
          <a:lstStyle/>
          <a:p>
            <a:r>
              <a:rPr lang="en-US" sz="4400" b="1" dirty="0" err="1">
                <a:ea typeface="+mj-ea"/>
                <a:cs typeface="+mj-cs"/>
              </a:rPr>
              <a:t>Btrfs</a:t>
            </a:r>
            <a:endParaRPr lang="en-US" sz="4400" b="1" dirty="0">
              <a:ea typeface="+mj-ea"/>
              <a:cs typeface="+mj-cs"/>
            </a:endParaRPr>
          </a:p>
          <a:p>
            <a:endParaRPr lang="en-US" sz="900" b="1" dirty="0">
              <a:ea typeface="+mj-ea"/>
              <a:cs typeface="+mj-cs"/>
            </a:endParaRPr>
          </a:p>
          <a:p>
            <a:r>
              <a:rPr lang="en-IN" sz="2800" b="1" i="0" dirty="0">
                <a:solidFill>
                  <a:srgbClr val="3A3A3A"/>
                </a:solidFill>
                <a:effectLst/>
              </a:rPr>
              <a:t>B-Tree File System</a:t>
            </a:r>
            <a:r>
              <a:rPr lang="en-IN" sz="2800" b="0" i="0" dirty="0">
                <a:solidFill>
                  <a:srgbClr val="3A3A3A"/>
                </a:solidFill>
                <a:effectLst/>
              </a:rPr>
              <a:t> (</a:t>
            </a:r>
            <a:r>
              <a:rPr lang="en-IN" sz="2800" b="1" i="0" dirty="0" err="1">
                <a:solidFill>
                  <a:srgbClr val="3A3A3A"/>
                </a:solidFill>
                <a:effectLst/>
              </a:rPr>
              <a:t>Btrfs</a:t>
            </a:r>
            <a:r>
              <a:rPr lang="en-IN" sz="2800" b="0" i="0" dirty="0">
                <a:solidFill>
                  <a:srgbClr val="3A3A3A"/>
                </a:solidFill>
                <a:effectLst/>
              </a:rPr>
              <a:t>) focus on fault tolerance, fun administration, repair System, large storage configuration.</a:t>
            </a:r>
          </a:p>
          <a:p>
            <a:r>
              <a:rPr lang="en-IN" sz="2800" b="0" i="0" dirty="0" err="1">
                <a:solidFill>
                  <a:srgbClr val="3A3A3A"/>
                </a:solidFill>
                <a:effectLst/>
              </a:rPr>
              <a:t>Btrfs</a:t>
            </a:r>
            <a:r>
              <a:rPr lang="en-IN" sz="2800" b="0" i="0" dirty="0">
                <a:solidFill>
                  <a:srgbClr val="3A3A3A"/>
                </a:solidFill>
                <a:effectLst/>
              </a:rPr>
              <a:t> is not recommended for Production System.</a:t>
            </a:r>
            <a:endParaRPr lang="en-US" sz="2800" b="1" i="0" dirty="0">
              <a:solidFill>
                <a:srgbClr val="AA4B80"/>
              </a:solidFill>
              <a:effectLst/>
            </a:endParaRPr>
          </a:p>
          <a:p>
            <a:endParaRPr lang="en-US" dirty="0"/>
          </a:p>
        </p:txBody>
      </p:sp>
    </p:spTree>
    <p:extLst>
      <p:ext uri="{BB962C8B-B14F-4D97-AF65-F5344CB8AC3E}">
        <p14:creationId xmlns:p14="http://schemas.microsoft.com/office/powerpoint/2010/main" val="569786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76450" y="-11625"/>
            <a:ext cx="7886700" cy="845344"/>
          </a:xfrm>
        </p:spPr>
        <p:txBody>
          <a:bodyPr/>
          <a:lstStyle/>
          <a:p>
            <a:pPr algn="ctr"/>
            <a:r>
              <a:rPr lang="en-US" b="1" dirty="0"/>
              <a:t>Types of Files in Linux</a:t>
            </a:r>
          </a:p>
        </p:txBody>
      </p:sp>
      <p:sp>
        <p:nvSpPr>
          <p:cNvPr id="3" name="Content Placeholder 2"/>
          <p:cNvSpPr>
            <a:spLocks noGrp="1"/>
          </p:cNvSpPr>
          <p:nvPr>
            <p:ph idx="1"/>
          </p:nvPr>
        </p:nvSpPr>
        <p:spPr>
          <a:xfrm>
            <a:off x="900953" y="995086"/>
            <a:ext cx="10031506" cy="5755338"/>
          </a:xfrm>
        </p:spPr>
        <p:txBody>
          <a:bodyPr>
            <a:noAutofit/>
          </a:bodyPr>
          <a:lstStyle/>
          <a:p>
            <a:pPr marL="0" indent="0">
              <a:buNone/>
            </a:pPr>
            <a:r>
              <a:rPr lang="en-US" sz="2200" dirty="0"/>
              <a:t>In Linux, file is defined as simply the thing that deals with a sequence of bytes</a:t>
            </a:r>
          </a:p>
          <a:p>
            <a:pPr marL="0" indent="0">
              <a:buNone/>
            </a:pPr>
            <a:endParaRPr lang="en-US" sz="700" dirty="0"/>
          </a:p>
          <a:p>
            <a:pPr marL="0" indent="0">
              <a:buNone/>
            </a:pPr>
            <a:r>
              <a:rPr lang="en-US" sz="2200" dirty="0"/>
              <a:t>Hence, everything is file in Linux:</a:t>
            </a:r>
          </a:p>
          <a:p>
            <a:pPr marL="0" indent="0">
              <a:buNone/>
            </a:pPr>
            <a:r>
              <a:rPr lang="en-US" sz="2200" dirty="0"/>
              <a:t>    An ordinary file is a file; a directory is also file; a network card, a hard disk, any device are also files since they deal with a sequence of bytes</a:t>
            </a:r>
          </a:p>
          <a:p>
            <a:pPr>
              <a:buNone/>
            </a:pPr>
            <a:endParaRPr lang="en-US" sz="1050" dirty="0"/>
          </a:p>
          <a:p>
            <a:pPr marL="0" indent="0">
              <a:buNone/>
            </a:pPr>
            <a:r>
              <a:rPr lang="en-US" sz="2200" b="1" dirty="0"/>
              <a:t>Linux Supports Five Types of files</a:t>
            </a:r>
          </a:p>
          <a:p>
            <a:pPr marL="571500" indent="-329184">
              <a:buFont typeface="+mj-lt"/>
              <a:buAutoNum type="arabicPeriod"/>
            </a:pPr>
            <a:r>
              <a:rPr lang="en-US" sz="2200" dirty="0"/>
              <a:t>Simple/Ordinary files (text file, </a:t>
            </a:r>
            <a:r>
              <a:rPr lang="en-US" sz="2200" dirty="0" err="1"/>
              <a:t>c++</a:t>
            </a:r>
            <a:r>
              <a:rPr lang="en-US" sz="2200" dirty="0"/>
              <a:t> file, </a:t>
            </a:r>
            <a:r>
              <a:rPr lang="en-US" sz="2200" dirty="0" err="1"/>
              <a:t>etc</a:t>
            </a:r>
            <a:r>
              <a:rPr lang="en-US" sz="2200" dirty="0"/>
              <a:t>)</a:t>
            </a:r>
          </a:p>
          <a:p>
            <a:pPr marL="571500" indent="-329184">
              <a:buFont typeface="+mj-lt"/>
              <a:buAutoNum type="arabicPeriod"/>
            </a:pPr>
            <a:r>
              <a:rPr lang="en-US" sz="2200" dirty="0"/>
              <a:t>Directory files</a:t>
            </a:r>
          </a:p>
          <a:p>
            <a:pPr marL="571500" indent="-329184">
              <a:buFont typeface="+mj-lt"/>
              <a:buAutoNum type="arabicPeriod"/>
            </a:pPr>
            <a:r>
              <a:rPr lang="en-US" sz="2200" dirty="0"/>
              <a:t>Link files (Symbolic (soft))</a:t>
            </a:r>
          </a:p>
          <a:p>
            <a:pPr marL="571500" indent="-329184">
              <a:buFont typeface="+mj-lt"/>
              <a:buAutoNum type="arabicPeriod"/>
            </a:pPr>
            <a:r>
              <a:rPr lang="en-US" sz="2200" dirty="0"/>
              <a:t>Block or Character Special files</a:t>
            </a:r>
          </a:p>
          <a:p>
            <a:pPr marL="571500" indent="-329184">
              <a:buFont typeface="+mj-lt"/>
              <a:buAutoNum type="arabicPeriod"/>
            </a:pPr>
            <a:r>
              <a:rPr lang="en-US" sz="2200" dirty="0"/>
              <a:t>Socket files</a:t>
            </a:r>
          </a:p>
          <a:p>
            <a:pPr marL="571500" indent="-329184">
              <a:buFont typeface="+mj-lt"/>
              <a:buAutoNum type="arabicPeriod"/>
            </a:pPr>
            <a:r>
              <a:rPr lang="en-US" sz="2200" dirty="0"/>
              <a:t>Named pipe (FIFO) files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3734" y="46038"/>
            <a:ext cx="8229600" cy="639762"/>
          </a:xfrm>
        </p:spPr>
        <p:txBody>
          <a:bodyPr>
            <a:normAutofit fontScale="90000"/>
          </a:bodyPr>
          <a:lstStyle/>
          <a:p>
            <a:r>
              <a:rPr lang="en-US" b="1" dirty="0"/>
              <a:t>Linux Types of Files</a:t>
            </a:r>
          </a:p>
        </p:txBody>
      </p:sp>
      <p:sp>
        <p:nvSpPr>
          <p:cNvPr id="3" name="Content Placeholder 2"/>
          <p:cNvSpPr>
            <a:spLocks noGrp="1"/>
          </p:cNvSpPr>
          <p:nvPr>
            <p:ph idx="1"/>
          </p:nvPr>
        </p:nvSpPr>
        <p:spPr>
          <a:xfrm>
            <a:off x="510988" y="762000"/>
            <a:ext cx="11268636" cy="6096000"/>
          </a:xfrm>
        </p:spPr>
        <p:txBody>
          <a:bodyPr>
            <a:normAutofit fontScale="85000" lnSpcReduction="20000"/>
          </a:bodyPr>
          <a:lstStyle/>
          <a:p>
            <a:pPr marL="0" indent="0">
              <a:buNone/>
            </a:pPr>
            <a:r>
              <a:rPr lang="en-IN" sz="2600" b="1" dirty="0"/>
              <a:t>Regular or ordinary files</a:t>
            </a:r>
          </a:p>
          <a:p>
            <a:pPr marL="457200" indent="-457200" algn="just">
              <a:buFont typeface="+mj-lt"/>
              <a:buAutoNum type="arabicPeriod"/>
            </a:pPr>
            <a:r>
              <a:rPr lang="en-IN" dirty="0"/>
              <a:t>Regular or ordinary files store data of various content types such as text, audio, video, images, scripts, and programs. There are hundreds of content types. In Linux, regular files can be created with or without an extension.</a:t>
            </a:r>
          </a:p>
          <a:p>
            <a:pPr marL="457200" indent="-457200" algn="just">
              <a:buFont typeface="+mj-lt"/>
              <a:buAutoNum type="arabicPeriod"/>
            </a:pPr>
            <a:r>
              <a:rPr lang="en-IN" dirty="0"/>
              <a:t>An extension is a group of characters that is used with the file name to give it a special identity or to group it with files of the similar content type. For easy recognition and processing, files of different content types often use well-known file extensions.</a:t>
            </a:r>
          </a:p>
          <a:p>
            <a:pPr marL="457200" indent="-457200" algn="just">
              <a:buFont typeface="+mj-lt"/>
              <a:buAutoNum type="arabicPeriod"/>
            </a:pPr>
            <a:r>
              <a:rPr lang="en-IN" dirty="0"/>
              <a:t>Although the Linux file system does not need file extensions, still you should use them. They help us in identifying the types of content that are stored in files.</a:t>
            </a:r>
          </a:p>
          <a:p>
            <a:pPr marL="457200" indent="-457200" algn="just">
              <a:buFont typeface="+mj-lt"/>
              <a:buAutoNum type="arabicPeriod"/>
            </a:pPr>
            <a:r>
              <a:rPr lang="en-IN" dirty="0"/>
              <a:t>You can see file extensions supported by Linux in the /etc/</a:t>
            </a:r>
            <a:r>
              <a:rPr lang="en-IN" dirty="0" err="1"/>
              <a:t>mime.types</a:t>
            </a:r>
            <a:r>
              <a:rPr lang="en-IN" dirty="0"/>
              <a:t> file</a:t>
            </a:r>
          </a:p>
          <a:p>
            <a:pPr marL="0" indent="0">
              <a:buNone/>
            </a:pPr>
            <a:endParaRPr lang="en-US" b="1" dirty="0"/>
          </a:p>
          <a:p>
            <a:pPr marL="0" indent="0">
              <a:buNone/>
            </a:pPr>
            <a:r>
              <a:rPr lang="en-IN" sz="2600" b="1" dirty="0"/>
              <a:t>Directory files</a:t>
            </a:r>
          </a:p>
          <a:p>
            <a:pPr marL="457200" indent="-457200" algn="just">
              <a:buFont typeface="+mj-lt"/>
              <a:buAutoNum type="arabicPeriod"/>
            </a:pPr>
            <a:r>
              <a:rPr lang="en-IN" dirty="0"/>
              <a:t>To organize files in a hierarchy, file systems use directories. Directories are also files, but instead of storing data, they store the location of other files. To store the location of files placed in the directory, the directory uses directory entries. Each directory entry stores the name and location of a single file.</a:t>
            </a:r>
          </a:p>
          <a:p>
            <a:pPr marL="457200" indent="-457200" algn="just">
              <a:buFont typeface="+mj-lt"/>
              <a:buAutoNum type="arabicPeriod"/>
            </a:pPr>
            <a:r>
              <a:rPr lang="en-IN" dirty="0"/>
              <a:t>Linux file system starts with a directory called / or root directory. All files and directory files are created under this directory. Except the root directory, each directory has a parent directory.</a:t>
            </a:r>
            <a:endParaRPr lang="en-US"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0271" y="914400"/>
            <a:ext cx="10367682" cy="5867400"/>
          </a:xfrm>
        </p:spPr>
        <p:txBody>
          <a:bodyPr>
            <a:normAutofit/>
          </a:bodyPr>
          <a:lstStyle/>
          <a:p>
            <a:pPr marL="0" indent="0">
              <a:buNone/>
            </a:pPr>
            <a:r>
              <a:rPr lang="en-US" b="1" dirty="0"/>
              <a:t>Symbolic (soft) link file</a:t>
            </a:r>
          </a:p>
          <a:p>
            <a:pPr marL="786384" lvl="1" indent="-365760">
              <a:buFont typeface="+mj-lt"/>
              <a:buAutoNum type="arabicPeriod"/>
            </a:pPr>
            <a:r>
              <a:rPr lang="en-US" dirty="0"/>
              <a:t>Not a real file, just a link to another file</a:t>
            </a:r>
          </a:p>
          <a:p>
            <a:pPr marL="786384" lvl="1" indent="-365760">
              <a:buFont typeface="+mj-lt"/>
              <a:buAutoNum type="arabicPeriod"/>
            </a:pPr>
            <a:r>
              <a:rPr lang="en-US" dirty="0"/>
              <a:t>Allow giving another name to a file without actually duplicates it hence save memory space</a:t>
            </a:r>
          </a:p>
          <a:p>
            <a:pPr marL="420624" lvl="1" indent="0">
              <a:buNone/>
            </a:pPr>
            <a:r>
              <a:rPr lang="en-US" dirty="0"/>
              <a:t>Ref: </a:t>
            </a:r>
            <a:r>
              <a:rPr lang="en-US" dirty="0">
                <a:hlinkClick r:id="rId2"/>
              </a:rPr>
              <a:t>https://www.geeksforgeeks.org/soft-hard-links-unixlinux/</a:t>
            </a:r>
            <a:endParaRPr lang="en-US" dirty="0"/>
          </a:p>
          <a:p>
            <a:pPr marL="0" indent="0">
              <a:buNone/>
            </a:pPr>
            <a:endParaRPr lang="en-US" sz="900" b="1" dirty="0"/>
          </a:p>
          <a:p>
            <a:pPr marL="0" indent="0">
              <a:buNone/>
            </a:pPr>
            <a:r>
              <a:rPr lang="en-US" b="1" dirty="0"/>
              <a:t>Special file (device)</a:t>
            </a:r>
          </a:p>
          <a:p>
            <a:pPr marL="731520" lvl="1" indent="-365760">
              <a:buFont typeface="+mj-lt"/>
              <a:buAutoNum type="arabicPeriod"/>
            </a:pPr>
            <a:r>
              <a:rPr lang="en-US" dirty="0"/>
              <a:t>Each hardware device, e.g. keyboard, hard disk, CD-ROM, </a:t>
            </a:r>
            <a:r>
              <a:rPr lang="en-US" dirty="0" err="1"/>
              <a:t>etc</a:t>
            </a:r>
            <a:r>
              <a:rPr lang="en-US" dirty="0"/>
              <a:t> is associated with at least one file</a:t>
            </a:r>
          </a:p>
          <a:p>
            <a:pPr marL="731520" lvl="1" indent="-365760">
              <a:buFont typeface="+mj-lt"/>
              <a:buAutoNum type="arabicPeriod"/>
            </a:pPr>
            <a:r>
              <a:rPr lang="en-US" dirty="0"/>
              <a:t>Usually store in </a:t>
            </a:r>
            <a:r>
              <a:rPr lang="en-US" b="1" dirty="0"/>
              <a:t>/dev </a:t>
            </a:r>
            <a:r>
              <a:rPr lang="en-US" dirty="0"/>
              <a:t>directory</a:t>
            </a:r>
          </a:p>
          <a:p>
            <a:pPr marL="731520" lvl="1" indent="-365760">
              <a:buFont typeface="+mj-lt"/>
              <a:buAutoNum type="arabicPeriod"/>
            </a:pPr>
            <a:r>
              <a:rPr lang="en-US" dirty="0"/>
              <a:t>Applications can read and write any devices by reading and writing their associate file – hence the access method is known as device independent</a:t>
            </a:r>
          </a:p>
          <a:p>
            <a:pPr marL="731520" lvl="1" indent="-365760">
              <a:buFont typeface="+mj-lt"/>
              <a:buAutoNum type="arabicPeriod"/>
            </a:pPr>
            <a:r>
              <a:rPr lang="en-US" dirty="0"/>
              <a:t>Special files divided into two types: </a:t>
            </a:r>
          </a:p>
          <a:p>
            <a:pPr marL="1223010" lvl="2" indent="-457200"/>
            <a:r>
              <a:rPr lang="en-US" dirty="0"/>
              <a:t>character special files, e.g. keyboard, and </a:t>
            </a:r>
          </a:p>
          <a:p>
            <a:pPr marL="1223010" lvl="2" indent="-457200"/>
            <a:r>
              <a:rPr lang="en-US" dirty="0"/>
              <a:t>block special files, e.g. disk</a:t>
            </a:r>
          </a:p>
        </p:txBody>
      </p:sp>
      <p:sp>
        <p:nvSpPr>
          <p:cNvPr id="6" name="Title 1">
            <a:extLst>
              <a:ext uri="{FF2B5EF4-FFF2-40B4-BE49-F238E27FC236}">
                <a16:creationId xmlns:a16="http://schemas.microsoft.com/office/drawing/2014/main" id="{54E238D9-9741-DA67-B637-E1B9AA29B56C}"/>
              </a:ext>
            </a:extLst>
          </p:cNvPr>
          <p:cNvSpPr txBox="1">
            <a:spLocks/>
          </p:cNvSpPr>
          <p:nvPr/>
        </p:nvSpPr>
        <p:spPr>
          <a:xfrm>
            <a:off x="851651" y="99826"/>
            <a:ext cx="8229600" cy="63976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Linux Types of Files</a:t>
            </a:r>
          </a:p>
        </p:txBody>
      </p:sp>
    </p:spTree>
    <p:extLst>
      <p:ext uri="{BB962C8B-B14F-4D97-AF65-F5344CB8AC3E}">
        <p14:creationId xmlns:p14="http://schemas.microsoft.com/office/powerpoint/2010/main" val="1742688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8C49BE3-4A5D-39ED-2023-4B6054FAB886}"/>
              </a:ext>
            </a:extLst>
          </p:cNvPr>
          <p:cNvSpPr>
            <a:spLocks noGrp="1"/>
          </p:cNvSpPr>
          <p:nvPr>
            <p:ph type="title"/>
          </p:nvPr>
        </p:nvSpPr>
        <p:spPr>
          <a:xfrm>
            <a:off x="1591236" y="46038"/>
            <a:ext cx="8229600" cy="639762"/>
          </a:xfrm>
        </p:spPr>
        <p:txBody>
          <a:bodyPr>
            <a:normAutofit fontScale="90000"/>
          </a:bodyPr>
          <a:lstStyle/>
          <a:p>
            <a:r>
              <a:rPr lang="en-US" b="1" dirty="0"/>
              <a:t>Linux Types of Files</a:t>
            </a:r>
          </a:p>
        </p:txBody>
      </p:sp>
      <p:sp>
        <p:nvSpPr>
          <p:cNvPr id="3" name="Content Placeholder 2">
            <a:extLst>
              <a:ext uri="{FF2B5EF4-FFF2-40B4-BE49-F238E27FC236}">
                <a16:creationId xmlns:a16="http://schemas.microsoft.com/office/drawing/2014/main" id="{7A5FEA1B-32EF-F053-4841-B0EF93EF4568}"/>
              </a:ext>
            </a:extLst>
          </p:cNvPr>
          <p:cNvSpPr>
            <a:spLocks noGrp="1"/>
          </p:cNvSpPr>
          <p:nvPr>
            <p:ph idx="1"/>
          </p:nvPr>
        </p:nvSpPr>
        <p:spPr>
          <a:xfrm>
            <a:off x="927847" y="838200"/>
            <a:ext cx="10139081" cy="5867400"/>
          </a:xfrm>
        </p:spPr>
        <p:txBody>
          <a:bodyPr>
            <a:normAutofit fontScale="92500" lnSpcReduction="20000"/>
          </a:bodyPr>
          <a:lstStyle/>
          <a:p>
            <a:pPr marL="0" indent="0">
              <a:buNone/>
            </a:pPr>
            <a:r>
              <a:rPr lang="en-US" sz="2400" b="1" dirty="0">
                <a:ea typeface="+mj-ea"/>
                <a:cs typeface="+mj-cs"/>
              </a:rPr>
              <a:t>Socket files</a:t>
            </a:r>
          </a:p>
          <a:p>
            <a:pPr marL="0" indent="0">
              <a:buNone/>
            </a:pPr>
            <a:r>
              <a:rPr lang="en-IN" sz="2000" dirty="0">
                <a:solidFill>
                  <a:srgbClr val="212529"/>
                </a:solidFill>
              </a:rPr>
              <a:t>A socket is a communication endpoint that applications use to exchange data. </a:t>
            </a:r>
          </a:p>
          <a:p>
            <a:pPr marL="0" indent="0">
              <a:buNone/>
            </a:pPr>
            <a:r>
              <a:rPr lang="en-IN" sz="2000" dirty="0">
                <a:solidFill>
                  <a:srgbClr val="212529"/>
                </a:solidFill>
              </a:rPr>
              <a:t>For example, if an application wants to communicate with another application, it connects with the socket of that application.</a:t>
            </a:r>
          </a:p>
          <a:p>
            <a:pPr marL="0" indent="0">
              <a:buNone/>
            </a:pPr>
            <a:endParaRPr lang="en-IN" sz="1050" dirty="0">
              <a:solidFill>
                <a:srgbClr val="212529"/>
              </a:solidFill>
            </a:endParaRPr>
          </a:p>
          <a:p>
            <a:r>
              <a:rPr lang="en-IN" sz="2000" dirty="0">
                <a:solidFill>
                  <a:srgbClr val="212529"/>
                </a:solidFill>
              </a:rPr>
              <a:t>Socket files are the special files that use a file name as their address instead of an IP address and port number. </a:t>
            </a:r>
          </a:p>
          <a:p>
            <a:r>
              <a:rPr lang="en-IN" sz="2000" dirty="0">
                <a:solidFill>
                  <a:srgbClr val="212529"/>
                </a:solidFill>
              </a:rPr>
              <a:t>Socket files use the </a:t>
            </a:r>
            <a:r>
              <a:rPr lang="en-IN" sz="2000" b="1" dirty="0" err="1">
                <a:solidFill>
                  <a:srgbClr val="42444E"/>
                </a:solidFill>
              </a:rPr>
              <a:t>sendmsg</a:t>
            </a:r>
            <a:r>
              <a:rPr lang="en-IN" sz="2000" b="1" dirty="0">
                <a:solidFill>
                  <a:srgbClr val="42444E"/>
                </a:solidFill>
              </a:rPr>
              <a:t>()</a:t>
            </a:r>
            <a:r>
              <a:rPr lang="en-IN" sz="2000" dirty="0">
                <a:solidFill>
                  <a:srgbClr val="212529"/>
                </a:solidFill>
              </a:rPr>
              <a:t> and </a:t>
            </a:r>
            <a:r>
              <a:rPr lang="en-IN" sz="2000" b="1" dirty="0" err="1">
                <a:solidFill>
                  <a:srgbClr val="42444E"/>
                </a:solidFill>
              </a:rPr>
              <a:t>recvmsg</a:t>
            </a:r>
            <a:r>
              <a:rPr lang="en-IN" sz="2000" b="1" dirty="0">
                <a:solidFill>
                  <a:srgbClr val="42444E"/>
                </a:solidFill>
              </a:rPr>
              <a:t>()</a:t>
            </a:r>
            <a:r>
              <a:rPr lang="en-IN" sz="2000" dirty="0">
                <a:solidFill>
                  <a:srgbClr val="212529"/>
                </a:solidFill>
              </a:rPr>
              <a:t> system calls to </a:t>
            </a:r>
            <a:r>
              <a:rPr lang="en-IN" sz="2000">
                <a:solidFill>
                  <a:srgbClr val="212529"/>
                </a:solidFill>
              </a:rPr>
              <a:t>enable inter-process </a:t>
            </a:r>
            <a:r>
              <a:rPr lang="en-IN" sz="2000" dirty="0">
                <a:solidFill>
                  <a:srgbClr val="212529"/>
                </a:solidFill>
              </a:rPr>
              <a:t>communication between local applications.</a:t>
            </a:r>
          </a:p>
          <a:p>
            <a:pPr marL="0" indent="0">
              <a:buNone/>
            </a:pPr>
            <a:endParaRPr lang="en-US" sz="1100" dirty="0"/>
          </a:p>
          <a:p>
            <a:pPr marL="0" indent="0">
              <a:buNone/>
            </a:pPr>
            <a:r>
              <a:rPr lang="en-IN" sz="2400" b="1" dirty="0">
                <a:ea typeface="+mj-ea"/>
                <a:cs typeface="+mj-cs"/>
              </a:rPr>
              <a:t>Named pipe files</a:t>
            </a:r>
          </a:p>
          <a:p>
            <a:pPr algn="just"/>
            <a:r>
              <a:rPr lang="en-IN" sz="2000" dirty="0">
                <a:solidFill>
                  <a:srgbClr val="212529"/>
                </a:solidFill>
              </a:rPr>
              <a:t>Linux allows us to send the output of any process or command to another process or command as the input. This feature is known as the pipe. </a:t>
            </a:r>
          </a:p>
          <a:p>
            <a:pPr algn="just"/>
            <a:r>
              <a:rPr lang="en-IN" sz="2000" dirty="0">
                <a:solidFill>
                  <a:srgbClr val="212529"/>
                </a:solidFill>
              </a:rPr>
              <a:t>Pipes work only when both processes are started by the same user and exist in the same parent process space.</a:t>
            </a:r>
          </a:p>
          <a:p>
            <a:pPr algn="just"/>
            <a:r>
              <a:rPr lang="en-IN" sz="2000" dirty="0">
                <a:solidFill>
                  <a:srgbClr val="212529"/>
                </a:solidFill>
              </a:rPr>
              <a:t>If processes are executed under different user names and permissions, then standard pipes do not work. </a:t>
            </a:r>
          </a:p>
          <a:p>
            <a:pPr algn="just"/>
            <a:r>
              <a:rPr lang="en-IN" sz="2000" dirty="0">
                <a:solidFill>
                  <a:srgbClr val="212529"/>
                </a:solidFill>
              </a:rPr>
              <a:t>In such circumstances, named pipes are used. </a:t>
            </a:r>
          </a:p>
          <a:p>
            <a:pPr algn="just"/>
            <a:r>
              <a:rPr lang="en-IN" sz="2000" dirty="0">
                <a:solidFill>
                  <a:srgbClr val="212529"/>
                </a:solidFill>
              </a:rPr>
              <a:t>Named pipes are similar to the standard pipes except that they can be accessed as part of the filesystem.</a:t>
            </a:r>
          </a:p>
          <a:p>
            <a:pPr marL="0" indent="0">
              <a:buNone/>
            </a:pPr>
            <a:endParaRPr lang="en-US" sz="2000" dirty="0"/>
          </a:p>
        </p:txBody>
      </p:sp>
    </p:spTree>
    <p:extLst>
      <p:ext uri="{BB962C8B-B14F-4D97-AF65-F5344CB8AC3E}">
        <p14:creationId xmlns:p14="http://schemas.microsoft.com/office/powerpoint/2010/main" val="5758019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7F65A-0EC0-61F5-0E5E-A0079CC8F91D}"/>
              </a:ext>
            </a:extLst>
          </p:cNvPr>
          <p:cNvSpPr>
            <a:spLocks noGrp="1"/>
          </p:cNvSpPr>
          <p:nvPr>
            <p:ph type="title"/>
          </p:nvPr>
        </p:nvSpPr>
        <p:spPr>
          <a:xfrm>
            <a:off x="1957387" y="990601"/>
            <a:ext cx="8686800" cy="1325563"/>
          </a:xfrm>
        </p:spPr>
        <p:txBody>
          <a:bodyPr>
            <a:normAutofit/>
          </a:bodyPr>
          <a:lstStyle/>
          <a:p>
            <a:r>
              <a:rPr lang="en-IN" sz="2400" dirty="0">
                <a:solidFill>
                  <a:srgbClr val="212529"/>
                </a:solidFill>
                <a:latin typeface="Arial" panose="020B0604020202020204" pitchFamily="34" charset="0"/>
              </a:rPr>
              <a:t>The following table lists the symbol of different types of files.</a:t>
            </a:r>
            <a:endParaRPr lang="en-US" sz="2400" dirty="0"/>
          </a:p>
        </p:txBody>
      </p:sp>
      <p:graphicFrame>
        <p:nvGraphicFramePr>
          <p:cNvPr id="4" name="Content Placeholder 3">
            <a:extLst>
              <a:ext uri="{FF2B5EF4-FFF2-40B4-BE49-F238E27FC236}">
                <a16:creationId xmlns:a16="http://schemas.microsoft.com/office/drawing/2014/main" id="{199DF706-E317-1A5E-3FF3-9E4937195D36}"/>
              </a:ext>
            </a:extLst>
          </p:cNvPr>
          <p:cNvGraphicFramePr>
            <a:graphicFrameLocks noGrp="1"/>
          </p:cNvGraphicFramePr>
          <p:nvPr>
            <p:ph idx="1"/>
          </p:nvPr>
        </p:nvGraphicFramePr>
        <p:xfrm>
          <a:off x="3028950" y="2633100"/>
          <a:ext cx="6248400" cy="3055680"/>
        </p:xfrm>
        <a:graphic>
          <a:graphicData uri="http://schemas.openxmlformats.org/drawingml/2006/table">
            <a:tbl>
              <a:tblPr/>
              <a:tblGrid>
                <a:gridCol w="2133600">
                  <a:extLst>
                    <a:ext uri="{9D8B030D-6E8A-4147-A177-3AD203B41FA5}">
                      <a16:colId xmlns:a16="http://schemas.microsoft.com/office/drawing/2014/main" val="840023828"/>
                    </a:ext>
                  </a:extLst>
                </a:gridCol>
                <a:gridCol w="4114800">
                  <a:extLst>
                    <a:ext uri="{9D8B030D-6E8A-4147-A177-3AD203B41FA5}">
                      <a16:colId xmlns:a16="http://schemas.microsoft.com/office/drawing/2014/main" val="4059270665"/>
                    </a:ext>
                  </a:extLst>
                </a:gridCol>
              </a:tblGrid>
              <a:tr h="250767">
                <a:tc>
                  <a:txBody>
                    <a:bodyPr/>
                    <a:lstStyle/>
                    <a:p>
                      <a:pPr algn="ctr" fontAlgn="t"/>
                      <a:r>
                        <a:rPr lang="en-US" sz="2000">
                          <a:effectLst/>
                        </a:rPr>
                        <a:t>Character</a:t>
                      </a:r>
                    </a:p>
                  </a:txBody>
                  <a:tcPr marL="77159" marR="77159" marT="38580" marB="3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gn="l" fontAlgn="t"/>
                      <a:r>
                        <a:rPr lang="en-US" sz="2000" dirty="0">
                          <a:effectLst/>
                        </a:rPr>
                        <a:t>Meaning</a:t>
                      </a:r>
                    </a:p>
                  </a:txBody>
                  <a:tcPr marL="77159" marR="77159" marT="38580" marB="3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1494420504"/>
                  </a:ext>
                </a:extLst>
              </a:tr>
              <a:tr h="250767">
                <a:tc>
                  <a:txBody>
                    <a:bodyPr/>
                    <a:lstStyle/>
                    <a:p>
                      <a:pPr algn="ctr" fontAlgn="t"/>
                      <a:r>
                        <a:rPr lang="en-US" sz="2000">
                          <a:effectLst/>
                        </a:rPr>
                        <a:t>-</a:t>
                      </a:r>
                    </a:p>
                  </a:txBody>
                  <a:tcPr marL="77159" marR="77159" marT="38580" marB="3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US" sz="2000">
                          <a:effectLst/>
                        </a:rPr>
                        <a:t>Regular or ordinary file</a:t>
                      </a:r>
                    </a:p>
                  </a:txBody>
                  <a:tcPr marL="77159" marR="77159" marT="38580" marB="3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022614573"/>
                  </a:ext>
                </a:extLst>
              </a:tr>
              <a:tr h="250767">
                <a:tc>
                  <a:txBody>
                    <a:bodyPr/>
                    <a:lstStyle/>
                    <a:p>
                      <a:pPr algn="ctr" fontAlgn="t"/>
                      <a:r>
                        <a:rPr lang="en-US" sz="2000">
                          <a:effectLst/>
                        </a:rPr>
                        <a:t>d</a:t>
                      </a:r>
                    </a:p>
                  </a:txBody>
                  <a:tcPr marL="77159" marR="77159" marT="38580" marB="3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US" sz="2000">
                          <a:effectLst/>
                        </a:rPr>
                        <a:t>Directory file</a:t>
                      </a:r>
                    </a:p>
                  </a:txBody>
                  <a:tcPr marL="77159" marR="77159" marT="38580" marB="3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291989579"/>
                  </a:ext>
                </a:extLst>
              </a:tr>
              <a:tr h="250767">
                <a:tc>
                  <a:txBody>
                    <a:bodyPr/>
                    <a:lstStyle/>
                    <a:p>
                      <a:pPr algn="ctr" fontAlgn="t"/>
                      <a:r>
                        <a:rPr lang="en-US" sz="2000">
                          <a:effectLst/>
                        </a:rPr>
                        <a:t>l</a:t>
                      </a:r>
                    </a:p>
                  </a:txBody>
                  <a:tcPr marL="77159" marR="77159" marT="38580" marB="3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US" sz="2000">
                          <a:effectLst/>
                        </a:rPr>
                        <a:t>Link file</a:t>
                      </a:r>
                    </a:p>
                  </a:txBody>
                  <a:tcPr marL="77159" marR="77159" marT="38580" marB="3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679397927"/>
                  </a:ext>
                </a:extLst>
              </a:tr>
              <a:tr h="250767">
                <a:tc>
                  <a:txBody>
                    <a:bodyPr/>
                    <a:lstStyle/>
                    <a:p>
                      <a:pPr algn="ctr" fontAlgn="t"/>
                      <a:r>
                        <a:rPr lang="en-US" sz="2000">
                          <a:effectLst/>
                        </a:rPr>
                        <a:t>b</a:t>
                      </a:r>
                    </a:p>
                  </a:txBody>
                  <a:tcPr marL="77159" marR="77159" marT="38580" marB="3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US" sz="2000" dirty="0">
                          <a:effectLst/>
                        </a:rPr>
                        <a:t>Block special file</a:t>
                      </a:r>
                    </a:p>
                  </a:txBody>
                  <a:tcPr marL="77159" marR="77159" marT="38580" marB="3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778352150"/>
                  </a:ext>
                </a:extLst>
              </a:tr>
              <a:tr h="250767">
                <a:tc>
                  <a:txBody>
                    <a:bodyPr/>
                    <a:lstStyle/>
                    <a:p>
                      <a:pPr algn="ctr" fontAlgn="t"/>
                      <a:r>
                        <a:rPr lang="en-US" sz="2000">
                          <a:effectLst/>
                        </a:rPr>
                        <a:t>p</a:t>
                      </a:r>
                    </a:p>
                  </a:txBody>
                  <a:tcPr marL="77159" marR="77159" marT="38580" marB="3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US" sz="2000">
                          <a:effectLst/>
                        </a:rPr>
                        <a:t>Named pipe file</a:t>
                      </a:r>
                    </a:p>
                  </a:txBody>
                  <a:tcPr marL="77159" marR="77159" marT="38580" marB="3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328411773"/>
                  </a:ext>
                </a:extLst>
              </a:tr>
              <a:tr h="250767">
                <a:tc>
                  <a:txBody>
                    <a:bodyPr/>
                    <a:lstStyle/>
                    <a:p>
                      <a:pPr algn="ctr" fontAlgn="t"/>
                      <a:r>
                        <a:rPr lang="en-US" sz="2000">
                          <a:effectLst/>
                        </a:rPr>
                        <a:t>c</a:t>
                      </a:r>
                    </a:p>
                  </a:txBody>
                  <a:tcPr marL="77159" marR="77159" marT="38580" marB="3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US" sz="2000">
                          <a:effectLst/>
                        </a:rPr>
                        <a:t>Character special file</a:t>
                      </a:r>
                    </a:p>
                  </a:txBody>
                  <a:tcPr marL="77159" marR="77159" marT="38580" marB="3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033761286"/>
                  </a:ext>
                </a:extLst>
              </a:tr>
              <a:tr h="250767">
                <a:tc>
                  <a:txBody>
                    <a:bodyPr/>
                    <a:lstStyle/>
                    <a:p>
                      <a:pPr algn="ctr" fontAlgn="t"/>
                      <a:r>
                        <a:rPr lang="en-US" sz="2000" dirty="0">
                          <a:effectLst/>
                        </a:rPr>
                        <a:t>s</a:t>
                      </a:r>
                    </a:p>
                  </a:txBody>
                  <a:tcPr marL="77159" marR="77159" marT="38580" marB="3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US" sz="2000" dirty="0">
                          <a:effectLst/>
                        </a:rPr>
                        <a:t>Socket file</a:t>
                      </a:r>
                    </a:p>
                  </a:txBody>
                  <a:tcPr marL="77159" marR="77159" marT="38580" marB="3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668618852"/>
                  </a:ext>
                </a:extLst>
              </a:tr>
            </a:tbl>
          </a:graphicData>
        </a:graphic>
      </p:graphicFrame>
    </p:spTree>
    <p:extLst>
      <p:ext uri="{BB962C8B-B14F-4D97-AF65-F5344CB8AC3E}">
        <p14:creationId xmlns:p14="http://schemas.microsoft.com/office/powerpoint/2010/main" val="17186331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29349-593F-70E3-B741-05137211D987}"/>
              </a:ext>
            </a:extLst>
          </p:cNvPr>
          <p:cNvSpPr>
            <a:spLocks noGrp="1"/>
          </p:cNvSpPr>
          <p:nvPr>
            <p:ph type="title"/>
          </p:nvPr>
        </p:nvSpPr>
        <p:spPr>
          <a:xfrm>
            <a:off x="2097741" y="445807"/>
            <a:ext cx="7732060" cy="1325563"/>
          </a:xfrm>
        </p:spPr>
        <p:txBody>
          <a:bodyPr/>
          <a:lstStyle/>
          <a:p>
            <a:pPr algn="ctr"/>
            <a:r>
              <a:rPr lang="en-IN" b="1" dirty="0"/>
              <a:t>File System Architecture</a:t>
            </a:r>
            <a:endParaRPr lang="en-US" b="1" dirty="0"/>
          </a:p>
        </p:txBody>
      </p:sp>
      <p:pic>
        <p:nvPicPr>
          <p:cNvPr id="1026" name="Picture 2" descr="Linux File System - javatpoint">
            <a:extLst>
              <a:ext uri="{FF2B5EF4-FFF2-40B4-BE49-F238E27FC236}">
                <a16:creationId xmlns:a16="http://schemas.microsoft.com/office/drawing/2014/main" id="{C9AC9139-D164-0181-CC4F-6114A80604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679486"/>
            <a:ext cx="7947211" cy="374491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BF60C4D-5099-42C8-74B8-9EEB68BD0B45}"/>
              </a:ext>
            </a:extLst>
          </p:cNvPr>
          <p:cNvSpPr txBox="1"/>
          <p:nvPr/>
        </p:nvSpPr>
        <p:spPr>
          <a:xfrm>
            <a:off x="1169896" y="6051176"/>
            <a:ext cx="9695330" cy="400110"/>
          </a:xfrm>
          <a:prstGeom prst="rect">
            <a:avLst/>
          </a:prstGeom>
          <a:noFill/>
        </p:spPr>
        <p:txBody>
          <a:bodyPr wrap="square" rtlCol="0">
            <a:spAutoFit/>
          </a:bodyPr>
          <a:lstStyle/>
          <a:p>
            <a:pPr algn="ctr"/>
            <a:r>
              <a:rPr lang="en-IN" sz="2000" b="1" dirty="0"/>
              <a:t>Commands to check supported file systems in Linux: cat /proc/filesystems</a:t>
            </a:r>
            <a:endParaRPr lang="en-US" sz="2000" b="1" dirty="0"/>
          </a:p>
        </p:txBody>
      </p:sp>
    </p:spTree>
    <p:extLst>
      <p:ext uri="{BB962C8B-B14F-4D97-AF65-F5344CB8AC3E}">
        <p14:creationId xmlns:p14="http://schemas.microsoft.com/office/powerpoint/2010/main" val="28069798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70626-6048-1FFD-391F-226BDA96D6F7}"/>
              </a:ext>
            </a:extLst>
          </p:cNvPr>
          <p:cNvSpPr>
            <a:spLocks noGrp="1"/>
          </p:cNvSpPr>
          <p:nvPr>
            <p:ph type="title"/>
          </p:nvPr>
        </p:nvSpPr>
        <p:spPr>
          <a:xfrm>
            <a:off x="838200" y="42397"/>
            <a:ext cx="10515600" cy="925791"/>
          </a:xfrm>
        </p:spPr>
        <p:txBody>
          <a:bodyPr/>
          <a:lstStyle/>
          <a:p>
            <a:pPr algn="ctr"/>
            <a:r>
              <a:rPr lang="en-IN" b="1" dirty="0"/>
              <a:t>File System Directories</a:t>
            </a:r>
            <a:endParaRPr lang="en-US" b="1" dirty="0"/>
          </a:p>
        </p:txBody>
      </p:sp>
      <p:sp>
        <p:nvSpPr>
          <p:cNvPr id="4" name="AutoShape 4" descr="Linux Directory Structure Explained for Beginners">
            <a:extLst>
              <a:ext uri="{FF2B5EF4-FFF2-40B4-BE49-F238E27FC236}">
                <a16:creationId xmlns:a16="http://schemas.microsoft.com/office/drawing/2014/main" id="{EFE2AE37-C91E-5BD6-C4DA-265427E615C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a:extLst>
              <a:ext uri="{FF2B5EF4-FFF2-40B4-BE49-F238E27FC236}">
                <a16:creationId xmlns:a16="http://schemas.microsoft.com/office/drawing/2014/main" id="{0726C468-0B78-5063-9B9E-AFA0FC2DB1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67718" y="968188"/>
            <a:ext cx="5840505" cy="5714999"/>
          </a:xfrm>
          <a:prstGeom prst="rect">
            <a:avLst/>
          </a:prstGeom>
        </p:spPr>
      </p:pic>
      <p:pic>
        <p:nvPicPr>
          <p:cNvPr id="10" name="Picture 9">
            <a:extLst>
              <a:ext uri="{FF2B5EF4-FFF2-40B4-BE49-F238E27FC236}">
                <a16:creationId xmlns:a16="http://schemas.microsoft.com/office/drawing/2014/main" id="{82F4CBC3-5B73-ABBB-97CF-534258BC37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3085" y="968188"/>
            <a:ext cx="5486400" cy="5836024"/>
          </a:xfrm>
          <a:prstGeom prst="rect">
            <a:avLst/>
          </a:prstGeom>
        </p:spPr>
      </p:pic>
    </p:spTree>
    <p:extLst>
      <p:ext uri="{BB962C8B-B14F-4D97-AF65-F5344CB8AC3E}">
        <p14:creationId xmlns:p14="http://schemas.microsoft.com/office/powerpoint/2010/main" val="15346648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1143000"/>
          </a:xfrm>
        </p:spPr>
        <p:txBody>
          <a:bodyPr/>
          <a:lstStyle/>
          <a:p>
            <a:pPr algn="ctr"/>
            <a:r>
              <a:rPr lang="en-US" b="1" dirty="0"/>
              <a:t>File System Structure</a:t>
            </a:r>
          </a:p>
        </p:txBody>
      </p:sp>
      <p:sp>
        <p:nvSpPr>
          <p:cNvPr id="3" name="Content Placeholder 2"/>
          <p:cNvSpPr>
            <a:spLocks noGrp="1"/>
          </p:cNvSpPr>
          <p:nvPr>
            <p:ph idx="1"/>
          </p:nvPr>
        </p:nvSpPr>
        <p:spPr>
          <a:xfrm>
            <a:off x="1223680" y="1143000"/>
            <a:ext cx="9829800" cy="5486400"/>
          </a:xfrm>
        </p:spPr>
        <p:txBody>
          <a:bodyPr>
            <a:normAutofit fontScale="92500" lnSpcReduction="20000"/>
          </a:bodyPr>
          <a:lstStyle/>
          <a:p>
            <a:pPr marL="0" indent="0">
              <a:buNone/>
            </a:pPr>
            <a:r>
              <a:rPr lang="en-US" dirty="0"/>
              <a:t>According to the File System Standard (FSSTND) proposed in 1994, every LINUX system should contain a set of standard files and directories</a:t>
            </a:r>
          </a:p>
          <a:p>
            <a:pPr marL="0" indent="0">
              <a:buNone/>
            </a:pPr>
            <a:endParaRPr lang="en-US" sz="2300" dirty="0"/>
          </a:p>
          <a:p>
            <a:pPr marL="0" indent="0">
              <a:buNone/>
            </a:pPr>
            <a:r>
              <a:rPr lang="en-US" b="1" dirty="0"/>
              <a:t>Root Directory ( / )</a:t>
            </a:r>
          </a:p>
          <a:p>
            <a:pPr>
              <a:buNone/>
            </a:pPr>
            <a:r>
              <a:rPr lang="en-US" dirty="0"/>
              <a:t>	     Top of the file system. Similar to C:\ in DOS</a:t>
            </a:r>
          </a:p>
          <a:p>
            <a:pPr>
              <a:buNone/>
            </a:pPr>
            <a:r>
              <a:rPr lang="en-US" b="1" dirty="0"/>
              <a:t>/bin</a:t>
            </a:r>
          </a:p>
          <a:p>
            <a:pPr>
              <a:buNone/>
            </a:pPr>
            <a:r>
              <a:rPr lang="en-US" dirty="0"/>
              <a:t>	Contains the binary (executable code) of most essential Linux </a:t>
            </a:r>
            <a:r>
              <a:rPr lang="fr-FR" dirty="0"/>
              <a:t> command, e.g. </a:t>
            </a:r>
            <a:r>
              <a:rPr lang="fr-FR" dirty="0" err="1"/>
              <a:t>bash</a:t>
            </a:r>
            <a:r>
              <a:rPr lang="fr-FR" dirty="0"/>
              <a:t>, cat, </a:t>
            </a:r>
            <a:r>
              <a:rPr lang="fr-FR" dirty="0" err="1"/>
              <a:t>cp</a:t>
            </a:r>
            <a:r>
              <a:rPr lang="fr-FR" dirty="0"/>
              <a:t>, ln, ls, etc.</a:t>
            </a:r>
          </a:p>
          <a:p>
            <a:pPr>
              <a:buNone/>
            </a:pPr>
            <a:endParaRPr lang="fr-FR" dirty="0"/>
          </a:p>
          <a:p>
            <a:pPr marL="0" indent="0">
              <a:buNone/>
            </a:pPr>
            <a:r>
              <a:rPr lang="en-US" b="1" dirty="0"/>
              <a:t>/boot</a:t>
            </a:r>
          </a:p>
          <a:p>
            <a:pPr>
              <a:buNone/>
            </a:pPr>
            <a:r>
              <a:rPr lang="en-US" dirty="0"/>
              <a:t>  	Contain all the files needed to boot the Linux system, including  the binary of the Linux kernel. </a:t>
            </a:r>
          </a:p>
          <a:p>
            <a:pPr>
              <a:buNone/>
            </a:pPr>
            <a:r>
              <a:rPr lang="en-US" dirty="0"/>
              <a:t>     E.g., on Red Hat Linux 6.1, the </a:t>
            </a:r>
            <a:r>
              <a:rPr lang="nl-NL" dirty="0"/>
              <a:t>kernel is in /boot/vmlinux-2.2.5-15 file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46038"/>
            <a:ext cx="8229600" cy="1143000"/>
          </a:xfrm>
        </p:spPr>
        <p:txBody>
          <a:bodyPr/>
          <a:lstStyle/>
          <a:p>
            <a:pPr algn="ctr"/>
            <a:r>
              <a:rPr lang="en-US" b="1" dirty="0"/>
              <a:t>File System Structure</a:t>
            </a:r>
          </a:p>
        </p:txBody>
      </p:sp>
      <p:sp>
        <p:nvSpPr>
          <p:cNvPr id="3" name="Content Placeholder 2"/>
          <p:cNvSpPr>
            <a:spLocks noGrp="1"/>
          </p:cNvSpPr>
          <p:nvPr>
            <p:ph idx="1"/>
          </p:nvPr>
        </p:nvSpPr>
        <p:spPr>
          <a:xfrm>
            <a:off x="1752600" y="1066800"/>
            <a:ext cx="8915400" cy="5745162"/>
          </a:xfrm>
        </p:spPr>
        <p:txBody>
          <a:bodyPr>
            <a:normAutofit fontScale="70000" lnSpcReduction="20000"/>
          </a:bodyPr>
          <a:lstStyle/>
          <a:p>
            <a:pPr>
              <a:buNone/>
            </a:pPr>
            <a:r>
              <a:rPr lang="en-US" sz="3200" b="1" dirty="0"/>
              <a:t>/dev</a:t>
            </a:r>
          </a:p>
          <a:p>
            <a:pPr>
              <a:buNone/>
            </a:pPr>
            <a:r>
              <a:rPr lang="en-US" dirty="0"/>
              <a:t>  	</a:t>
            </a:r>
            <a:r>
              <a:rPr lang="en-US" sz="3200" dirty="0"/>
              <a:t>Contains the special files for devices, e.g. fd0, hd0, etc.</a:t>
            </a:r>
          </a:p>
          <a:p>
            <a:pPr>
              <a:buNone/>
            </a:pPr>
            <a:endParaRPr lang="en-US" dirty="0"/>
          </a:p>
          <a:p>
            <a:pPr marL="0" indent="0">
              <a:buNone/>
            </a:pPr>
            <a:r>
              <a:rPr lang="en-US" sz="3200" b="1" dirty="0"/>
              <a:t>/</a:t>
            </a:r>
            <a:r>
              <a:rPr lang="en-US" sz="3200" b="1" dirty="0" err="1"/>
              <a:t>etc</a:t>
            </a:r>
            <a:endParaRPr lang="en-US" sz="3200" b="1" dirty="0"/>
          </a:p>
          <a:p>
            <a:pPr>
              <a:buNone/>
            </a:pPr>
            <a:r>
              <a:rPr lang="en-US" sz="3200" dirty="0"/>
              <a:t> 	Contains host-specific files and directories, </a:t>
            </a:r>
          </a:p>
          <a:p>
            <a:pPr>
              <a:buNone/>
            </a:pPr>
            <a:r>
              <a:rPr lang="en-US" sz="3200" dirty="0"/>
              <a:t>      e.g. information about system configuration</a:t>
            </a:r>
          </a:p>
          <a:p>
            <a:pPr>
              <a:buNone/>
            </a:pPr>
            <a:endParaRPr lang="en-US" sz="3200" dirty="0"/>
          </a:p>
          <a:p>
            <a:pPr marL="0" indent="0">
              <a:buNone/>
            </a:pPr>
            <a:r>
              <a:rPr lang="en-US" sz="3200" b="1" dirty="0"/>
              <a:t>/</a:t>
            </a:r>
            <a:r>
              <a:rPr lang="en-US" sz="3200" b="1" dirty="0" err="1"/>
              <a:t>etc</a:t>
            </a:r>
            <a:r>
              <a:rPr lang="en-US" sz="3200" b="1" dirty="0"/>
              <a:t>/passwd</a:t>
            </a:r>
          </a:p>
          <a:p>
            <a:pPr>
              <a:buNone/>
            </a:pPr>
            <a:r>
              <a:rPr lang="en-US" sz="3200" dirty="0"/>
              <a:t>	This file contains login information of users in the system</a:t>
            </a:r>
          </a:p>
          <a:p>
            <a:pPr marL="0" indent="0">
              <a:buNone/>
            </a:pPr>
            <a:endParaRPr lang="en-US" sz="3200" dirty="0"/>
          </a:p>
          <a:p>
            <a:pPr marL="0" indent="0">
              <a:buNone/>
            </a:pPr>
            <a:r>
              <a:rPr lang="en-US" sz="3200" b="1" dirty="0"/>
              <a:t>/home</a:t>
            </a:r>
          </a:p>
          <a:p>
            <a:pPr>
              <a:buNone/>
            </a:pPr>
            <a:r>
              <a:rPr lang="en-US" sz="3200" dirty="0"/>
              <a:t>	Contains the home directories of every user in the system</a:t>
            </a:r>
          </a:p>
          <a:p>
            <a:pPr marL="0" indent="0">
              <a:buNone/>
            </a:pPr>
            <a:endParaRPr lang="en-US" sz="3200" dirty="0"/>
          </a:p>
          <a:p>
            <a:pPr marL="0" indent="0">
              <a:buNone/>
            </a:pPr>
            <a:r>
              <a:rPr lang="en-US" sz="3200" b="1" dirty="0"/>
              <a:t>/lib</a:t>
            </a:r>
          </a:p>
          <a:p>
            <a:pPr>
              <a:buNone/>
            </a:pPr>
            <a:r>
              <a:rPr lang="en-US" sz="3200" dirty="0"/>
              <a:t>	Stores all the essential libraries for different language compilers</a:t>
            </a:r>
          </a:p>
          <a:p>
            <a:pPr>
              <a:buNone/>
            </a:pPr>
            <a:r>
              <a:rPr lang="en-US" sz="3200" dirty="0"/>
              <a:t>	</a:t>
            </a:r>
          </a:p>
          <a:p>
            <a:pPr>
              <a:buNone/>
            </a:pP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9050"/>
            <a:ext cx="8229600" cy="1143000"/>
          </a:xfrm>
        </p:spPr>
        <p:txBody>
          <a:bodyPr/>
          <a:lstStyle/>
          <a:p>
            <a:pPr algn="ctr"/>
            <a:r>
              <a:rPr lang="en-US" b="1" dirty="0"/>
              <a:t>File System Structure</a:t>
            </a:r>
          </a:p>
        </p:txBody>
      </p:sp>
      <p:sp>
        <p:nvSpPr>
          <p:cNvPr id="3" name="Content Placeholder 2"/>
          <p:cNvSpPr>
            <a:spLocks noGrp="1"/>
          </p:cNvSpPr>
          <p:nvPr>
            <p:ph idx="1"/>
          </p:nvPr>
        </p:nvSpPr>
        <p:spPr>
          <a:xfrm>
            <a:off x="900951" y="990600"/>
            <a:ext cx="10529047" cy="5562600"/>
          </a:xfrm>
        </p:spPr>
        <p:txBody>
          <a:bodyPr>
            <a:normAutofit fontScale="70000" lnSpcReduction="20000"/>
          </a:bodyPr>
          <a:lstStyle/>
          <a:p>
            <a:pPr marL="0" indent="0">
              <a:buNone/>
            </a:pPr>
            <a:r>
              <a:rPr lang="en-US" b="1" dirty="0"/>
              <a:t>/</a:t>
            </a:r>
            <a:r>
              <a:rPr lang="en-US" b="1" dirty="0" err="1"/>
              <a:t>mnt</a:t>
            </a:r>
            <a:endParaRPr lang="en-US" b="1" dirty="0"/>
          </a:p>
          <a:p>
            <a:pPr>
              <a:buNone/>
            </a:pPr>
            <a:r>
              <a:rPr lang="en-US" dirty="0"/>
              <a:t>  	Used by system administrator to mount file systems temporarily by using the mount command</a:t>
            </a:r>
          </a:p>
          <a:p>
            <a:pPr>
              <a:buNone/>
            </a:pPr>
            <a:r>
              <a:rPr lang="en-US" dirty="0"/>
              <a:t>  	Before using any devices, they have to be mounted to the system for registration</a:t>
            </a:r>
          </a:p>
          <a:p>
            <a:pPr marL="0" indent="0">
              <a:buNone/>
            </a:pPr>
            <a:endParaRPr lang="en-US" dirty="0"/>
          </a:p>
          <a:p>
            <a:pPr marL="0" indent="0">
              <a:buNone/>
            </a:pPr>
            <a:r>
              <a:rPr lang="en-US" b="1" dirty="0"/>
              <a:t>/opt</a:t>
            </a:r>
          </a:p>
          <a:p>
            <a:pPr>
              <a:buNone/>
            </a:pPr>
            <a:r>
              <a:rPr lang="en-US" dirty="0"/>
              <a:t>	Used for installing add-on software packages, e.g. star office, etc.</a:t>
            </a:r>
          </a:p>
          <a:p>
            <a:pPr marL="0" indent="0">
              <a:buNone/>
            </a:pPr>
            <a:endParaRPr lang="en-US" b="1" dirty="0"/>
          </a:p>
          <a:p>
            <a:pPr marL="0" indent="0">
              <a:buNone/>
            </a:pPr>
            <a:r>
              <a:rPr lang="en-US" b="1" dirty="0"/>
              <a:t>/proc</a:t>
            </a:r>
          </a:p>
          <a:p>
            <a:pPr>
              <a:buNone/>
            </a:pPr>
            <a:r>
              <a:rPr lang="en-US" dirty="0"/>
              <a:t>	Contain process and system information</a:t>
            </a:r>
          </a:p>
          <a:p>
            <a:pPr>
              <a:buNone/>
            </a:pPr>
            <a:endParaRPr lang="en-US" dirty="0"/>
          </a:p>
          <a:p>
            <a:pPr>
              <a:buNone/>
            </a:pPr>
            <a:r>
              <a:rPr lang="en-US" b="1" dirty="0"/>
              <a:t>/root</a:t>
            </a:r>
          </a:p>
          <a:p>
            <a:pPr>
              <a:buNone/>
            </a:pPr>
            <a:r>
              <a:rPr lang="en-US" dirty="0"/>
              <a:t>	 Home directory of the user root, usually the administrator</a:t>
            </a:r>
          </a:p>
          <a:p>
            <a:pPr marL="0" indent="0">
              <a:buNone/>
            </a:pPr>
            <a:endParaRPr lang="en-US" b="1" dirty="0"/>
          </a:p>
          <a:p>
            <a:pPr marL="0" indent="0">
              <a:buNone/>
            </a:pPr>
            <a:r>
              <a:rPr lang="en-US" b="1" dirty="0"/>
              <a:t>/</a:t>
            </a:r>
            <a:r>
              <a:rPr lang="en-US" b="1" dirty="0" err="1"/>
              <a:t>sbin</a:t>
            </a:r>
            <a:endParaRPr lang="en-US" b="1" dirty="0"/>
          </a:p>
          <a:p>
            <a:pPr>
              <a:buNone/>
            </a:pPr>
            <a:r>
              <a:rPr lang="en-US" dirty="0"/>
              <a:t>	The directories /</a:t>
            </a:r>
            <a:r>
              <a:rPr lang="en-US" dirty="0" err="1"/>
              <a:t>sbin</a:t>
            </a:r>
            <a:r>
              <a:rPr lang="en-US" dirty="0"/>
              <a:t>, /</a:t>
            </a:r>
            <a:r>
              <a:rPr lang="en-US" dirty="0" err="1"/>
              <a:t>usr</a:t>
            </a:r>
            <a:r>
              <a:rPr lang="en-US" dirty="0"/>
              <a:t>/</a:t>
            </a:r>
            <a:r>
              <a:rPr lang="en-US" dirty="0" err="1"/>
              <a:t>sbin</a:t>
            </a:r>
            <a:r>
              <a:rPr lang="en-US" dirty="0"/>
              <a:t>, and /</a:t>
            </a:r>
            <a:r>
              <a:rPr lang="en-US" dirty="0" err="1"/>
              <a:t>usr</a:t>
            </a:r>
            <a:r>
              <a:rPr lang="en-US" dirty="0"/>
              <a:t>/local/</a:t>
            </a:r>
            <a:r>
              <a:rPr lang="en-US" dirty="0" err="1"/>
              <a:t>sbin</a:t>
            </a:r>
            <a:r>
              <a:rPr lang="en-US" dirty="0"/>
              <a:t> contain system administration tools, utilities and general root only commands, such as halt, reboot and shutdown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46038"/>
            <a:ext cx="7886700" cy="1325563"/>
          </a:xfrm>
        </p:spPr>
        <p:txBody>
          <a:bodyPr/>
          <a:lstStyle/>
          <a:p>
            <a:pPr algn="ctr"/>
            <a:r>
              <a:rPr lang="en-US" b="1" dirty="0"/>
              <a:t>File System Structure</a:t>
            </a:r>
          </a:p>
        </p:txBody>
      </p:sp>
      <p:sp>
        <p:nvSpPr>
          <p:cNvPr id="3" name="Content Placeholder 2"/>
          <p:cNvSpPr>
            <a:spLocks noGrp="1"/>
          </p:cNvSpPr>
          <p:nvPr>
            <p:ph idx="1"/>
          </p:nvPr>
        </p:nvSpPr>
        <p:spPr>
          <a:xfrm>
            <a:off x="1752600" y="1166019"/>
            <a:ext cx="8686800" cy="4525963"/>
          </a:xfrm>
        </p:spPr>
        <p:txBody>
          <a:bodyPr>
            <a:normAutofit fontScale="77500" lnSpcReduction="20000"/>
          </a:bodyPr>
          <a:lstStyle/>
          <a:p>
            <a:pPr marL="0" indent="0">
              <a:buNone/>
            </a:pPr>
            <a:r>
              <a:rPr lang="en-US" b="1" dirty="0"/>
              <a:t>/</a:t>
            </a:r>
            <a:r>
              <a:rPr lang="en-US" b="1" dirty="0" err="1"/>
              <a:t>tmp</a:t>
            </a:r>
            <a:r>
              <a:rPr lang="en-US" b="1" dirty="0"/>
              <a:t> or /temp</a:t>
            </a:r>
          </a:p>
          <a:p>
            <a:pPr>
              <a:buNone/>
            </a:pPr>
            <a:r>
              <a:rPr lang="en-US" dirty="0"/>
              <a:t>	Contains temporary files. Usually files in this directory will be deleted from time to time to avoid the system fills with temp files</a:t>
            </a:r>
          </a:p>
          <a:p>
            <a:pPr>
              <a:buNone/>
            </a:pPr>
            <a:endParaRPr lang="en-US" dirty="0"/>
          </a:p>
          <a:p>
            <a:pPr marL="0" indent="0">
              <a:buNone/>
            </a:pPr>
            <a:r>
              <a:rPr lang="en-US" b="1" dirty="0"/>
              <a:t>/</a:t>
            </a:r>
            <a:r>
              <a:rPr lang="en-US" b="1" dirty="0" err="1"/>
              <a:t>usr</a:t>
            </a:r>
            <a:endParaRPr lang="en-US" b="1" dirty="0"/>
          </a:p>
          <a:p>
            <a:pPr>
              <a:buNone/>
            </a:pPr>
            <a:r>
              <a:rPr lang="en-US" dirty="0"/>
              <a:t>	One of the largest sections of the Linux file system</a:t>
            </a:r>
          </a:p>
          <a:p>
            <a:pPr>
              <a:buNone/>
            </a:pPr>
            <a:r>
              <a:rPr lang="en-US" dirty="0"/>
              <a:t>	Contains read-only data that are shared between various users</a:t>
            </a:r>
          </a:p>
          <a:p>
            <a:pPr>
              <a:buNone/>
            </a:pPr>
            <a:r>
              <a:rPr lang="en-US" dirty="0"/>
              <a:t>      e.g. the manual pages needed for the command </a:t>
            </a:r>
            <a:r>
              <a:rPr lang="en-US" b="1" i="1" dirty="0"/>
              <a:t>man </a:t>
            </a:r>
            <a:r>
              <a:rPr lang="en-US" dirty="0"/>
              <a:t>stored in /</a:t>
            </a:r>
            <a:r>
              <a:rPr lang="en-US" dirty="0" err="1"/>
              <a:t>usr</a:t>
            </a:r>
            <a:r>
              <a:rPr lang="en-US" dirty="0"/>
              <a:t>/man directory</a:t>
            </a:r>
          </a:p>
          <a:p>
            <a:pPr marL="0" indent="0">
              <a:buNone/>
            </a:pPr>
            <a:endParaRPr lang="en-US" dirty="0"/>
          </a:p>
          <a:p>
            <a:pPr marL="0" indent="0">
              <a:buNone/>
            </a:pPr>
            <a:r>
              <a:rPr lang="en-US" b="1" dirty="0"/>
              <a:t>/var</a:t>
            </a:r>
          </a:p>
          <a:p>
            <a:pPr>
              <a:buNone/>
            </a:pPr>
            <a:r>
              <a:rPr lang="en-US" dirty="0"/>
              <a:t>	Contain data that keeps on changing as the system is running.</a:t>
            </a:r>
          </a:p>
          <a:p>
            <a:pPr>
              <a:buNone/>
            </a:pPr>
            <a:r>
              <a:rPr lang="en-US" dirty="0"/>
              <a:t>     E.g. /</a:t>
            </a:r>
            <a:r>
              <a:rPr lang="en-US" dirty="0" err="1"/>
              <a:t>var</a:t>
            </a:r>
            <a:r>
              <a:rPr lang="en-US" dirty="0"/>
              <a:t>/spool/mail directory keeps the mail of user</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BE79C-7ED8-D779-CD00-7A91B0C702F9}"/>
              </a:ext>
            </a:extLst>
          </p:cNvPr>
          <p:cNvSpPr>
            <a:spLocks noGrp="1"/>
          </p:cNvSpPr>
          <p:nvPr>
            <p:ph type="title"/>
          </p:nvPr>
        </p:nvSpPr>
        <p:spPr>
          <a:xfrm>
            <a:off x="838200" y="28951"/>
            <a:ext cx="10515600" cy="845106"/>
          </a:xfrm>
        </p:spPr>
        <p:txBody>
          <a:bodyPr/>
          <a:lstStyle/>
          <a:p>
            <a:r>
              <a:rPr lang="en-US" b="0" i="0" dirty="0">
                <a:solidFill>
                  <a:srgbClr val="610B38"/>
                </a:solidFill>
                <a:effectLst/>
                <a:latin typeface="erdana"/>
              </a:rPr>
              <a:t>Linux File System Features</a:t>
            </a:r>
            <a:endParaRPr lang="en-US" dirty="0"/>
          </a:p>
        </p:txBody>
      </p:sp>
      <p:sp>
        <p:nvSpPr>
          <p:cNvPr id="3" name="Content Placeholder 2">
            <a:extLst>
              <a:ext uri="{FF2B5EF4-FFF2-40B4-BE49-F238E27FC236}">
                <a16:creationId xmlns:a16="http://schemas.microsoft.com/office/drawing/2014/main" id="{66B6A7CB-3526-52D7-914C-DCE1413F4F86}"/>
              </a:ext>
            </a:extLst>
          </p:cNvPr>
          <p:cNvSpPr>
            <a:spLocks noGrp="1"/>
          </p:cNvSpPr>
          <p:nvPr>
            <p:ph idx="1"/>
          </p:nvPr>
        </p:nvSpPr>
        <p:spPr>
          <a:xfrm>
            <a:off x="838200" y="870887"/>
            <a:ext cx="10515600" cy="5516465"/>
          </a:xfrm>
        </p:spPr>
        <p:txBody>
          <a:bodyPr>
            <a:normAutofit fontScale="92500"/>
          </a:bodyPr>
          <a:lstStyle/>
          <a:p>
            <a:r>
              <a:rPr lang="en-IN" sz="2200" b="1" i="0" dirty="0">
                <a:solidFill>
                  <a:srgbClr val="000000"/>
                </a:solidFill>
                <a:effectLst/>
              </a:rPr>
              <a:t>Specifying paths:</a:t>
            </a:r>
            <a:r>
              <a:rPr lang="en-IN" sz="2200" b="0" i="0" dirty="0">
                <a:solidFill>
                  <a:srgbClr val="000000"/>
                </a:solidFill>
                <a:effectLst/>
              </a:rPr>
              <a:t> Linux does not use the backslash (\) to separate the components; it uses forward slash (/) as an alternative. </a:t>
            </a:r>
          </a:p>
          <a:p>
            <a:endParaRPr lang="en-IN" sz="2200" b="0" i="0" dirty="0">
              <a:solidFill>
                <a:srgbClr val="000000"/>
              </a:solidFill>
              <a:effectLst/>
            </a:endParaRPr>
          </a:p>
          <a:p>
            <a:r>
              <a:rPr lang="en-IN" sz="2200" b="1" i="0" dirty="0">
                <a:solidFill>
                  <a:srgbClr val="000000"/>
                </a:solidFill>
                <a:effectLst/>
              </a:rPr>
              <a:t>Partition, Directories, and Drives:</a:t>
            </a:r>
            <a:r>
              <a:rPr lang="en-IN" sz="2200" b="0" i="0" dirty="0">
                <a:solidFill>
                  <a:srgbClr val="000000"/>
                </a:solidFill>
                <a:effectLst/>
              </a:rPr>
              <a:t> Linux does not use drive letters to organize the drive as Windows does. In Linux, we cannot tell whether we are addressing a partition, a network device, or an "ordinary" directory and a Drive.</a:t>
            </a:r>
          </a:p>
          <a:p>
            <a:endParaRPr lang="en-IN" sz="2200" b="1" i="0" dirty="0">
              <a:solidFill>
                <a:srgbClr val="000000"/>
              </a:solidFill>
              <a:effectLst/>
            </a:endParaRPr>
          </a:p>
          <a:p>
            <a:r>
              <a:rPr lang="en-IN" sz="2200" b="1" i="0" dirty="0">
                <a:solidFill>
                  <a:srgbClr val="000000"/>
                </a:solidFill>
                <a:effectLst/>
              </a:rPr>
              <a:t>Case Sensitivity:</a:t>
            </a:r>
            <a:r>
              <a:rPr lang="en-IN" sz="2200" b="0" i="0" dirty="0">
                <a:solidFill>
                  <a:srgbClr val="000000"/>
                </a:solidFill>
                <a:effectLst/>
              </a:rPr>
              <a:t> Linux file system is case sensitive. It distinguishes between lowercase and uppercase file names. Such as, there is a difference between test.txt and Test.txt in Linux. </a:t>
            </a:r>
          </a:p>
          <a:p>
            <a:endParaRPr lang="en-IN" sz="2200" b="1" i="0" dirty="0">
              <a:solidFill>
                <a:srgbClr val="000000"/>
              </a:solidFill>
              <a:effectLst/>
            </a:endParaRPr>
          </a:p>
          <a:p>
            <a:r>
              <a:rPr lang="en-IN" sz="2200" b="1" i="0" dirty="0">
                <a:solidFill>
                  <a:srgbClr val="000000"/>
                </a:solidFill>
                <a:effectLst/>
              </a:rPr>
              <a:t>File Extensions:</a:t>
            </a:r>
            <a:r>
              <a:rPr lang="en-IN" sz="2200" b="0" i="0" dirty="0">
                <a:solidFill>
                  <a:srgbClr val="000000"/>
                </a:solidFill>
                <a:effectLst/>
              </a:rPr>
              <a:t> In Linux, a file may have the extension '.txt,' but it is not necessary that a file should have a file extension. </a:t>
            </a:r>
          </a:p>
          <a:p>
            <a:endParaRPr lang="en-IN" sz="2200" b="1" i="0" dirty="0">
              <a:solidFill>
                <a:srgbClr val="000000"/>
              </a:solidFill>
              <a:effectLst/>
            </a:endParaRPr>
          </a:p>
          <a:p>
            <a:r>
              <a:rPr lang="en-IN" sz="2200" b="1" i="0" dirty="0">
                <a:solidFill>
                  <a:srgbClr val="000000"/>
                </a:solidFill>
                <a:effectLst/>
              </a:rPr>
              <a:t>Hidden files:</a:t>
            </a:r>
            <a:r>
              <a:rPr lang="en-IN" sz="2200" b="0" i="0" dirty="0">
                <a:solidFill>
                  <a:srgbClr val="000000"/>
                </a:solidFill>
                <a:effectLst/>
              </a:rPr>
              <a:t> Linux distinguishes between standard files and hidden files, mostly the configuration files are hidden in Linux OS. Usually, we don't need to access or read the hidden files. The hidden files in Linux are represented by a dot (.) before the file name</a:t>
            </a:r>
            <a:endParaRPr lang="en-US" sz="2200" dirty="0"/>
          </a:p>
        </p:txBody>
      </p:sp>
    </p:spTree>
    <p:extLst>
      <p:ext uri="{BB962C8B-B14F-4D97-AF65-F5344CB8AC3E}">
        <p14:creationId xmlns:p14="http://schemas.microsoft.com/office/powerpoint/2010/main" val="38981475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A64BF506-9018-771E-43B8-33F11DA79C18}"/>
              </a:ext>
            </a:extLst>
          </p:cNvPr>
          <p:cNvSpPr>
            <a:spLocks noGrp="1" noChangeArrowheads="1"/>
          </p:cNvSpPr>
          <p:nvPr>
            <p:ph type="title"/>
          </p:nvPr>
        </p:nvSpPr>
        <p:spPr>
          <a:xfrm>
            <a:off x="1981200" y="2819400"/>
            <a:ext cx="8229600" cy="1143000"/>
          </a:xfrm>
        </p:spPr>
        <p:txBody>
          <a:bodyPr/>
          <a:lstStyle/>
          <a:p>
            <a:pPr algn="ctr" eaLnBrk="1" hangingPunct="1"/>
            <a:r>
              <a:rPr lang="en-US" altLang="en-US" sz="6600" b="1"/>
              <a:t>Thanks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7207</TotalTime>
  <Words>1701</Words>
  <Application>Microsoft Office PowerPoint</Application>
  <PresentationFormat>Widescreen</PresentationFormat>
  <Paragraphs>176</Paragraphs>
  <Slides>20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Calibri</vt:lpstr>
      <vt:lpstr>Calibri Light</vt:lpstr>
      <vt:lpstr>erdana</vt:lpstr>
      <vt:lpstr>inter-regular</vt:lpstr>
      <vt:lpstr>Muli</vt:lpstr>
      <vt:lpstr>Wingdings</vt:lpstr>
      <vt:lpstr>Office Theme</vt:lpstr>
      <vt:lpstr>PowerPoint Presentation</vt:lpstr>
      <vt:lpstr>AGENDA</vt:lpstr>
      <vt:lpstr>What is Linux File System?</vt:lpstr>
      <vt:lpstr>Types of Linux File Systems</vt:lpstr>
      <vt:lpstr>ext2, ext3, ext4</vt:lpstr>
      <vt:lpstr>JFS</vt:lpstr>
      <vt:lpstr>ReiserFS</vt:lpstr>
      <vt:lpstr>Types of Files in Linux</vt:lpstr>
      <vt:lpstr>Linux Types of Files</vt:lpstr>
      <vt:lpstr>PowerPoint Presentation</vt:lpstr>
      <vt:lpstr>Linux Types of Files</vt:lpstr>
      <vt:lpstr>The following table lists the symbol of different types of files.</vt:lpstr>
      <vt:lpstr>File System Architecture</vt:lpstr>
      <vt:lpstr>File System Directories</vt:lpstr>
      <vt:lpstr>File System Structure</vt:lpstr>
      <vt:lpstr>File System Structure</vt:lpstr>
      <vt:lpstr>File System Structure</vt:lpstr>
      <vt:lpstr>File System Structure</vt:lpstr>
      <vt:lpstr>Linux File System Features</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Vinod Jadhav</dc:creator>
  <cp:lastModifiedBy>Vinod Kumar Jadhav</cp:lastModifiedBy>
  <cp:revision>24</cp:revision>
  <dcterms:created xsi:type="dcterms:W3CDTF">2023-02-23T09:48:54Z</dcterms:created>
  <dcterms:modified xsi:type="dcterms:W3CDTF">2025-09-09T11:02:58Z</dcterms:modified>
</cp:coreProperties>
</file>