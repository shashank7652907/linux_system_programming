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3" r:id="rId1"/>
  </p:sldMasterIdLst>
  <p:notesMasterIdLst>
    <p:notesMasterId r:id="rId42"/>
  </p:notesMasterIdLst>
  <p:sldIdLst>
    <p:sldId id="889" r:id="rId2"/>
    <p:sldId id="939" r:id="rId3"/>
    <p:sldId id="954" r:id="rId4"/>
    <p:sldId id="890" r:id="rId5"/>
    <p:sldId id="944" r:id="rId6"/>
    <p:sldId id="946" r:id="rId7"/>
    <p:sldId id="947" r:id="rId8"/>
    <p:sldId id="892" r:id="rId9"/>
    <p:sldId id="893" r:id="rId10"/>
    <p:sldId id="761" r:id="rId11"/>
    <p:sldId id="762" r:id="rId12"/>
    <p:sldId id="763" r:id="rId13"/>
    <p:sldId id="764" r:id="rId14"/>
    <p:sldId id="919" r:id="rId15"/>
    <p:sldId id="920" r:id="rId16"/>
    <p:sldId id="771" r:id="rId17"/>
    <p:sldId id="865" r:id="rId18"/>
    <p:sldId id="951" r:id="rId19"/>
    <p:sldId id="956" r:id="rId20"/>
    <p:sldId id="866" r:id="rId21"/>
    <p:sldId id="930" r:id="rId22"/>
    <p:sldId id="867" r:id="rId23"/>
    <p:sldId id="928" r:id="rId24"/>
    <p:sldId id="868" r:id="rId25"/>
    <p:sldId id="926" r:id="rId26"/>
    <p:sldId id="922" r:id="rId27"/>
    <p:sldId id="872" r:id="rId28"/>
    <p:sldId id="923" r:id="rId29"/>
    <p:sldId id="873" r:id="rId30"/>
    <p:sldId id="938" r:id="rId31"/>
    <p:sldId id="931" r:id="rId32"/>
    <p:sldId id="932" r:id="rId33"/>
    <p:sldId id="936" r:id="rId34"/>
    <p:sldId id="933" r:id="rId35"/>
    <p:sldId id="937" r:id="rId36"/>
    <p:sldId id="934" r:id="rId37"/>
    <p:sldId id="874" r:id="rId38"/>
    <p:sldId id="876" r:id="rId39"/>
    <p:sldId id="877" r:id="rId40"/>
    <p:sldId id="836" r:id="rId4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FF0066"/>
    <a:srgbClr val="00FF00"/>
    <a:srgbClr val="3399FF"/>
    <a:srgbClr val="FF0000"/>
    <a:srgbClr val="FF00FF"/>
    <a:srgbClr val="339933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86486" autoAdjust="0"/>
  </p:normalViewPr>
  <p:slideViewPr>
    <p:cSldViewPr>
      <p:cViewPr varScale="1">
        <p:scale>
          <a:sx n="66" d="100"/>
          <a:sy n="66" d="100"/>
        </p:scale>
        <p:origin x="1304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74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39.xml"/><Relationship Id="rId1" Type="http://schemas.openxmlformats.org/officeDocument/2006/relationships/slide" Target="slides/slide2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10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86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0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710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10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4A06642B-1D29-4E0B-AB48-E4B7182D1F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A06642B-1D29-4E0B-AB48-E4B7182D1F46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msg_perm</a:t>
            </a:r>
            <a:r>
              <a:rPr lang="en-US" dirty="0"/>
              <a:t> An instance of the </a:t>
            </a:r>
            <a:r>
              <a:rPr lang="en-US" dirty="0" err="1"/>
              <a:t>ipc_perm</a:t>
            </a:r>
            <a:r>
              <a:rPr lang="en-US" dirty="0"/>
              <a:t> structure, which is defined for us in </a:t>
            </a:r>
            <a:r>
              <a:rPr lang="en-US" dirty="0" err="1"/>
              <a:t>linux</a:t>
            </a:r>
            <a:r>
              <a:rPr lang="en-US" dirty="0"/>
              <a:t>/</a:t>
            </a:r>
            <a:r>
              <a:rPr lang="en-US" dirty="0" err="1"/>
              <a:t>ipc.h</a:t>
            </a:r>
            <a:r>
              <a:rPr lang="en-US" dirty="0"/>
              <a:t>. This holds the permission information for the message queue, including the access permissions, and information about the creator of the queue (</a:t>
            </a:r>
            <a:r>
              <a:rPr lang="en-US" dirty="0" err="1"/>
              <a:t>uid</a:t>
            </a:r>
            <a:r>
              <a:rPr lang="en-US" dirty="0"/>
              <a:t>, etc). </a:t>
            </a:r>
          </a:p>
          <a:p>
            <a:r>
              <a:rPr lang="en-US" b="1" dirty="0" err="1"/>
              <a:t>msg_first</a:t>
            </a:r>
            <a:r>
              <a:rPr lang="en-US" dirty="0"/>
              <a:t> Link to the first message in the queue (the head of the list). </a:t>
            </a:r>
          </a:p>
          <a:p>
            <a:r>
              <a:rPr lang="en-US" b="1" dirty="0" err="1"/>
              <a:t>msg_last</a:t>
            </a:r>
            <a:r>
              <a:rPr lang="en-US" dirty="0"/>
              <a:t> Link to the last message in the queue (the tail of the list). </a:t>
            </a:r>
          </a:p>
          <a:p>
            <a:r>
              <a:rPr lang="en-US" b="1" dirty="0" err="1"/>
              <a:t>msg_stime</a:t>
            </a:r>
            <a:r>
              <a:rPr lang="en-US" dirty="0"/>
              <a:t> Timestamp (</a:t>
            </a:r>
            <a:r>
              <a:rPr lang="en-US" dirty="0" err="1"/>
              <a:t>time_t</a:t>
            </a:r>
            <a:r>
              <a:rPr lang="en-US" dirty="0"/>
              <a:t>) of the last message that was sent to the queue. </a:t>
            </a:r>
          </a:p>
          <a:p>
            <a:r>
              <a:rPr lang="en-US" b="1" dirty="0" err="1"/>
              <a:t>msg_rtime</a:t>
            </a:r>
            <a:r>
              <a:rPr lang="en-US" dirty="0"/>
              <a:t> Timestamp of the last message retrieved from the queue. </a:t>
            </a:r>
          </a:p>
          <a:p>
            <a:r>
              <a:rPr lang="en-US" b="1" dirty="0" err="1"/>
              <a:t>msg_ctime</a:t>
            </a:r>
            <a:r>
              <a:rPr lang="en-US" dirty="0"/>
              <a:t> Timestamp of the last ``change'' made to the queue (more on this later). </a:t>
            </a:r>
          </a:p>
          <a:p>
            <a:r>
              <a:rPr lang="en-US" b="1" dirty="0" err="1"/>
              <a:t>wwait</a:t>
            </a:r>
            <a:r>
              <a:rPr lang="en-US" dirty="0"/>
              <a:t> and </a:t>
            </a:r>
          </a:p>
          <a:p>
            <a:r>
              <a:rPr lang="en-US" b="1" dirty="0" err="1"/>
              <a:t>rwait</a:t>
            </a:r>
            <a:r>
              <a:rPr lang="en-US" dirty="0"/>
              <a:t> Pointers into the kernel's </a:t>
            </a:r>
            <a:r>
              <a:rPr lang="en-US" i="1" dirty="0"/>
              <a:t>wait queue</a:t>
            </a:r>
            <a:r>
              <a:rPr lang="en-US" dirty="0"/>
              <a:t>. They are used when an operation on a message queue deems the process go into a sleep state (i.e. queue is full and the process is waiting for an opening). </a:t>
            </a:r>
          </a:p>
          <a:p>
            <a:r>
              <a:rPr lang="en-US" b="1" dirty="0" err="1"/>
              <a:t>msg_cbytes</a:t>
            </a:r>
            <a:r>
              <a:rPr lang="en-US" dirty="0"/>
              <a:t> Total number of bytes residing on the queue (sum of the sizes of all messages). </a:t>
            </a:r>
          </a:p>
          <a:p>
            <a:r>
              <a:rPr lang="en-US" b="1" dirty="0" err="1"/>
              <a:t>msg_qnum</a:t>
            </a:r>
            <a:r>
              <a:rPr lang="en-US" dirty="0"/>
              <a:t> Number of messages currently in the queue. </a:t>
            </a:r>
          </a:p>
          <a:p>
            <a:r>
              <a:rPr lang="en-US" b="1" dirty="0" err="1"/>
              <a:t>msg_qbytes</a:t>
            </a:r>
            <a:r>
              <a:rPr lang="en-US" dirty="0"/>
              <a:t> Maximum number of bytes on the queue. </a:t>
            </a:r>
          </a:p>
          <a:p>
            <a:r>
              <a:rPr lang="en-US" b="1" dirty="0" err="1"/>
              <a:t>msg_lspid</a:t>
            </a:r>
            <a:r>
              <a:rPr lang="en-US" dirty="0"/>
              <a:t> The PID of the process who sent the last message. </a:t>
            </a:r>
          </a:p>
          <a:p>
            <a:r>
              <a:rPr lang="en-US" b="1" dirty="0" err="1"/>
              <a:t>msg_lrpid</a:t>
            </a:r>
            <a:r>
              <a:rPr lang="en-US" dirty="0"/>
              <a:t> The PID of the process who retrieved the last message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A06642B-1D29-4E0B-AB48-E4B7182D1F46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022E6-F82D-41A2-B07C-DA56E893F1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876C5C-5413-457C-9EFF-9D6552F622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F8770C-032A-43A9-BAE2-A105EB4F2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5D57A-90DE-40FF-8860-69AFEACA9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0EE2F0-C0EE-49F3-AB34-0087A74EB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4A6237-0A5F-42BC-910E-51D2322750C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982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DF852-F1AC-4897-BFC3-6E570ACF1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359D0-DBC9-4B46-BC28-62715CA76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36157F-E93C-4284-9746-6B17E7C2B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25EDB-54B0-4901-974A-E4D580526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503A9-A478-469D-9B03-6461A1A6B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16AD72C-C9BF-43FA-8646-3E5E011CFA5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068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5F0D1-FBA7-4D2F-93D7-61D061C11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C93F0-D1ED-4212-A2F5-FA477149BC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42D60-4112-4AEC-8ED1-253964D16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FA8C0-CBE0-4E80-A952-2D153C8A5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D7900-98B5-4904-AFC0-ACCA9A1B6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5297C2-EA89-45EB-97F9-79F224F57BD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949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86256-A1A3-45D2-B1B8-41F73306B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2E3C7-2311-4E43-A570-65709D6572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0AB8D6-0607-458D-8774-A8530C7516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30ADD9-CD5A-4812-A764-C9660686D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56375A-AFBA-4DB8-BD2B-16300601A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0C2A1E-9240-4674-96FB-C88A13A20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ECD91-4445-40AD-BB08-A4CB96F5162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511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0CC5B-4131-4876-835E-195342770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FF0251-71CE-4532-A584-4C95D7ACE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55DEED-5D01-4128-ABFD-13375A651D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9DAB7B-9113-434D-9A43-51E497EF9C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BF797A-0D7E-4142-9D27-B100823173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ED0B5E-EF8D-44E6-B19E-DD665452B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5CE8F1-F302-4141-84E1-EB8C7D300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95B521-0803-4119-AF4B-C70D580CD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6EC7A4-9ADF-49FB-9971-B0330EA2D2B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257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EEF5B-0B14-4EEB-A1B3-4D3569C1A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1A9D3E-57C9-4234-9BC2-702154B6B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023340-7FFE-40D9-AEB7-40BC95D8C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D715CD-DB87-4D64-8B5D-D85DE5511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1A21EC3-A3DB-44AC-882D-DFC849C5F43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281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3BBA07-BD81-4899-8869-23EA5C320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0D6D35-3C3F-4CE6-BF7F-903B2FC94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FCE8E4-6A46-480F-B07E-69CD772A3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59A21E6-9800-41E7-97E4-96DB6058F91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222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1D6E0-888F-4810-9CD9-062D9ACF6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97F3A-E8DE-49D7-A244-BCECEA6289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FAFC71-9DD5-401C-A45F-9AFF03C015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C67685-CA88-4DAF-8DF0-0E2910C46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F00885-DD52-41B5-BD5C-1BD50CE30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86E746-F86D-418F-B409-05687375C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8D52EE-987B-4EA2-8207-0A0D6548482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85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A3EAA-AEBC-46DC-A72C-F9867D395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5C7D31-055E-47A6-A12A-0FA7B099B8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095844-E70A-473D-9CFC-05F9B41A69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FC481-25D9-443F-96CF-2CF28B9A3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F551BE-A404-46DB-9C66-B0A05C9FB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73F5C0-EEFD-4448-BE5A-DCDA3A62F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46C736-1C55-461B-ADDC-F6BE5CF456B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99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3FEBF-C02D-4496-B20D-3387DCCE3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A50818-2B6E-4692-AEB3-5A9D144DF7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1D068F-F185-4C80-8B5A-DE8A8B6C8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ECEEE4-4D23-4EE7-8A63-CC006CD0F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9E5D5-A1CD-49D0-8D80-805F78687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F9B691-87A5-40B0-9DDE-C8EA0A292B7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746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5AA253-72DB-4109-9948-02B9260B9F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ABF7C3-5980-4E85-B967-3C7048E726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836C4E-4965-45AD-90F3-B7FBEE2D4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47514C-D481-4EE4-BCBA-653F20E43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06C78-C254-4223-8066-D61599795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12A05E-40C6-4BF9-888C-25617D7835C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0809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5C9874-722A-4A48-8D77-3420E9BF24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625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DBF27E-8200-47AB-A38B-9C6174530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064952-8AF7-40F5-AD73-69842955D3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F29BCE-B639-4218-8401-1766AAA94C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E5770B-E7FF-45B7-8961-4F74A5D795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0F6ED1-2818-459B-967C-A0CA6716CB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B944E73-F787-4E6B-B9A8-4B4DB2A5C47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894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434" name="WordArt 2"/>
          <p:cNvSpPr>
            <a:spLocks noChangeArrowheads="1" noChangeShapeType="1" noTextEdit="1"/>
          </p:cNvSpPr>
          <p:nvPr/>
        </p:nvSpPr>
        <p:spPr bwMode="auto">
          <a:xfrm>
            <a:off x="2514600" y="2819400"/>
            <a:ext cx="4267200" cy="990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b="1" i="1" kern="10" dirty="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/>
                  </a:outerShdw>
                </a:effectLst>
                <a:latin typeface="Arial Black"/>
              </a:rPr>
              <a:t>Pipes</a:t>
            </a:r>
          </a:p>
        </p:txBody>
      </p:sp>
      <p:sp>
        <p:nvSpPr>
          <p:cNvPr id="914435" name="Line 3"/>
          <p:cNvSpPr>
            <a:spLocks noChangeShapeType="1"/>
          </p:cNvSpPr>
          <p:nvPr/>
        </p:nvSpPr>
        <p:spPr bwMode="auto">
          <a:xfrm>
            <a:off x="0" y="6234113"/>
            <a:ext cx="9144000" cy="0"/>
          </a:xfrm>
          <a:prstGeom prst="line">
            <a:avLst/>
          </a:prstGeom>
          <a:noFill/>
          <a:ln w="15875">
            <a:solidFill>
              <a:srgbClr val="996633"/>
            </a:solidFill>
            <a:round/>
            <a:headEnd/>
            <a:tailEnd/>
          </a:ln>
          <a:effectLst>
            <a:outerShdw dist="45791" dir="3378596" algn="ctr" rotWithShape="0">
              <a:srgbClr val="4D4D4D"/>
            </a:outerShdw>
          </a:effectLst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14436" name="Line 4"/>
          <p:cNvSpPr>
            <a:spLocks noChangeShapeType="1"/>
          </p:cNvSpPr>
          <p:nvPr/>
        </p:nvSpPr>
        <p:spPr bwMode="auto">
          <a:xfrm>
            <a:off x="19050" y="1066800"/>
            <a:ext cx="9144000" cy="0"/>
          </a:xfrm>
          <a:prstGeom prst="line">
            <a:avLst/>
          </a:prstGeom>
          <a:noFill/>
          <a:ln w="15875">
            <a:solidFill>
              <a:srgbClr val="996633"/>
            </a:solidFill>
            <a:round/>
            <a:headEnd/>
            <a:tailEnd/>
          </a:ln>
          <a:effectLst>
            <a:outerShdw dist="45791" dir="3378596" algn="ctr" rotWithShape="0">
              <a:srgbClr val="4D4D4D"/>
            </a:outerShdw>
          </a:effectLst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14437" name="Text Box 5" descr="70%"/>
          <p:cNvSpPr txBox="1">
            <a:spLocks noChangeArrowheads="1"/>
          </p:cNvSpPr>
          <p:nvPr/>
        </p:nvSpPr>
        <p:spPr bwMode="auto">
          <a:xfrm>
            <a:off x="5105400" y="41910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>
                <a:solidFill>
                  <a:srgbClr val="FF5050"/>
                </a:solidFill>
              </a:rPr>
              <a:t>Better connectivity</a:t>
            </a:r>
          </a:p>
        </p:txBody>
      </p:sp>
    </p:spTree>
  </p:cSld>
  <p:clrMapOvr>
    <a:masterClrMapping/>
  </p:clrMapOvr>
  <p:transition spd="med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144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1" dur="500"/>
                                        <p:tgtEl>
                                          <p:spTgt spid="914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14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14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14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14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4434" grpId="0" animBg="1"/>
      <p:bldP spid="914437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543391"/>
            <a:ext cx="8229600" cy="685800"/>
          </a:xfrm>
        </p:spPr>
        <p:txBody>
          <a:bodyPr>
            <a:normAutofit/>
          </a:bodyPr>
          <a:lstStyle/>
          <a:p>
            <a:r>
              <a:rPr lang="en-US" sz="3200" b="1" dirty="0"/>
              <a:t>What are pipes?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0050" y="1211262"/>
            <a:ext cx="7886700" cy="4351338"/>
          </a:xfrm>
        </p:spPr>
        <p:txBody>
          <a:bodyPr/>
          <a:lstStyle/>
          <a:p>
            <a:pPr>
              <a:buNone/>
            </a:pPr>
            <a:r>
              <a:rPr lang="en-US" dirty="0"/>
              <a:t>Pipes are the one of  the IPC mechanism to establish communication</a:t>
            </a:r>
          </a:p>
          <a:p>
            <a:pPr>
              <a:buNone/>
            </a:pPr>
            <a:r>
              <a:rPr lang="en-US" dirty="0"/>
              <a:t>b/w the processes.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Types of Pipes:</a:t>
            </a:r>
          </a:p>
          <a:p>
            <a:pPr marL="514350" indent="-274320">
              <a:buAutoNum type="arabicPeriod"/>
            </a:pPr>
            <a:r>
              <a:rPr lang="en-US" dirty="0"/>
              <a:t>Unnamed Pipes ( pipes)</a:t>
            </a:r>
          </a:p>
          <a:p>
            <a:pPr marL="582930" lvl="1" indent="0">
              <a:buNone/>
            </a:pPr>
            <a:r>
              <a:rPr lang="en-US" dirty="0"/>
              <a:t>Unnamed pipes also called as Pipes </a:t>
            </a:r>
          </a:p>
          <a:p>
            <a:pPr marL="514350" indent="-274320">
              <a:buAutoNum type="arabicPeriod"/>
            </a:pPr>
            <a:r>
              <a:rPr lang="en-US" dirty="0"/>
              <a:t>Named pipes( FIFOs) </a:t>
            </a:r>
          </a:p>
          <a:p>
            <a:pPr marL="240030" indent="0">
              <a:buNone/>
            </a:pPr>
            <a:r>
              <a:rPr lang="en-US" dirty="0"/>
              <a:t>	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Text Box 2"/>
          <p:cNvSpPr txBox="1">
            <a:spLocks noChangeArrowheads="1"/>
          </p:cNvSpPr>
          <p:nvPr/>
        </p:nvSpPr>
        <p:spPr bwMode="auto">
          <a:xfrm>
            <a:off x="228600" y="1066800"/>
            <a:ext cx="8763000" cy="48243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  <a:buClr>
                <a:srgbClr val="3399FF"/>
              </a:buClr>
              <a:buFont typeface="Wingdings" pitchFamily="2" charset="2"/>
              <a:buChar char="Ø"/>
            </a:pPr>
            <a:r>
              <a:rPr lang="en-US" sz="2700" dirty="0"/>
              <a:t> Simple and flexible </a:t>
            </a:r>
          </a:p>
          <a:p>
            <a:pPr algn="just">
              <a:spcBef>
                <a:spcPct val="50000"/>
              </a:spcBef>
              <a:buClr>
                <a:srgbClr val="0066FF"/>
              </a:buClr>
              <a:buFont typeface="Wingdings" pitchFamily="2" charset="2"/>
              <a:buChar char="Ø"/>
            </a:pPr>
            <a:r>
              <a:rPr lang="en-US" sz="2700" dirty="0"/>
              <a:t> It allows  only related  process to access.</a:t>
            </a:r>
          </a:p>
          <a:p>
            <a:pPr algn="just">
              <a:spcBef>
                <a:spcPct val="50000"/>
              </a:spcBef>
              <a:buClr>
                <a:srgbClr val="0066FF"/>
              </a:buClr>
              <a:buFont typeface="Wingdings" pitchFamily="2" charset="2"/>
              <a:buChar char="Ø"/>
            </a:pPr>
            <a:r>
              <a:rPr lang="en-US" sz="2700" dirty="0"/>
              <a:t> Pipe() returns two descriptors to read and write </a:t>
            </a:r>
          </a:p>
          <a:p>
            <a:pPr algn="just">
              <a:spcBef>
                <a:spcPct val="50000"/>
              </a:spcBef>
              <a:buClr>
                <a:srgbClr val="0066FF"/>
              </a:buClr>
              <a:buFont typeface="Wingdings" pitchFamily="2" charset="2"/>
              <a:buChar char="Ø"/>
            </a:pPr>
            <a:r>
              <a:rPr lang="en-US" sz="2200" dirty="0"/>
              <a:t> </a:t>
            </a:r>
            <a:r>
              <a:rPr lang="en-US" sz="2700" dirty="0"/>
              <a:t>Best suitable to implement Producer/Consumer interaction                   </a:t>
            </a:r>
          </a:p>
          <a:p>
            <a:pPr algn="just">
              <a:spcBef>
                <a:spcPct val="50000"/>
              </a:spcBef>
              <a:buClr>
                <a:srgbClr val="0066FF"/>
              </a:buClr>
            </a:pPr>
            <a:r>
              <a:rPr lang="en-US" sz="2700" dirty="0"/>
              <a:t>    among processes.</a:t>
            </a:r>
          </a:p>
          <a:p>
            <a:pPr algn="just">
              <a:spcBef>
                <a:spcPct val="50000"/>
              </a:spcBef>
              <a:buClr>
                <a:srgbClr val="0066FF"/>
              </a:buClr>
              <a:buFont typeface="Wingdings" pitchFamily="2" charset="2"/>
              <a:buChar char="Ø"/>
            </a:pPr>
            <a:r>
              <a:rPr lang="en-US" sz="2700" dirty="0"/>
              <a:t> It doesn’t have user mode process synchronization facility.</a:t>
            </a:r>
          </a:p>
          <a:p>
            <a:pPr algn="just">
              <a:spcBef>
                <a:spcPct val="50000"/>
              </a:spcBef>
              <a:buClr>
                <a:srgbClr val="0066FF"/>
              </a:buClr>
              <a:buFont typeface="Wingdings" pitchFamily="2" charset="2"/>
              <a:buChar char="Ø"/>
            </a:pPr>
            <a:r>
              <a:rPr lang="en-US" sz="2500" dirty="0"/>
              <a:t> Using this, output of one program can be fed to input of other</a:t>
            </a:r>
          </a:p>
          <a:p>
            <a:pPr algn="just">
              <a:spcBef>
                <a:spcPct val="50000"/>
              </a:spcBef>
              <a:buClr>
                <a:srgbClr val="0066FF"/>
              </a:buClr>
              <a:buFont typeface="Wingdings" pitchFamily="2" charset="2"/>
              <a:buChar char="Ø"/>
            </a:pPr>
            <a:r>
              <a:rPr lang="en-US" sz="2700" dirty="0"/>
              <a:t> Data is processed in first in first out basis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228600"/>
            <a:ext cx="7543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Pipes : Unnamed Pipes            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Text Box 2"/>
          <p:cNvSpPr txBox="1">
            <a:spLocks noChangeArrowheads="1"/>
          </p:cNvSpPr>
          <p:nvPr/>
        </p:nvSpPr>
        <p:spPr bwMode="auto">
          <a:xfrm>
            <a:off x="304800" y="762000"/>
            <a:ext cx="8458200" cy="203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We use the term </a:t>
            </a:r>
            <a:r>
              <a:rPr lang="en-US" i="1" dirty="0"/>
              <a:t>pipe</a:t>
            </a:r>
            <a:r>
              <a:rPr lang="en-US" dirty="0"/>
              <a:t> when we connected a data flow from one process to another.</a:t>
            </a:r>
          </a:p>
          <a:p>
            <a:pPr>
              <a:spcBef>
                <a:spcPct val="50000"/>
              </a:spcBef>
            </a:pPr>
            <a:r>
              <a:rPr lang="en-US" dirty="0"/>
              <a:t>In Linux, we are familiar with a pipe “ | ” which is used for linking shell commands.</a:t>
            </a:r>
          </a:p>
          <a:p>
            <a:pPr>
              <a:spcBef>
                <a:spcPct val="50000"/>
              </a:spcBef>
            </a:pPr>
            <a:r>
              <a:rPr lang="en-US" dirty="0"/>
              <a:t> Ex:</a:t>
            </a:r>
          </a:p>
          <a:p>
            <a:pPr>
              <a:spcBef>
                <a:spcPct val="50000"/>
              </a:spcBef>
            </a:pPr>
            <a:r>
              <a:rPr lang="en-US" dirty="0">
                <a:solidFill>
                  <a:schemeClr val="tx2"/>
                </a:solidFill>
              </a:rPr>
              <a:t>            </a:t>
            </a:r>
            <a:r>
              <a:rPr lang="en-US" i="1" dirty="0">
                <a:solidFill>
                  <a:schemeClr val="accent2"/>
                </a:solidFill>
              </a:rPr>
              <a:t>$ cmd1 | cmd2</a:t>
            </a:r>
          </a:p>
          <a:p>
            <a:pPr>
              <a:spcBef>
                <a:spcPct val="50000"/>
              </a:spcBef>
            </a:pPr>
            <a:r>
              <a:rPr lang="en-US" i="1" dirty="0">
                <a:solidFill>
                  <a:schemeClr val="accent2"/>
                </a:solidFill>
              </a:rPr>
              <a:t>	</a:t>
            </a:r>
          </a:p>
        </p:txBody>
      </p:sp>
      <p:sp>
        <p:nvSpPr>
          <p:cNvPr id="4" name="Rectangle 3"/>
          <p:cNvSpPr/>
          <p:nvPr/>
        </p:nvSpPr>
        <p:spPr>
          <a:xfrm>
            <a:off x="304800" y="76200"/>
            <a:ext cx="7543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Pipes : what is a pipe        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BD2AFAF-0F2F-9089-5D93-0FBCC0930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286000"/>
            <a:ext cx="8229600" cy="79376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+mn-lt"/>
              </a:rPr>
              <a:t>Pipe is in the kernel space </a:t>
            </a:r>
          </a:p>
        </p:txBody>
      </p:sp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D364091B-EC15-915B-3513-64757F3F73C5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200" y="3079760"/>
            <a:ext cx="4800600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25C26F2-A69D-C7D7-0721-84CCE57458A9}"/>
              </a:ext>
            </a:extLst>
          </p:cNvPr>
          <p:cNvSpPr txBox="1"/>
          <p:nvPr/>
        </p:nvSpPr>
        <p:spPr>
          <a:xfrm>
            <a:off x="1881099" y="5950803"/>
            <a:ext cx="49007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fd</a:t>
            </a:r>
            <a:r>
              <a:rPr lang="en-US" dirty="0"/>
              <a:t>[0] --------------read end of the pipe </a:t>
            </a:r>
          </a:p>
          <a:p>
            <a:r>
              <a:rPr lang="en-US" dirty="0" err="1"/>
              <a:t>fd</a:t>
            </a:r>
            <a:r>
              <a:rPr lang="en-US" dirty="0"/>
              <a:t>[1] --------------write end of the pipe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8162" y="43397"/>
            <a:ext cx="8229600" cy="947203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+mn-lt"/>
              </a:rPr>
              <a:t>System calls related to pipe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838200"/>
            <a:ext cx="7886700" cy="54102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400" dirty="0"/>
              <a:t>1.creating a pipe in the Linux : pipe()</a:t>
            </a:r>
          </a:p>
          <a:p>
            <a:pPr>
              <a:buNone/>
            </a:pPr>
            <a:r>
              <a:rPr lang="en-US" sz="2400" dirty="0"/>
              <a:t>2.Writing data into the pipe : write()</a:t>
            </a:r>
          </a:p>
          <a:p>
            <a:pPr>
              <a:buNone/>
            </a:pPr>
            <a:r>
              <a:rPr lang="en-US" sz="2400" dirty="0"/>
              <a:t>3.Reading data from the pipe: read();</a:t>
            </a:r>
          </a:p>
          <a:p>
            <a:pPr>
              <a:buNone/>
            </a:pPr>
            <a:r>
              <a:rPr lang="en-US" sz="2400" dirty="0"/>
              <a:t>4.Closing the pipe :close()</a:t>
            </a:r>
          </a:p>
          <a:p>
            <a:pPr>
              <a:buNone/>
            </a:pPr>
            <a:endParaRPr lang="en-US" sz="1600" dirty="0"/>
          </a:p>
          <a:p>
            <a:pPr>
              <a:buNone/>
            </a:pPr>
            <a:endParaRPr lang="en-US" sz="1600" dirty="0"/>
          </a:p>
          <a:p>
            <a:pPr>
              <a:buNone/>
            </a:pPr>
            <a:r>
              <a:rPr lang="en-US" sz="3200" b="1" dirty="0"/>
              <a:t>Pipes : Standard  Descriptors            </a:t>
            </a:r>
          </a:p>
          <a:p>
            <a:pPr>
              <a:buNone/>
            </a:pPr>
            <a:endParaRPr lang="en-US" sz="1600" dirty="0"/>
          </a:p>
          <a:p>
            <a:pPr marL="0" indent="0">
              <a:spcBef>
                <a:spcPct val="50000"/>
              </a:spcBef>
              <a:buNone/>
            </a:pPr>
            <a:r>
              <a:rPr lang="en-US" sz="2000" dirty="0"/>
              <a:t>These are standard values that  already assigned for actions</a:t>
            </a:r>
          </a:p>
          <a:p>
            <a:pPr>
              <a:spcBef>
                <a:spcPct val="50000"/>
              </a:spcBef>
              <a:buFont typeface="Wingdings" pitchFamily="2" charset="2"/>
              <a:buChar char="Ø"/>
            </a:pPr>
            <a:r>
              <a:rPr lang="en-US" sz="2800" dirty="0"/>
              <a:t> STDIN     = 0   </a:t>
            </a:r>
            <a:r>
              <a:rPr lang="en-US" sz="1600" dirty="0"/>
              <a:t>-----    Read (Standard Input )</a:t>
            </a:r>
            <a:endParaRPr lang="en-US" sz="2800" dirty="0"/>
          </a:p>
          <a:p>
            <a:pPr>
              <a:spcBef>
                <a:spcPct val="50000"/>
              </a:spcBef>
              <a:buFont typeface="Wingdings" pitchFamily="2" charset="2"/>
              <a:buChar char="Ø"/>
            </a:pPr>
            <a:r>
              <a:rPr lang="en-US" sz="2800" dirty="0"/>
              <a:t> STDOUT = 1   </a:t>
            </a:r>
            <a:r>
              <a:rPr lang="en-US" sz="1600" dirty="0"/>
              <a:t>-----   Write (Standard Output )</a:t>
            </a:r>
            <a:endParaRPr lang="en-US" sz="2800" dirty="0"/>
          </a:p>
          <a:p>
            <a:pPr>
              <a:spcBef>
                <a:spcPct val="50000"/>
              </a:spcBef>
              <a:buFont typeface="Wingdings" pitchFamily="2" charset="2"/>
              <a:buChar char="Ø"/>
            </a:pPr>
            <a:r>
              <a:rPr lang="en-US" sz="2800" dirty="0"/>
              <a:t> STDERR = 2   </a:t>
            </a:r>
            <a:r>
              <a:rPr lang="en-US" sz="1600" dirty="0"/>
              <a:t> -----   Error (Standard Error )</a:t>
            </a:r>
            <a:endParaRPr lang="en-US" sz="2800" dirty="0"/>
          </a:p>
          <a:p>
            <a:pPr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+mn-lt"/>
              </a:rPr>
              <a:t>Pipe b/w child and Parent </a:t>
            </a:r>
          </a:p>
        </p:txBody>
      </p:sp>
      <p:grpSp>
        <p:nvGrpSpPr>
          <p:cNvPr id="4" name="Group 31"/>
          <p:cNvGrpSpPr>
            <a:grpSpLocks noGrp="1"/>
          </p:cNvGrpSpPr>
          <p:nvPr/>
        </p:nvGrpSpPr>
        <p:grpSpPr bwMode="auto">
          <a:xfrm>
            <a:off x="457200" y="1447800"/>
            <a:ext cx="8229600" cy="4525963"/>
            <a:chOff x="769" y="1809"/>
            <a:chExt cx="4271" cy="2274"/>
          </a:xfrm>
        </p:grpSpPr>
        <p:sp>
          <p:nvSpPr>
            <p:cNvPr id="5" name="Rectangle 6"/>
            <p:cNvSpPr>
              <a:spLocks noChangeArrowheads="1"/>
            </p:cNvSpPr>
            <p:nvPr/>
          </p:nvSpPr>
          <p:spPr bwMode="auto">
            <a:xfrm>
              <a:off x="1492" y="3118"/>
              <a:ext cx="2632" cy="68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" name="Rectangle 7"/>
            <p:cNvSpPr>
              <a:spLocks noChangeArrowheads="1"/>
            </p:cNvSpPr>
            <p:nvPr/>
          </p:nvSpPr>
          <p:spPr bwMode="auto">
            <a:xfrm>
              <a:off x="2461" y="3273"/>
              <a:ext cx="694" cy="18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Rectangle 8"/>
            <p:cNvSpPr>
              <a:spLocks noChangeArrowheads="1"/>
            </p:cNvSpPr>
            <p:nvPr/>
          </p:nvSpPr>
          <p:spPr bwMode="auto">
            <a:xfrm>
              <a:off x="2570" y="3207"/>
              <a:ext cx="47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>
                  <a:latin typeface="Arial" charset="0"/>
                </a:rPr>
                <a:t>pipe</a:t>
              </a:r>
            </a:p>
          </p:txBody>
        </p:sp>
        <p:sp>
          <p:nvSpPr>
            <p:cNvPr id="8" name="Rectangle 9"/>
            <p:cNvSpPr>
              <a:spLocks noChangeArrowheads="1"/>
            </p:cNvSpPr>
            <p:nvPr/>
          </p:nvSpPr>
          <p:spPr bwMode="auto">
            <a:xfrm>
              <a:off x="2260" y="3525"/>
              <a:ext cx="109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>
                  <a:latin typeface="Arial" charset="0"/>
                </a:rPr>
                <a:t>flow of data</a:t>
              </a:r>
            </a:p>
          </p:txBody>
        </p:sp>
        <p:sp>
          <p:nvSpPr>
            <p:cNvPr id="9" name="Rectangle 10"/>
            <p:cNvSpPr>
              <a:spLocks noChangeArrowheads="1"/>
            </p:cNvSpPr>
            <p:nvPr/>
          </p:nvSpPr>
          <p:spPr bwMode="auto">
            <a:xfrm>
              <a:off x="2490" y="3795"/>
              <a:ext cx="63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>
                  <a:latin typeface="Arial" charset="0"/>
                </a:rPr>
                <a:t>kernel</a:t>
              </a:r>
            </a:p>
          </p:txBody>
        </p:sp>
        <p:sp>
          <p:nvSpPr>
            <p:cNvPr id="10" name="Rectangle 11"/>
            <p:cNvSpPr>
              <a:spLocks noChangeArrowheads="1"/>
            </p:cNvSpPr>
            <p:nvPr/>
          </p:nvSpPr>
          <p:spPr bwMode="auto">
            <a:xfrm>
              <a:off x="973" y="2057"/>
              <a:ext cx="1270" cy="61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Rectangle 12"/>
            <p:cNvSpPr>
              <a:spLocks noChangeArrowheads="1"/>
            </p:cNvSpPr>
            <p:nvPr/>
          </p:nvSpPr>
          <p:spPr bwMode="auto">
            <a:xfrm>
              <a:off x="935" y="1809"/>
              <a:ext cx="138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>
                  <a:latin typeface="Arial" charset="0"/>
                </a:rPr>
                <a:t>parent process</a:t>
              </a:r>
            </a:p>
          </p:txBody>
        </p:sp>
        <p:sp>
          <p:nvSpPr>
            <p:cNvPr id="12" name="Rectangle 13"/>
            <p:cNvSpPr>
              <a:spLocks noChangeArrowheads="1"/>
            </p:cNvSpPr>
            <p:nvPr/>
          </p:nvSpPr>
          <p:spPr bwMode="auto">
            <a:xfrm>
              <a:off x="1586" y="2078"/>
              <a:ext cx="66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>
                  <a:latin typeface="Arial" charset="0"/>
                </a:rPr>
                <a:t>readfd</a:t>
              </a:r>
            </a:p>
          </p:txBody>
        </p:sp>
        <p:sp>
          <p:nvSpPr>
            <p:cNvPr id="13" name="Rectangle 14"/>
            <p:cNvSpPr>
              <a:spLocks noChangeArrowheads="1"/>
            </p:cNvSpPr>
            <p:nvPr/>
          </p:nvSpPr>
          <p:spPr bwMode="auto">
            <a:xfrm>
              <a:off x="1015" y="2387"/>
              <a:ext cx="68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>
                  <a:latin typeface="Arial" charset="0"/>
                </a:rPr>
                <a:t>writefd</a:t>
              </a:r>
            </a:p>
          </p:txBody>
        </p:sp>
        <p:sp>
          <p:nvSpPr>
            <p:cNvPr id="14" name="Arc 15"/>
            <p:cNvSpPr>
              <a:spLocks/>
            </p:cNvSpPr>
            <p:nvPr/>
          </p:nvSpPr>
          <p:spPr bwMode="auto">
            <a:xfrm>
              <a:off x="769" y="2784"/>
              <a:ext cx="1682" cy="624"/>
            </a:xfrm>
            <a:custGeom>
              <a:avLst/>
              <a:gdLst>
                <a:gd name="G0" fmla="+- 21600 0 0"/>
                <a:gd name="G1" fmla="+- 0 0 0"/>
                <a:gd name="G2" fmla="+- 21600 0 0"/>
                <a:gd name="T0" fmla="*/ 21587 w 21600"/>
                <a:gd name="T1" fmla="*/ 21600 h 21600"/>
                <a:gd name="T2" fmla="*/ 0 w 21600"/>
                <a:gd name="T3" fmla="*/ 0 h 21600"/>
                <a:gd name="T4" fmla="*/ 2160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587" y="21599"/>
                  </a:moveTo>
                  <a:cubicBezTo>
                    <a:pt x="9662" y="21592"/>
                    <a:pt x="0" y="11924"/>
                    <a:pt x="0" y="0"/>
                  </a:cubicBezTo>
                </a:path>
                <a:path w="21600" h="21600" stroke="0" extrusionOk="0">
                  <a:moveTo>
                    <a:pt x="21587" y="21599"/>
                  </a:moveTo>
                  <a:cubicBezTo>
                    <a:pt x="9662" y="21592"/>
                    <a:pt x="0" y="11924"/>
                    <a:pt x="0" y="0"/>
                  </a:cubicBezTo>
                  <a:lnTo>
                    <a:pt x="21600" y="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stealth" w="med" len="lg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Arc 16"/>
            <p:cNvSpPr>
              <a:spLocks/>
            </p:cNvSpPr>
            <p:nvPr/>
          </p:nvSpPr>
          <p:spPr bwMode="auto">
            <a:xfrm>
              <a:off x="769" y="2545"/>
              <a:ext cx="192" cy="240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0 w 21600"/>
                <a:gd name="T1" fmla="*/ 21600 h 21600"/>
                <a:gd name="T2" fmla="*/ 21488 w 21600"/>
                <a:gd name="T3" fmla="*/ 0 h 21600"/>
                <a:gd name="T4" fmla="*/ 2160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21600"/>
                  </a:moveTo>
                  <a:cubicBezTo>
                    <a:pt x="0" y="9714"/>
                    <a:pt x="9602" y="61"/>
                    <a:pt x="21488" y="0"/>
                  </a:cubicBezTo>
                </a:path>
                <a:path w="21600" h="21600" stroke="0" extrusionOk="0">
                  <a:moveTo>
                    <a:pt x="0" y="21600"/>
                  </a:moveTo>
                  <a:cubicBezTo>
                    <a:pt x="0" y="9714"/>
                    <a:pt x="9602" y="61"/>
                    <a:pt x="21488" y="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Arc 17"/>
            <p:cNvSpPr>
              <a:spLocks/>
            </p:cNvSpPr>
            <p:nvPr/>
          </p:nvSpPr>
          <p:spPr bwMode="auto">
            <a:xfrm>
              <a:off x="2256" y="2209"/>
              <a:ext cx="1104" cy="769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stealth" w="med" len="lg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Line 18"/>
            <p:cNvSpPr>
              <a:spLocks noChangeShapeType="1"/>
            </p:cNvSpPr>
            <p:nvPr/>
          </p:nvSpPr>
          <p:spPr bwMode="auto">
            <a:xfrm>
              <a:off x="1928" y="3654"/>
              <a:ext cx="28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Line 19"/>
            <p:cNvSpPr>
              <a:spLocks noChangeShapeType="1"/>
            </p:cNvSpPr>
            <p:nvPr/>
          </p:nvSpPr>
          <p:spPr bwMode="auto">
            <a:xfrm>
              <a:off x="3351" y="3654"/>
              <a:ext cx="28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Rectangle 20"/>
            <p:cNvSpPr>
              <a:spLocks noChangeArrowheads="1"/>
            </p:cNvSpPr>
            <p:nvPr/>
          </p:nvSpPr>
          <p:spPr bwMode="auto">
            <a:xfrm>
              <a:off x="3421" y="2057"/>
              <a:ext cx="1270" cy="61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Rectangle 21"/>
            <p:cNvSpPr>
              <a:spLocks noChangeArrowheads="1"/>
            </p:cNvSpPr>
            <p:nvPr/>
          </p:nvSpPr>
          <p:spPr bwMode="auto">
            <a:xfrm>
              <a:off x="3430" y="1809"/>
              <a:ext cx="123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>
                  <a:latin typeface="Arial" charset="0"/>
                </a:rPr>
                <a:t>child process</a:t>
              </a:r>
            </a:p>
          </p:txBody>
        </p:sp>
        <p:sp>
          <p:nvSpPr>
            <p:cNvPr id="21" name="Rectangle 22"/>
            <p:cNvSpPr>
              <a:spLocks noChangeArrowheads="1"/>
            </p:cNvSpPr>
            <p:nvPr/>
          </p:nvSpPr>
          <p:spPr bwMode="auto">
            <a:xfrm>
              <a:off x="4033" y="2078"/>
              <a:ext cx="66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>
                  <a:latin typeface="Arial" charset="0"/>
                </a:rPr>
                <a:t>readfd</a:t>
              </a:r>
            </a:p>
          </p:txBody>
        </p:sp>
        <p:sp>
          <p:nvSpPr>
            <p:cNvPr id="22" name="Rectangle 23"/>
            <p:cNvSpPr>
              <a:spLocks noChangeArrowheads="1"/>
            </p:cNvSpPr>
            <p:nvPr/>
          </p:nvSpPr>
          <p:spPr bwMode="auto">
            <a:xfrm>
              <a:off x="3462" y="2387"/>
              <a:ext cx="68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>
                  <a:latin typeface="Arial" charset="0"/>
                </a:rPr>
                <a:t>writefd</a:t>
              </a:r>
            </a:p>
          </p:txBody>
        </p:sp>
        <p:sp>
          <p:nvSpPr>
            <p:cNvPr id="23" name="Arc 24"/>
            <p:cNvSpPr>
              <a:spLocks/>
            </p:cNvSpPr>
            <p:nvPr/>
          </p:nvSpPr>
          <p:spPr bwMode="auto">
            <a:xfrm>
              <a:off x="2161" y="3024"/>
              <a:ext cx="324" cy="312"/>
            </a:xfrm>
            <a:custGeom>
              <a:avLst/>
              <a:gdLst>
                <a:gd name="G0" fmla="+- 21600 0 0"/>
                <a:gd name="G1" fmla="+- 0 0 0"/>
                <a:gd name="G2" fmla="+- 21600 0 0"/>
                <a:gd name="T0" fmla="*/ 21600 w 21600"/>
                <a:gd name="T1" fmla="*/ 21600 h 21600"/>
                <a:gd name="T2" fmla="*/ 0 w 21600"/>
                <a:gd name="T3" fmla="*/ 0 h 21600"/>
                <a:gd name="T4" fmla="*/ 2160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stealth" w="med" len="lg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Arc 25"/>
            <p:cNvSpPr>
              <a:spLocks/>
            </p:cNvSpPr>
            <p:nvPr/>
          </p:nvSpPr>
          <p:spPr bwMode="auto">
            <a:xfrm>
              <a:off x="2161" y="2545"/>
              <a:ext cx="1248" cy="480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0 w 21600"/>
                <a:gd name="T1" fmla="*/ 21600 h 21600"/>
                <a:gd name="T2" fmla="*/ 21583 w 21600"/>
                <a:gd name="T3" fmla="*/ 0 h 21600"/>
                <a:gd name="T4" fmla="*/ 2160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21600"/>
                  </a:moveTo>
                  <a:cubicBezTo>
                    <a:pt x="0" y="9677"/>
                    <a:pt x="9660" y="9"/>
                    <a:pt x="21583" y="0"/>
                  </a:cubicBezTo>
                </a:path>
                <a:path w="21600" h="21600" stroke="0" extrusionOk="0">
                  <a:moveTo>
                    <a:pt x="0" y="21600"/>
                  </a:moveTo>
                  <a:cubicBezTo>
                    <a:pt x="0" y="9677"/>
                    <a:pt x="9660" y="9"/>
                    <a:pt x="21583" y="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Arc 26"/>
            <p:cNvSpPr>
              <a:spLocks/>
            </p:cNvSpPr>
            <p:nvPr/>
          </p:nvSpPr>
          <p:spPr bwMode="auto">
            <a:xfrm>
              <a:off x="3168" y="2592"/>
              <a:ext cx="1872" cy="81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1600 w 21600"/>
                <a:gd name="T1" fmla="*/ 0 h 21600"/>
                <a:gd name="T2" fmla="*/ 0 w 21600"/>
                <a:gd name="T3" fmla="*/ 21600 h 21600"/>
                <a:gd name="T4" fmla="*/ 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Arc 27"/>
            <p:cNvSpPr>
              <a:spLocks/>
            </p:cNvSpPr>
            <p:nvPr/>
          </p:nvSpPr>
          <p:spPr bwMode="auto">
            <a:xfrm>
              <a:off x="4704" y="2209"/>
              <a:ext cx="336" cy="433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55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09" y="0"/>
                    <a:pt x="21572" y="9640"/>
                    <a:pt x="21599" y="2155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09" y="0"/>
                    <a:pt x="21572" y="9640"/>
                    <a:pt x="21599" y="2155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stealth" w="med" len="lg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Arc 28"/>
            <p:cNvSpPr>
              <a:spLocks/>
            </p:cNvSpPr>
            <p:nvPr/>
          </p:nvSpPr>
          <p:spPr bwMode="auto">
            <a:xfrm>
              <a:off x="3168" y="2976"/>
              <a:ext cx="192" cy="33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1600 w 21600"/>
                <a:gd name="T1" fmla="*/ 0 h 21600"/>
                <a:gd name="T2" fmla="*/ 0 w 21600"/>
                <a:gd name="T3" fmla="*/ 21600 h 21600"/>
                <a:gd name="T4" fmla="*/ 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Rectangle 29"/>
            <p:cNvSpPr>
              <a:spLocks noChangeArrowheads="1"/>
            </p:cNvSpPr>
            <p:nvPr/>
          </p:nvSpPr>
          <p:spPr bwMode="auto">
            <a:xfrm>
              <a:off x="2631" y="1911"/>
              <a:ext cx="43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>
                  <a:latin typeface="Arial" charset="0"/>
                </a:rPr>
                <a:t>fork</a:t>
              </a:r>
            </a:p>
          </p:txBody>
        </p:sp>
        <p:sp>
          <p:nvSpPr>
            <p:cNvPr id="29" name="Line 30"/>
            <p:cNvSpPr>
              <a:spLocks noChangeShapeType="1"/>
            </p:cNvSpPr>
            <p:nvPr/>
          </p:nvSpPr>
          <p:spPr bwMode="auto">
            <a:xfrm>
              <a:off x="2592" y="2160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36295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3200" b="1" dirty="0"/>
              <a:t>Advantages of pipe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Easy to connect b/w two running processes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 output of one process will fed input to other process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3200" b="1" dirty="0"/>
              <a:t>Disadvantage of pipes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Pipes are used to communicate b/w related process only(child &amp; parent)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There is no way to open an already existing pipe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Process persistent buffer stream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Text Box 2"/>
          <p:cNvSpPr txBox="1">
            <a:spLocks noChangeArrowheads="1"/>
          </p:cNvSpPr>
          <p:nvPr/>
        </p:nvSpPr>
        <p:spPr bwMode="auto">
          <a:xfrm>
            <a:off x="0" y="914400"/>
            <a:ext cx="9144000" cy="5693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rgbClr val="0066FF"/>
              </a:buClr>
              <a:buFont typeface="Wingdings" pitchFamily="2" charset="2"/>
              <a:buChar char="Ø"/>
            </a:pPr>
            <a:r>
              <a:rPr lang="en-US" sz="2800" dirty="0"/>
              <a:t> It is a special type of file.</a:t>
            </a:r>
          </a:p>
          <a:p>
            <a:pPr algn="just">
              <a:spcBef>
                <a:spcPct val="50000"/>
              </a:spcBef>
              <a:buClr>
                <a:srgbClr val="0066FF"/>
              </a:buClr>
              <a:buFont typeface="Wingdings" pitchFamily="2" charset="2"/>
              <a:buChar char="Ø"/>
            </a:pPr>
            <a:r>
              <a:rPr lang="en-US" sz="2800" dirty="0"/>
              <a:t> It allows unrelated processes to communicate with each </a:t>
            </a:r>
          </a:p>
          <a:p>
            <a:pPr algn="just">
              <a:spcBef>
                <a:spcPct val="50000"/>
              </a:spcBef>
              <a:buClr>
                <a:srgbClr val="0066FF"/>
              </a:buClr>
            </a:pPr>
            <a:r>
              <a:rPr lang="en-US" sz="2800" dirty="0"/>
              <a:t>    other</a:t>
            </a:r>
          </a:p>
          <a:p>
            <a:pPr>
              <a:spcBef>
                <a:spcPct val="50000"/>
              </a:spcBef>
              <a:buClr>
                <a:srgbClr val="0066FF"/>
              </a:buClr>
              <a:buFont typeface="Wingdings" pitchFamily="2" charset="2"/>
              <a:buChar char="Ø"/>
            </a:pPr>
            <a:r>
              <a:rPr lang="en-US" sz="2800" dirty="0"/>
              <a:t> Best suitable to implement client and server application</a:t>
            </a:r>
          </a:p>
          <a:p>
            <a:pPr>
              <a:spcBef>
                <a:spcPct val="50000"/>
              </a:spcBef>
              <a:buClr>
                <a:srgbClr val="0066FF"/>
              </a:buClr>
              <a:buFont typeface="Wingdings" pitchFamily="2" charset="2"/>
              <a:buChar char="Ø"/>
            </a:pPr>
            <a:r>
              <a:rPr lang="en-US" sz="2800" dirty="0"/>
              <a:t> It accepts  path name rather than a descriptor</a:t>
            </a:r>
          </a:p>
          <a:p>
            <a:pPr>
              <a:spcBef>
                <a:spcPct val="50000"/>
              </a:spcBef>
              <a:buClr>
                <a:srgbClr val="0066FF"/>
              </a:buClr>
              <a:buFont typeface="Wingdings" pitchFamily="2" charset="2"/>
              <a:buChar char="Ø"/>
            </a:pPr>
            <a:r>
              <a:rPr lang="en-US" sz="2800" dirty="0"/>
              <a:t> We can’t open a FIFO in both read and write mode </a:t>
            </a:r>
          </a:p>
          <a:p>
            <a:pPr>
              <a:spcBef>
                <a:spcPct val="50000"/>
              </a:spcBef>
              <a:buClr>
                <a:srgbClr val="0066FF"/>
              </a:buClr>
              <a:buFont typeface="Wingdings" pitchFamily="2" charset="2"/>
              <a:buChar char="Ø"/>
            </a:pPr>
            <a:r>
              <a:rPr lang="en-US" sz="2800" dirty="0"/>
              <a:t> It has limit on how much data can be store in one FIFO  </a:t>
            </a:r>
          </a:p>
          <a:p>
            <a:pPr>
              <a:spcBef>
                <a:spcPct val="50000"/>
              </a:spcBef>
              <a:buClr>
                <a:srgbClr val="0066FF"/>
              </a:buClr>
            </a:pPr>
            <a:r>
              <a:rPr lang="en-US" sz="2800" dirty="0"/>
              <a:t>    (4k bytes)</a:t>
            </a:r>
          </a:p>
          <a:p>
            <a:pPr>
              <a:spcBef>
                <a:spcPct val="50000"/>
              </a:spcBef>
              <a:buClr>
                <a:srgbClr val="0066FF"/>
              </a:buClr>
              <a:buFont typeface="Wingdings" pitchFamily="2" charset="2"/>
              <a:buChar char="Ø"/>
            </a:pPr>
            <a:r>
              <a:rPr lang="en-US" sz="2800" dirty="0"/>
              <a:t> We can use unlink like in file operation to  remove FIFO</a:t>
            </a:r>
            <a:endParaRPr lang="en-US" sz="2800" i="1" dirty="0"/>
          </a:p>
        </p:txBody>
      </p:sp>
      <p:sp>
        <p:nvSpPr>
          <p:cNvPr id="4" name="Rectangle 3"/>
          <p:cNvSpPr/>
          <p:nvPr/>
        </p:nvSpPr>
        <p:spPr>
          <a:xfrm>
            <a:off x="381000" y="228600"/>
            <a:ext cx="7543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Pipes : Named Pipes (FIFO)        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530" name="Rectangle 2"/>
          <p:cNvSpPr>
            <a:spLocks noChangeArrowheads="1"/>
          </p:cNvSpPr>
          <p:nvPr/>
        </p:nvSpPr>
        <p:spPr bwMode="auto">
          <a:xfrm>
            <a:off x="457200" y="1081088"/>
            <a:ext cx="220980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 typeface="Wingdings" pitchFamily="2" charset="2"/>
              <a:buNone/>
              <a:defRPr/>
            </a:pPr>
            <a:r>
              <a:rPr lang="en-US" sz="280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At Shell</a:t>
            </a:r>
          </a:p>
        </p:txBody>
      </p:sp>
      <p:sp>
        <p:nvSpPr>
          <p:cNvPr id="162819" name="Text Box 3"/>
          <p:cNvSpPr txBox="1">
            <a:spLocks noChangeArrowheads="1"/>
          </p:cNvSpPr>
          <p:nvPr/>
        </p:nvSpPr>
        <p:spPr bwMode="auto">
          <a:xfrm>
            <a:off x="190500" y="1524000"/>
            <a:ext cx="86868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None/>
            </a:pPr>
            <a:r>
              <a:rPr lang="en-US" sz="3200" dirty="0"/>
              <a:t>        </a:t>
            </a:r>
            <a:r>
              <a:rPr lang="en-US" sz="2000" i="1" dirty="0"/>
              <a:t>$</a:t>
            </a:r>
            <a:r>
              <a:rPr lang="en-US" sz="2000" i="1" dirty="0" err="1"/>
              <a:t>pwd</a:t>
            </a:r>
            <a:r>
              <a:rPr lang="en-US" sz="2000" i="1" dirty="0"/>
              <a:t> </a:t>
            </a: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r>
              <a:rPr lang="en-US" sz="2000" i="1" dirty="0"/>
              <a:t>                   /home/user/temp</a:t>
            </a: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r>
              <a:rPr lang="en-US" sz="3200" i="1" dirty="0"/>
              <a:t>         </a:t>
            </a:r>
            <a:r>
              <a:rPr lang="en-US" sz="2000" i="1" dirty="0"/>
              <a:t>$ </a:t>
            </a:r>
            <a:r>
              <a:rPr lang="en-US" sz="2000" i="1" dirty="0" err="1"/>
              <a:t>mkfifo</a:t>
            </a:r>
            <a:r>
              <a:rPr lang="en-US" sz="2000" i="1" dirty="0"/>
              <a:t> </a:t>
            </a:r>
            <a:r>
              <a:rPr lang="en-US" sz="2000" i="1" dirty="0" err="1"/>
              <a:t>my_fifo</a:t>
            </a:r>
            <a:r>
              <a:rPr lang="en-US" sz="2000" i="1" dirty="0"/>
              <a:t> </a:t>
            </a: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r>
              <a:rPr lang="en-US" sz="2000" i="1" dirty="0"/>
              <a:t>              $ echo “welcome to </a:t>
            </a:r>
            <a:r>
              <a:rPr lang="en-US" sz="2000" i="1" dirty="0" err="1"/>
              <a:t>Mirafra</a:t>
            </a:r>
            <a:r>
              <a:rPr lang="en-US" sz="2000" i="1" dirty="0"/>
              <a:t> “ &gt;/temp/</a:t>
            </a:r>
            <a:r>
              <a:rPr lang="en-US" sz="2000" i="1" dirty="0" err="1"/>
              <a:t>my_fifo</a:t>
            </a:r>
            <a:endParaRPr lang="en-US" sz="2000" i="1" dirty="0"/>
          </a:p>
        </p:txBody>
      </p:sp>
      <p:sp>
        <p:nvSpPr>
          <p:cNvPr id="918532" name="Rectangle 4"/>
          <p:cNvSpPr>
            <a:spLocks noChangeArrowheads="1"/>
          </p:cNvSpPr>
          <p:nvPr/>
        </p:nvSpPr>
        <p:spPr bwMode="auto">
          <a:xfrm>
            <a:off x="152400" y="3869111"/>
            <a:ext cx="3074987" cy="51911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 typeface="Wingdings" pitchFamily="2" charset="2"/>
              <a:buNone/>
              <a:defRPr/>
            </a:pPr>
            <a:r>
              <a:rPr lang="en-US" sz="280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In Program</a:t>
            </a:r>
          </a:p>
        </p:txBody>
      </p:sp>
      <p:sp>
        <p:nvSpPr>
          <p:cNvPr id="162821" name="Rectangle 5"/>
          <p:cNvSpPr>
            <a:spLocks noChangeArrowheads="1"/>
          </p:cNvSpPr>
          <p:nvPr/>
        </p:nvSpPr>
        <p:spPr bwMode="auto">
          <a:xfrm>
            <a:off x="762000" y="4419600"/>
            <a:ext cx="7696200" cy="51911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 typeface="Wingdings" pitchFamily="2" charset="2"/>
              <a:buNone/>
            </a:pPr>
            <a:r>
              <a:rPr lang="en-US" sz="2800" dirty="0" err="1"/>
              <a:t>int</a:t>
            </a:r>
            <a:r>
              <a:rPr lang="en-US" sz="2800" dirty="0"/>
              <a:t> </a:t>
            </a:r>
            <a:r>
              <a:rPr lang="en-US" sz="2800" i="1" dirty="0"/>
              <a:t> </a:t>
            </a:r>
            <a:r>
              <a:rPr lang="en-US" sz="2800" dirty="0" err="1"/>
              <a:t>mkfifo</a:t>
            </a:r>
            <a:r>
              <a:rPr lang="en-US" sz="2800" dirty="0"/>
              <a:t>(const char  *filename , </a:t>
            </a:r>
            <a:r>
              <a:rPr lang="en-US" sz="2800" dirty="0" err="1"/>
              <a:t>mode_t</a:t>
            </a:r>
            <a:r>
              <a:rPr lang="en-US" sz="2800" dirty="0"/>
              <a:t>   mode );</a:t>
            </a:r>
          </a:p>
        </p:txBody>
      </p:sp>
      <p:sp>
        <p:nvSpPr>
          <p:cNvPr id="162822" name="Rectangle 6"/>
          <p:cNvSpPr>
            <a:spLocks noChangeArrowheads="1"/>
          </p:cNvSpPr>
          <p:nvPr/>
        </p:nvSpPr>
        <p:spPr bwMode="auto">
          <a:xfrm>
            <a:off x="917954" y="5105400"/>
            <a:ext cx="3874330" cy="52322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800" dirty="0"/>
              <a:t>filename  ---- </a:t>
            </a:r>
            <a:r>
              <a:rPr lang="en-US" dirty="0"/>
              <a:t>Name of the FIFO</a:t>
            </a:r>
            <a:r>
              <a:rPr lang="en-US" sz="2800" dirty="0"/>
              <a:t> </a:t>
            </a:r>
          </a:p>
        </p:txBody>
      </p:sp>
      <p:sp>
        <p:nvSpPr>
          <p:cNvPr id="162823" name="Rectangle 7"/>
          <p:cNvSpPr>
            <a:spLocks noChangeArrowheads="1"/>
          </p:cNvSpPr>
          <p:nvPr/>
        </p:nvSpPr>
        <p:spPr bwMode="auto">
          <a:xfrm>
            <a:off x="838200" y="5702990"/>
            <a:ext cx="4840287" cy="51911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dirty="0"/>
              <a:t>  mode      ---- </a:t>
            </a:r>
            <a:r>
              <a:rPr lang="en-US" dirty="0"/>
              <a:t>Permissions</a:t>
            </a:r>
            <a:r>
              <a:rPr lang="en-US" sz="2800" dirty="0"/>
              <a:t> 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000" y="228600"/>
            <a:ext cx="7543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Pipes : Crating a  FIFO        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Text Box 2"/>
          <p:cNvSpPr txBox="1">
            <a:spLocks noChangeArrowheads="1"/>
          </p:cNvSpPr>
          <p:nvPr/>
        </p:nvSpPr>
        <p:spPr bwMode="auto">
          <a:xfrm>
            <a:off x="228600" y="1383268"/>
            <a:ext cx="81534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sz="2000" dirty="0"/>
              <a:t>There are four legal combinations with different flag options</a:t>
            </a:r>
            <a:endParaRPr lang="en-US" sz="3200" dirty="0"/>
          </a:p>
        </p:txBody>
      </p:sp>
      <p:sp>
        <p:nvSpPr>
          <p:cNvPr id="163843" name="Rectangle 3"/>
          <p:cNvSpPr>
            <a:spLocks noChangeArrowheads="1"/>
          </p:cNvSpPr>
          <p:nvPr/>
        </p:nvSpPr>
        <p:spPr bwMode="auto">
          <a:xfrm>
            <a:off x="90488" y="2224088"/>
            <a:ext cx="664686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just">
              <a:spcBef>
                <a:spcPct val="50000"/>
              </a:spcBef>
              <a:buFont typeface="Wingdings" pitchFamily="2" charset="2"/>
              <a:buChar char="Ø"/>
            </a:pPr>
            <a:r>
              <a:rPr lang="en-US" sz="2800" dirty="0"/>
              <a:t>int open( const char *path, O_RDONLY ) ;</a:t>
            </a:r>
          </a:p>
        </p:txBody>
      </p:sp>
      <p:sp>
        <p:nvSpPr>
          <p:cNvPr id="163844" name="Rectangle 4"/>
          <p:cNvSpPr>
            <a:spLocks noChangeArrowheads="1"/>
          </p:cNvSpPr>
          <p:nvPr/>
        </p:nvSpPr>
        <p:spPr bwMode="auto">
          <a:xfrm>
            <a:off x="76200" y="3138488"/>
            <a:ext cx="860248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just">
              <a:spcBef>
                <a:spcPct val="50000"/>
              </a:spcBef>
              <a:buFont typeface="Wingdings" pitchFamily="2" charset="2"/>
              <a:buChar char="Ø"/>
            </a:pPr>
            <a:r>
              <a:rPr lang="en-US" sz="2800" dirty="0"/>
              <a:t>int open( const char *path, O_RDONLY |O_NONBLOCK);</a:t>
            </a:r>
          </a:p>
        </p:txBody>
      </p:sp>
      <p:sp>
        <p:nvSpPr>
          <p:cNvPr id="163845" name="Rectangle 5"/>
          <p:cNvSpPr>
            <a:spLocks noChangeArrowheads="1"/>
          </p:cNvSpPr>
          <p:nvPr/>
        </p:nvSpPr>
        <p:spPr bwMode="auto">
          <a:xfrm>
            <a:off x="76200" y="5195888"/>
            <a:ext cx="927576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buFont typeface="Wingdings" pitchFamily="2" charset="2"/>
              <a:buChar char="Ø"/>
            </a:pPr>
            <a:r>
              <a:rPr lang="en-US" sz="2800"/>
              <a:t>int open( const char *path, O_WRONLY |O_NONBLOCK);</a:t>
            </a:r>
          </a:p>
        </p:txBody>
      </p:sp>
      <p:sp>
        <p:nvSpPr>
          <p:cNvPr id="163846" name="Rectangle 6"/>
          <p:cNvSpPr>
            <a:spLocks noChangeArrowheads="1"/>
          </p:cNvSpPr>
          <p:nvPr/>
        </p:nvSpPr>
        <p:spPr bwMode="auto">
          <a:xfrm>
            <a:off x="76200" y="4052888"/>
            <a:ext cx="67246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just">
              <a:spcBef>
                <a:spcPct val="50000"/>
              </a:spcBef>
              <a:buFont typeface="Wingdings" pitchFamily="2" charset="2"/>
              <a:buChar char="Ø"/>
            </a:pPr>
            <a:r>
              <a:rPr lang="en-US" sz="2800"/>
              <a:t>int open( const char *path, O_WRONLY ) ;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405825"/>
            <a:ext cx="7543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Pipes : Opening  FIFO  with Open  call         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ChangeArrowheads="1"/>
          </p:cNvSpPr>
          <p:nvPr/>
        </p:nvSpPr>
        <p:spPr bwMode="auto">
          <a:xfrm>
            <a:off x="76200" y="1157288"/>
            <a:ext cx="76200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buFont typeface="Wingdings" pitchFamily="2" charset="2"/>
              <a:buNone/>
            </a:pPr>
            <a:r>
              <a:rPr lang="en-US" sz="3200" dirty="0"/>
              <a:t>     </a:t>
            </a:r>
            <a:r>
              <a:rPr lang="en-US" sz="2000" dirty="0"/>
              <a:t>Both reading and writing operations are same as on  files </a:t>
            </a:r>
            <a:endParaRPr lang="en-US" sz="3200" dirty="0"/>
          </a:p>
        </p:txBody>
      </p:sp>
      <p:sp>
        <p:nvSpPr>
          <p:cNvPr id="164867" name="Rectangle 3"/>
          <p:cNvSpPr>
            <a:spLocks noChangeArrowheads="1"/>
          </p:cNvSpPr>
          <p:nvPr/>
        </p:nvSpPr>
        <p:spPr bwMode="auto">
          <a:xfrm>
            <a:off x="556557" y="1905000"/>
            <a:ext cx="3924023" cy="1169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just">
              <a:spcBef>
                <a:spcPct val="50000"/>
              </a:spcBef>
              <a:buFont typeface="Wingdings" pitchFamily="2" charset="2"/>
              <a:buNone/>
            </a:pPr>
            <a:r>
              <a:rPr lang="en-US" sz="2800" dirty="0"/>
              <a:t> int read( id, buffer , size);</a:t>
            </a:r>
          </a:p>
          <a:p>
            <a:pPr algn="just">
              <a:spcBef>
                <a:spcPct val="50000"/>
              </a:spcBef>
              <a:buFont typeface="Wingdings" pitchFamily="2" charset="2"/>
              <a:buNone/>
            </a:pPr>
            <a:r>
              <a:rPr lang="en-US" sz="2800" dirty="0"/>
              <a:t> int write(id, buffer , size);</a:t>
            </a:r>
          </a:p>
        </p:txBody>
      </p:sp>
      <p:sp>
        <p:nvSpPr>
          <p:cNvPr id="164868" name="Text Box 4"/>
          <p:cNvSpPr txBox="1">
            <a:spLocks noChangeArrowheads="1"/>
          </p:cNvSpPr>
          <p:nvPr/>
        </p:nvSpPr>
        <p:spPr bwMode="auto">
          <a:xfrm>
            <a:off x="533400" y="3702050"/>
            <a:ext cx="7467600" cy="180181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dirty="0"/>
              <a:t> id       ----- </a:t>
            </a:r>
            <a:r>
              <a:rPr lang="en-US" dirty="0"/>
              <a:t>Descriptor returned by open()</a:t>
            </a:r>
            <a:endParaRPr lang="en-US" sz="2800" dirty="0"/>
          </a:p>
          <a:p>
            <a:pPr>
              <a:spcBef>
                <a:spcPct val="50000"/>
              </a:spcBef>
            </a:pPr>
            <a:r>
              <a:rPr lang="en-US" sz="2800" dirty="0"/>
              <a:t> buffer  ----- </a:t>
            </a:r>
            <a:r>
              <a:rPr lang="en-US" dirty="0"/>
              <a:t>Character buffer</a:t>
            </a:r>
            <a:endParaRPr lang="en-US" sz="2800" dirty="0"/>
          </a:p>
          <a:p>
            <a:pPr>
              <a:spcBef>
                <a:spcPct val="50000"/>
              </a:spcBef>
            </a:pPr>
            <a:r>
              <a:rPr lang="en-US" sz="2800" dirty="0"/>
              <a:t> size     -----  </a:t>
            </a:r>
            <a:r>
              <a:rPr lang="en-US" dirty="0"/>
              <a:t>Size of buffer</a:t>
            </a:r>
            <a:endParaRPr lang="en-US" sz="2800" dirty="0"/>
          </a:p>
        </p:txBody>
      </p:sp>
      <p:sp>
        <p:nvSpPr>
          <p:cNvPr id="6" name="Rectangle 5"/>
          <p:cNvSpPr/>
          <p:nvPr/>
        </p:nvSpPr>
        <p:spPr>
          <a:xfrm>
            <a:off x="381000" y="228600"/>
            <a:ext cx="7543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Pipes : Reading  and Writing          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Text Box 3"/>
          <p:cNvSpPr txBox="1">
            <a:spLocks noChangeArrowheads="1"/>
          </p:cNvSpPr>
          <p:nvPr/>
        </p:nvSpPr>
        <p:spPr bwMode="auto">
          <a:xfrm>
            <a:off x="304800" y="838200"/>
            <a:ext cx="7848600" cy="410881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i="1" dirty="0">
                <a:solidFill>
                  <a:srgbClr val="0066FF"/>
                </a:solidFill>
              </a:rPr>
              <a:t>/* Creating FIFO  and writing into that some data */ </a:t>
            </a:r>
          </a:p>
          <a:p>
            <a:pPr>
              <a:spcBef>
                <a:spcPct val="50000"/>
              </a:spcBef>
            </a:pPr>
            <a:r>
              <a:rPr lang="en-US" dirty="0">
                <a:solidFill>
                  <a:srgbClr val="996633"/>
                </a:solidFill>
              </a:rPr>
              <a:t>  #define </a:t>
            </a:r>
            <a:r>
              <a:rPr lang="en-US" dirty="0" err="1">
                <a:solidFill>
                  <a:srgbClr val="996633"/>
                </a:solidFill>
              </a:rPr>
              <a:t>fname</a:t>
            </a:r>
            <a:r>
              <a:rPr lang="en-US" dirty="0">
                <a:solidFill>
                  <a:srgbClr val="996633"/>
                </a:solidFill>
              </a:rPr>
              <a:t>  “/temp/</a:t>
            </a:r>
            <a:r>
              <a:rPr lang="en-US" dirty="0" err="1">
                <a:solidFill>
                  <a:srgbClr val="996633"/>
                </a:solidFill>
              </a:rPr>
              <a:t>my_fifo</a:t>
            </a:r>
            <a:r>
              <a:rPr lang="en-US" dirty="0">
                <a:solidFill>
                  <a:srgbClr val="996633"/>
                </a:solidFill>
              </a:rPr>
              <a:t>”</a:t>
            </a:r>
          </a:p>
          <a:p>
            <a:pPr>
              <a:spcBef>
                <a:spcPct val="50000"/>
              </a:spcBef>
            </a:pPr>
            <a:r>
              <a:rPr lang="en-US" dirty="0">
                <a:solidFill>
                  <a:srgbClr val="996633"/>
                </a:solidFill>
              </a:rPr>
              <a:t>  int f1;</a:t>
            </a:r>
          </a:p>
          <a:p>
            <a:pPr>
              <a:spcBef>
                <a:spcPct val="50000"/>
              </a:spcBef>
            </a:pPr>
            <a:r>
              <a:rPr lang="en-US" dirty="0">
                <a:solidFill>
                  <a:srgbClr val="996633"/>
                </a:solidFill>
              </a:rPr>
              <a:t>  char buffer[20];</a:t>
            </a:r>
          </a:p>
          <a:p>
            <a:pPr>
              <a:spcBef>
                <a:spcPct val="50000"/>
              </a:spcBef>
            </a:pPr>
            <a:r>
              <a:rPr lang="en-US" dirty="0">
                <a:solidFill>
                  <a:srgbClr val="996633"/>
                </a:solidFill>
              </a:rPr>
              <a:t>  </a:t>
            </a:r>
            <a:r>
              <a:rPr lang="en-US" dirty="0" err="1">
                <a:solidFill>
                  <a:srgbClr val="996633"/>
                </a:solidFill>
              </a:rPr>
              <a:t>mkfifo</a:t>
            </a:r>
            <a:r>
              <a:rPr lang="en-US" dirty="0">
                <a:solidFill>
                  <a:srgbClr val="996633"/>
                </a:solidFill>
              </a:rPr>
              <a:t>(</a:t>
            </a:r>
            <a:r>
              <a:rPr lang="en-US" dirty="0" err="1">
                <a:solidFill>
                  <a:srgbClr val="996633"/>
                </a:solidFill>
              </a:rPr>
              <a:t>fname</a:t>
            </a:r>
            <a:r>
              <a:rPr lang="en-US" dirty="0">
                <a:solidFill>
                  <a:srgbClr val="996633"/>
                </a:solidFill>
              </a:rPr>
              <a:t>, 0777);</a:t>
            </a:r>
          </a:p>
          <a:p>
            <a:pPr>
              <a:spcBef>
                <a:spcPct val="50000"/>
              </a:spcBef>
            </a:pPr>
            <a:r>
              <a:rPr lang="en-US" dirty="0">
                <a:solidFill>
                  <a:srgbClr val="996633"/>
                </a:solidFill>
              </a:rPr>
              <a:t>  f1=open(</a:t>
            </a:r>
            <a:r>
              <a:rPr lang="en-US" dirty="0" err="1">
                <a:solidFill>
                  <a:srgbClr val="996633"/>
                </a:solidFill>
              </a:rPr>
              <a:t>fname,O_WRONLY|O_NONBLOCK</a:t>
            </a:r>
            <a:r>
              <a:rPr lang="en-US" dirty="0">
                <a:solidFill>
                  <a:srgbClr val="996633"/>
                </a:solidFill>
              </a:rPr>
              <a:t>);</a:t>
            </a:r>
          </a:p>
          <a:p>
            <a:pPr>
              <a:spcBef>
                <a:spcPct val="50000"/>
              </a:spcBef>
            </a:pPr>
            <a:r>
              <a:rPr lang="en-US" dirty="0">
                <a:solidFill>
                  <a:srgbClr val="996633"/>
                </a:solidFill>
              </a:rPr>
              <a:t>  </a:t>
            </a:r>
            <a:r>
              <a:rPr lang="en-US" dirty="0" err="1">
                <a:solidFill>
                  <a:srgbClr val="996633"/>
                </a:solidFill>
              </a:rPr>
              <a:t>printf</a:t>
            </a:r>
            <a:r>
              <a:rPr lang="en-US" dirty="0">
                <a:solidFill>
                  <a:srgbClr val="996633"/>
                </a:solidFill>
              </a:rPr>
              <a:t>(“Enter data \n”);</a:t>
            </a:r>
          </a:p>
          <a:p>
            <a:pPr>
              <a:spcBef>
                <a:spcPct val="50000"/>
              </a:spcBef>
            </a:pPr>
            <a:r>
              <a:rPr lang="en-US" dirty="0">
                <a:solidFill>
                  <a:srgbClr val="996633"/>
                </a:solidFill>
              </a:rPr>
              <a:t>  </a:t>
            </a:r>
            <a:r>
              <a:rPr lang="en-US" dirty="0" err="1">
                <a:solidFill>
                  <a:srgbClr val="996633"/>
                </a:solidFill>
              </a:rPr>
              <a:t>scanf</a:t>
            </a:r>
            <a:r>
              <a:rPr lang="en-US" dirty="0">
                <a:solidFill>
                  <a:srgbClr val="996633"/>
                </a:solidFill>
              </a:rPr>
              <a:t>(“%</a:t>
            </a:r>
            <a:r>
              <a:rPr lang="en-US" dirty="0" err="1">
                <a:solidFill>
                  <a:srgbClr val="996633"/>
                </a:solidFill>
              </a:rPr>
              <a:t>s”,buffer</a:t>
            </a:r>
            <a:r>
              <a:rPr lang="en-US" dirty="0">
                <a:solidFill>
                  <a:srgbClr val="996633"/>
                </a:solidFill>
              </a:rPr>
              <a:t>);</a:t>
            </a:r>
          </a:p>
          <a:p>
            <a:pPr>
              <a:spcBef>
                <a:spcPct val="50000"/>
              </a:spcBef>
            </a:pPr>
            <a:r>
              <a:rPr lang="en-US" dirty="0">
                <a:solidFill>
                  <a:srgbClr val="996633"/>
                </a:solidFill>
              </a:rPr>
              <a:t>  write(f1,buffer,size of(buffer) ) ;</a:t>
            </a:r>
          </a:p>
          <a:p>
            <a:pPr>
              <a:spcBef>
                <a:spcPct val="50000"/>
              </a:spcBef>
            </a:pPr>
            <a:r>
              <a:rPr lang="en-US" dirty="0">
                <a:solidFill>
                  <a:srgbClr val="996633"/>
                </a:solidFill>
              </a:rPr>
              <a:t>  close(f1);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228600"/>
            <a:ext cx="7543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Pipes : Sample Program – FIFO          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Text Box 2"/>
          <p:cNvSpPr txBox="1">
            <a:spLocks noChangeArrowheads="1"/>
          </p:cNvSpPr>
          <p:nvPr/>
        </p:nvSpPr>
        <p:spPr bwMode="auto">
          <a:xfrm>
            <a:off x="152400" y="1066800"/>
            <a:ext cx="4267200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i="1">
                <a:solidFill>
                  <a:srgbClr val="0066FF"/>
                </a:solidFill>
              </a:rPr>
              <a:t>/* Reading from FIFO */</a:t>
            </a:r>
            <a:r>
              <a:rPr lang="en-US">
                <a:solidFill>
                  <a:srgbClr val="0066FF"/>
                </a:solidFill>
              </a:rPr>
              <a:t> </a:t>
            </a:r>
          </a:p>
        </p:txBody>
      </p:sp>
      <p:sp>
        <p:nvSpPr>
          <p:cNvPr id="166915" name="Text Box 3"/>
          <p:cNvSpPr txBox="1">
            <a:spLocks noChangeArrowheads="1"/>
          </p:cNvSpPr>
          <p:nvPr/>
        </p:nvSpPr>
        <p:spPr bwMode="auto">
          <a:xfrm>
            <a:off x="533400" y="1404938"/>
            <a:ext cx="7848600" cy="161582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996633"/>
                </a:solidFill>
              </a:rPr>
              <a:t>  f2=open(</a:t>
            </a:r>
            <a:r>
              <a:rPr lang="en-US" dirty="0" err="1">
                <a:solidFill>
                  <a:srgbClr val="996633"/>
                </a:solidFill>
              </a:rPr>
              <a:t>fname,O_RDONLY|O_NONBLOCK</a:t>
            </a:r>
            <a:r>
              <a:rPr lang="en-US" dirty="0">
                <a:solidFill>
                  <a:srgbClr val="996633"/>
                </a:solidFill>
              </a:rPr>
              <a:t>);</a:t>
            </a:r>
          </a:p>
          <a:p>
            <a:pPr>
              <a:spcBef>
                <a:spcPct val="50000"/>
              </a:spcBef>
            </a:pPr>
            <a:r>
              <a:rPr lang="en-US" dirty="0">
                <a:solidFill>
                  <a:srgbClr val="996633"/>
                </a:solidFill>
              </a:rPr>
              <a:t>  read(f2,buffer,size of(buffer) ) ;</a:t>
            </a:r>
          </a:p>
          <a:p>
            <a:pPr>
              <a:spcBef>
                <a:spcPct val="50000"/>
              </a:spcBef>
            </a:pPr>
            <a:r>
              <a:rPr lang="en-US" dirty="0">
                <a:solidFill>
                  <a:srgbClr val="996633"/>
                </a:solidFill>
              </a:rPr>
              <a:t>  </a:t>
            </a:r>
            <a:r>
              <a:rPr lang="en-US" dirty="0" err="1">
                <a:solidFill>
                  <a:srgbClr val="996633"/>
                </a:solidFill>
              </a:rPr>
              <a:t>printf</a:t>
            </a:r>
            <a:r>
              <a:rPr lang="en-US" dirty="0">
                <a:solidFill>
                  <a:srgbClr val="996633"/>
                </a:solidFill>
              </a:rPr>
              <a:t>(“Reading from FIFO \n %s ”,buffer); </a:t>
            </a:r>
          </a:p>
          <a:p>
            <a:pPr>
              <a:spcBef>
                <a:spcPct val="50000"/>
              </a:spcBef>
            </a:pPr>
            <a:r>
              <a:rPr lang="en-US" dirty="0">
                <a:solidFill>
                  <a:srgbClr val="996633"/>
                </a:solidFill>
              </a:rPr>
              <a:t>  close(f2);</a:t>
            </a:r>
          </a:p>
        </p:txBody>
      </p:sp>
      <p:sp>
        <p:nvSpPr>
          <p:cNvPr id="776196" name="Text Box 4"/>
          <p:cNvSpPr txBox="1">
            <a:spLocks noChangeArrowheads="1"/>
          </p:cNvSpPr>
          <p:nvPr/>
        </p:nvSpPr>
        <p:spPr bwMode="auto">
          <a:xfrm>
            <a:off x="609600" y="3352800"/>
            <a:ext cx="4267200" cy="203132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b="1" i="1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output </a:t>
            </a:r>
          </a:p>
          <a:p>
            <a:pPr>
              <a:spcBef>
                <a:spcPct val="50000"/>
              </a:spcBef>
              <a:defRPr/>
            </a:pPr>
            <a:r>
              <a:rPr lang="en-US" dirty="0">
                <a:solidFill>
                  <a:schemeClr val="accent2"/>
                </a:solidFill>
              </a:rPr>
              <a:t>     </a:t>
            </a:r>
            <a:r>
              <a:rPr lang="en-US" dirty="0">
                <a:solidFill>
                  <a:srgbClr val="996633"/>
                </a:solidFill>
              </a:rPr>
              <a:t>Enter data </a:t>
            </a:r>
          </a:p>
          <a:p>
            <a:pPr>
              <a:spcBef>
                <a:spcPct val="50000"/>
              </a:spcBef>
              <a:defRPr/>
            </a:pPr>
            <a:r>
              <a:rPr lang="en-US" dirty="0">
                <a:solidFill>
                  <a:srgbClr val="996633"/>
                </a:solidFill>
              </a:rPr>
              <a:t>             Welcome To </a:t>
            </a:r>
            <a:r>
              <a:rPr lang="en-US" dirty="0" err="1">
                <a:solidFill>
                  <a:srgbClr val="996633"/>
                </a:solidFill>
              </a:rPr>
              <a:t>Mirafra</a:t>
            </a:r>
            <a:endParaRPr lang="en-US" dirty="0">
              <a:solidFill>
                <a:srgbClr val="996633"/>
              </a:solidFill>
            </a:endParaRPr>
          </a:p>
          <a:p>
            <a:pPr>
              <a:spcBef>
                <a:spcPct val="50000"/>
              </a:spcBef>
              <a:defRPr/>
            </a:pPr>
            <a:r>
              <a:rPr lang="en-US" dirty="0">
                <a:solidFill>
                  <a:srgbClr val="996633"/>
                </a:solidFill>
              </a:rPr>
              <a:t>      Reading from FIFO</a:t>
            </a:r>
          </a:p>
          <a:p>
            <a:pPr>
              <a:spcBef>
                <a:spcPct val="50000"/>
              </a:spcBef>
              <a:defRPr/>
            </a:pPr>
            <a:r>
              <a:rPr lang="en-US" dirty="0">
                <a:solidFill>
                  <a:srgbClr val="996633"/>
                </a:solidFill>
              </a:rPr>
              <a:t>             Welcome To </a:t>
            </a:r>
            <a:r>
              <a:rPr lang="en-US" dirty="0" err="1">
                <a:solidFill>
                  <a:srgbClr val="996633"/>
                </a:solidFill>
              </a:rPr>
              <a:t>Mirafra</a:t>
            </a:r>
            <a:r>
              <a:rPr lang="en-US" dirty="0">
                <a:solidFill>
                  <a:schemeClr val="accent2"/>
                </a:solidFill>
              </a:rPr>
              <a:t> 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228600"/>
            <a:ext cx="7543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Pipes : Sample Program – FIFO (contd..)          </a:t>
            </a: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5"/>
          <p:cNvSpPr>
            <a:spLocks noChangeArrowheads="1"/>
          </p:cNvSpPr>
          <p:nvPr/>
        </p:nvSpPr>
        <p:spPr bwMode="auto">
          <a:xfrm>
            <a:off x="914400" y="914400"/>
            <a:ext cx="79248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800" dirty="0"/>
              <a:t>// this program </a:t>
            </a:r>
            <a:r>
              <a:rPr lang="en-US" sz="1800" dirty="0" err="1"/>
              <a:t>demostrate</a:t>
            </a:r>
            <a:r>
              <a:rPr lang="en-US" sz="1800" dirty="0"/>
              <a:t> FIFOs.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endParaRPr lang="en-US" sz="1800" dirty="0"/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800" dirty="0"/>
              <a:t>#include&lt;</a:t>
            </a:r>
            <a:r>
              <a:rPr lang="en-US" sz="1800" dirty="0" err="1"/>
              <a:t>fcntl.h</a:t>
            </a:r>
            <a:r>
              <a:rPr lang="en-US" sz="1800" dirty="0"/>
              <a:t>&gt;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800" dirty="0"/>
              <a:t>#include&lt;</a:t>
            </a:r>
            <a:r>
              <a:rPr lang="en-US" sz="1800" dirty="0" err="1"/>
              <a:t>stdio.h</a:t>
            </a:r>
            <a:r>
              <a:rPr lang="en-US" sz="1800" dirty="0"/>
              <a:t>&gt;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endParaRPr lang="en-US" sz="1800" dirty="0"/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800" dirty="0" err="1"/>
              <a:t>int</a:t>
            </a:r>
            <a:r>
              <a:rPr lang="en-US" sz="1800" dirty="0"/>
              <a:t> main()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800" dirty="0"/>
              <a:t>{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800" dirty="0"/>
              <a:t>  </a:t>
            </a:r>
            <a:r>
              <a:rPr lang="en-US" sz="1800" dirty="0" err="1"/>
              <a:t>int</a:t>
            </a:r>
            <a:r>
              <a:rPr lang="en-US" sz="1800" dirty="0"/>
              <a:t> </a:t>
            </a:r>
            <a:r>
              <a:rPr lang="en-US" sz="1800" dirty="0" err="1"/>
              <a:t>fd</a:t>
            </a:r>
            <a:r>
              <a:rPr lang="en-US" sz="1800" dirty="0"/>
              <a:t>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800" dirty="0"/>
              <a:t>  char buffer[25];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endParaRPr lang="en-US" sz="1800" dirty="0"/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800" dirty="0"/>
              <a:t>  </a:t>
            </a:r>
            <a:r>
              <a:rPr lang="en-US" sz="1800" dirty="0" err="1"/>
              <a:t>mknod</a:t>
            </a:r>
            <a:r>
              <a:rPr lang="en-US" sz="1800" dirty="0"/>
              <a:t>("myfifo",010666,0);//three </a:t>
            </a:r>
            <a:r>
              <a:rPr lang="en-US" sz="1800" dirty="0" err="1"/>
              <a:t>para:name</a:t>
            </a:r>
            <a:r>
              <a:rPr lang="en-US" sz="1800" dirty="0"/>
              <a:t> 010 for pipe 666 for permission,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800" dirty="0"/>
              <a:t>  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800" dirty="0"/>
              <a:t>  </a:t>
            </a:r>
            <a:r>
              <a:rPr lang="en-US" sz="1800" dirty="0" err="1"/>
              <a:t>fd</a:t>
            </a:r>
            <a:r>
              <a:rPr lang="en-US" sz="1800" dirty="0"/>
              <a:t>=open("</a:t>
            </a:r>
            <a:r>
              <a:rPr lang="en-US" sz="1800" dirty="0" err="1"/>
              <a:t>myfifo",O_RDWR</a:t>
            </a:r>
            <a:r>
              <a:rPr lang="en-US" sz="1800" dirty="0"/>
              <a:t>);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endParaRPr lang="en-US" sz="1800" dirty="0"/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800" dirty="0"/>
              <a:t> for (;;)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800" dirty="0"/>
              <a:t>    {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800" dirty="0"/>
              <a:t>       read(fd,buffer,25);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800" dirty="0"/>
              <a:t>       </a:t>
            </a:r>
            <a:r>
              <a:rPr lang="en-US" sz="1800" dirty="0" err="1"/>
              <a:t>printf</a:t>
            </a:r>
            <a:r>
              <a:rPr lang="en-US" sz="1800" dirty="0"/>
              <a:t>("%s\</a:t>
            </a:r>
            <a:r>
              <a:rPr lang="en-US" sz="1800" dirty="0" err="1"/>
              <a:t>n",buffer</a:t>
            </a:r>
            <a:r>
              <a:rPr lang="en-US" sz="1800" dirty="0"/>
              <a:t>);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800" dirty="0"/>
              <a:t>    }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800" dirty="0"/>
              <a:t>}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endParaRPr lang="en-US" sz="1800" dirty="0"/>
          </a:p>
        </p:txBody>
      </p:sp>
      <p:sp>
        <p:nvSpPr>
          <p:cNvPr id="3" name="Rectangle 2"/>
          <p:cNvSpPr/>
          <p:nvPr/>
        </p:nvSpPr>
        <p:spPr>
          <a:xfrm>
            <a:off x="381000" y="228600"/>
            <a:ext cx="7543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Pipes : Sample Program – FIFO           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3"/>
          <p:cNvSpPr>
            <a:spLocks noChangeArrowheads="1"/>
          </p:cNvSpPr>
          <p:nvPr/>
        </p:nvSpPr>
        <p:spPr bwMode="auto">
          <a:xfrm>
            <a:off x="1219200" y="1066800"/>
            <a:ext cx="7391400" cy="556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600" dirty="0"/>
              <a:t>#include&lt;</a:t>
            </a:r>
            <a:r>
              <a:rPr lang="en-US" sz="1600" dirty="0" err="1"/>
              <a:t>fcntl.h</a:t>
            </a:r>
            <a:r>
              <a:rPr lang="en-US" sz="1600" dirty="0"/>
              <a:t>&gt;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600" dirty="0"/>
              <a:t>#include&lt;</a:t>
            </a:r>
            <a:r>
              <a:rPr lang="en-US" sz="1600" dirty="0" err="1"/>
              <a:t>stdio.h</a:t>
            </a:r>
            <a:r>
              <a:rPr lang="en-US" sz="1600" dirty="0"/>
              <a:t>&gt;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endParaRPr lang="en-US" sz="1600" dirty="0"/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600" dirty="0"/>
              <a:t>main(</a:t>
            </a:r>
            <a:r>
              <a:rPr lang="en-US" sz="1600" dirty="0" err="1"/>
              <a:t>int</a:t>
            </a:r>
            <a:r>
              <a:rPr lang="en-US" sz="1600" dirty="0"/>
              <a:t> </a:t>
            </a:r>
            <a:r>
              <a:rPr lang="en-US" sz="1600" dirty="0" err="1"/>
              <a:t>argc,char</a:t>
            </a:r>
            <a:r>
              <a:rPr lang="en-US" sz="1600" dirty="0"/>
              <a:t> *</a:t>
            </a:r>
            <a:r>
              <a:rPr lang="en-US" sz="1600" dirty="0" err="1"/>
              <a:t>argv</a:t>
            </a:r>
            <a:r>
              <a:rPr lang="en-US" sz="1600" dirty="0"/>
              <a:t>[])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600" dirty="0"/>
              <a:t>  {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600" dirty="0"/>
              <a:t>     </a:t>
            </a:r>
            <a:r>
              <a:rPr lang="en-US" sz="1600" dirty="0" err="1"/>
              <a:t>int</a:t>
            </a:r>
            <a:r>
              <a:rPr lang="en-US" sz="1600" dirty="0"/>
              <a:t> </a:t>
            </a:r>
            <a:r>
              <a:rPr lang="en-US" sz="1600" dirty="0" err="1"/>
              <a:t>fd</a:t>
            </a:r>
            <a:r>
              <a:rPr lang="en-US" sz="1600" dirty="0"/>
              <a:t>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600" dirty="0"/>
              <a:t>     </a:t>
            </a:r>
            <a:r>
              <a:rPr lang="en-US" sz="1600" dirty="0" err="1"/>
              <a:t>int</a:t>
            </a:r>
            <a:r>
              <a:rPr lang="en-US" sz="1600" dirty="0"/>
              <a:t> counter;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600" dirty="0"/>
              <a:t>     char buffer[25];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endParaRPr lang="en-US" sz="1600" dirty="0"/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600" dirty="0"/>
              <a:t>   if(</a:t>
            </a:r>
            <a:r>
              <a:rPr lang="en-US" sz="1600" dirty="0" err="1"/>
              <a:t>argc</a:t>
            </a:r>
            <a:r>
              <a:rPr lang="en-US" sz="1600" dirty="0"/>
              <a:t>&lt;2)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600" dirty="0"/>
              <a:t>   {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600" dirty="0"/>
              <a:t>     </a:t>
            </a:r>
            <a:r>
              <a:rPr lang="en-US" sz="1600" dirty="0" err="1"/>
              <a:t>printf</a:t>
            </a:r>
            <a:r>
              <a:rPr lang="en-US" sz="1600" dirty="0"/>
              <a:t>("usage:&lt;filename&gt;&lt;message&gt;&lt;message&gt;...\n");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600" dirty="0"/>
              <a:t>     exit(1);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600" dirty="0"/>
              <a:t>    }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600" dirty="0"/>
              <a:t>    </a:t>
            </a:r>
            <a:r>
              <a:rPr lang="en-US" sz="1600" dirty="0" err="1"/>
              <a:t>fd</a:t>
            </a:r>
            <a:r>
              <a:rPr lang="en-US" sz="1600" dirty="0"/>
              <a:t>=open("</a:t>
            </a:r>
            <a:r>
              <a:rPr lang="en-US" sz="1600" dirty="0" err="1"/>
              <a:t>myfifo</a:t>
            </a:r>
            <a:r>
              <a:rPr lang="en-US" sz="1600" dirty="0"/>
              <a:t>",O_WRONLY);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600" dirty="0"/>
              <a:t>    for(counter=0;counter&lt;</a:t>
            </a:r>
            <a:r>
              <a:rPr lang="en-US" sz="1600" dirty="0" err="1"/>
              <a:t>argc;counter</a:t>
            </a:r>
            <a:r>
              <a:rPr lang="en-US" sz="1600" dirty="0"/>
              <a:t>++)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600" dirty="0"/>
              <a:t>     {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600" dirty="0"/>
              <a:t>          </a:t>
            </a:r>
            <a:r>
              <a:rPr lang="en-US" sz="1600" dirty="0" err="1"/>
              <a:t>strcpy</a:t>
            </a:r>
            <a:r>
              <a:rPr lang="en-US" sz="1600" dirty="0"/>
              <a:t>(buffer, </a:t>
            </a:r>
            <a:r>
              <a:rPr lang="en-US" sz="1600" dirty="0" err="1"/>
              <a:t>argv</a:t>
            </a:r>
            <a:r>
              <a:rPr lang="en-US" sz="1600" dirty="0"/>
              <a:t>[counter]);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600" dirty="0"/>
              <a:t>          write(fd,buffer,25);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600" dirty="0"/>
              <a:t>     }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600" dirty="0"/>
              <a:t>     exit(0);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600" dirty="0"/>
              <a:t>}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endParaRPr lang="en-US" sz="1600" dirty="0">
              <a:latin typeface="Courier New" pitchFamily="49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81000" y="228600"/>
            <a:ext cx="7543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Pipes : Sample Program – FIFO           </a:t>
            </a: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Text Box 3" descr="70%"/>
          <p:cNvSpPr txBox="1">
            <a:spLocks noChangeArrowheads="1"/>
          </p:cNvSpPr>
          <p:nvPr/>
        </p:nvSpPr>
        <p:spPr bwMode="auto">
          <a:xfrm>
            <a:off x="304800" y="1552575"/>
            <a:ext cx="533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>
                <a:solidFill>
                  <a:srgbClr val="996633"/>
                </a:solidFill>
              </a:rPr>
              <a:t>Advantage and disadvantages of pipes</a:t>
            </a:r>
          </a:p>
        </p:txBody>
      </p:sp>
      <p:sp>
        <p:nvSpPr>
          <p:cNvPr id="178179" name="Text Box 4" descr="70%"/>
          <p:cNvSpPr txBox="1">
            <a:spLocks noChangeArrowheads="1"/>
          </p:cNvSpPr>
          <p:nvPr/>
        </p:nvSpPr>
        <p:spPr bwMode="auto">
          <a:xfrm>
            <a:off x="609600" y="2305050"/>
            <a:ext cx="8382000" cy="24468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rgbClr val="996633"/>
              </a:buClr>
              <a:buFont typeface="Wingdings" pitchFamily="2" charset="2"/>
              <a:buChar char="Ø"/>
            </a:pPr>
            <a:r>
              <a:rPr lang="en-US" b="1" dirty="0"/>
              <a:t> Easy to implement connection between running processes </a:t>
            </a:r>
          </a:p>
          <a:p>
            <a:pPr>
              <a:spcBef>
                <a:spcPct val="50000"/>
              </a:spcBef>
              <a:buClr>
                <a:srgbClr val="996633"/>
              </a:buClr>
              <a:buFont typeface="Wingdings" pitchFamily="2" charset="2"/>
              <a:buChar char="Ø"/>
            </a:pPr>
            <a:r>
              <a:rPr lang="en-US" b="1" dirty="0"/>
              <a:t> Both related and unrelated process can access</a:t>
            </a:r>
          </a:p>
          <a:p>
            <a:pPr>
              <a:spcBef>
                <a:spcPct val="50000"/>
              </a:spcBef>
              <a:buClr>
                <a:srgbClr val="996633"/>
              </a:buClr>
              <a:buFont typeface="Wingdings" pitchFamily="2" charset="2"/>
              <a:buChar char="Ø"/>
            </a:pPr>
            <a:r>
              <a:rPr lang="en-US" b="1" dirty="0"/>
              <a:t> Same file operations within limit we can use</a:t>
            </a:r>
          </a:p>
          <a:p>
            <a:pPr>
              <a:spcBef>
                <a:spcPct val="50000"/>
              </a:spcBef>
              <a:buClr>
                <a:srgbClr val="996633"/>
              </a:buClr>
              <a:buFont typeface="Wingdings" pitchFamily="2" charset="2"/>
              <a:buChar char="Ø"/>
            </a:pPr>
            <a:r>
              <a:rPr lang="en-US" b="1" dirty="0"/>
              <a:t> Synchronization is required </a:t>
            </a:r>
          </a:p>
          <a:p>
            <a:pPr>
              <a:spcBef>
                <a:spcPct val="50000"/>
              </a:spcBef>
              <a:buClr>
                <a:srgbClr val="996633"/>
              </a:buClr>
              <a:buFont typeface="Wingdings" pitchFamily="2" charset="2"/>
              <a:buChar char="Ø"/>
            </a:pPr>
            <a:r>
              <a:rPr lang="en-US" b="1" dirty="0"/>
              <a:t> Exists only as long as the descriptors are open</a:t>
            </a:r>
          </a:p>
          <a:p>
            <a:pPr>
              <a:spcBef>
                <a:spcPct val="50000"/>
              </a:spcBef>
              <a:buClr>
                <a:srgbClr val="996633"/>
              </a:buClr>
              <a:buFont typeface="Wingdings" pitchFamily="2" charset="2"/>
              <a:buChar char="Ø"/>
            </a:pPr>
            <a:r>
              <a:rPr lang="en-US" b="1" dirty="0"/>
              <a:t>Does not define message boundaries 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228600"/>
            <a:ext cx="7543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Pipes :  Summary             </a:t>
            </a: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810" name="WordArt 2"/>
          <p:cNvSpPr>
            <a:spLocks noChangeArrowheads="1" noChangeShapeType="1" noTextEdit="1"/>
          </p:cNvSpPr>
          <p:nvPr/>
        </p:nvSpPr>
        <p:spPr bwMode="auto">
          <a:xfrm>
            <a:off x="1676400" y="2743200"/>
            <a:ext cx="5791200" cy="1295400"/>
          </a:xfrm>
          <a:prstGeom prst="rect">
            <a:avLst/>
          </a:prstGeom>
        </p:spPr>
        <p:txBody>
          <a:bodyPr wrap="none" fromWordArt="1">
            <a:prstTxWarp prst="textWave2">
              <a:avLst>
                <a:gd name="adj1" fmla="val 13005"/>
                <a:gd name="adj2" fmla="val 0"/>
              </a:avLst>
            </a:prstTxWarp>
          </a:bodyPr>
          <a:lstStyle/>
          <a:p>
            <a:pPr algn="ctr"/>
            <a:r>
              <a:rPr lang="en-US" sz="4000" b="1" i="1" kern="10" spc="800">
                <a:ln w="15875">
                  <a:solidFill>
                    <a:srgbClr val="996633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/>
                  </a:outerShdw>
                </a:effectLst>
                <a:latin typeface="Arial Black"/>
              </a:rPr>
              <a:t>Message Queues</a:t>
            </a:r>
          </a:p>
        </p:txBody>
      </p:sp>
      <p:sp>
        <p:nvSpPr>
          <p:cNvPr id="887811" name="Line 3"/>
          <p:cNvSpPr>
            <a:spLocks noChangeShapeType="1"/>
          </p:cNvSpPr>
          <p:nvPr/>
        </p:nvSpPr>
        <p:spPr bwMode="auto">
          <a:xfrm>
            <a:off x="-19050" y="6234113"/>
            <a:ext cx="9144000" cy="0"/>
          </a:xfrm>
          <a:prstGeom prst="line">
            <a:avLst/>
          </a:prstGeom>
          <a:noFill/>
          <a:ln w="15875">
            <a:solidFill>
              <a:srgbClr val="996633"/>
            </a:solidFill>
            <a:round/>
            <a:headEnd/>
            <a:tailEnd/>
          </a:ln>
          <a:effectLst>
            <a:outerShdw dist="45791" dir="3378596" algn="ctr" rotWithShape="0">
              <a:srgbClr val="4D4D4D"/>
            </a:outerShdw>
          </a:effectLst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87812" name="Line 4"/>
          <p:cNvSpPr>
            <a:spLocks noChangeShapeType="1"/>
          </p:cNvSpPr>
          <p:nvPr/>
        </p:nvSpPr>
        <p:spPr bwMode="auto">
          <a:xfrm>
            <a:off x="0" y="1090613"/>
            <a:ext cx="9144000" cy="0"/>
          </a:xfrm>
          <a:prstGeom prst="line">
            <a:avLst/>
          </a:prstGeom>
          <a:noFill/>
          <a:ln w="15875">
            <a:solidFill>
              <a:srgbClr val="996633"/>
            </a:solidFill>
            <a:round/>
            <a:headEnd/>
            <a:tailEnd/>
          </a:ln>
          <a:effectLst>
            <a:outerShdw dist="45791" dir="3378596" algn="ctr" rotWithShape="0">
              <a:srgbClr val="4D4D4D"/>
            </a:outerShdw>
          </a:effectLst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87813" name="Text Box 5" descr="70%"/>
          <p:cNvSpPr txBox="1">
            <a:spLocks noChangeArrowheads="1"/>
          </p:cNvSpPr>
          <p:nvPr/>
        </p:nvSpPr>
        <p:spPr bwMode="auto">
          <a:xfrm>
            <a:off x="5867400" y="4419600"/>
            <a:ext cx="1752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>
                <a:solidFill>
                  <a:srgbClr val="FF33CC"/>
                </a:solidFill>
              </a:rPr>
              <a:t>Chatting ?</a:t>
            </a:r>
          </a:p>
        </p:txBody>
      </p:sp>
    </p:spTree>
  </p:cSld>
  <p:clrMapOvr>
    <a:masterClrMapping/>
  </p:clrMapOvr>
  <p:transition spd="med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878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887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878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878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878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878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7810" grpId="0" animBg="1"/>
      <p:bldP spid="887813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+mn-lt"/>
              </a:rPr>
              <a:t>Message queue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24000"/>
            <a:ext cx="78867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Message Queues give you another way to send information from one task to another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C75A98EA-65CF-8781-6E46-AF84C5AD35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2895600"/>
            <a:ext cx="5715000" cy="2562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Message queue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1447800"/>
            <a:ext cx="6581775" cy="4686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Text Box 2"/>
          <p:cNvSpPr txBox="1">
            <a:spLocks noChangeArrowheads="1"/>
          </p:cNvSpPr>
          <p:nvPr/>
        </p:nvSpPr>
        <p:spPr bwMode="auto">
          <a:xfrm>
            <a:off x="381000" y="1295400"/>
            <a:ext cx="8763000" cy="4367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rgbClr val="FF33CC"/>
              </a:buClr>
              <a:buFont typeface="Wingdings" pitchFamily="2" charset="2"/>
              <a:buChar char="Ø"/>
            </a:pPr>
            <a:r>
              <a:rPr lang="en-US" sz="2800" dirty="0"/>
              <a:t> Easy and efficient .</a:t>
            </a:r>
          </a:p>
          <a:p>
            <a:pPr>
              <a:spcBef>
                <a:spcPct val="50000"/>
              </a:spcBef>
              <a:buClr>
                <a:srgbClr val="FF33CC"/>
              </a:buClr>
              <a:buFont typeface="Wingdings" pitchFamily="2" charset="2"/>
              <a:buChar char="Ø"/>
            </a:pPr>
            <a:r>
              <a:rPr lang="en-US" sz="2800" dirty="0"/>
              <a:t> Used between related and  unrelated process.</a:t>
            </a:r>
          </a:p>
          <a:p>
            <a:pPr>
              <a:spcBef>
                <a:spcPct val="50000"/>
              </a:spcBef>
              <a:buClr>
                <a:srgbClr val="FF33CC"/>
              </a:buClr>
              <a:buFont typeface="Wingdings" pitchFamily="2" charset="2"/>
              <a:buChar char="Ø"/>
            </a:pPr>
            <a:r>
              <a:rPr lang="en-US" sz="2800" dirty="0"/>
              <a:t> Provide sending block of data.</a:t>
            </a:r>
          </a:p>
          <a:p>
            <a:pPr>
              <a:spcBef>
                <a:spcPct val="50000"/>
              </a:spcBef>
              <a:buClr>
                <a:srgbClr val="FF33CC"/>
              </a:buClr>
              <a:buFont typeface="Wingdings" pitchFamily="2" charset="2"/>
              <a:buChar char="Ø"/>
            </a:pPr>
            <a:r>
              <a:rPr lang="en-US" sz="2800" dirty="0"/>
              <a:t> Blocking &amp; Synchronization problems are avoided.</a:t>
            </a:r>
          </a:p>
          <a:p>
            <a:pPr>
              <a:spcBef>
                <a:spcPct val="50000"/>
              </a:spcBef>
              <a:buClr>
                <a:srgbClr val="FF33CC"/>
              </a:buClr>
              <a:buFont typeface="Wingdings" pitchFamily="2" charset="2"/>
              <a:buChar char="Ø"/>
            </a:pPr>
            <a:r>
              <a:rPr lang="en-US" sz="2800" dirty="0"/>
              <a:t> It has inbuilt synchronization </a:t>
            </a:r>
          </a:p>
          <a:p>
            <a:pPr>
              <a:spcBef>
                <a:spcPct val="50000"/>
              </a:spcBef>
              <a:buClr>
                <a:srgbClr val="FF33CC"/>
              </a:buClr>
              <a:buFont typeface="Wingdings" pitchFamily="2" charset="2"/>
              <a:buChar char="Ø"/>
            </a:pPr>
            <a:r>
              <a:rPr lang="en-US" sz="2800" dirty="0"/>
              <a:t> After reading message will be deleted from queue.</a:t>
            </a:r>
          </a:p>
          <a:p>
            <a:pPr>
              <a:spcBef>
                <a:spcPct val="50000"/>
              </a:spcBef>
              <a:buClr>
                <a:srgbClr val="FF33CC"/>
              </a:buClr>
              <a:buFont typeface="Wingdings" pitchFamily="2" charset="2"/>
              <a:buChar char="Ø"/>
            </a:pPr>
            <a:r>
              <a:rPr lang="en-US" sz="2800" dirty="0"/>
              <a:t>  It has some limits on size(max message size 8192 bytes)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482025"/>
            <a:ext cx="8382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Message Queues : Features of Message Queue              </a:t>
            </a: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6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0"/>
            <a:ext cx="8229600" cy="4114800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n-US" sz="3200" b="1" dirty="0">
                <a:latin typeface="+mn-lt"/>
              </a:rPr>
              <a:t>System Calls related to Message Queue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Text Box 3"/>
          <p:cNvSpPr txBox="1">
            <a:spLocks noChangeArrowheads="1"/>
          </p:cNvSpPr>
          <p:nvPr/>
        </p:nvSpPr>
        <p:spPr bwMode="auto">
          <a:xfrm>
            <a:off x="342900" y="1371600"/>
            <a:ext cx="8420100" cy="4708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Ø"/>
            </a:pPr>
            <a:r>
              <a:rPr lang="en-US" sz="2800" dirty="0">
                <a:solidFill>
                  <a:srgbClr val="CC3300"/>
                </a:solidFill>
              </a:rPr>
              <a:t> </a:t>
            </a:r>
            <a:r>
              <a:rPr lang="en-US" sz="2800" dirty="0" err="1">
                <a:solidFill>
                  <a:srgbClr val="CC3300"/>
                </a:solidFill>
              </a:rPr>
              <a:t>int</a:t>
            </a:r>
            <a:r>
              <a:rPr lang="en-US" sz="2800" dirty="0">
                <a:solidFill>
                  <a:srgbClr val="CC3300"/>
                </a:solidFill>
              </a:rPr>
              <a:t>  </a:t>
            </a:r>
            <a:r>
              <a:rPr lang="en-US" sz="2800" dirty="0" err="1">
                <a:solidFill>
                  <a:srgbClr val="CC3300"/>
                </a:solidFill>
              </a:rPr>
              <a:t>msgget</a:t>
            </a:r>
            <a:r>
              <a:rPr lang="en-US" sz="2800" dirty="0">
                <a:solidFill>
                  <a:srgbClr val="CC3300"/>
                </a:solidFill>
              </a:rPr>
              <a:t>(										</a:t>
            </a:r>
            <a:r>
              <a:rPr lang="en-US" sz="2800" dirty="0" err="1">
                <a:solidFill>
                  <a:srgbClr val="CC3300"/>
                </a:solidFill>
              </a:rPr>
              <a:t>key_t</a:t>
            </a:r>
            <a:r>
              <a:rPr lang="en-US" sz="2800" dirty="0">
                <a:solidFill>
                  <a:srgbClr val="CC3300"/>
                </a:solidFill>
              </a:rPr>
              <a:t>   key, </a:t>
            </a:r>
          </a:p>
          <a:p>
            <a:pPr lvl="1">
              <a:spcBef>
                <a:spcPct val="50000"/>
              </a:spcBef>
              <a:buFont typeface="Wingdings" pitchFamily="2" charset="2"/>
              <a:buNone/>
            </a:pPr>
            <a:r>
              <a:rPr lang="en-US" sz="2800" dirty="0">
                <a:solidFill>
                  <a:srgbClr val="CC3300"/>
                </a:solidFill>
              </a:rPr>
              <a:t>		   	int  </a:t>
            </a:r>
            <a:r>
              <a:rPr lang="en-US" sz="2800" dirty="0" err="1">
                <a:solidFill>
                  <a:srgbClr val="CC3300"/>
                </a:solidFill>
              </a:rPr>
              <a:t>msgflag</a:t>
            </a:r>
            <a:r>
              <a:rPr lang="en-US" sz="2800" dirty="0">
                <a:solidFill>
                  <a:srgbClr val="CC3300"/>
                </a:solidFill>
              </a:rPr>
              <a:t> 					);</a:t>
            </a:r>
          </a:p>
          <a:p>
            <a:pPr lvl="1">
              <a:spcBef>
                <a:spcPct val="50000"/>
              </a:spcBef>
            </a:pPr>
            <a:r>
              <a:rPr lang="en-US" sz="3200" dirty="0">
                <a:solidFill>
                  <a:srgbClr val="CC3300"/>
                </a:solidFill>
              </a:rPr>
              <a:t>key  </a:t>
            </a:r>
            <a:r>
              <a:rPr lang="en-US" sz="3200" dirty="0"/>
              <a:t>-------  </a:t>
            </a:r>
            <a:r>
              <a:rPr lang="en-US" sz="2800" dirty="0"/>
              <a:t>An arbitrary number or IPC_PRIVATE  </a:t>
            </a:r>
          </a:p>
          <a:p>
            <a:pPr lvl="1">
              <a:spcBef>
                <a:spcPct val="50000"/>
              </a:spcBef>
            </a:pPr>
            <a:r>
              <a:rPr lang="en-US" sz="2800" dirty="0"/>
              <a:t> </a:t>
            </a:r>
            <a:r>
              <a:rPr lang="en-US" sz="2800" dirty="0" err="1">
                <a:solidFill>
                  <a:srgbClr val="CC3300"/>
                </a:solidFill>
              </a:rPr>
              <a:t>msgflag</a:t>
            </a:r>
            <a:r>
              <a:rPr lang="en-US" sz="2800" dirty="0">
                <a:solidFill>
                  <a:srgbClr val="CC3300"/>
                </a:solidFill>
              </a:rPr>
              <a:t> </a:t>
            </a:r>
          </a:p>
          <a:p>
            <a:pPr lvl="1">
              <a:spcBef>
                <a:spcPct val="50000"/>
              </a:spcBef>
            </a:pPr>
            <a:r>
              <a:rPr lang="en-US" sz="2800" dirty="0">
                <a:solidFill>
                  <a:srgbClr val="CC3300"/>
                </a:solidFill>
              </a:rPr>
              <a:t>			</a:t>
            </a:r>
            <a:r>
              <a:rPr lang="en-US" sz="2800" dirty="0"/>
              <a:t> </a:t>
            </a:r>
            <a:r>
              <a:rPr lang="en-US" sz="2800" i="1" dirty="0"/>
              <a:t>IPC_CREAT</a:t>
            </a:r>
            <a:endParaRPr lang="en-US" sz="2800" dirty="0">
              <a:solidFill>
                <a:srgbClr val="CC3300"/>
              </a:solidFill>
            </a:endParaRPr>
          </a:p>
          <a:p>
            <a:pPr lvl="1">
              <a:spcBef>
                <a:spcPct val="50000"/>
              </a:spcBef>
              <a:buFont typeface="Wingdings" pitchFamily="2" charset="2"/>
              <a:buNone/>
            </a:pPr>
            <a:r>
              <a:rPr lang="en-US" sz="2800" dirty="0"/>
              <a:t>			 </a:t>
            </a:r>
            <a:r>
              <a:rPr lang="en-US" sz="2800" i="1" dirty="0"/>
              <a:t>IPC_EXCL</a:t>
            </a:r>
            <a:endParaRPr lang="en-US" sz="2800" dirty="0"/>
          </a:p>
        </p:txBody>
      </p:sp>
      <p:sp>
        <p:nvSpPr>
          <p:cNvPr id="4" name="Rectangle 3"/>
          <p:cNvSpPr/>
          <p:nvPr/>
        </p:nvSpPr>
        <p:spPr>
          <a:xfrm>
            <a:off x="381000" y="228600"/>
            <a:ext cx="7543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Message Queues : </a:t>
            </a:r>
            <a:r>
              <a:rPr lang="en-US" sz="3200" b="1" dirty="0" err="1"/>
              <a:t>msgget</a:t>
            </a:r>
            <a:r>
              <a:rPr lang="en-US" sz="3200" b="1" dirty="0"/>
              <a:t> System call               </a:t>
            </a:r>
          </a:p>
        </p:txBody>
      </p:sp>
      <p:grpSp>
        <p:nvGrpSpPr>
          <p:cNvPr id="2" name="Group 12">
            <a:extLst>
              <a:ext uri="{FF2B5EF4-FFF2-40B4-BE49-F238E27FC236}">
                <a16:creationId xmlns:a16="http://schemas.microsoft.com/office/drawing/2014/main" id="{14F38125-52D2-FB5E-6A11-B85F230C0A62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4513262"/>
            <a:ext cx="838200" cy="1219200"/>
            <a:chOff x="1296" y="1728"/>
            <a:chExt cx="1200" cy="1728"/>
          </a:xfrm>
        </p:grpSpPr>
        <p:sp>
          <p:nvSpPr>
            <p:cNvPr id="3" name="Line 7">
              <a:extLst>
                <a:ext uri="{FF2B5EF4-FFF2-40B4-BE49-F238E27FC236}">
                  <a16:creationId xmlns:a16="http://schemas.microsoft.com/office/drawing/2014/main" id="{FA7AAA45-5F3A-D2FA-BA40-7DB3CF40D6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1728"/>
              <a:ext cx="1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Line 8">
              <a:extLst>
                <a:ext uri="{FF2B5EF4-FFF2-40B4-BE49-F238E27FC236}">
                  <a16:creationId xmlns:a16="http://schemas.microsoft.com/office/drawing/2014/main" id="{91C2F2D9-EF54-3A1E-B128-0A630C9C4C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0" y="1728"/>
              <a:ext cx="0" cy="17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Line 9">
              <a:extLst>
                <a:ext uri="{FF2B5EF4-FFF2-40B4-BE49-F238E27FC236}">
                  <a16:creationId xmlns:a16="http://schemas.microsoft.com/office/drawing/2014/main" id="{7941E730-8C26-A076-8078-8651003815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0" y="2592"/>
              <a:ext cx="10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Line 10">
              <a:extLst>
                <a:ext uri="{FF2B5EF4-FFF2-40B4-BE49-F238E27FC236}">
                  <a16:creationId xmlns:a16="http://schemas.microsoft.com/office/drawing/2014/main" id="{5A920151-2AA7-109F-6073-147E4AA941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0" y="3456"/>
              <a:ext cx="10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3" name="Rectangle 3"/>
          <p:cNvSpPr>
            <a:spLocks noGrp="1" noChangeAspect="1" noChangeArrowheads="1"/>
          </p:cNvSpPr>
          <p:nvPr>
            <p:ph idx="1"/>
          </p:nvPr>
        </p:nvSpPr>
        <p:spPr>
          <a:xfrm>
            <a:off x="685800" y="1295400"/>
            <a:ext cx="7340600" cy="4360863"/>
          </a:xfrm>
          <a:noFill/>
        </p:spPr>
        <p:txBody>
          <a:bodyPr>
            <a:spAutoFit/>
          </a:bodyPr>
          <a:lstStyle/>
          <a:p>
            <a:pPr eaLnBrk="1" hangingPunct="1">
              <a:buFontTx/>
              <a:buNone/>
            </a:pPr>
            <a:r>
              <a:rPr lang="en-US" sz="4000" i="1" dirty="0">
                <a:solidFill>
                  <a:srgbClr val="FF33CC"/>
                </a:solidFill>
              </a:rPr>
              <a:t>/* Message structure */</a:t>
            </a:r>
          </a:p>
          <a:p>
            <a:pPr eaLnBrk="1" hangingPunct="1">
              <a:buFontTx/>
              <a:buNone/>
            </a:pPr>
            <a:r>
              <a:rPr lang="en-US" sz="4000" dirty="0"/>
              <a:t> </a:t>
            </a:r>
            <a:r>
              <a:rPr lang="en-US" sz="4000" dirty="0" err="1"/>
              <a:t>struct</a:t>
            </a:r>
            <a:r>
              <a:rPr lang="en-US" sz="4000" dirty="0"/>
              <a:t> message</a:t>
            </a:r>
          </a:p>
          <a:p>
            <a:pPr eaLnBrk="1" hangingPunct="1">
              <a:buFontTx/>
              <a:buNone/>
            </a:pPr>
            <a:r>
              <a:rPr lang="en-US" sz="4000" dirty="0"/>
              <a:t>  {</a:t>
            </a:r>
          </a:p>
          <a:p>
            <a:pPr eaLnBrk="1" hangingPunct="1">
              <a:buFontTx/>
              <a:buNone/>
            </a:pPr>
            <a:r>
              <a:rPr lang="en-US" sz="4000" dirty="0"/>
              <a:t>       long </a:t>
            </a:r>
            <a:r>
              <a:rPr lang="en-US" sz="4000" dirty="0" err="1"/>
              <a:t>int</a:t>
            </a:r>
            <a:r>
              <a:rPr lang="en-US" sz="4000" dirty="0"/>
              <a:t> </a:t>
            </a:r>
            <a:r>
              <a:rPr lang="en-US" sz="4000" dirty="0" err="1"/>
              <a:t>mtype</a:t>
            </a:r>
            <a:r>
              <a:rPr lang="en-US" sz="4000" dirty="0"/>
              <a:t>;</a:t>
            </a:r>
          </a:p>
          <a:p>
            <a:pPr eaLnBrk="1" hangingPunct="1">
              <a:buFontTx/>
              <a:buNone/>
            </a:pPr>
            <a:r>
              <a:rPr lang="en-US" sz="4000" dirty="0"/>
              <a:t>       char </a:t>
            </a:r>
            <a:r>
              <a:rPr lang="en-US" sz="4000" dirty="0" err="1"/>
              <a:t>mtext</a:t>
            </a:r>
            <a:r>
              <a:rPr lang="en-US" sz="4000" dirty="0"/>
              <a:t>[n];</a:t>
            </a:r>
          </a:p>
          <a:p>
            <a:pPr eaLnBrk="1" hangingPunct="1">
              <a:buFontTx/>
              <a:buNone/>
            </a:pPr>
            <a:r>
              <a:rPr lang="en-US" sz="4000" dirty="0"/>
              <a:t>   };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482025"/>
            <a:ext cx="7543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Message Queues : Message Structure              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/>
          <p:cNvSpPr>
            <a:spLocks noChangeArrowheads="1"/>
          </p:cNvSpPr>
          <p:nvPr/>
        </p:nvSpPr>
        <p:spPr bwMode="auto">
          <a:xfrm>
            <a:off x="152400" y="939254"/>
            <a:ext cx="8839200" cy="55861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rgbClr val="CC3300"/>
                </a:solidFill>
              </a:rPr>
              <a:t> </a:t>
            </a:r>
            <a:r>
              <a:rPr lang="en-US" dirty="0" err="1">
                <a:solidFill>
                  <a:srgbClr val="CC3300"/>
                </a:solidFill>
              </a:rPr>
              <a:t>int</a:t>
            </a:r>
            <a:r>
              <a:rPr lang="en-US" dirty="0">
                <a:solidFill>
                  <a:srgbClr val="CC3300"/>
                </a:solidFill>
              </a:rPr>
              <a:t> </a:t>
            </a:r>
            <a:r>
              <a:rPr lang="en-US" dirty="0" err="1">
                <a:solidFill>
                  <a:srgbClr val="CC3300"/>
                </a:solidFill>
              </a:rPr>
              <a:t>msgsnd</a:t>
            </a:r>
            <a:r>
              <a:rPr lang="en-US" dirty="0">
                <a:solidFill>
                  <a:srgbClr val="CC3300"/>
                </a:solidFill>
              </a:rPr>
              <a:t>( 	</a:t>
            </a:r>
          </a:p>
          <a:p>
            <a:pPr lvl="1">
              <a:buFont typeface="Wingdings" pitchFamily="2" charset="2"/>
              <a:buNone/>
            </a:pPr>
            <a:r>
              <a:rPr lang="en-US" dirty="0">
                <a:solidFill>
                  <a:srgbClr val="CC3300"/>
                </a:solidFill>
              </a:rPr>
              <a:t>		int  </a:t>
            </a:r>
            <a:r>
              <a:rPr lang="en-US" dirty="0" err="1">
                <a:solidFill>
                  <a:srgbClr val="CC3300"/>
                </a:solidFill>
              </a:rPr>
              <a:t>msqid</a:t>
            </a:r>
            <a:r>
              <a:rPr lang="en-US" dirty="0">
                <a:solidFill>
                  <a:srgbClr val="CC3300"/>
                </a:solidFill>
              </a:rPr>
              <a:t>, </a:t>
            </a:r>
          </a:p>
          <a:p>
            <a:pPr lvl="1">
              <a:buFont typeface="Wingdings" pitchFamily="2" charset="2"/>
              <a:buNone/>
            </a:pPr>
            <a:r>
              <a:rPr lang="en-US" dirty="0">
                <a:solidFill>
                  <a:srgbClr val="CC3300"/>
                </a:solidFill>
              </a:rPr>
              <a:t>		const void  *</a:t>
            </a:r>
            <a:r>
              <a:rPr lang="en-US" dirty="0" err="1">
                <a:solidFill>
                  <a:srgbClr val="CC3300"/>
                </a:solidFill>
              </a:rPr>
              <a:t>msg_ptr</a:t>
            </a:r>
            <a:r>
              <a:rPr lang="en-US" dirty="0">
                <a:solidFill>
                  <a:srgbClr val="CC3300"/>
                </a:solidFill>
              </a:rPr>
              <a:t>,</a:t>
            </a:r>
          </a:p>
          <a:p>
            <a:pPr>
              <a:buFont typeface="Wingdings" pitchFamily="2" charset="2"/>
              <a:buNone/>
            </a:pPr>
            <a:r>
              <a:rPr lang="en-US" dirty="0">
                <a:solidFill>
                  <a:srgbClr val="CC3300"/>
                </a:solidFill>
              </a:rPr>
              <a:t>                        	</a:t>
            </a:r>
            <a:r>
              <a:rPr lang="en-US" dirty="0" err="1">
                <a:solidFill>
                  <a:srgbClr val="CC3300"/>
                </a:solidFill>
              </a:rPr>
              <a:t>size_t</a:t>
            </a:r>
            <a:r>
              <a:rPr lang="en-US" dirty="0">
                <a:solidFill>
                  <a:srgbClr val="CC3300"/>
                </a:solidFill>
              </a:rPr>
              <a:t>    </a:t>
            </a:r>
            <a:r>
              <a:rPr lang="en-US" dirty="0" err="1">
                <a:solidFill>
                  <a:srgbClr val="CC3300"/>
                </a:solidFill>
              </a:rPr>
              <a:t>msg_sz</a:t>
            </a:r>
            <a:r>
              <a:rPr lang="en-US" dirty="0">
                <a:solidFill>
                  <a:srgbClr val="CC3300"/>
                </a:solidFill>
              </a:rPr>
              <a:t>  </a:t>
            </a:r>
          </a:p>
          <a:p>
            <a:pPr>
              <a:buFont typeface="Wingdings" pitchFamily="2" charset="2"/>
              <a:buNone/>
            </a:pPr>
            <a:r>
              <a:rPr lang="en-US" dirty="0">
                <a:solidFill>
                  <a:srgbClr val="CC3300"/>
                </a:solidFill>
              </a:rPr>
              <a:t>                        	int  </a:t>
            </a:r>
            <a:r>
              <a:rPr lang="en-US" dirty="0" err="1">
                <a:solidFill>
                  <a:srgbClr val="CC3300"/>
                </a:solidFill>
              </a:rPr>
              <a:t>msgflag</a:t>
            </a:r>
            <a:r>
              <a:rPr lang="en-US" dirty="0">
                <a:solidFill>
                  <a:srgbClr val="CC3300"/>
                </a:solidFill>
              </a:rPr>
              <a:t> 					</a:t>
            </a:r>
          </a:p>
          <a:p>
            <a:pPr>
              <a:buFont typeface="Wingdings" pitchFamily="2" charset="2"/>
              <a:buNone/>
            </a:pPr>
            <a:r>
              <a:rPr lang="en-US" dirty="0">
                <a:solidFill>
                  <a:srgbClr val="CC3300"/>
                </a:solidFill>
              </a:rPr>
              <a:t>);</a:t>
            </a:r>
          </a:p>
          <a:p>
            <a:pPr>
              <a:spcBef>
                <a:spcPct val="50000"/>
              </a:spcBef>
            </a:pPr>
            <a:r>
              <a:rPr lang="en-US" sz="2800" b="1" dirty="0"/>
              <a:t>   Message Queues : </a:t>
            </a:r>
            <a:r>
              <a:rPr lang="en-US" sz="2800" b="1" dirty="0" err="1"/>
              <a:t>msgrcv</a:t>
            </a:r>
            <a:r>
              <a:rPr lang="en-US" sz="2800" b="1" dirty="0"/>
              <a:t>  System  Call               </a:t>
            </a:r>
            <a:endParaRPr lang="en-US" sz="2800" dirty="0">
              <a:solidFill>
                <a:srgbClr val="CC3300"/>
              </a:solidFill>
            </a:endParaRPr>
          </a:p>
          <a:p>
            <a:pPr>
              <a:spcBef>
                <a:spcPct val="50000"/>
              </a:spcBef>
              <a:buFont typeface="Wingdings" pitchFamily="2" charset="2"/>
              <a:buChar char="Ø"/>
            </a:pPr>
            <a:r>
              <a:rPr lang="en-US" dirty="0">
                <a:solidFill>
                  <a:srgbClr val="CC3300"/>
                </a:solidFill>
              </a:rPr>
              <a:t>int  </a:t>
            </a:r>
            <a:r>
              <a:rPr lang="en-US" dirty="0" err="1">
                <a:solidFill>
                  <a:srgbClr val="CC3300"/>
                </a:solidFill>
              </a:rPr>
              <a:t>msgrcv</a:t>
            </a:r>
            <a:r>
              <a:rPr lang="en-US" dirty="0">
                <a:solidFill>
                  <a:srgbClr val="CC3300"/>
                </a:solidFill>
              </a:rPr>
              <a:t>( </a:t>
            </a:r>
          </a:p>
          <a:p>
            <a:pPr lvl="1">
              <a:buFont typeface="Wingdings" pitchFamily="2" charset="2"/>
              <a:buNone/>
            </a:pPr>
            <a:r>
              <a:rPr lang="en-US" dirty="0">
                <a:solidFill>
                  <a:srgbClr val="CC3300"/>
                </a:solidFill>
              </a:rPr>
              <a:t>		int  </a:t>
            </a:r>
            <a:r>
              <a:rPr lang="en-US" dirty="0" err="1">
                <a:solidFill>
                  <a:srgbClr val="CC3300"/>
                </a:solidFill>
              </a:rPr>
              <a:t>msqid</a:t>
            </a:r>
            <a:r>
              <a:rPr lang="en-US" dirty="0">
                <a:solidFill>
                  <a:srgbClr val="CC3300"/>
                </a:solidFill>
              </a:rPr>
              <a:t>, 						      		void   *</a:t>
            </a:r>
            <a:r>
              <a:rPr lang="en-US" dirty="0" err="1">
                <a:solidFill>
                  <a:srgbClr val="CC3300"/>
                </a:solidFill>
              </a:rPr>
              <a:t>msg_ptr</a:t>
            </a:r>
            <a:r>
              <a:rPr lang="en-US" dirty="0">
                <a:solidFill>
                  <a:srgbClr val="CC3300"/>
                </a:solidFill>
              </a:rPr>
              <a:t>,                        							</a:t>
            </a:r>
            <a:r>
              <a:rPr lang="en-US" dirty="0" err="1">
                <a:solidFill>
                  <a:srgbClr val="CC3300"/>
                </a:solidFill>
              </a:rPr>
              <a:t>size_t</a:t>
            </a:r>
            <a:r>
              <a:rPr lang="en-US" dirty="0">
                <a:solidFill>
                  <a:srgbClr val="CC3300"/>
                </a:solidFill>
              </a:rPr>
              <a:t>   </a:t>
            </a:r>
            <a:r>
              <a:rPr lang="en-US" dirty="0" err="1">
                <a:solidFill>
                  <a:srgbClr val="CC3300"/>
                </a:solidFill>
              </a:rPr>
              <a:t>msg_sz</a:t>
            </a:r>
            <a:r>
              <a:rPr lang="en-US" dirty="0">
                <a:solidFill>
                  <a:srgbClr val="CC3300"/>
                </a:solidFill>
              </a:rPr>
              <a:t>,                        							long int  </a:t>
            </a:r>
            <a:r>
              <a:rPr lang="en-US" dirty="0" err="1">
                <a:solidFill>
                  <a:srgbClr val="CC3300"/>
                </a:solidFill>
              </a:rPr>
              <a:t>mtype</a:t>
            </a:r>
            <a:r>
              <a:rPr lang="en-US" dirty="0">
                <a:solidFill>
                  <a:srgbClr val="CC3300"/>
                </a:solidFill>
              </a:rPr>
              <a:t>,</a:t>
            </a:r>
          </a:p>
          <a:p>
            <a:pPr lvl="1">
              <a:buFont typeface="Wingdings" pitchFamily="2" charset="2"/>
              <a:buNone/>
            </a:pPr>
            <a:r>
              <a:rPr lang="en-US" dirty="0">
                <a:solidFill>
                  <a:srgbClr val="CC3300"/>
                </a:solidFill>
              </a:rPr>
              <a:t>		int  </a:t>
            </a:r>
            <a:r>
              <a:rPr lang="en-US" dirty="0" err="1">
                <a:solidFill>
                  <a:srgbClr val="CC3300"/>
                </a:solidFill>
              </a:rPr>
              <a:t>msgflag</a:t>
            </a:r>
            <a:endParaRPr lang="en-US" dirty="0">
              <a:solidFill>
                <a:srgbClr val="CC3300"/>
              </a:solidFill>
            </a:endParaRPr>
          </a:p>
          <a:p>
            <a:pPr lvl="1">
              <a:buFont typeface="Wingdings" pitchFamily="2" charset="2"/>
              <a:buNone/>
            </a:pPr>
            <a:r>
              <a:rPr lang="en-US" dirty="0">
                <a:solidFill>
                  <a:srgbClr val="CC3300"/>
                </a:solidFill>
              </a:rPr>
              <a:t>) ;   </a:t>
            </a:r>
          </a:p>
          <a:p>
            <a:pPr lvl="1">
              <a:buFont typeface="Wingdings" pitchFamily="2" charset="2"/>
              <a:buNone/>
            </a:pPr>
            <a:endParaRPr lang="en-US" dirty="0">
              <a:solidFill>
                <a:srgbClr val="CC3300"/>
              </a:solidFill>
            </a:endParaRPr>
          </a:p>
          <a:p>
            <a:pPr>
              <a:buClr>
                <a:srgbClr val="FF0000"/>
              </a:buClr>
              <a:buSzPct val="110000"/>
              <a:buFont typeface="Wingdings" pitchFamily="2" charset="2"/>
              <a:buChar char="Ø"/>
            </a:pPr>
            <a:r>
              <a:rPr lang="en-US" dirty="0" err="1">
                <a:solidFill>
                  <a:srgbClr val="CC3300"/>
                </a:solidFill>
              </a:rPr>
              <a:t>msqid</a:t>
            </a:r>
            <a:r>
              <a:rPr lang="en-US" dirty="0"/>
              <a:t>   -------- Message Queue id return by </a:t>
            </a:r>
            <a:r>
              <a:rPr lang="en-US" dirty="0" err="1"/>
              <a:t>msgget</a:t>
            </a:r>
            <a:r>
              <a:rPr lang="en-US" dirty="0"/>
              <a:t>()</a:t>
            </a:r>
          </a:p>
          <a:p>
            <a:pPr>
              <a:buClr>
                <a:srgbClr val="FF0000"/>
              </a:buClr>
              <a:buSzPct val="110000"/>
              <a:buFont typeface="Wingdings" pitchFamily="2" charset="2"/>
              <a:buChar char="Ø"/>
            </a:pPr>
            <a:r>
              <a:rPr lang="en-US" dirty="0" err="1">
                <a:solidFill>
                  <a:srgbClr val="CC3300"/>
                </a:solidFill>
              </a:rPr>
              <a:t>msg_ptr</a:t>
            </a:r>
            <a:r>
              <a:rPr lang="en-US" dirty="0"/>
              <a:t> -------  Pointer to the message structure   </a:t>
            </a:r>
          </a:p>
          <a:p>
            <a:pPr>
              <a:buClr>
                <a:srgbClr val="FF0000"/>
              </a:buClr>
              <a:buSzPct val="110000"/>
              <a:buFont typeface="Wingdings" pitchFamily="2" charset="2"/>
              <a:buChar char="Ø"/>
            </a:pPr>
            <a:r>
              <a:rPr lang="en-US" dirty="0" err="1">
                <a:solidFill>
                  <a:srgbClr val="CC3300"/>
                </a:solidFill>
              </a:rPr>
              <a:t>msg_sz</a:t>
            </a:r>
            <a:r>
              <a:rPr lang="en-US" dirty="0"/>
              <a:t>  -------  Size of the message pointed to by </a:t>
            </a:r>
            <a:r>
              <a:rPr lang="en-US" dirty="0" err="1"/>
              <a:t>msg_ptr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81000" y="228600"/>
            <a:ext cx="7543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Message Queues : </a:t>
            </a:r>
            <a:r>
              <a:rPr lang="en-US" sz="2800" b="1" dirty="0" err="1"/>
              <a:t>msgsnd</a:t>
            </a:r>
            <a:r>
              <a:rPr lang="en-US" sz="2800" b="1" dirty="0"/>
              <a:t> System Call               </a:t>
            </a: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9" name="Rectangle 4"/>
          <p:cNvSpPr>
            <a:spLocks noChangeArrowheads="1"/>
          </p:cNvSpPr>
          <p:nvPr/>
        </p:nvSpPr>
        <p:spPr bwMode="auto">
          <a:xfrm>
            <a:off x="0" y="990600"/>
            <a:ext cx="17526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900" b="1">
                <a:solidFill>
                  <a:srgbClr val="CC3300"/>
                </a:solidFill>
              </a:rPr>
              <a:t>msg_type</a:t>
            </a:r>
          </a:p>
        </p:txBody>
      </p:sp>
      <p:grpSp>
        <p:nvGrpSpPr>
          <p:cNvPr id="188420" name="Group 20"/>
          <p:cNvGrpSpPr>
            <a:grpSpLocks/>
          </p:cNvGrpSpPr>
          <p:nvPr/>
        </p:nvGrpSpPr>
        <p:grpSpPr bwMode="auto">
          <a:xfrm>
            <a:off x="1547813" y="1015813"/>
            <a:ext cx="7596187" cy="4705350"/>
            <a:chOff x="975" y="672"/>
            <a:chExt cx="4785" cy="2964"/>
          </a:xfrm>
        </p:grpSpPr>
        <p:sp>
          <p:nvSpPr>
            <p:cNvPr id="188421" name="Text Box 9"/>
            <p:cNvSpPr txBox="1">
              <a:spLocks noChangeArrowheads="1"/>
            </p:cNvSpPr>
            <p:nvPr/>
          </p:nvSpPr>
          <p:spPr bwMode="auto">
            <a:xfrm>
              <a:off x="1537" y="672"/>
              <a:ext cx="1564" cy="2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i="1">
                  <a:solidFill>
                    <a:srgbClr val="0000CC"/>
                  </a:solidFill>
                </a:rPr>
                <a:t>0</a:t>
              </a:r>
            </a:p>
          </p:txBody>
        </p:sp>
        <p:sp>
          <p:nvSpPr>
            <p:cNvPr id="188422" name="Rectangle 10"/>
            <p:cNvSpPr>
              <a:spLocks noChangeArrowheads="1"/>
            </p:cNvSpPr>
            <p:nvPr/>
          </p:nvSpPr>
          <p:spPr bwMode="auto">
            <a:xfrm>
              <a:off x="1488" y="1104"/>
              <a:ext cx="32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>
                  <a:solidFill>
                    <a:srgbClr val="0000CC"/>
                  </a:solidFill>
                </a:rPr>
                <a:t>&gt;0</a:t>
              </a:r>
            </a:p>
          </p:txBody>
        </p:sp>
        <p:sp>
          <p:nvSpPr>
            <p:cNvPr id="188423" name="Line 5"/>
            <p:cNvSpPr>
              <a:spLocks noChangeShapeType="1"/>
            </p:cNvSpPr>
            <p:nvPr/>
          </p:nvSpPr>
          <p:spPr bwMode="auto">
            <a:xfrm>
              <a:off x="975" y="859"/>
              <a:ext cx="46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88424" name="Group 6"/>
            <p:cNvGrpSpPr>
              <a:grpSpLocks/>
            </p:cNvGrpSpPr>
            <p:nvPr/>
          </p:nvGrpSpPr>
          <p:grpSpPr bwMode="auto">
            <a:xfrm>
              <a:off x="1139" y="864"/>
              <a:ext cx="280" cy="384"/>
              <a:chOff x="1344" y="2172"/>
              <a:chExt cx="492" cy="432"/>
            </a:xfrm>
          </p:grpSpPr>
          <p:sp>
            <p:nvSpPr>
              <p:cNvPr id="188432" name="Line 7"/>
              <p:cNvSpPr>
                <a:spLocks noChangeShapeType="1"/>
              </p:cNvSpPr>
              <p:nvPr/>
            </p:nvSpPr>
            <p:spPr bwMode="auto">
              <a:xfrm>
                <a:off x="1344" y="2172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433" name="Line 8"/>
              <p:cNvSpPr>
                <a:spLocks noChangeShapeType="1"/>
              </p:cNvSpPr>
              <p:nvPr/>
            </p:nvSpPr>
            <p:spPr bwMode="auto">
              <a:xfrm>
                <a:off x="1344" y="2604"/>
                <a:ext cx="4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8425" name="Group 11"/>
            <p:cNvGrpSpPr>
              <a:grpSpLocks/>
            </p:cNvGrpSpPr>
            <p:nvPr/>
          </p:nvGrpSpPr>
          <p:grpSpPr bwMode="auto">
            <a:xfrm>
              <a:off x="1139" y="1248"/>
              <a:ext cx="280" cy="1824"/>
              <a:chOff x="1344" y="2172"/>
              <a:chExt cx="492" cy="432"/>
            </a:xfrm>
          </p:grpSpPr>
          <p:sp>
            <p:nvSpPr>
              <p:cNvPr id="188430" name="Line 12"/>
              <p:cNvSpPr>
                <a:spLocks noChangeShapeType="1"/>
              </p:cNvSpPr>
              <p:nvPr/>
            </p:nvSpPr>
            <p:spPr bwMode="auto">
              <a:xfrm>
                <a:off x="1344" y="2172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431" name="Line 13"/>
              <p:cNvSpPr>
                <a:spLocks noChangeShapeType="1"/>
              </p:cNvSpPr>
              <p:nvPr/>
            </p:nvSpPr>
            <p:spPr bwMode="auto">
              <a:xfrm>
                <a:off x="1344" y="2604"/>
                <a:ext cx="4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88426" name="Rectangle 14"/>
            <p:cNvSpPr>
              <a:spLocks noChangeArrowheads="1"/>
            </p:cNvSpPr>
            <p:nvPr/>
          </p:nvSpPr>
          <p:spPr bwMode="auto">
            <a:xfrm>
              <a:off x="1488" y="2928"/>
              <a:ext cx="32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>
                  <a:solidFill>
                    <a:srgbClr val="0000CC"/>
                  </a:solidFill>
                </a:rPr>
                <a:t>&lt;0</a:t>
              </a:r>
            </a:p>
          </p:txBody>
        </p:sp>
        <p:sp>
          <p:nvSpPr>
            <p:cNvPr id="188427" name="Text Box 15"/>
            <p:cNvSpPr txBox="1">
              <a:spLocks noChangeArrowheads="1"/>
            </p:cNvSpPr>
            <p:nvPr/>
          </p:nvSpPr>
          <p:spPr bwMode="auto">
            <a:xfrm>
              <a:off x="2101" y="672"/>
              <a:ext cx="3371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>
                <a:spcBef>
                  <a:spcPct val="50000"/>
                </a:spcBef>
              </a:pPr>
              <a:r>
                <a:rPr lang="en-US" sz="2400" i="1" dirty="0"/>
                <a:t>First message in the queue is read</a:t>
              </a:r>
            </a:p>
          </p:txBody>
        </p:sp>
        <p:sp>
          <p:nvSpPr>
            <p:cNvPr id="188428" name="Text Box 16"/>
            <p:cNvSpPr txBox="1">
              <a:spLocks noChangeArrowheads="1"/>
            </p:cNvSpPr>
            <p:nvPr/>
          </p:nvSpPr>
          <p:spPr bwMode="auto">
            <a:xfrm>
              <a:off x="2064" y="1104"/>
              <a:ext cx="3696" cy="1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>
                <a:spcBef>
                  <a:spcPct val="50000"/>
                </a:spcBef>
              </a:pPr>
              <a:r>
                <a:rPr lang="en-US" sz="2400" i="1" dirty="0"/>
                <a:t>First message on the queue of type </a:t>
              </a:r>
              <a:r>
                <a:rPr lang="en-US" sz="2400" i="1" dirty="0" err="1"/>
                <a:t>msg_typ</a:t>
              </a:r>
              <a:r>
                <a:rPr lang="en-US" sz="2400" i="1" dirty="0"/>
                <a:t> is read, unless MSG_EXCEPT was asserted in </a:t>
              </a:r>
              <a:r>
                <a:rPr lang="en-US" sz="2400" i="1" dirty="0" err="1"/>
                <a:t>msgflg</a:t>
              </a:r>
              <a:r>
                <a:rPr lang="en-US" sz="2400" i="1" dirty="0"/>
                <a:t>, in which case the first message on the queue of type not equal to </a:t>
              </a:r>
              <a:r>
                <a:rPr lang="en-US" sz="2400" i="1" dirty="0" err="1"/>
                <a:t>msg_type</a:t>
              </a:r>
              <a:r>
                <a:rPr lang="en-US" sz="2400" i="1" dirty="0"/>
                <a:t> will be read</a:t>
              </a:r>
            </a:p>
          </p:txBody>
        </p:sp>
        <p:sp>
          <p:nvSpPr>
            <p:cNvPr id="188429" name="Text Box 17"/>
            <p:cNvSpPr txBox="1">
              <a:spLocks noChangeArrowheads="1"/>
            </p:cNvSpPr>
            <p:nvPr/>
          </p:nvSpPr>
          <p:spPr bwMode="auto">
            <a:xfrm>
              <a:off x="2112" y="2880"/>
              <a:ext cx="3648" cy="7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>
                <a:spcBef>
                  <a:spcPct val="50000"/>
                </a:spcBef>
              </a:pPr>
              <a:r>
                <a:rPr lang="en-US" sz="2400" i="1" dirty="0"/>
                <a:t>The first message on the queue with the lowest type less than or equal to the absolute value of </a:t>
              </a:r>
              <a:r>
                <a:rPr lang="en-US" sz="2400" i="1" dirty="0" err="1"/>
                <a:t>msg_typ</a:t>
              </a:r>
              <a:r>
                <a:rPr lang="en-US" sz="2400" i="1" dirty="0"/>
                <a:t> will be read</a:t>
              </a:r>
            </a:p>
          </p:txBody>
        </p:sp>
      </p:grpSp>
      <p:sp>
        <p:nvSpPr>
          <p:cNvPr id="18" name="Rectangle 17"/>
          <p:cNvSpPr/>
          <p:nvPr/>
        </p:nvSpPr>
        <p:spPr>
          <a:xfrm>
            <a:off x="76200" y="228600"/>
            <a:ext cx="7543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Message Queues : </a:t>
            </a:r>
            <a:r>
              <a:rPr lang="en-US" sz="3200" b="1" dirty="0" err="1"/>
              <a:t>msg_type</a:t>
            </a:r>
            <a:r>
              <a:rPr lang="en-US" sz="3200" b="1" dirty="0"/>
              <a:t>               </a:t>
            </a: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443" name="Group 19"/>
          <p:cNvGrpSpPr>
            <a:grpSpLocks/>
          </p:cNvGrpSpPr>
          <p:nvPr/>
        </p:nvGrpSpPr>
        <p:grpSpPr bwMode="auto">
          <a:xfrm>
            <a:off x="0" y="990600"/>
            <a:ext cx="9144000" cy="5391150"/>
            <a:chOff x="192" y="1008"/>
            <a:chExt cx="5424" cy="2945"/>
          </a:xfrm>
        </p:grpSpPr>
        <p:sp>
          <p:nvSpPr>
            <p:cNvPr id="189444" name="Rectangle 3"/>
            <p:cNvSpPr>
              <a:spLocks noChangeArrowheads="1"/>
            </p:cNvSpPr>
            <p:nvPr/>
          </p:nvSpPr>
          <p:spPr bwMode="auto">
            <a:xfrm>
              <a:off x="192" y="1008"/>
              <a:ext cx="837" cy="2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2800">
                  <a:solidFill>
                    <a:srgbClr val="CC3300"/>
                  </a:solidFill>
                </a:rPr>
                <a:t>msgflag</a:t>
              </a:r>
            </a:p>
          </p:txBody>
        </p:sp>
        <p:sp>
          <p:nvSpPr>
            <p:cNvPr id="189445" name="Line 4"/>
            <p:cNvSpPr>
              <a:spLocks noChangeShapeType="1"/>
            </p:cNvSpPr>
            <p:nvPr/>
          </p:nvSpPr>
          <p:spPr bwMode="auto">
            <a:xfrm>
              <a:off x="1056" y="1200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89446" name="Group 5"/>
            <p:cNvGrpSpPr>
              <a:grpSpLocks/>
            </p:cNvGrpSpPr>
            <p:nvPr/>
          </p:nvGrpSpPr>
          <p:grpSpPr bwMode="auto">
            <a:xfrm>
              <a:off x="1344" y="1200"/>
              <a:ext cx="492" cy="1008"/>
              <a:chOff x="1344" y="2172"/>
              <a:chExt cx="492" cy="432"/>
            </a:xfrm>
          </p:grpSpPr>
          <p:sp>
            <p:nvSpPr>
              <p:cNvPr id="189456" name="Line 6"/>
              <p:cNvSpPr>
                <a:spLocks noChangeShapeType="1"/>
              </p:cNvSpPr>
              <p:nvPr/>
            </p:nvSpPr>
            <p:spPr bwMode="auto">
              <a:xfrm>
                <a:off x="1344" y="2172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457" name="Line 7"/>
              <p:cNvSpPr>
                <a:spLocks noChangeShapeType="1"/>
              </p:cNvSpPr>
              <p:nvPr/>
            </p:nvSpPr>
            <p:spPr bwMode="auto">
              <a:xfrm>
                <a:off x="1344" y="2604"/>
                <a:ext cx="4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89447" name="Text Box 8"/>
            <p:cNvSpPr txBox="1">
              <a:spLocks noChangeArrowheads="1"/>
            </p:cNvSpPr>
            <p:nvPr/>
          </p:nvSpPr>
          <p:spPr bwMode="auto">
            <a:xfrm>
              <a:off x="1968" y="1092"/>
              <a:ext cx="153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i="1">
                  <a:solidFill>
                    <a:srgbClr val="0000CC"/>
                  </a:solidFill>
                </a:rPr>
                <a:t>IPC_NOWAIT</a:t>
              </a:r>
            </a:p>
          </p:txBody>
        </p:sp>
        <p:sp>
          <p:nvSpPr>
            <p:cNvPr id="189448" name="Rectangle 9"/>
            <p:cNvSpPr>
              <a:spLocks noChangeArrowheads="1"/>
            </p:cNvSpPr>
            <p:nvPr/>
          </p:nvSpPr>
          <p:spPr bwMode="auto">
            <a:xfrm>
              <a:off x="1920" y="2064"/>
              <a:ext cx="129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 i="1">
                  <a:solidFill>
                    <a:srgbClr val="0000CC"/>
                  </a:solidFill>
                </a:rPr>
                <a:t>MSG_EXCEPT</a:t>
              </a:r>
            </a:p>
          </p:txBody>
        </p:sp>
        <p:grpSp>
          <p:nvGrpSpPr>
            <p:cNvPr id="189449" name="Group 11"/>
            <p:cNvGrpSpPr>
              <a:grpSpLocks/>
            </p:cNvGrpSpPr>
            <p:nvPr/>
          </p:nvGrpSpPr>
          <p:grpSpPr bwMode="auto">
            <a:xfrm>
              <a:off x="1344" y="2196"/>
              <a:ext cx="492" cy="1164"/>
              <a:chOff x="1344" y="2172"/>
              <a:chExt cx="492" cy="432"/>
            </a:xfrm>
          </p:grpSpPr>
          <p:sp>
            <p:nvSpPr>
              <p:cNvPr id="189454" name="Line 12"/>
              <p:cNvSpPr>
                <a:spLocks noChangeShapeType="1"/>
              </p:cNvSpPr>
              <p:nvPr/>
            </p:nvSpPr>
            <p:spPr bwMode="auto">
              <a:xfrm>
                <a:off x="1344" y="2172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455" name="Line 13"/>
              <p:cNvSpPr>
                <a:spLocks noChangeShapeType="1"/>
              </p:cNvSpPr>
              <p:nvPr/>
            </p:nvSpPr>
            <p:spPr bwMode="auto">
              <a:xfrm>
                <a:off x="1344" y="2604"/>
                <a:ext cx="4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89450" name="Rectangle 14"/>
            <p:cNvSpPr>
              <a:spLocks noChangeArrowheads="1"/>
            </p:cNvSpPr>
            <p:nvPr/>
          </p:nvSpPr>
          <p:spPr bwMode="auto">
            <a:xfrm>
              <a:off x="1872" y="3216"/>
              <a:ext cx="146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 i="1">
                  <a:solidFill>
                    <a:srgbClr val="0000CC"/>
                  </a:solidFill>
                </a:rPr>
                <a:t>MSG_NOERROR</a:t>
              </a:r>
            </a:p>
          </p:txBody>
        </p:sp>
        <p:sp>
          <p:nvSpPr>
            <p:cNvPr id="189451" name="Text Box 16"/>
            <p:cNvSpPr txBox="1">
              <a:spLocks noChangeArrowheads="1"/>
            </p:cNvSpPr>
            <p:nvPr/>
          </p:nvSpPr>
          <p:spPr bwMode="auto">
            <a:xfrm>
              <a:off x="2304" y="1392"/>
              <a:ext cx="3312" cy="4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>
                <a:spcBef>
                  <a:spcPct val="50000"/>
                </a:spcBef>
              </a:pPr>
              <a:r>
                <a:rPr lang="en-US" i="1"/>
                <a:t>Return immediately if no message of requested type is on the queue</a:t>
              </a:r>
            </a:p>
          </p:txBody>
        </p:sp>
        <p:sp>
          <p:nvSpPr>
            <p:cNvPr id="189452" name="Text Box 17"/>
            <p:cNvSpPr txBox="1">
              <a:spLocks noChangeArrowheads="1"/>
            </p:cNvSpPr>
            <p:nvPr/>
          </p:nvSpPr>
          <p:spPr bwMode="auto">
            <a:xfrm>
              <a:off x="2304" y="2410"/>
              <a:ext cx="3312" cy="6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>
                <a:spcBef>
                  <a:spcPct val="50000"/>
                </a:spcBef>
              </a:pPr>
              <a:r>
                <a:rPr lang="en-US" i="1"/>
                <a:t>Used with msg_type greater than 0 to read the first message on the queue with message type that differs from msg_type</a:t>
              </a:r>
            </a:p>
          </p:txBody>
        </p:sp>
        <p:sp>
          <p:nvSpPr>
            <p:cNvPr id="189453" name="Text Box 18"/>
            <p:cNvSpPr txBox="1">
              <a:spLocks noChangeArrowheads="1"/>
            </p:cNvSpPr>
            <p:nvPr/>
          </p:nvSpPr>
          <p:spPr bwMode="auto">
            <a:xfrm>
              <a:off x="2304" y="3504"/>
              <a:ext cx="3312" cy="4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>
                <a:spcBef>
                  <a:spcPct val="50000"/>
                </a:spcBef>
              </a:pPr>
              <a:r>
                <a:rPr lang="en-US" i="1"/>
                <a:t>Truncate the message if longer than msgsz bytes</a:t>
              </a:r>
            </a:p>
          </p:txBody>
        </p:sp>
      </p:grpSp>
      <p:sp>
        <p:nvSpPr>
          <p:cNvPr id="18" name="Rectangle 17"/>
          <p:cNvSpPr/>
          <p:nvPr/>
        </p:nvSpPr>
        <p:spPr>
          <a:xfrm>
            <a:off x="152400" y="228600"/>
            <a:ext cx="7543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Message Queues : </a:t>
            </a:r>
            <a:r>
              <a:rPr lang="en-US" sz="3200" b="1" dirty="0" err="1"/>
              <a:t>msg_flag</a:t>
            </a:r>
            <a:r>
              <a:rPr lang="en-US" sz="3200" b="1" dirty="0"/>
              <a:t>               </a:t>
            </a: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/>
          <p:cNvSpPr>
            <a:spLocks noChangeArrowheads="1"/>
          </p:cNvSpPr>
          <p:nvPr/>
        </p:nvSpPr>
        <p:spPr bwMode="auto">
          <a:xfrm>
            <a:off x="0" y="1520825"/>
            <a:ext cx="9144000" cy="411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Ø"/>
            </a:pPr>
            <a:r>
              <a:rPr lang="en-US" sz="4800" dirty="0">
                <a:solidFill>
                  <a:srgbClr val="CC3300"/>
                </a:solidFill>
              </a:rPr>
              <a:t>int  </a:t>
            </a:r>
            <a:r>
              <a:rPr lang="en-US" sz="4800" dirty="0" err="1">
                <a:solidFill>
                  <a:srgbClr val="CC3300"/>
                </a:solidFill>
              </a:rPr>
              <a:t>msgctl</a:t>
            </a:r>
            <a:r>
              <a:rPr lang="en-US" sz="4800" dirty="0">
                <a:solidFill>
                  <a:srgbClr val="CC3300"/>
                </a:solidFill>
              </a:rPr>
              <a:t>(</a:t>
            </a: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r>
              <a:rPr lang="en-US" sz="4800" dirty="0">
                <a:solidFill>
                  <a:srgbClr val="CC3300"/>
                </a:solidFill>
              </a:rPr>
              <a:t>			int  </a:t>
            </a:r>
            <a:r>
              <a:rPr lang="en-US" sz="4800" dirty="0" err="1">
                <a:solidFill>
                  <a:srgbClr val="CC3300"/>
                </a:solidFill>
              </a:rPr>
              <a:t>msqid</a:t>
            </a:r>
            <a:r>
              <a:rPr lang="en-US" sz="4800" dirty="0">
                <a:solidFill>
                  <a:srgbClr val="CC3300"/>
                </a:solidFill>
              </a:rPr>
              <a:t>, 						       int  </a:t>
            </a:r>
            <a:r>
              <a:rPr lang="en-US" sz="4800" dirty="0" err="1">
                <a:solidFill>
                  <a:srgbClr val="CC3300"/>
                </a:solidFill>
              </a:rPr>
              <a:t>cmd</a:t>
            </a:r>
            <a:r>
              <a:rPr lang="en-US" sz="4800" dirty="0">
                <a:solidFill>
                  <a:srgbClr val="CC3300"/>
                </a:solidFill>
              </a:rPr>
              <a:t>,                       				struct </a:t>
            </a:r>
            <a:r>
              <a:rPr lang="en-US" sz="4800" dirty="0" err="1">
                <a:solidFill>
                  <a:srgbClr val="CC3300"/>
                </a:solidFill>
              </a:rPr>
              <a:t>msqid_ds</a:t>
            </a:r>
            <a:r>
              <a:rPr lang="en-US" sz="4800" dirty="0">
                <a:solidFill>
                  <a:srgbClr val="CC3300"/>
                </a:solidFill>
              </a:rPr>
              <a:t>  *</a:t>
            </a:r>
            <a:r>
              <a:rPr lang="en-US" sz="4800" dirty="0" err="1">
                <a:solidFill>
                  <a:srgbClr val="CC3300"/>
                </a:solidFill>
              </a:rPr>
              <a:t>buf</a:t>
            </a:r>
            <a:r>
              <a:rPr lang="en-US" sz="4800" dirty="0">
                <a:solidFill>
                  <a:srgbClr val="CC3300"/>
                </a:solidFill>
              </a:rPr>
              <a:t> 			  );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482025"/>
            <a:ext cx="7543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Message Queues : </a:t>
            </a:r>
            <a:r>
              <a:rPr lang="en-US" sz="3200" b="1" dirty="0" err="1"/>
              <a:t>msgctl</a:t>
            </a:r>
            <a:r>
              <a:rPr lang="en-US" sz="3200" b="1" dirty="0"/>
              <a:t>  System Call                </a:t>
            </a: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3"/>
          <p:cNvSpPr>
            <a:spLocks noChangeArrowheads="1"/>
          </p:cNvSpPr>
          <p:nvPr/>
        </p:nvSpPr>
        <p:spPr bwMode="auto">
          <a:xfrm>
            <a:off x="0" y="1690688"/>
            <a:ext cx="14478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>
                <a:srgbClr val="0000CC"/>
              </a:buClr>
              <a:buFont typeface="Wingdings" pitchFamily="2" charset="2"/>
              <a:buChar char="Ø"/>
            </a:pPr>
            <a:r>
              <a:rPr lang="en-US" sz="2800">
                <a:solidFill>
                  <a:srgbClr val="CC3300"/>
                </a:solidFill>
              </a:rPr>
              <a:t> cmd</a:t>
            </a:r>
          </a:p>
        </p:txBody>
      </p:sp>
      <p:sp>
        <p:nvSpPr>
          <p:cNvPr id="193539" name="Rectangle 4"/>
          <p:cNvSpPr>
            <a:spLocks noChangeArrowheads="1"/>
          </p:cNvSpPr>
          <p:nvPr/>
        </p:nvSpPr>
        <p:spPr bwMode="auto">
          <a:xfrm>
            <a:off x="76200" y="5834063"/>
            <a:ext cx="305404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rgbClr val="0000CC"/>
              </a:buClr>
              <a:buFont typeface="Wingdings" pitchFamily="2" charset="2"/>
              <a:buChar char="Ø"/>
            </a:pPr>
            <a:r>
              <a:rPr lang="en-US" sz="2800" dirty="0">
                <a:solidFill>
                  <a:srgbClr val="CC3300"/>
                </a:solidFill>
              </a:rPr>
              <a:t>  </a:t>
            </a:r>
            <a:r>
              <a:rPr lang="en-US" sz="2800" dirty="0" err="1">
                <a:solidFill>
                  <a:srgbClr val="CC3300"/>
                </a:solidFill>
              </a:rPr>
              <a:t>buf</a:t>
            </a:r>
            <a:r>
              <a:rPr lang="en-US" sz="2800" dirty="0"/>
              <a:t>  ------  </a:t>
            </a:r>
            <a:r>
              <a:rPr lang="en-US" sz="2400" dirty="0"/>
              <a:t>Modes</a:t>
            </a:r>
            <a:r>
              <a:rPr lang="en-US" sz="2800" dirty="0"/>
              <a:t> </a:t>
            </a:r>
          </a:p>
        </p:txBody>
      </p:sp>
      <p:grpSp>
        <p:nvGrpSpPr>
          <p:cNvPr id="193540" name="Group 19"/>
          <p:cNvGrpSpPr>
            <a:grpSpLocks/>
          </p:cNvGrpSpPr>
          <p:nvPr/>
        </p:nvGrpSpPr>
        <p:grpSpPr bwMode="auto">
          <a:xfrm>
            <a:off x="1371600" y="1905000"/>
            <a:ext cx="609600" cy="3657600"/>
            <a:chOff x="864" y="1200"/>
            <a:chExt cx="816" cy="2304"/>
          </a:xfrm>
        </p:grpSpPr>
        <p:sp>
          <p:nvSpPr>
            <p:cNvPr id="193549" name="Line 7"/>
            <p:cNvSpPr>
              <a:spLocks noChangeShapeType="1"/>
            </p:cNvSpPr>
            <p:nvPr/>
          </p:nvSpPr>
          <p:spPr bwMode="auto">
            <a:xfrm>
              <a:off x="864" y="1200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93550" name="Line 8"/>
            <p:cNvSpPr>
              <a:spLocks noChangeShapeType="1"/>
            </p:cNvSpPr>
            <p:nvPr/>
          </p:nvSpPr>
          <p:spPr bwMode="auto">
            <a:xfrm>
              <a:off x="1104" y="2112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93551" name="Line 9"/>
            <p:cNvSpPr>
              <a:spLocks noChangeShapeType="1"/>
            </p:cNvSpPr>
            <p:nvPr/>
          </p:nvSpPr>
          <p:spPr bwMode="auto">
            <a:xfrm>
              <a:off x="1104" y="1200"/>
              <a:ext cx="0" cy="23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93552" name="Line 10"/>
            <p:cNvSpPr>
              <a:spLocks noChangeShapeType="1"/>
            </p:cNvSpPr>
            <p:nvPr/>
          </p:nvSpPr>
          <p:spPr bwMode="auto">
            <a:xfrm>
              <a:off x="1104" y="3504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</p:grpSp>
      <p:sp>
        <p:nvSpPr>
          <p:cNvPr id="193541" name="Text Box 11"/>
          <p:cNvSpPr txBox="1">
            <a:spLocks noChangeArrowheads="1"/>
          </p:cNvSpPr>
          <p:nvPr/>
        </p:nvSpPr>
        <p:spPr bwMode="auto">
          <a:xfrm>
            <a:off x="1981200" y="1638300"/>
            <a:ext cx="2133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i="1">
                <a:solidFill>
                  <a:srgbClr val="0000CC"/>
                </a:solidFill>
              </a:rPr>
              <a:t>IPC_STAT</a:t>
            </a:r>
            <a:r>
              <a:rPr lang="en-US" sz="2400" i="1"/>
              <a:t> </a:t>
            </a:r>
          </a:p>
        </p:txBody>
      </p:sp>
      <p:sp>
        <p:nvSpPr>
          <p:cNvPr id="193542" name="Text Box 12"/>
          <p:cNvSpPr txBox="1">
            <a:spLocks noChangeArrowheads="1"/>
          </p:cNvSpPr>
          <p:nvPr/>
        </p:nvSpPr>
        <p:spPr bwMode="auto">
          <a:xfrm>
            <a:off x="1962150" y="3062288"/>
            <a:ext cx="1828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i="1">
                <a:solidFill>
                  <a:srgbClr val="0000CC"/>
                </a:solidFill>
              </a:rPr>
              <a:t>IPC_SET </a:t>
            </a:r>
            <a:r>
              <a:rPr lang="en-US" sz="2400" i="1"/>
              <a:t> </a:t>
            </a:r>
          </a:p>
        </p:txBody>
      </p:sp>
      <p:sp>
        <p:nvSpPr>
          <p:cNvPr id="193543" name="Text Box 13"/>
          <p:cNvSpPr txBox="1">
            <a:spLocks noChangeArrowheads="1"/>
          </p:cNvSpPr>
          <p:nvPr/>
        </p:nvSpPr>
        <p:spPr bwMode="auto">
          <a:xfrm>
            <a:off x="1866900" y="5272088"/>
            <a:ext cx="2133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i="1">
                <a:solidFill>
                  <a:srgbClr val="0000CC"/>
                </a:solidFill>
              </a:rPr>
              <a:t>IPC_RMID </a:t>
            </a:r>
            <a:r>
              <a:rPr lang="en-US" sz="2400" i="1"/>
              <a:t> </a:t>
            </a:r>
          </a:p>
        </p:txBody>
      </p:sp>
      <p:sp>
        <p:nvSpPr>
          <p:cNvPr id="193545" name="Rectangle 15"/>
          <p:cNvSpPr>
            <a:spLocks noChangeArrowheads="1"/>
          </p:cNvSpPr>
          <p:nvPr/>
        </p:nvSpPr>
        <p:spPr bwMode="auto">
          <a:xfrm>
            <a:off x="0" y="990600"/>
            <a:ext cx="9144000" cy="595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>
                <a:srgbClr val="0000CC"/>
              </a:buClr>
              <a:buFont typeface="Wingdings" pitchFamily="2" charset="2"/>
              <a:buChar char="Ø"/>
            </a:pPr>
            <a:r>
              <a:rPr lang="en-US" sz="3200">
                <a:solidFill>
                  <a:srgbClr val="CC3300"/>
                </a:solidFill>
              </a:rPr>
              <a:t> msqid</a:t>
            </a:r>
            <a:r>
              <a:rPr lang="en-US" sz="3200"/>
              <a:t>   -------- Message Queue id</a:t>
            </a:r>
          </a:p>
        </p:txBody>
      </p:sp>
      <p:sp>
        <p:nvSpPr>
          <p:cNvPr id="193546" name="Text Box 16"/>
          <p:cNvSpPr txBox="1">
            <a:spLocks noChangeArrowheads="1"/>
          </p:cNvSpPr>
          <p:nvPr/>
        </p:nvSpPr>
        <p:spPr bwMode="auto">
          <a:xfrm>
            <a:off x="3657600" y="1708150"/>
            <a:ext cx="55626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sz="1600" i="1" dirty="0"/>
              <a:t>Copy information from the message queue data structure into the structure pointed to by </a:t>
            </a:r>
            <a:r>
              <a:rPr lang="en-US" sz="1600" i="1" dirty="0" err="1"/>
              <a:t>buf</a:t>
            </a:r>
            <a:endParaRPr lang="en-US" sz="1600" i="1" dirty="0"/>
          </a:p>
        </p:txBody>
      </p:sp>
      <p:sp>
        <p:nvSpPr>
          <p:cNvPr id="193547" name="Text Box 17"/>
          <p:cNvSpPr txBox="1">
            <a:spLocks noChangeArrowheads="1"/>
          </p:cNvSpPr>
          <p:nvPr/>
        </p:nvSpPr>
        <p:spPr bwMode="auto">
          <a:xfrm>
            <a:off x="3581400" y="3048000"/>
            <a:ext cx="5562600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sz="1600" i="1" dirty="0"/>
              <a:t>Write the values of some members of </a:t>
            </a:r>
            <a:r>
              <a:rPr lang="en-US" sz="1600" i="1" dirty="0" err="1"/>
              <a:t>msqid_ds</a:t>
            </a:r>
            <a:r>
              <a:rPr lang="en-US" sz="1600" i="1" dirty="0"/>
              <a:t> structure pointed to by </a:t>
            </a:r>
            <a:r>
              <a:rPr lang="en-US" sz="1600" i="1" dirty="0" err="1"/>
              <a:t>buf</a:t>
            </a:r>
            <a:r>
              <a:rPr lang="en-US" sz="1600" i="1" dirty="0"/>
              <a:t> to the message queue data structure.  Considered members from the user defined structure are </a:t>
            </a:r>
            <a:r>
              <a:rPr lang="en-US" sz="1600" i="1" dirty="0" err="1"/>
              <a:t>msg_perm.uid</a:t>
            </a:r>
            <a:r>
              <a:rPr lang="en-US" sz="1600" i="1" dirty="0"/>
              <a:t>, </a:t>
            </a:r>
            <a:r>
              <a:rPr lang="en-US" sz="1600" i="1" dirty="0" err="1"/>
              <a:t>msg_perm.gid</a:t>
            </a:r>
            <a:r>
              <a:rPr lang="en-US" sz="1600" i="1" dirty="0"/>
              <a:t>, </a:t>
            </a:r>
            <a:r>
              <a:rPr lang="en-US" sz="1600" i="1" dirty="0" err="1"/>
              <a:t>msg_perm.mode</a:t>
            </a:r>
            <a:r>
              <a:rPr lang="en-US" sz="1600" i="1" dirty="0"/>
              <a:t>, </a:t>
            </a:r>
            <a:r>
              <a:rPr lang="en-US" sz="1600" i="1" dirty="0" err="1"/>
              <a:t>msg_qbytes</a:t>
            </a:r>
            <a:endParaRPr lang="en-US" sz="1600" i="1" dirty="0"/>
          </a:p>
        </p:txBody>
      </p:sp>
      <p:sp>
        <p:nvSpPr>
          <p:cNvPr id="193548" name="Text Box 18"/>
          <p:cNvSpPr txBox="1">
            <a:spLocks noChangeArrowheads="1"/>
          </p:cNvSpPr>
          <p:nvPr/>
        </p:nvSpPr>
        <p:spPr bwMode="auto">
          <a:xfrm>
            <a:off x="3657600" y="5334000"/>
            <a:ext cx="5562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sz="1600" i="1"/>
              <a:t>Remove the message queue and its data structures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1000" y="228600"/>
            <a:ext cx="75438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Message Queues : Parameters               </a:t>
            </a: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3" name="Text Box 3"/>
          <p:cNvSpPr txBox="1">
            <a:spLocks noChangeArrowheads="1"/>
          </p:cNvSpPr>
          <p:nvPr/>
        </p:nvSpPr>
        <p:spPr bwMode="auto">
          <a:xfrm>
            <a:off x="228600" y="990600"/>
            <a:ext cx="8534400" cy="246221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000" dirty="0">
                <a:solidFill>
                  <a:srgbClr val="CC6600"/>
                </a:solidFill>
              </a:rPr>
              <a:t> </a:t>
            </a:r>
            <a:endParaRPr lang="en-US" sz="1000" dirty="0"/>
          </a:p>
        </p:txBody>
      </p:sp>
      <p:sp>
        <p:nvSpPr>
          <p:cNvPr id="5" name="Rectangle 4"/>
          <p:cNvSpPr/>
          <p:nvPr/>
        </p:nvSpPr>
        <p:spPr>
          <a:xfrm>
            <a:off x="381000" y="228600"/>
            <a:ext cx="7620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Message Queues : </a:t>
            </a:r>
            <a:r>
              <a:rPr lang="en-US" sz="3200" b="1" dirty="0" err="1"/>
              <a:t>msqid_ds</a:t>
            </a:r>
            <a:r>
              <a:rPr lang="en-US" sz="3200" b="1" dirty="0"/>
              <a:t>  Structure              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66800" y="1219200"/>
            <a:ext cx="67056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1600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struct</a:t>
            </a: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msqid_ds</a:t>
            </a: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{</a:t>
            </a:r>
            <a:endParaRPr lang="en-US" sz="1600" dirty="0">
              <a:latin typeface="Arial" pitchFamily="34" charset="0"/>
            </a:endParaRPr>
          </a:p>
          <a:p>
            <a:pPr lvl="0" eaLnBrk="0" hangingPunct="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struct</a:t>
            </a: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ipc_perm</a:t>
            </a: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msg_perm</a:t>
            </a: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;</a:t>
            </a:r>
            <a:endParaRPr lang="en-US" sz="1600" dirty="0">
              <a:latin typeface="Arial" pitchFamily="34" charset="0"/>
            </a:endParaRPr>
          </a:p>
          <a:p>
            <a:pPr lvl="0" eaLnBrk="0" hangingPunct="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struct</a:t>
            </a: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msg</a:t>
            </a: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*</a:t>
            </a:r>
            <a:r>
              <a:rPr lang="en-US" sz="1600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msg_first</a:t>
            </a: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;  /* first message on queue */</a:t>
            </a:r>
            <a:endParaRPr lang="en-US" sz="1600" dirty="0">
              <a:latin typeface="Arial" pitchFamily="34" charset="0"/>
            </a:endParaRPr>
          </a:p>
          <a:p>
            <a:pPr lvl="0" eaLnBrk="0" hangingPunct="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struct</a:t>
            </a: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msg</a:t>
            </a: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*</a:t>
            </a:r>
            <a:r>
              <a:rPr lang="en-US" sz="1600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msg_last</a:t>
            </a: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;   /* last message in queue */</a:t>
            </a:r>
            <a:endParaRPr lang="en-US" sz="1600" dirty="0">
              <a:latin typeface="Arial" pitchFamily="34" charset="0"/>
            </a:endParaRPr>
          </a:p>
          <a:p>
            <a:pPr lvl="0" eaLnBrk="0" hangingPunct="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time_t</a:t>
            </a: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msg_stime</a:t>
            </a: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;       /* last </a:t>
            </a:r>
            <a:r>
              <a:rPr lang="en-US" sz="1600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msgsnd</a:t>
            </a: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time */</a:t>
            </a:r>
            <a:endParaRPr lang="en-US" sz="1600" dirty="0">
              <a:latin typeface="Arial" pitchFamily="34" charset="0"/>
            </a:endParaRPr>
          </a:p>
          <a:p>
            <a:pPr lvl="0" eaLnBrk="0" hangingPunct="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time_t</a:t>
            </a: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msg_rtime</a:t>
            </a: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;       /* last </a:t>
            </a:r>
            <a:r>
              <a:rPr lang="en-US" sz="1600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msgrcv</a:t>
            </a: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time */</a:t>
            </a:r>
            <a:endParaRPr lang="en-US" sz="1600" dirty="0">
              <a:latin typeface="Arial" pitchFamily="34" charset="0"/>
            </a:endParaRPr>
          </a:p>
          <a:p>
            <a:pPr lvl="0" eaLnBrk="0" hangingPunct="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time_t</a:t>
            </a: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msg_ctime</a:t>
            </a: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;       /* last change time */</a:t>
            </a:r>
            <a:endParaRPr lang="en-US" sz="1600" dirty="0">
              <a:latin typeface="Arial" pitchFamily="34" charset="0"/>
            </a:endParaRPr>
          </a:p>
          <a:p>
            <a:pPr lvl="0" eaLnBrk="0" hangingPunct="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struct</a:t>
            </a: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wait_queue</a:t>
            </a: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*</a:t>
            </a:r>
            <a:r>
              <a:rPr lang="en-US" sz="1600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wwait</a:t>
            </a: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;</a:t>
            </a:r>
            <a:endParaRPr lang="en-US" sz="1600" dirty="0">
              <a:latin typeface="Arial" pitchFamily="34" charset="0"/>
            </a:endParaRPr>
          </a:p>
          <a:p>
            <a:pPr lvl="0" eaLnBrk="0" hangingPunct="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struct</a:t>
            </a: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wait_queue</a:t>
            </a: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*</a:t>
            </a:r>
            <a:r>
              <a:rPr lang="en-US" sz="1600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rwait</a:t>
            </a: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;</a:t>
            </a:r>
            <a:endParaRPr lang="en-US" sz="1600" dirty="0">
              <a:latin typeface="Arial" pitchFamily="34" charset="0"/>
            </a:endParaRPr>
          </a:p>
          <a:p>
            <a:pPr lvl="0" eaLnBrk="0" hangingPunct="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ushort</a:t>
            </a: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msg_cbytes</a:t>
            </a: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;    </a:t>
            </a:r>
            <a:endParaRPr lang="en-US" sz="1600" dirty="0">
              <a:latin typeface="Arial" pitchFamily="34" charset="0"/>
            </a:endParaRPr>
          </a:p>
          <a:p>
            <a:pPr lvl="0" eaLnBrk="0" hangingPunct="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ushort</a:t>
            </a: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msg_qnum</a:t>
            </a: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;     </a:t>
            </a:r>
            <a:endParaRPr lang="en-US" sz="1600" dirty="0">
              <a:latin typeface="Arial" pitchFamily="34" charset="0"/>
            </a:endParaRPr>
          </a:p>
          <a:p>
            <a:pPr lvl="0" eaLnBrk="0" hangingPunct="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ushort</a:t>
            </a: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msg_qbytes</a:t>
            </a: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;      /* max number of bytes on queue */</a:t>
            </a:r>
            <a:endParaRPr lang="en-US" sz="1600" dirty="0">
              <a:latin typeface="Arial" pitchFamily="34" charset="0"/>
            </a:endParaRPr>
          </a:p>
          <a:p>
            <a:pPr lvl="0" eaLnBrk="0" hangingPunct="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ushort</a:t>
            </a: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msg_lspid</a:t>
            </a: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;       /* </a:t>
            </a:r>
            <a:r>
              <a:rPr lang="en-US" sz="1600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pid</a:t>
            </a: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of last </a:t>
            </a:r>
            <a:r>
              <a:rPr lang="en-US" sz="1600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msgsnd</a:t>
            </a: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*/</a:t>
            </a:r>
            <a:endParaRPr lang="en-US" sz="1600" dirty="0">
              <a:latin typeface="Arial" pitchFamily="34" charset="0"/>
            </a:endParaRPr>
          </a:p>
          <a:p>
            <a:pPr lvl="0" eaLnBrk="0" hangingPunct="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ushort</a:t>
            </a: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msg_lrpid</a:t>
            </a: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;       /* last receive </a:t>
            </a:r>
            <a:r>
              <a:rPr lang="en-US" sz="1600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pid</a:t>
            </a: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*/</a:t>
            </a:r>
            <a:endParaRPr lang="en-US" sz="1600" dirty="0">
              <a:latin typeface="Arial" pitchFamily="34" charset="0"/>
            </a:endParaRPr>
          </a:p>
          <a:p>
            <a:pPr lvl="0" eaLnBrk="0" hangingPunct="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}</a:t>
            </a:r>
            <a:endParaRPr lang="en-US" sz="1600" dirty="0">
              <a:latin typeface="Arial" pitchFamily="34" charset="0"/>
            </a:endParaRP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Text Box 4"/>
          <p:cNvSpPr txBox="1">
            <a:spLocks noChangeArrowheads="1"/>
          </p:cNvSpPr>
          <p:nvPr/>
        </p:nvSpPr>
        <p:spPr bwMode="auto">
          <a:xfrm>
            <a:off x="0" y="3124200"/>
            <a:ext cx="9144000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4800" b="1" i="1">
                <a:solidFill>
                  <a:srgbClr val="0000FF"/>
                </a:solidFill>
              </a:rPr>
              <a:t>SAMPLE PROGRAM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5"/>
          <p:cNvSpPr>
            <a:spLocks noChangeArrowheads="1"/>
          </p:cNvSpPr>
          <p:nvPr/>
        </p:nvSpPr>
        <p:spPr bwMode="auto">
          <a:xfrm>
            <a:off x="228600" y="968375"/>
            <a:ext cx="8915400" cy="5216525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800" dirty="0"/>
              <a:t>int mid;</a:t>
            </a:r>
          </a:p>
          <a:p>
            <a:r>
              <a:rPr lang="en-US" sz="2800" dirty="0"/>
              <a:t>int main()</a:t>
            </a:r>
          </a:p>
          <a:p>
            <a:r>
              <a:rPr lang="en-US" sz="2800" dirty="0"/>
              <a:t>{</a:t>
            </a:r>
          </a:p>
          <a:p>
            <a:r>
              <a:rPr lang="en-US" sz="2800" dirty="0"/>
              <a:t>	</a:t>
            </a:r>
            <a:r>
              <a:rPr lang="en-US" sz="2800" dirty="0" err="1"/>
              <a:t>printf</a:t>
            </a:r>
            <a:r>
              <a:rPr lang="en-US" sz="2800" dirty="0"/>
              <a:t>("Creating Message Queue \n");</a:t>
            </a:r>
          </a:p>
          <a:p>
            <a:r>
              <a:rPr lang="en-US" sz="2800" b="1" dirty="0">
                <a:solidFill>
                  <a:srgbClr val="0000FF"/>
                </a:solidFill>
              </a:rPr>
              <a:t>	mid =  </a:t>
            </a:r>
            <a:r>
              <a:rPr lang="en-US" sz="2800" b="1" dirty="0" err="1">
                <a:solidFill>
                  <a:srgbClr val="0000FF"/>
                </a:solidFill>
              </a:rPr>
              <a:t>msgget</a:t>
            </a:r>
            <a:r>
              <a:rPr lang="en-US" sz="2800" b="1" dirty="0">
                <a:solidFill>
                  <a:srgbClr val="0000FF"/>
                </a:solidFill>
              </a:rPr>
              <a:t>(10,IPC_CREAT);</a:t>
            </a:r>
          </a:p>
          <a:p>
            <a:r>
              <a:rPr lang="en-US" sz="2800" dirty="0"/>
              <a:t>	if( mid &lt; 0)</a:t>
            </a:r>
          </a:p>
          <a:p>
            <a:r>
              <a:rPr lang="en-US" sz="2800" dirty="0"/>
              <a:t>	    </a:t>
            </a:r>
            <a:r>
              <a:rPr lang="en-US" sz="2800" dirty="0" err="1"/>
              <a:t>printf</a:t>
            </a:r>
            <a:r>
              <a:rPr lang="en-US" sz="2800" dirty="0"/>
              <a:t>("Unable to Create Message Queue \n");</a:t>
            </a:r>
          </a:p>
          <a:p>
            <a:r>
              <a:rPr lang="en-US" sz="2800" dirty="0"/>
              <a:t>	else</a:t>
            </a:r>
          </a:p>
          <a:p>
            <a:r>
              <a:rPr lang="en-US" sz="2800" dirty="0"/>
              <a:t>	    </a:t>
            </a:r>
            <a:r>
              <a:rPr lang="en-US" sz="2800" dirty="0" err="1"/>
              <a:t>printf</a:t>
            </a:r>
            <a:r>
              <a:rPr lang="en-US" sz="2800" dirty="0"/>
              <a:t>("Message Queue is Created Successfully \n");</a:t>
            </a:r>
          </a:p>
          <a:p>
            <a:r>
              <a:rPr lang="en-US" sz="2800" dirty="0"/>
              <a:t>	system("</a:t>
            </a:r>
            <a:r>
              <a:rPr lang="en-US" sz="2800" dirty="0" err="1"/>
              <a:t>ipcs</a:t>
            </a:r>
            <a:r>
              <a:rPr lang="en-US" sz="2800" dirty="0"/>
              <a:t>");	</a:t>
            </a:r>
          </a:p>
          <a:p>
            <a:r>
              <a:rPr lang="en-US" sz="2800" dirty="0"/>
              <a:t>	return 0;</a:t>
            </a:r>
          </a:p>
          <a:p>
            <a:r>
              <a:rPr lang="en-US" sz="2800" dirty="0"/>
              <a:t>}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228600"/>
            <a:ext cx="7543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Message Queues : Creating Message Queue               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4"/>
          <p:cNvSpPr>
            <a:spLocks noChangeArrowheads="1"/>
          </p:cNvSpPr>
          <p:nvPr/>
        </p:nvSpPr>
        <p:spPr bwMode="auto">
          <a:xfrm>
            <a:off x="0" y="762000"/>
            <a:ext cx="91440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80000"/>
              </a:lnSpc>
              <a:spcBef>
                <a:spcPct val="20000"/>
              </a:spcBef>
            </a:pPr>
            <a:endParaRPr lang="en-US" sz="2600" dirty="0"/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2600" dirty="0" err="1"/>
              <a:t>int</a:t>
            </a:r>
            <a:r>
              <a:rPr lang="en-US" sz="2600" dirty="0"/>
              <a:t> main()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2600" dirty="0"/>
              <a:t>{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2600" dirty="0"/>
              <a:t>	</a:t>
            </a:r>
            <a:r>
              <a:rPr lang="en-US" sz="2600" dirty="0" err="1"/>
              <a:t>struct</a:t>
            </a:r>
            <a:r>
              <a:rPr lang="en-US" sz="2600" dirty="0"/>
              <a:t> message </a:t>
            </a:r>
            <a:r>
              <a:rPr lang="en-US" sz="2600" dirty="0" err="1"/>
              <a:t>send_msg</a:t>
            </a:r>
            <a:r>
              <a:rPr lang="en-US" sz="2600" dirty="0"/>
              <a:t>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dirty="0"/>
              <a:t>	</a:t>
            </a:r>
            <a:r>
              <a:rPr lang="en-US" dirty="0" err="1"/>
              <a:t>printf</a:t>
            </a:r>
            <a:r>
              <a:rPr lang="en-US" dirty="0"/>
              <a:t>("Creating Message Queue \n");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2600" dirty="0"/>
              <a:t>	mid =  </a:t>
            </a:r>
            <a:r>
              <a:rPr lang="en-US" sz="2600" dirty="0" err="1"/>
              <a:t>msgget</a:t>
            </a:r>
            <a:r>
              <a:rPr lang="en-US" sz="2600" dirty="0"/>
              <a:t>(10,IPC_CREAT);	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2600" dirty="0"/>
              <a:t>	</a:t>
            </a:r>
            <a:r>
              <a:rPr lang="en-US" sz="2600" dirty="0" err="1"/>
              <a:t>send_msg.mtype</a:t>
            </a:r>
            <a:r>
              <a:rPr lang="en-US" sz="2600" dirty="0"/>
              <a:t> = 1;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2600" dirty="0"/>
              <a:t>	</a:t>
            </a:r>
            <a:r>
              <a:rPr lang="en-US" sz="2600" dirty="0" err="1"/>
              <a:t>strcpy</a:t>
            </a:r>
            <a:r>
              <a:rPr lang="en-US" sz="2600" dirty="0"/>
              <a:t>(</a:t>
            </a:r>
            <a:r>
              <a:rPr lang="en-US" sz="2600" dirty="0" err="1"/>
              <a:t>send_msg.mdata,"Hello</a:t>
            </a:r>
            <a:r>
              <a:rPr lang="en-US" sz="2600" dirty="0"/>
              <a:t>");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2800" b="1" dirty="0">
                <a:solidFill>
                  <a:srgbClr val="0000FF"/>
                </a:solidFill>
              </a:rPr>
              <a:t>           </a:t>
            </a:r>
            <a:r>
              <a:rPr lang="en-US" sz="2800" b="1" dirty="0" err="1">
                <a:solidFill>
                  <a:srgbClr val="0000FF"/>
                </a:solidFill>
              </a:rPr>
              <a:t>msgsnd</a:t>
            </a:r>
            <a:r>
              <a:rPr lang="en-US" sz="2800" b="1" dirty="0">
                <a:solidFill>
                  <a:srgbClr val="0000FF"/>
                </a:solidFill>
              </a:rPr>
              <a:t>(mid,(void *)&amp;</a:t>
            </a:r>
            <a:r>
              <a:rPr lang="en-US" sz="2800" b="1" dirty="0" err="1">
                <a:solidFill>
                  <a:srgbClr val="0000FF"/>
                </a:solidFill>
              </a:rPr>
              <a:t>send_msg,sizeof</a:t>
            </a:r>
            <a:r>
              <a:rPr lang="en-US" sz="2800" b="1" dirty="0">
                <a:solidFill>
                  <a:srgbClr val="0000FF"/>
                </a:solidFill>
              </a:rPr>
              <a:t>(</a:t>
            </a:r>
            <a:r>
              <a:rPr lang="en-US" sz="2800" b="1" dirty="0" err="1">
                <a:solidFill>
                  <a:srgbClr val="0000FF"/>
                </a:solidFill>
              </a:rPr>
              <a:t>send_msg</a:t>
            </a:r>
            <a:r>
              <a:rPr lang="en-US" sz="2800" b="1" dirty="0">
                <a:solidFill>
                  <a:srgbClr val="0000FF"/>
                </a:solidFill>
              </a:rPr>
              <a:t>),0);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2600" dirty="0"/>
              <a:t>	system("</a:t>
            </a:r>
            <a:r>
              <a:rPr lang="en-US" sz="2600" dirty="0" err="1"/>
              <a:t>ipcs</a:t>
            </a:r>
            <a:r>
              <a:rPr lang="en-US" sz="2600" dirty="0"/>
              <a:t>");	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2600" dirty="0"/>
              <a:t>	</a:t>
            </a:r>
            <a:r>
              <a:rPr lang="en-US" sz="2600" dirty="0" err="1"/>
              <a:t>msgsnd</a:t>
            </a:r>
            <a:r>
              <a:rPr lang="en-US" sz="2600" dirty="0"/>
              <a:t>(mid,(void *)&amp;</a:t>
            </a:r>
            <a:r>
              <a:rPr lang="en-US" sz="2600" dirty="0" err="1"/>
              <a:t>send_msg,sizeof</a:t>
            </a:r>
            <a:r>
              <a:rPr lang="en-US" sz="2600" dirty="0"/>
              <a:t>(</a:t>
            </a:r>
            <a:r>
              <a:rPr lang="en-US" sz="2600" dirty="0" err="1"/>
              <a:t>send_msg</a:t>
            </a:r>
            <a:r>
              <a:rPr lang="en-US" sz="2600" dirty="0"/>
              <a:t>),0);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2600" dirty="0"/>
              <a:t>	system("</a:t>
            </a:r>
            <a:r>
              <a:rPr lang="en-US" sz="2600" dirty="0" err="1"/>
              <a:t>ipcs</a:t>
            </a:r>
            <a:r>
              <a:rPr lang="en-US" sz="2600" dirty="0"/>
              <a:t>");	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2600" dirty="0"/>
              <a:t>	return 0;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2600" dirty="0"/>
              <a:t>}</a:t>
            </a:r>
            <a:endParaRPr lang="en-US" sz="2600" dirty="0">
              <a:latin typeface="Courier New" pitchFamily="49" charset="0"/>
            </a:endParaRPr>
          </a:p>
        </p:txBody>
      </p:sp>
      <p:sp>
        <p:nvSpPr>
          <p:cNvPr id="197635" name="Rectangle 5"/>
          <p:cNvSpPr>
            <a:spLocks noChangeArrowheads="1"/>
          </p:cNvSpPr>
          <p:nvPr/>
        </p:nvSpPr>
        <p:spPr bwMode="auto">
          <a:xfrm>
            <a:off x="5867400" y="1066800"/>
            <a:ext cx="2971800" cy="1754326"/>
          </a:xfrm>
          <a:prstGeom prst="rect">
            <a:avLst/>
          </a:prstGeom>
          <a:noFill/>
          <a:ln w="6350">
            <a:solidFill>
              <a:srgbClr val="0099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/>
              <a:t>int mid;</a:t>
            </a:r>
          </a:p>
          <a:p>
            <a:r>
              <a:rPr lang="en-US" dirty="0"/>
              <a:t>struct message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       long int </a:t>
            </a:r>
            <a:r>
              <a:rPr lang="en-US" dirty="0" err="1"/>
              <a:t>mtype</a:t>
            </a:r>
            <a:r>
              <a:rPr lang="en-US" dirty="0"/>
              <a:t>;</a:t>
            </a:r>
          </a:p>
          <a:p>
            <a:r>
              <a:rPr lang="en-US" dirty="0"/>
              <a:t>           char </a:t>
            </a:r>
            <a:r>
              <a:rPr lang="en-US" dirty="0" err="1"/>
              <a:t>mdata</a:t>
            </a:r>
            <a:r>
              <a:rPr lang="en-US" dirty="0"/>
              <a:t>[30];</a:t>
            </a:r>
          </a:p>
          <a:p>
            <a:r>
              <a:rPr lang="en-US" dirty="0"/>
              <a:t>};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2025"/>
            <a:ext cx="8686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Message Queues : Send Data Into Message Queue                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2"/>
          <p:cNvSpPr>
            <a:spLocks noChangeArrowheads="1"/>
          </p:cNvSpPr>
          <p:nvPr/>
        </p:nvSpPr>
        <p:spPr bwMode="auto">
          <a:xfrm>
            <a:off x="0" y="914400"/>
            <a:ext cx="91440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2700" dirty="0"/>
              <a:t>int main()</a:t>
            </a:r>
          </a:p>
          <a:p>
            <a:pPr>
              <a:spcBef>
                <a:spcPct val="20000"/>
              </a:spcBef>
            </a:pPr>
            <a:r>
              <a:rPr lang="en-US" sz="2700" dirty="0"/>
              <a:t>{</a:t>
            </a:r>
          </a:p>
          <a:p>
            <a:pPr>
              <a:spcBef>
                <a:spcPct val="20000"/>
              </a:spcBef>
            </a:pPr>
            <a:r>
              <a:rPr lang="en-US" sz="2700" dirty="0"/>
              <a:t>	struct message </a:t>
            </a:r>
            <a:r>
              <a:rPr lang="en-US" sz="2700" dirty="0" err="1"/>
              <a:t>recv_msg</a:t>
            </a:r>
            <a:r>
              <a:rPr lang="en-US" sz="2700" dirty="0"/>
              <a:t>;.</a:t>
            </a:r>
          </a:p>
          <a:p>
            <a:pPr>
              <a:spcBef>
                <a:spcPct val="20000"/>
              </a:spcBef>
            </a:pPr>
            <a:r>
              <a:rPr lang="en-US" sz="2300" dirty="0"/>
              <a:t>	</a:t>
            </a:r>
            <a:r>
              <a:rPr lang="en-US" sz="2300" dirty="0" err="1"/>
              <a:t>printf</a:t>
            </a:r>
            <a:r>
              <a:rPr lang="en-US" sz="2300" dirty="0"/>
              <a:t>("Creating Message Queue \n");</a:t>
            </a:r>
          </a:p>
          <a:p>
            <a:pPr>
              <a:spcBef>
                <a:spcPct val="20000"/>
              </a:spcBef>
            </a:pPr>
            <a:r>
              <a:rPr lang="en-US" sz="2700" dirty="0"/>
              <a:t>	mid =  </a:t>
            </a:r>
            <a:r>
              <a:rPr lang="en-US" sz="2700" dirty="0" err="1"/>
              <a:t>msgget</a:t>
            </a:r>
            <a:r>
              <a:rPr lang="en-US" sz="2700" dirty="0"/>
              <a:t>(10,IPC_CREAT);</a:t>
            </a:r>
          </a:p>
          <a:p>
            <a:pPr>
              <a:spcBef>
                <a:spcPct val="20000"/>
              </a:spcBef>
            </a:pPr>
            <a:r>
              <a:rPr lang="en-US" sz="2800" b="1" dirty="0">
                <a:solidFill>
                  <a:srgbClr val="0000FF"/>
                </a:solidFill>
              </a:rPr>
              <a:t>	</a:t>
            </a:r>
            <a:r>
              <a:rPr lang="en-US" sz="2800" b="1" dirty="0" err="1">
                <a:solidFill>
                  <a:srgbClr val="0000FF"/>
                </a:solidFill>
              </a:rPr>
              <a:t>msgrcv</a:t>
            </a:r>
            <a:r>
              <a:rPr lang="en-US" sz="2800" b="1" dirty="0">
                <a:solidFill>
                  <a:srgbClr val="0000FF"/>
                </a:solidFill>
              </a:rPr>
              <a:t>(mid,(void *)&amp;</a:t>
            </a:r>
            <a:r>
              <a:rPr lang="en-US" sz="2800" b="1" dirty="0" err="1">
                <a:solidFill>
                  <a:srgbClr val="0000FF"/>
                </a:solidFill>
              </a:rPr>
              <a:t>recv_msg,sizeof</a:t>
            </a:r>
            <a:r>
              <a:rPr lang="en-US" sz="2800" b="1" dirty="0">
                <a:solidFill>
                  <a:srgbClr val="0000FF"/>
                </a:solidFill>
              </a:rPr>
              <a:t>(</a:t>
            </a:r>
            <a:r>
              <a:rPr lang="en-US" sz="2800" b="1" dirty="0" err="1">
                <a:solidFill>
                  <a:srgbClr val="0000FF"/>
                </a:solidFill>
              </a:rPr>
              <a:t>recv_msg</a:t>
            </a:r>
            <a:r>
              <a:rPr lang="en-US" sz="2800" b="1" dirty="0">
                <a:solidFill>
                  <a:srgbClr val="0000FF"/>
                </a:solidFill>
              </a:rPr>
              <a:t>),1,0);</a:t>
            </a:r>
          </a:p>
          <a:p>
            <a:pPr>
              <a:spcBef>
                <a:spcPct val="20000"/>
              </a:spcBef>
            </a:pPr>
            <a:r>
              <a:rPr lang="en-US" sz="2700" dirty="0"/>
              <a:t>	</a:t>
            </a:r>
            <a:r>
              <a:rPr lang="en-US" sz="2700" dirty="0" err="1"/>
              <a:t>printf</a:t>
            </a:r>
            <a:r>
              <a:rPr lang="en-US" sz="2700" dirty="0"/>
              <a:t>("The Message Read is %s \n",</a:t>
            </a:r>
            <a:r>
              <a:rPr lang="en-US" sz="2700" dirty="0" err="1"/>
              <a:t>recv_msg.mdata</a:t>
            </a:r>
            <a:r>
              <a:rPr lang="en-US" sz="2700" dirty="0"/>
              <a:t>);</a:t>
            </a:r>
          </a:p>
          <a:p>
            <a:pPr>
              <a:spcBef>
                <a:spcPct val="20000"/>
              </a:spcBef>
            </a:pPr>
            <a:r>
              <a:rPr lang="en-US" sz="2700" dirty="0"/>
              <a:t>	system("</a:t>
            </a:r>
            <a:r>
              <a:rPr lang="en-US" sz="2700" dirty="0" err="1"/>
              <a:t>ipcs</a:t>
            </a:r>
            <a:r>
              <a:rPr lang="en-US" sz="2700" dirty="0"/>
              <a:t>");	</a:t>
            </a:r>
          </a:p>
          <a:p>
            <a:pPr>
              <a:spcBef>
                <a:spcPct val="20000"/>
              </a:spcBef>
            </a:pPr>
            <a:r>
              <a:rPr lang="en-US" sz="2700" dirty="0"/>
              <a:t>	return 0;</a:t>
            </a:r>
          </a:p>
          <a:p>
            <a:pPr>
              <a:spcBef>
                <a:spcPct val="20000"/>
              </a:spcBef>
            </a:pPr>
            <a:r>
              <a:rPr lang="en-US" sz="2700" dirty="0"/>
              <a:t>}</a:t>
            </a:r>
          </a:p>
        </p:txBody>
      </p:sp>
      <p:sp>
        <p:nvSpPr>
          <p:cNvPr id="198659" name="Rectangle 3"/>
          <p:cNvSpPr>
            <a:spLocks noChangeArrowheads="1"/>
          </p:cNvSpPr>
          <p:nvPr/>
        </p:nvSpPr>
        <p:spPr bwMode="auto">
          <a:xfrm>
            <a:off x="5867400" y="762000"/>
            <a:ext cx="3276600" cy="2308324"/>
          </a:xfrm>
          <a:prstGeom prst="rect">
            <a:avLst/>
          </a:prstGeom>
          <a:noFill/>
          <a:ln w="6350">
            <a:solidFill>
              <a:srgbClr val="0099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dirty="0"/>
              <a:t>int mid;</a:t>
            </a:r>
          </a:p>
          <a:p>
            <a:r>
              <a:rPr lang="en-US" sz="2400" dirty="0"/>
              <a:t>struct message</a:t>
            </a:r>
          </a:p>
          <a:p>
            <a:r>
              <a:rPr lang="en-US" sz="2400" dirty="0"/>
              <a:t>{</a:t>
            </a:r>
          </a:p>
          <a:p>
            <a:r>
              <a:rPr lang="en-US" sz="2400" dirty="0"/>
              <a:t>	long int </a:t>
            </a:r>
            <a:r>
              <a:rPr lang="en-US" sz="2400" dirty="0" err="1"/>
              <a:t>mtype</a:t>
            </a:r>
            <a:r>
              <a:rPr lang="en-US" sz="2400" dirty="0"/>
              <a:t>;</a:t>
            </a:r>
          </a:p>
          <a:p>
            <a:r>
              <a:rPr lang="en-US" sz="2400" dirty="0"/>
              <a:t>           char </a:t>
            </a:r>
            <a:r>
              <a:rPr lang="en-US" sz="2400" dirty="0" err="1"/>
              <a:t>mdata</a:t>
            </a:r>
            <a:r>
              <a:rPr lang="en-US" sz="2400" dirty="0"/>
              <a:t>[30];</a:t>
            </a:r>
          </a:p>
          <a:p>
            <a:r>
              <a:rPr lang="en-US" sz="2400" dirty="0"/>
              <a:t>};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228600"/>
            <a:ext cx="7543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Message Queues : Read Data From Message Queue                 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4"/>
          <p:cNvSpPr>
            <a:spLocks noChangeArrowheads="1"/>
          </p:cNvSpPr>
          <p:nvPr/>
        </p:nvSpPr>
        <p:spPr bwMode="auto">
          <a:xfrm>
            <a:off x="228600" y="1192213"/>
            <a:ext cx="8915400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3600" dirty="0" err="1"/>
              <a:t>int</a:t>
            </a:r>
            <a:r>
              <a:rPr lang="en-US" sz="3600" dirty="0"/>
              <a:t> main()</a:t>
            </a:r>
          </a:p>
          <a:p>
            <a:r>
              <a:rPr lang="en-US" sz="3600" dirty="0"/>
              <a:t>{</a:t>
            </a:r>
          </a:p>
          <a:p>
            <a:r>
              <a:rPr lang="en-US" sz="3600" dirty="0"/>
              <a:t>	</a:t>
            </a:r>
            <a:r>
              <a:rPr lang="en-US" sz="3600" dirty="0" err="1"/>
              <a:t>printf</a:t>
            </a:r>
            <a:r>
              <a:rPr lang="en-US" sz="3600" dirty="0"/>
              <a:t>("Creating Message Queue \n");</a:t>
            </a:r>
          </a:p>
          <a:p>
            <a:r>
              <a:rPr lang="en-US" sz="3600" dirty="0"/>
              <a:t>	mid =  </a:t>
            </a:r>
            <a:r>
              <a:rPr lang="en-US" sz="3600" dirty="0" err="1"/>
              <a:t>msgget</a:t>
            </a:r>
            <a:r>
              <a:rPr lang="en-US" sz="3600" dirty="0"/>
              <a:t>(10,IPC_CREAT);</a:t>
            </a:r>
          </a:p>
          <a:p>
            <a:r>
              <a:rPr lang="en-US" sz="3600" b="1" dirty="0">
                <a:solidFill>
                  <a:srgbClr val="0000FF"/>
                </a:solidFill>
              </a:rPr>
              <a:t>	</a:t>
            </a:r>
            <a:r>
              <a:rPr lang="en-US" sz="3600" b="1" dirty="0" err="1">
                <a:solidFill>
                  <a:srgbClr val="0000FF"/>
                </a:solidFill>
              </a:rPr>
              <a:t>msgctl</a:t>
            </a:r>
            <a:r>
              <a:rPr lang="en-US" sz="3600" b="1" dirty="0">
                <a:solidFill>
                  <a:srgbClr val="0000FF"/>
                </a:solidFill>
              </a:rPr>
              <a:t>(mid,IPC_RMID,0);	</a:t>
            </a:r>
          </a:p>
          <a:p>
            <a:r>
              <a:rPr lang="en-US" sz="3600" dirty="0"/>
              <a:t>	system("</a:t>
            </a:r>
            <a:r>
              <a:rPr lang="en-US" sz="3600" dirty="0" err="1"/>
              <a:t>ipcs</a:t>
            </a:r>
            <a:r>
              <a:rPr lang="en-US" sz="3600" dirty="0"/>
              <a:t>");	</a:t>
            </a:r>
          </a:p>
          <a:p>
            <a:r>
              <a:rPr lang="en-US" sz="3600" dirty="0"/>
              <a:t>	return 0;</a:t>
            </a:r>
          </a:p>
          <a:p>
            <a:r>
              <a:rPr lang="en-US" sz="3600" dirty="0"/>
              <a:t>}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228600"/>
            <a:ext cx="7543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Message Queues : Delete Message Queue                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2"/>
          <p:cNvSpPr>
            <a:spLocks noChangeArrowheads="1"/>
          </p:cNvSpPr>
          <p:nvPr/>
        </p:nvSpPr>
        <p:spPr bwMode="auto">
          <a:xfrm>
            <a:off x="152400" y="1066800"/>
            <a:ext cx="84582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sz="3200" dirty="0" err="1"/>
              <a:t>int</a:t>
            </a:r>
            <a:r>
              <a:rPr lang="en-US" sz="3200" dirty="0"/>
              <a:t> main()</a:t>
            </a:r>
          </a:p>
          <a:p>
            <a:pPr>
              <a:spcBef>
                <a:spcPct val="20000"/>
              </a:spcBef>
            </a:pPr>
            <a:r>
              <a:rPr lang="en-US" sz="3200" dirty="0"/>
              <a:t>{</a:t>
            </a:r>
          </a:p>
          <a:p>
            <a:pPr>
              <a:spcBef>
                <a:spcPct val="20000"/>
              </a:spcBef>
            </a:pPr>
            <a:r>
              <a:rPr lang="en-US" sz="3200" dirty="0"/>
              <a:t>	</a:t>
            </a:r>
            <a:r>
              <a:rPr lang="en-US" sz="3200" dirty="0" err="1"/>
              <a:t>struct</a:t>
            </a:r>
            <a:r>
              <a:rPr lang="en-US" sz="3200" dirty="0"/>
              <a:t> message </a:t>
            </a:r>
            <a:r>
              <a:rPr lang="en-US" sz="3200" dirty="0" err="1"/>
              <a:t>send_msg</a:t>
            </a:r>
            <a:r>
              <a:rPr lang="en-US" sz="3200" dirty="0"/>
              <a:t>;</a:t>
            </a:r>
          </a:p>
          <a:p>
            <a:pPr>
              <a:spcBef>
                <a:spcPct val="20000"/>
              </a:spcBef>
            </a:pPr>
            <a:r>
              <a:rPr lang="en-US" sz="3200" dirty="0"/>
              <a:t>	</a:t>
            </a:r>
            <a:r>
              <a:rPr lang="en-US" sz="3200" dirty="0" err="1"/>
              <a:t>struct</a:t>
            </a:r>
            <a:r>
              <a:rPr lang="en-US" sz="3200" dirty="0"/>
              <a:t> message </a:t>
            </a:r>
            <a:r>
              <a:rPr lang="en-US" sz="3200" dirty="0" err="1"/>
              <a:t>recv_msg</a:t>
            </a:r>
            <a:r>
              <a:rPr lang="en-US" sz="3200" dirty="0"/>
              <a:t>;</a:t>
            </a:r>
          </a:p>
          <a:p>
            <a:pPr>
              <a:spcBef>
                <a:spcPct val="20000"/>
              </a:spcBef>
            </a:pPr>
            <a:r>
              <a:rPr lang="en-US" sz="3200" dirty="0"/>
              <a:t>	</a:t>
            </a:r>
            <a:r>
              <a:rPr lang="en-US" sz="3200" dirty="0" err="1"/>
              <a:t>int</a:t>
            </a:r>
            <a:r>
              <a:rPr lang="en-US" sz="3200" dirty="0"/>
              <a:t> </a:t>
            </a:r>
            <a:r>
              <a:rPr lang="en-US" sz="3200" dirty="0" err="1"/>
              <a:t>pid</a:t>
            </a:r>
            <a:r>
              <a:rPr lang="en-US" sz="3200" dirty="0"/>
              <a:t>;</a:t>
            </a:r>
          </a:p>
          <a:p>
            <a:pPr>
              <a:spcBef>
                <a:spcPct val="20000"/>
              </a:spcBef>
            </a:pPr>
            <a:r>
              <a:rPr lang="en-US" sz="3200" dirty="0"/>
              <a:t>	</a:t>
            </a:r>
            <a:r>
              <a:rPr lang="en-US" sz="3200" dirty="0" err="1"/>
              <a:t>printf</a:t>
            </a:r>
            <a:r>
              <a:rPr lang="en-US" sz="3200" dirty="0"/>
              <a:t>("Creating Message Queue \n");</a:t>
            </a:r>
          </a:p>
          <a:p>
            <a:pPr>
              <a:spcBef>
                <a:spcPct val="20000"/>
              </a:spcBef>
            </a:pPr>
            <a:r>
              <a:rPr lang="en-US" sz="3200" dirty="0"/>
              <a:t>	mid =  </a:t>
            </a:r>
            <a:r>
              <a:rPr lang="en-US" sz="3200" dirty="0" err="1"/>
              <a:t>msgget</a:t>
            </a:r>
            <a:r>
              <a:rPr lang="en-US" sz="3200" dirty="0"/>
              <a:t>(10,IPC_CREAT);</a:t>
            </a:r>
          </a:p>
          <a:p>
            <a:pPr>
              <a:spcBef>
                <a:spcPct val="20000"/>
              </a:spcBef>
            </a:pPr>
            <a:r>
              <a:rPr lang="en-US" sz="3200" dirty="0"/>
              <a:t>	</a:t>
            </a:r>
            <a:r>
              <a:rPr lang="en-US" sz="3200" dirty="0" err="1"/>
              <a:t>pid</a:t>
            </a:r>
            <a:r>
              <a:rPr lang="en-US" sz="3200" dirty="0"/>
              <a:t> = fork();</a:t>
            </a:r>
          </a:p>
        </p:txBody>
      </p:sp>
      <p:sp>
        <p:nvSpPr>
          <p:cNvPr id="200707" name="Rectangle 3"/>
          <p:cNvSpPr>
            <a:spLocks noChangeArrowheads="1"/>
          </p:cNvSpPr>
          <p:nvPr/>
        </p:nvSpPr>
        <p:spPr bwMode="auto">
          <a:xfrm>
            <a:off x="5943600" y="1368425"/>
            <a:ext cx="3048000" cy="2308324"/>
          </a:xfrm>
          <a:prstGeom prst="rect">
            <a:avLst/>
          </a:prstGeom>
          <a:noFill/>
          <a:ln w="6350">
            <a:solidFill>
              <a:srgbClr val="0099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dirty="0"/>
              <a:t>int mid;</a:t>
            </a:r>
          </a:p>
          <a:p>
            <a:r>
              <a:rPr lang="en-US" sz="2400" dirty="0"/>
              <a:t>struct message</a:t>
            </a:r>
          </a:p>
          <a:p>
            <a:r>
              <a:rPr lang="en-US" sz="2400" dirty="0"/>
              <a:t>{</a:t>
            </a:r>
          </a:p>
          <a:p>
            <a:r>
              <a:rPr lang="en-US" sz="2400" dirty="0"/>
              <a:t>	long int </a:t>
            </a:r>
            <a:r>
              <a:rPr lang="en-US" sz="2400" dirty="0" err="1"/>
              <a:t>mtype</a:t>
            </a:r>
            <a:r>
              <a:rPr lang="en-US" sz="2400" dirty="0"/>
              <a:t>;</a:t>
            </a:r>
          </a:p>
          <a:p>
            <a:r>
              <a:rPr lang="en-US" sz="2400" dirty="0"/>
              <a:t>             char </a:t>
            </a:r>
            <a:r>
              <a:rPr lang="en-US" sz="2400" dirty="0" err="1"/>
              <a:t>mdata</a:t>
            </a:r>
            <a:r>
              <a:rPr lang="en-US" sz="2400" dirty="0"/>
              <a:t>[30];</a:t>
            </a:r>
          </a:p>
          <a:p>
            <a:r>
              <a:rPr lang="en-US" sz="2400" dirty="0"/>
              <a:t>};</a:t>
            </a:r>
          </a:p>
        </p:txBody>
      </p:sp>
      <p:sp>
        <p:nvSpPr>
          <p:cNvPr id="5" name="Rectangle 4"/>
          <p:cNvSpPr/>
          <p:nvPr/>
        </p:nvSpPr>
        <p:spPr>
          <a:xfrm>
            <a:off x="152400" y="543580"/>
            <a:ext cx="8458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Message Queues : Message Queue b/w related Process                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4"/>
          <p:cNvSpPr>
            <a:spLocks noChangeArrowheads="1"/>
          </p:cNvSpPr>
          <p:nvPr/>
        </p:nvSpPr>
        <p:spPr bwMode="auto">
          <a:xfrm>
            <a:off x="35859" y="762000"/>
            <a:ext cx="9220200" cy="6186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0000FF"/>
                </a:solidFill>
              </a:rPr>
              <a:t>if(</a:t>
            </a:r>
            <a:r>
              <a:rPr lang="en-US" sz="2200" dirty="0" err="1">
                <a:solidFill>
                  <a:srgbClr val="0000FF"/>
                </a:solidFill>
              </a:rPr>
              <a:t>pid</a:t>
            </a:r>
            <a:r>
              <a:rPr lang="en-US" sz="2200" dirty="0">
                <a:solidFill>
                  <a:srgbClr val="0000FF"/>
                </a:solidFill>
              </a:rPr>
              <a:t> == 0) //Child Process</a:t>
            </a:r>
          </a:p>
          <a:p>
            <a:r>
              <a:rPr lang="en-US" sz="2200" dirty="0"/>
              <a:t>{</a:t>
            </a:r>
          </a:p>
          <a:p>
            <a:r>
              <a:rPr lang="en-US" sz="2200" dirty="0"/>
              <a:t>	</a:t>
            </a:r>
            <a:r>
              <a:rPr lang="en-US" sz="2200" dirty="0" err="1"/>
              <a:t>printf</a:t>
            </a:r>
            <a:r>
              <a:rPr lang="en-US" sz="2200" dirty="0"/>
              <a:t>("Child Process is writing data into Message Queue \n");</a:t>
            </a:r>
          </a:p>
          <a:p>
            <a:r>
              <a:rPr lang="en-US" sz="2200" dirty="0"/>
              <a:t>	</a:t>
            </a:r>
            <a:r>
              <a:rPr lang="en-US" sz="2200" dirty="0" err="1"/>
              <a:t>send_msg.mtype</a:t>
            </a:r>
            <a:r>
              <a:rPr lang="en-US" sz="2200" dirty="0"/>
              <a:t> = 1;</a:t>
            </a:r>
          </a:p>
          <a:p>
            <a:r>
              <a:rPr lang="en-US" sz="2200" dirty="0"/>
              <a:t>	</a:t>
            </a:r>
            <a:r>
              <a:rPr lang="en-US" sz="2200" dirty="0" err="1"/>
              <a:t>strcpy</a:t>
            </a:r>
            <a:r>
              <a:rPr lang="en-US" sz="2200" dirty="0"/>
              <a:t>(send_msg.</a:t>
            </a:r>
            <a:r>
              <a:rPr lang="en-US" sz="2200" dirty="0" err="1"/>
              <a:t>mdata</a:t>
            </a:r>
            <a:r>
              <a:rPr lang="en-US" sz="2200" dirty="0"/>
              <a:t>,"Hello");</a:t>
            </a:r>
          </a:p>
          <a:p>
            <a:r>
              <a:rPr lang="en-US" sz="2200" b="1" dirty="0">
                <a:solidFill>
                  <a:srgbClr val="0000FF"/>
                </a:solidFill>
              </a:rPr>
              <a:t>	</a:t>
            </a:r>
            <a:r>
              <a:rPr lang="en-US" sz="2200" b="1" dirty="0" err="1">
                <a:solidFill>
                  <a:srgbClr val="0000FF"/>
                </a:solidFill>
              </a:rPr>
              <a:t>msgsnd</a:t>
            </a:r>
            <a:r>
              <a:rPr lang="en-US" sz="2200" b="1" dirty="0">
                <a:solidFill>
                  <a:srgbClr val="0000FF"/>
                </a:solidFill>
              </a:rPr>
              <a:t>(mid,(void*)&amp;</a:t>
            </a:r>
            <a:r>
              <a:rPr lang="en-US" sz="2200" b="1" dirty="0" err="1">
                <a:solidFill>
                  <a:srgbClr val="0000FF"/>
                </a:solidFill>
              </a:rPr>
              <a:t>send_msg,sizeof</a:t>
            </a:r>
            <a:r>
              <a:rPr lang="en-US" sz="2200" b="1" dirty="0">
                <a:solidFill>
                  <a:srgbClr val="0000FF"/>
                </a:solidFill>
              </a:rPr>
              <a:t>(</a:t>
            </a:r>
            <a:r>
              <a:rPr lang="en-US" sz="2200" b="1" dirty="0" err="1">
                <a:solidFill>
                  <a:srgbClr val="0000FF"/>
                </a:solidFill>
              </a:rPr>
              <a:t>send_msg</a:t>
            </a:r>
            <a:r>
              <a:rPr lang="en-US" sz="2200" b="1" dirty="0">
                <a:solidFill>
                  <a:srgbClr val="0000FF"/>
                </a:solidFill>
              </a:rPr>
              <a:t>),0);</a:t>
            </a:r>
          </a:p>
          <a:p>
            <a:r>
              <a:rPr lang="en-US" sz="2200" dirty="0"/>
              <a:t>	system("</a:t>
            </a:r>
            <a:r>
              <a:rPr lang="en-US" sz="2200" dirty="0" err="1"/>
              <a:t>ipcs</a:t>
            </a:r>
            <a:r>
              <a:rPr lang="en-US" sz="2200" dirty="0"/>
              <a:t>");	</a:t>
            </a:r>
          </a:p>
          <a:p>
            <a:r>
              <a:rPr lang="en-US" sz="2200" dirty="0"/>
              <a:t>}</a:t>
            </a:r>
          </a:p>
          <a:p>
            <a:r>
              <a:rPr lang="en-US" sz="2200" dirty="0">
                <a:solidFill>
                  <a:srgbClr val="0000FF"/>
                </a:solidFill>
              </a:rPr>
              <a:t>else  //Parent Process</a:t>
            </a:r>
          </a:p>
          <a:p>
            <a:r>
              <a:rPr lang="en-US" sz="2200" dirty="0"/>
              <a:t>{</a:t>
            </a:r>
          </a:p>
          <a:p>
            <a:r>
              <a:rPr lang="en-US" sz="2200" dirty="0"/>
              <a:t>	sleep(3);</a:t>
            </a:r>
          </a:p>
          <a:p>
            <a:r>
              <a:rPr lang="en-US" sz="2200" dirty="0"/>
              <a:t>	</a:t>
            </a:r>
            <a:r>
              <a:rPr lang="en-US" sz="2200" dirty="0" err="1"/>
              <a:t>printf</a:t>
            </a:r>
            <a:r>
              <a:rPr lang="en-US" sz="2200" dirty="0"/>
              <a:t>("Parent Process is reading data from Message Queue \n");</a:t>
            </a:r>
          </a:p>
          <a:p>
            <a:r>
              <a:rPr lang="en-US" sz="2200" b="1" dirty="0">
                <a:solidFill>
                  <a:srgbClr val="0000FF"/>
                </a:solidFill>
              </a:rPr>
              <a:t>	</a:t>
            </a:r>
            <a:r>
              <a:rPr lang="en-US" sz="2200" b="1" dirty="0" err="1">
                <a:solidFill>
                  <a:srgbClr val="0000FF"/>
                </a:solidFill>
              </a:rPr>
              <a:t>msgrcv</a:t>
            </a:r>
            <a:r>
              <a:rPr lang="en-US" sz="2200" b="1" dirty="0">
                <a:solidFill>
                  <a:srgbClr val="0000FF"/>
                </a:solidFill>
              </a:rPr>
              <a:t>(mid,(void *)&amp;</a:t>
            </a:r>
            <a:r>
              <a:rPr lang="en-US" sz="2200" b="1" dirty="0" err="1">
                <a:solidFill>
                  <a:srgbClr val="0000FF"/>
                </a:solidFill>
              </a:rPr>
              <a:t>recv_msg,sizeof</a:t>
            </a:r>
            <a:r>
              <a:rPr lang="en-US" sz="2200" b="1" dirty="0">
                <a:solidFill>
                  <a:srgbClr val="0000FF"/>
                </a:solidFill>
              </a:rPr>
              <a:t>(</a:t>
            </a:r>
            <a:r>
              <a:rPr lang="en-US" sz="2200" b="1" dirty="0" err="1">
                <a:solidFill>
                  <a:srgbClr val="0000FF"/>
                </a:solidFill>
              </a:rPr>
              <a:t>recv_msg</a:t>
            </a:r>
            <a:r>
              <a:rPr lang="en-US" sz="2200" b="1" dirty="0">
                <a:solidFill>
                  <a:srgbClr val="0000FF"/>
                </a:solidFill>
              </a:rPr>
              <a:t>),1,0);</a:t>
            </a:r>
          </a:p>
          <a:p>
            <a:r>
              <a:rPr lang="en-US" sz="2200" dirty="0"/>
              <a:t>	</a:t>
            </a:r>
            <a:r>
              <a:rPr lang="en-US" sz="2200" dirty="0" err="1"/>
              <a:t>printf</a:t>
            </a:r>
            <a:r>
              <a:rPr lang="en-US" sz="2200" dirty="0"/>
              <a:t> ("Read Data is : %s \n",</a:t>
            </a:r>
            <a:r>
              <a:rPr lang="en-US" sz="2200" dirty="0" err="1"/>
              <a:t>recv_msg.mdata</a:t>
            </a:r>
            <a:r>
              <a:rPr lang="en-US" sz="2200" dirty="0"/>
              <a:t>);</a:t>
            </a:r>
          </a:p>
          <a:p>
            <a:r>
              <a:rPr lang="en-US" sz="2200" dirty="0"/>
              <a:t>	system("</a:t>
            </a:r>
            <a:r>
              <a:rPr lang="en-US" sz="2200" dirty="0" err="1"/>
              <a:t>ipcs</a:t>
            </a:r>
            <a:r>
              <a:rPr lang="en-US" sz="2200" dirty="0"/>
              <a:t>");</a:t>
            </a:r>
          </a:p>
          <a:p>
            <a:r>
              <a:rPr lang="en-US" sz="2200" dirty="0"/>
              <a:t>}</a:t>
            </a:r>
          </a:p>
          <a:p>
            <a:r>
              <a:rPr lang="en-US" sz="2200" dirty="0"/>
              <a:t>return 0;</a:t>
            </a:r>
          </a:p>
          <a:p>
            <a:r>
              <a:rPr lang="en-US" sz="2200" dirty="0"/>
              <a:t>}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" y="76200"/>
            <a:ext cx="7543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Message Queues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Text Box 2"/>
          <p:cNvSpPr txBox="1">
            <a:spLocks noChangeArrowheads="1"/>
          </p:cNvSpPr>
          <p:nvPr/>
        </p:nvSpPr>
        <p:spPr bwMode="auto">
          <a:xfrm>
            <a:off x="381000" y="1904286"/>
            <a:ext cx="8153400" cy="4801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600" i="1" dirty="0">
                <a:solidFill>
                  <a:srgbClr val="FF33CC"/>
                </a:solidFill>
              </a:rPr>
              <a:t>                 /*Creating  Message Queue */</a:t>
            </a:r>
          </a:p>
          <a:p>
            <a:r>
              <a:rPr lang="en-US" sz="1600" dirty="0"/>
              <a:t> int </a:t>
            </a:r>
            <a:r>
              <a:rPr lang="en-US" sz="1600" dirty="0" err="1"/>
              <a:t>msqid,i</a:t>
            </a:r>
            <a:r>
              <a:rPr lang="en-US" sz="1600" dirty="0"/>
              <a:t>;</a:t>
            </a:r>
          </a:p>
          <a:p>
            <a:r>
              <a:rPr lang="en-US" sz="1600" dirty="0"/>
              <a:t> if ((</a:t>
            </a:r>
            <a:r>
              <a:rPr lang="en-US" sz="1600" b="1" dirty="0" err="1">
                <a:solidFill>
                  <a:srgbClr val="0000CC"/>
                </a:solidFill>
              </a:rPr>
              <a:t>msqid</a:t>
            </a:r>
            <a:r>
              <a:rPr lang="en-US" sz="1600" b="1" dirty="0">
                <a:solidFill>
                  <a:srgbClr val="0000CC"/>
                </a:solidFill>
              </a:rPr>
              <a:t>=</a:t>
            </a:r>
            <a:r>
              <a:rPr lang="en-US" sz="1600" b="1" dirty="0" err="1">
                <a:solidFill>
                  <a:srgbClr val="0000CC"/>
                </a:solidFill>
              </a:rPr>
              <a:t>msgget</a:t>
            </a:r>
            <a:r>
              <a:rPr lang="en-US" sz="1600" b="1" dirty="0">
                <a:solidFill>
                  <a:srgbClr val="0000CC"/>
                </a:solidFill>
              </a:rPr>
              <a:t>(0,IPC_CREAT|0666)</a:t>
            </a:r>
            <a:r>
              <a:rPr lang="en-US" sz="1600" dirty="0"/>
              <a:t>)= = -1)</a:t>
            </a:r>
          </a:p>
          <a:p>
            <a:r>
              <a:rPr lang="en-US" sz="1600" dirty="0"/>
              <a:t> {</a:t>
            </a:r>
          </a:p>
          <a:p>
            <a:r>
              <a:rPr lang="en-US" sz="1600" dirty="0"/>
              <a:t>          </a:t>
            </a:r>
            <a:r>
              <a:rPr lang="en-US" sz="1600" dirty="0" err="1"/>
              <a:t>perror</a:t>
            </a:r>
            <a:r>
              <a:rPr lang="en-US" sz="1600" dirty="0"/>
              <a:t> (“error”);</a:t>
            </a:r>
          </a:p>
          <a:p>
            <a:r>
              <a:rPr lang="en-US" sz="1600" dirty="0"/>
              <a:t>          exit(0);</a:t>
            </a:r>
          </a:p>
          <a:p>
            <a:r>
              <a:rPr lang="en-US" sz="1600" dirty="0"/>
              <a:t> }</a:t>
            </a:r>
          </a:p>
          <a:p>
            <a:r>
              <a:rPr lang="en-US" sz="1800" i="1" dirty="0">
                <a:solidFill>
                  <a:srgbClr val="FF33CC"/>
                </a:solidFill>
              </a:rPr>
              <a:t>/*</a:t>
            </a:r>
            <a:r>
              <a:rPr lang="en-US" sz="1600" i="1" dirty="0">
                <a:solidFill>
                  <a:srgbClr val="FF33CC"/>
                </a:solidFill>
              </a:rPr>
              <a:t>Sending messages</a:t>
            </a:r>
            <a:r>
              <a:rPr lang="en-US" sz="1800" i="1" dirty="0">
                <a:solidFill>
                  <a:srgbClr val="FF33CC"/>
                </a:solidFill>
              </a:rPr>
              <a:t> */</a:t>
            </a:r>
          </a:p>
          <a:p>
            <a:r>
              <a:rPr lang="en-US" sz="1600" dirty="0"/>
              <a:t>for(</a:t>
            </a:r>
            <a:r>
              <a:rPr lang="en-US" sz="1600" dirty="0" err="1"/>
              <a:t>i</a:t>
            </a:r>
            <a:r>
              <a:rPr lang="en-US" sz="1600" dirty="0"/>
              <a:t>=1;i&lt;4;++) </a:t>
            </a:r>
          </a:p>
          <a:p>
            <a:r>
              <a:rPr lang="en-US" sz="1600" dirty="0"/>
              <a:t>{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msg_snd.mtype</a:t>
            </a:r>
            <a:r>
              <a:rPr lang="en-US" sz="1600" dirty="0"/>
              <a:t>=</a:t>
            </a:r>
            <a:r>
              <a:rPr lang="en-US" sz="1600" dirty="0" err="1"/>
              <a:t>i</a:t>
            </a:r>
            <a:r>
              <a:rPr lang="en-US" sz="1600" dirty="0"/>
              <a:t>;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printf</a:t>
            </a:r>
            <a:r>
              <a:rPr lang="en-US" sz="1600" dirty="0"/>
              <a:t> (“ Enter different strings\n”);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scanf</a:t>
            </a:r>
            <a:r>
              <a:rPr lang="en-US" sz="1600" dirty="0"/>
              <a:t>(“%s”,</a:t>
            </a:r>
            <a:r>
              <a:rPr lang="en-US" sz="1600" dirty="0" err="1"/>
              <a:t>msg_send.mtext</a:t>
            </a:r>
            <a:r>
              <a:rPr lang="en-US" sz="1600" dirty="0"/>
              <a:t>);</a:t>
            </a:r>
          </a:p>
          <a:p>
            <a:r>
              <a:rPr lang="en-US" sz="1600" dirty="0"/>
              <a:t>    if (</a:t>
            </a:r>
            <a:r>
              <a:rPr lang="en-US" sz="1600" b="1" dirty="0" err="1">
                <a:solidFill>
                  <a:srgbClr val="0000CC"/>
                </a:solidFill>
              </a:rPr>
              <a:t>msgsnd</a:t>
            </a:r>
            <a:r>
              <a:rPr lang="en-US" sz="1600" b="1" dirty="0">
                <a:solidFill>
                  <a:srgbClr val="0000CC"/>
                </a:solidFill>
              </a:rPr>
              <a:t> (</a:t>
            </a:r>
            <a:r>
              <a:rPr lang="en-US" sz="1600" b="1" dirty="0" err="1">
                <a:solidFill>
                  <a:srgbClr val="0000CC"/>
                </a:solidFill>
              </a:rPr>
              <a:t>msqid</a:t>
            </a:r>
            <a:r>
              <a:rPr lang="en-US" sz="1600" b="1" dirty="0">
                <a:solidFill>
                  <a:srgbClr val="0000CC"/>
                </a:solidFill>
              </a:rPr>
              <a:t>,&amp;</a:t>
            </a:r>
            <a:r>
              <a:rPr lang="en-US" sz="1600" b="1" dirty="0" err="1">
                <a:solidFill>
                  <a:srgbClr val="0000CC"/>
                </a:solidFill>
              </a:rPr>
              <a:t>msg_snd,sizeof</a:t>
            </a:r>
            <a:r>
              <a:rPr lang="en-US" sz="1600" b="1" dirty="0">
                <a:solidFill>
                  <a:srgbClr val="0000CC"/>
                </a:solidFill>
              </a:rPr>
              <a:t> (</a:t>
            </a:r>
            <a:r>
              <a:rPr lang="en-US" sz="1600" b="1" dirty="0" err="1">
                <a:solidFill>
                  <a:srgbClr val="0000CC"/>
                </a:solidFill>
              </a:rPr>
              <a:t>msg_snd</a:t>
            </a:r>
            <a:r>
              <a:rPr lang="en-US" sz="1600" b="1" dirty="0">
                <a:solidFill>
                  <a:srgbClr val="0000CC"/>
                </a:solidFill>
              </a:rPr>
              <a:t>),0)</a:t>
            </a:r>
            <a:r>
              <a:rPr lang="en-US" sz="1600" dirty="0"/>
              <a:t>= = -1 )            </a:t>
            </a:r>
          </a:p>
          <a:p>
            <a:r>
              <a:rPr lang="en-US" sz="1600" dirty="0"/>
              <a:t>    {    </a:t>
            </a:r>
          </a:p>
          <a:p>
            <a:r>
              <a:rPr lang="en-US" sz="1600" dirty="0"/>
              <a:t>                    </a:t>
            </a:r>
            <a:r>
              <a:rPr lang="en-US" sz="1600" dirty="0" err="1"/>
              <a:t>perror</a:t>
            </a:r>
            <a:r>
              <a:rPr lang="en-US" sz="1600" dirty="0"/>
              <a:t> (“error”) ;</a:t>
            </a:r>
          </a:p>
          <a:p>
            <a:r>
              <a:rPr lang="en-US" sz="1600" dirty="0"/>
              <a:t>                     exit(0);       </a:t>
            </a:r>
          </a:p>
          <a:p>
            <a:r>
              <a:rPr lang="en-US" sz="1600" dirty="0"/>
              <a:t>    }</a:t>
            </a:r>
          </a:p>
          <a:p>
            <a:r>
              <a:rPr lang="en-US" sz="1600" dirty="0"/>
              <a:t>} </a:t>
            </a:r>
          </a:p>
        </p:txBody>
      </p:sp>
      <p:sp>
        <p:nvSpPr>
          <p:cNvPr id="203779" name="Text Box 3"/>
          <p:cNvSpPr txBox="1">
            <a:spLocks noChangeArrowheads="1"/>
          </p:cNvSpPr>
          <p:nvPr/>
        </p:nvSpPr>
        <p:spPr bwMode="auto">
          <a:xfrm>
            <a:off x="381000" y="259140"/>
            <a:ext cx="3581400" cy="1569660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 i="1" dirty="0">
                <a:solidFill>
                  <a:srgbClr val="FF33CC"/>
                </a:solidFill>
              </a:rPr>
              <a:t>/* Message structure */</a:t>
            </a:r>
          </a:p>
          <a:p>
            <a:r>
              <a:rPr lang="en-US" sz="1600" dirty="0"/>
              <a:t> </a:t>
            </a:r>
            <a:r>
              <a:rPr lang="en-US" sz="1600" dirty="0">
                <a:solidFill>
                  <a:srgbClr val="0000CC"/>
                </a:solidFill>
              </a:rPr>
              <a:t>struct message</a:t>
            </a:r>
          </a:p>
          <a:p>
            <a:r>
              <a:rPr lang="en-US" sz="1600" dirty="0">
                <a:solidFill>
                  <a:srgbClr val="0000CC"/>
                </a:solidFill>
              </a:rPr>
              <a:t>  {</a:t>
            </a:r>
          </a:p>
          <a:p>
            <a:r>
              <a:rPr lang="en-US" sz="1600" dirty="0">
                <a:solidFill>
                  <a:srgbClr val="0000CC"/>
                </a:solidFill>
              </a:rPr>
              <a:t>       long int </a:t>
            </a:r>
            <a:r>
              <a:rPr lang="en-US" sz="1600" dirty="0" err="1">
                <a:solidFill>
                  <a:srgbClr val="0000CC"/>
                </a:solidFill>
              </a:rPr>
              <a:t>mtype</a:t>
            </a:r>
            <a:r>
              <a:rPr lang="en-US" sz="1600" dirty="0">
                <a:solidFill>
                  <a:srgbClr val="0000CC"/>
                </a:solidFill>
              </a:rPr>
              <a:t>;</a:t>
            </a:r>
          </a:p>
          <a:p>
            <a:r>
              <a:rPr lang="en-US" sz="1600" dirty="0">
                <a:solidFill>
                  <a:srgbClr val="0000CC"/>
                </a:solidFill>
              </a:rPr>
              <a:t>       char </a:t>
            </a:r>
            <a:r>
              <a:rPr lang="en-US" sz="1600" dirty="0" err="1">
                <a:solidFill>
                  <a:srgbClr val="0000CC"/>
                </a:solidFill>
              </a:rPr>
              <a:t>mtext</a:t>
            </a:r>
            <a:r>
              <a:rPr lang="en-US" sz="1600" dirty="0">
                <a:solidFill>
                  <a:srgbClr val="0000CC"/>
                </a:solidFill>
              </a:rPr>
              <a:t>[12];</a:t>
            </a:r>
          </a:p>
          <a:p>
            <a:r>
              <a:rPr lang="en-US" sz="1600" dirty="0">
                <a:solidFill>
                  <a:srgbClr val="0000CC"/>
                </a:solidFill>
              </a:rPr>
              <a:t>     }</a:t>
            </a:r>
            <a:r>
              <a:rPr lang="en-US" sz="1600" dirty="0" err="1">
                <a:solidFill>
                  <a:srgbClr val="0000CC"/>
                </a:solidFill>
              </a:rPr>
              <a:t>msg_snd,msg_rcv</a:t>
            </a:r>
            <a:r>
              <a:rPr lang="en-US" sz="1600" dirty="0"/>
              <a:t> ;</a:t>
            </a: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Text Box 2"/>
          <p:cNvSpPr txBox="1">
            <a:spLocks noChangeArrowheads="1"/>
          </p:cNvSpPr>
          <p:nvPr/>
        </p:nvSpPr>
        <p:spPr bwMode="auto">
          <a:xfrm>
            <a:off x="381000" y="1087438"/>
            <a:ext cx="8382000" cy="4970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i="1" dirty="0">
                <a:solidFill>
                  <a:srgbClr val="FF33CC"/>
                </a:solidFill>
              </a:rPr>
              <a:t>/* </a:t>
            </a:r>
            <a:r>
              <a:rPr lang="en-US" i="1" dirty="0">
                <a:solidFill>
                  <a:srgbClr val="FF33CC"/>
                </a:solidFill>
              </a:rPr>
              <a:t>Receiving  messages</a:t>
            </a:r>
            <a:r>
              <a:rPr lang="en-US" sz="2000" i="1" dirty="0">
                <a:solidFill>
                  <a:srgbClr val="FF33CC"/>
                </a:solidFill>
              </a:rPr>
              <a:t> */</a:t>
            </a:r>
          </a:p>
          <a:p>
            <a:pPr>
              <a:spcBef>
                <a:spcPct val="50000"/>
              </a:spcBef>
            </a:pPr>
            <a:r>
              <a:rPr lang="en-US" dirty="0"/>
              <a:t>for(</a:t>
            </a:r>
            <a:r>
              <a:rPr lang="en-US" dirty="0" err="1"/>
              <a:t>i</a:t>
            </a:r>
            <a:r>
              <a:rPr lang="en-US" dirty="0"/>
              <a:t>=1;i&lt;4;++) </a:t>
            </a:r>
          </a:p>
          <a:p>
            <a:pPr>
              <a:spcBef>
                <a:spcPct val="50000"/>
              </a:spcBef>
            </a:pPr>
            <a:r>
              <a:rPr lang="en-US" dirty="0"/>
              <a:t>{</a:t>
            </a:r>
          </a:p>
          <a:p>
            <a:pPr>
              <a:spcBef>
                <a:spcPct val="50000"/>
              </a:spcBef>
            </a:pPr>
            <a:r>
              <a:rPr lang="en-US" dirty="0"/>
              <a:t>	if (</a:t>
            </a:r>
            <a:r>
              <a:rPr lang="en-US" b="1" dirty="0" err="1">
                <a:solidFill>
                  <a:srgbClr val="0000CC"/>
                </a:solidFill>
              </a:rPr>
              <a:t>msgrcv</a:t>
            </a:r>
            <a:r>
              <a:rPr lang="en-US" b="1" dirty="0">
                <a:solidFill>
                  <a:srgbClr val="0000CC"/>
                </a:solidFill>
              </a:rPr>
              <a:t>(</a:t>
            </a:r>
            <a:r>
              <a:rPr lang="en-US" b="1" dirty="0" err="1">
                <a:solidFill>
                  <a:srgbClr val="0000CC"/>
                </a:solidFill>
              </a:rPr>
              <a:t>msqid</a:t>
            </a:r>
            <a:r>
              <a:rPr lang="en-US" b="1" dirty="0">
                <a:solidFill>
                  <a:srgbClr val="0000CC"/>
                </a:solidFill>
              </a:rPr>
              <a:t>,&amp;</a:t>
            </a:r>
            <a:r>
              <a:rPr lang="en-US" b="1" dirty="0" err="1">
                <a:solidFill>
                  <a:srgbClr val="0000CC"/>
                </a:solidFill>
              </a:rPr>
              <a:t>msg_rcv,sizeof</a:t>
            </a:r>
            <a:r>
              <a:rPr lang="en-US" b="1" dirty="0">
                <a:solidFill>
                  <a:srgbClr val="0000CC"/>
                </a:solidFill>
              </a:rPr>
              <a:t> (</a:t>
            </a:r>
            <a:r>
              <a:rPr lang="en-US" b="1" dirty="0" err="1">
                <a:solidFill>
                  <a:srgbClr val="0000CC"/>
                </a:solidFill>
              </a:rPr>
              <a:t>msg_rcv</a:t>
            </a:r>
            <a:r>
              <a:rPr lang="en-US" b="1" dirty="0">
                <a:solidFill>
                  <a:srgbClr val="0000CC"/>
                </a:solidFill>
              </a:rPr>
              <a:t>),  </a:t>
            </a:r>
            <a:r>
              <a:rPr lang="en-US" b="1" dirty="0" err="1">
                <a:solidFill>
                  <a:srgbClr val="0000CC"/>
                </a:solidFill>
              </a:rPr>
              <a:t>i</a:t>
            </a:r>
            <a:r>
              <a:rPr lang="en-US" b="1" dirty="0">
                <a:solidFill>
                  <a:srgbClr val="0000CC"/>
                </a:solidFill>
              </a:rPr>
              <a:t> ,0)</a:t>
            </a:r>
            <a:r>
              <a:rPr lang="en-US" dirty="0"/>
              <a:t>= = -1 )            	</a:t>
            </a:r>
          </a:p>
          <a:p>
            <a:pPr>
              <a:spcBef>
                <a:spcPct val="50000"/>
              </a:spcBef>
            </a:pPr>
            <a:r>
              <a:rPr lang="en-US" dirty="0"/>
              <a:t>   	{    </a:t>
            </a:r>
          </a:p>
          <a:p>
            <a:pPr>
              <a:spcBef>
                <a:spcPct val="50000"/>
              </a:spcBef>
            </a:pPr>
            <a:r>
              <a:rPr lang="en-US" dirty="0"/>
              <a:t>		</a:t>
            </a:r>
            <a:r>
              <a:rPr lang="en-US" dirty="0" err="1"/>
              <a:t>perror</a:t>
            </a:r>
            <a:r>
              <a:rPr lang="en-US" dirty="0"/>
              <a:t>(“error”) ;</a:t>
            </a:r>
          </a:p>
          <a:p>
            <a:pPr>
              <a:spcBef>
                <a:spcPct val="50000"/>
              </a:spcBef>
            </a:pPr>
            <a:r>
              <a:rPr lang="en-US" dirty="0"/>
              <a:t>	                  exit(0);</a:t>
            </a:r>
          </a:p>
          <a:p>
            <a:pPr>
              <a:spcBef>
                <a:spcPct val="50000"/>
              </a:spcBef>
            </a:pPr>
            <a:r>
              <a:rPr lang="en-US" dirty="0"/>
              <a:t>	}</a:t>
            </a:r>
          </a:p>
          <a:p>
            <a:pPr>
              <a:spcBef>
                <a:spcPct val="50000"/>
              </a:spcBef>
            </a:pPr>
            <a:r>
              <a:rPr lang="en-US" dirty="0"/>
              <a:t>	</a:t>
            </a:r>
            <a:r>
              <a:rPr lang="en-US" dirty="0" err="1"/>
              <a:t>printf</a:t>
            </a:r>
            <a:r>
              <a:rPr lang="en-US" dirty="0"/>
              <a:t> (“Received message is  %s \n ”,</a:t>
            </a:r>
            <a:r>
              <a:rPr lang="en-US" dirty="0" err="1"/>
              <a:t>msg_rcv.mtext</a:t>
            </a:r>
            <a:r>
              <a:rPr lang="en-US" dirty="0"/>
              <a:t>);</a:t>
            </a:r>
          </a:p>
          <a:p>
            <a:pPr>
              <a:spcBef>
                <a:spcPct val="50000"/>
              </a:spcBef>
            </a:pPr>
            <a:r>
              <a:rPr lang="en-US" dirty="0"/>
              <a:t>}</a:t>
            </a:r>
          </a:p>
          <a:p>
            <a:pPr>
              <a:spcBef>
                <a:spcPct val="50000"/>
              </a:spcBef>
            </a:pPr>
            <a:r>
              <a:rPr lang="en-US" i="1" dirty="0">
                <a:solidFill>
                  <a:srgbClr val="FF33CC"/>
                </a:solidFill>
              </a:rPr>
              <a:t>/* Removing Message Queue */</a:t>
            </a:r>
          </a:p>
          <a:p>
            <a:pPr>
              <a:spcBef>
                <a:spcPct val="50000"/>
              </a:spcBef>
            </a:pPr>
            <a:r>
              <a:rPr lang="en-US" dirty="0"/>
              <a:t>  </a:t>
            </a:r>
            <a:r>
              <a:rPr lang="en-US" b="1" dirty="0" err="1">
                <a:solidFill>
                  <a:srgbClr val="0000CC"/>
                </a:solidFill>
              </a:rPr>
              <a:t>msgctl</a:t>
            </a:r>
            <a:r>
              <a:rPr lang="en-US" b="1" dirty="0">
                <a:solidFill>
                  <a:srgbClr val="0000CC"/>
                </a:solidFill>
              </a:rPr>
              <a:t>(msqid,IPC_RMID,0);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228600"/>
            <a:ext cx="7543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Message Queues : Sample Program contd..                </a:t>
            </a:r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098" name="Rectangle 2"/>
          <p:cNvSpPr>
            <a:spLocks noGrp="1" noChangeArrowheads="1"/>
          </p:cNvSpPr>
          <p:nvPr>
            <p:ph idx="1"/>
          </p:nvPr>
        </p:nvSpPr>
        <p:spPr>
          <a:xfrm>
            <a:off x="152400" y="2209800"/>
            <a:ext cx="8229600" cy="4267200"/>
          </a:xfrm>
        </p:spPr>
        <p:txBody>
          <a:bodyPr/>
          <a:lstStyle/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sz="2800" b="1" i="1" dirty="0">
                <a:solidFill>
                  <a:srgbClr val="FF66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Out Put </a:t>
            </a:r>
          </a:p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sz="2400" dirty="0"/>
              <a:t>  </a:t>
            </a:r>
            <a:r>
              <a:rPr lang="en-US" sz="1800" dirty="0"/>
              <a:t>Enter different string                    Received string is	         Hai</a:t>
            </a:r>
          </a:p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sz="1800" dirty="0"/>
              <a:t>     Hai</a:t>
            </a:r>
          </a:p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sz="1800" dirty="0"/>
              <a:t> Enter different string	                   Received string is	      Welcome to</a:t>
            </a:r>
          </a:p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sz="1800" dirty="0"/>
              <a:t>    Welcome to </a:t>
            </a:r>
          </a:p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sz="1800" dirty="0"/>
              <a:t> Enter different string	                   Received string is         HYD</a:t>
            </a:r>
          </a:p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sz="1800" dirty="0"/>
              <a:t>      HYD</a:t>
            </a:r>
          </a:p>
        </p:txBody>
      </p:sp>
      <p:grpSp>
        <p:nvGrpSpPr>
          <p:cNvPr id="206851" name="Group 14"/>
          <p:cNvGrpSpPr>
            <a:grpSpLocks/>
          </p:cNvGrpSpPr>
          <p:nvPr/>
        </p:nvGrpSpPr>
        <p:grpSpPr bwMode="auto">
          <a:xfrm>
            <a:off x="304800" y="1133475"/>
            <a:ext cx="8686800" cy="1152525"/>
            <a:chOff x="192" y="576"/>
            <a:chExt cx="5472" cy="726"/>
          </a:xfrm>
        </p:grpSpPr>
        <p:sp>
          <p:nvSpPr>
            <p:cNvPr id="206852" name="Rectangle 3" descr="Recycled paper"/>
            <p:cNvSpPr>
              <a:spLocks noChangeArrowheads="1"/>
            </p:cNvSpPr>
            <p:nvPr/>
          </p:nvSpPr>
          <p:spPr bwMode="auto">
            <a:xfrm>
              <a:off x="1008" y="724"/>
              <a:ext cx="3648" cy="572"/>
            </a:xfrm>
            <a:prstGeom prst="rect">
              <a:avLst/>
            </a:prstGeom>
            <a:blipFill dpi="0" rotWithShape="0">
              <a:blip r:embed="rId2" cstate="print"/>
              <a:srcRect/>
              <a:tile tx="0" ty="0" sx="100000" sy="100000" flip="none" algn="tl"/>
            </a:blip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206853" name="Text Box 4"/>
            <p:cNvSpPr txBox="1">
              <a:spLocks noChangeArrowheads="1"/>
            </p:cNvSpPr>
            <p:nvPr/>
          </p:nvSpPr>
          <p:spPr bwMode="auto">
            <a:xfrm>
              <a:off x="3876" y="843"/>
              <a:ext cx="723" cy="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/>
                <a:t> </a:t>
              </a:r>
              <a:r>
                <a:rPr lang="en-US" sz="1600">
                  <a:solidFill>
                    <a:srgbClr val="CC3300"/>
                  </a:solidFill>
                </a:rPr>
                <a:t>mtype--- 1</a:t>
              </a:r>
            </a:p>
            <a:p>
              <a:pPr>
                <a:spcBef>
                  <a:spcPct val="50000"/>
                </a:spcBef>
              </a:pPr>
              <a:r>
                <a:rPr lang="en-US" sz="1600"/>
                <a:t>    </a:t>
              </a:r>
              <a:r>
                <a:rPr lang="en-US" sz="1600">
                  <a:solidFill>
                    <a:srgbClr val="FF00FF"/>
                  </a:solidFill>
                </a:rPr>
                <a:t>Hai</a:t>
              </a:r>
            </a:p>
          </p:txBody>
        </p:sp>
        <p:sp>
          <p:nvSpPr>
            <p:cNvPr id="206854" name="Text Box 5"/>
            <p:cNvSpPr txBox="1">
              <a:spLocks noChangeArrowheads="1"/>
            </p:cNvSpPr>
            <p:nvPr/>
          </p:nvSpPr>
          <p:spPr bwMode="auto">
            <a:xfrm>
              <a:off x="3004" y="797"/>
              <a:ext cx="860" cy="4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/>
                <a:t> </a:t>
              </a:r>
              <a:r>
                <a:rPr lang="en-US" sz="1800">
                  <a:solidFill>
                    <a:srgbClr val="CC3300"/>
                  </a:solidFill>
                </a:rPr>
                <a:t>mtype---2</a:t>
              </a:r>
            </a:p>
            <a:p>
              <a:pPr>
                <a:spcBef>
                  <a:spcPct val="50000"/>
                </a:spcBef>
              </a:pPr>
              <a:r>
                <a:rPr lang="en-US" sz="1800"/>
                <a:t> </a:t>
              </a:r>
              <a:r>
                <a:rPr lang="en-US" sz="1800">
                  <a:solidFill>
                    <a:srgbClr val="FF00FF"/>
                  </a:solidFill>
                </a:rPr>
                <a:t>Welcome to</a:t>
              </a:r>
            </a:p>
          </p:txBody>
        </p:sp>
        <p:sp>
          <p:nvSpPr>
            <p:cNvPr id="206855" name="Text Box 6"/>
            <p:cNvSpPr txBox="1">
              <a:spLocks noChangeArrowheads="1"/>
            </p:cNvSpPr>
            <p:nvPr/>
          </p:nvSpPr>
          <p:spPr bwMode="auto">
            <a:xfrm>
              <a:off x="2180" y="831"/>
              <a:ext cx="721" cy="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dirty="0"/>
                <a:t> </a:t>
              </a:r>
              <a:r>
                <a:rPr lang="en-US" sz="1600" dirty="0" err="1">
                  <a:solidFill>
                    <a:srgbClr val="CC3300"/>
                  </a:solidFill>
                </a:rPr>
                <a:t>mtype</a:t>
              </a:r>
              <a:r>
                <a:rPr lang="en-US" sz="1600" dirty="0">
                  <a:solidFill>
                    <a:srgbClr val="CC3300"/>
                  </a:solidFill>
                </a:rPr>
                <a:t>--- 3</a:t>
              </a:r>
              <a:r>
                <a:rPr lang="en-US" sz="1600" dirty="0"/>
                <a:t> </a:t>
              </a:r>
            </a:p>
            <a:p>
              <a:pPr>
                <a:spcBef>
                  <a:spcPct val="50000"/>
                </a:spcBef>
              </a:pPr>
              <a:r>
                <a:rPr lang="en-US" sz="1600" dirty="0">
                  <a:solidFill>
                    <a:srgbClr val="FF00FF"/>
                  </a:solidFill>
                </a:rPr>
                <a:t>    HYD</a:t>
              </a:r>
            </a:p>
          </p:txBody>
        </p:sp>
        <p:sp>
          <p:nvSpPr>
            <p:cNvPr id="206856" name="Line 7"/>
            <p:cNvSpPr>
              <a:spLocks noChangeShapeType="1"/>
            </p:cNvSpPr>
            <p:nvPr/>
          </p:nvSpPr>
          <p:spPr bwMode="auto">
            <a:xfrm>
              <a:off x="3864" y="730"/>
              <a:ext cx="1" cy="5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6857" name="Line 8"/>
            <p:cNvSpPr>
              <a:spLocks noChangeShapeType="1"/>
            </p:cNvSpPr>
            <p:nvPr/>
          </p:nvSpPr>
          <p:spPr bwMode="auto">
            <a:xfrm>
              <a:off x="2144" y="730"/>
              <a:ext cx="0" cy="5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6858" name="Line 9"/>
            <p:cNvSpPr>
              <a:spLocks noChangeShapeType="1"/>
            </p:cNvSpPr>
            <p:nvPr/>
          </p:nvSpPr>
          <p:spPr bwMode="auto">
            <a:xfrm>
              <a:off x="3004" y="744"/>
              <a:ext cx="0" cy="5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6859" name="Line 10"/>
            <p:cNvSpPr>
              <a:spLocks noChangeShapeType="1"/>
            </p:cNvSpPr>
            <p:nvPr/>
          </p:nvSpPr>
          <p:spPr bwMode="auto">
            <a:xfrm>
              <a:off x="408" y="1056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6860" name="Line 11"/>
            <p:cNvSpPr>
              <a:spLocks noChangeShapeType="1"/>
            </p:cNvSpPr>
            <p:nvPr/>
          </p:nvSpPr>
          <p:spPr bwMode="auto">
            <a:xfrm>
              <a:off x="4692" y="1056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6861" name="Text Box 12" descr="70%"/>
            <p:cNvSpPr txBox="1">
              <a:spLocks noChangeArrowheads="1"/>
            </p:cNvSpPr>
            <p:nvPr/>
          </p:nvSpPr>
          <p:spPr bwMode="auto">
            <a:xfrm>
              <a:off x="192" y="576"/>
              <a:ext cx="72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i="1">
                  <a:solidFill>
                    <a:srgbClr val="FF33CC"/>
                  </a:solidFill>
                </a:rPr>
                <a:t>Sender</a:t>
              </a:r>
            </a:p>
          </p:txBody>
        </p:sp>
        <p:sp>
          <p:nvSpPr>
            <p:cNvPr id="206862" name="Text Box 13" descr="70%"/>
            <p:cNvSpPr txBox="1">
              <a:spLocks noChangeArrowheads="1"/>
            </p:cNvSpPr>
            <p:nvPr/>
          </p:nvSpPr>
          <p:spPr bwMode="auto">
            <a:xfrm>
              <a:off x="4800" y="576"/>
              <a:ext cx="86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i="1">
                  <a:solidFill>
                    <a:srgbClr val="FF33CC"/>
                  </a:solidFill>
                </a:rPr>
                <a:t>Receiver</a:t>
              </a:r>
            </a:p>
          </p:txBody>
        </p:sp>
      </p:grpSp>
      <p:sp>
        <p:nvSpPr>
          <p:cNvPr id="15" name="Rectangle 14"/>
          <p:cNvSpPr/>
          <p:nvPr/>
        </p:nvSpPr>
        <p:spPr>
          <a:xfrm>
            <a:off x="381000" y="228600"/>
            <a:ext cx="7543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Message Queues : Sample Program contd..               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00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0098" grpId="0" autoUpdateAnimBg="0" rev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114" name="Line 2"/>
          <p:cNvSpPr>
            <a:spLocks noChangeShapeType="1"/>
          </p:cNvSpPr>
          <p:nvPr/>
        </p:nvSpPr>
        <p:spPr bwMode="auto">
          <a:xfrm>
            <a:off x="0" y="6234113"/>
            <a:ext cx="9144000" cy="0"/>
          </a:xfrm>
          <a:prstGeom prst="line">
            <a:avLst/>
          </a:prstGeom>
          <a:noFill/>
          <a:ln w="15875">
            <a:solidFill>
              <a:srgbClr val="996633"/>
            </a:solidFill>
            <a:round/>
            <a:headEnd/>
            <a:tailEnd/>
          </a:ln>
          <a:effectLst>
            <a:outerShdw dist="45791" dir="3378596" algn="ctr" rotWithShape="0">
              <a:srgbClr val="4D4D4D"/>
            </a:outerShdw>
          </a:effectLst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58115" name="Line 3"/>
          <p:cNvSpPr>
            <a:spLocks noChangeShapeType="1"/>
          </p:cNvSpPr>
          <p:nvPr/>
        </p:nvSpPr>
        <p:spPr bwMode="auto">
          <a:xfrm>
            <a:off x="0" y="1066800"/>
            <a:ext cx="9144000" cy="0"/>
          </a:xfrm>
          <a:prstGeom prst="line">
            <a:avLst/>
          </a:prstGeom>
          <a:noFill/>
          <a:ln w="15875">
            <a:solidFill>
              <a:srgbClr val="996633"/>
            </a:solidFill>
            <a:round/>
            <a:headEnd/>
            <a:tailEnd/>
          </a:ln>
          <a:effectLst>
            <a:outerShdw dist="45791" dir="3378596" algn="ctr" rotWithShape="0">
              <a:srgbClr val="4D4D4D"/>
            </a:outerShdw>
          </a:effectLst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58116" name="Text Box 4" descr="70%"/>
          <p:cNvSpPr txBox="1">
            <a:spLocks noChangeArrowheads="1"/>
          </p:cNvSpPr>
          <p:nvPr/>
        </p:nvSpPr>
        <p:spPr bwMode="auto">
          <a:xfrm>
            <a:off x="5257800" y="45720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>
                <a:solidFill>
                  <a:srgbClr val="E88A00"/>
                </a:solidFill>
              </a:rPr>
              <a:t>Share with me</a:t>
            </a:r>
          </a:p>
        </p:txBody>
      </p:sp>
      <p:sp>
        <p:nvSpPr>
          <p:cNvPr id="858117" name="WordArt 5"/>
          <p:cNvSpPr>
            <a:spLocks noChangeArrowheads="1" noChangeShapeType="1" noTextEdit="1"/>
          </p:cNvSpPr>
          <p:nvPr/>
        </p:nvSpPr>
        <p:spPr bwMode="auto">
          <a:xfrm>
            <a:off x="1981200" y="2895600"/>
            <a:ext cx="5181600" cy="1295400"/>
          </a:xfrm>
          <a:prstGeom prst="rect">
            <a:avLst/>
          </a:prstGeom>
        </p:spPr>
        <p:txBody>
          <a:bodyPr wrap="none" fromWordArt="1">
            <a:prstTxWarp prst="textDeflateBottom">
              <a:avLst>
                <a:gd name="adj" fmla="val 53125"/>
              </a:avLst>
            </a:prstTxWarp>
          </a:bodyPr>
          <a:lstStyle/>
          <a:p>
            <a:pPr algn="ctr"/>
            <a:r>
              <a:rPr lang="en-US" sz="3600" kern="10" spc="720">
                <a:ln w="12700">
                  <a:solidFill>
                    <a:srgbClr val="008000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/>
                  </a:outerShdw>
                </a:effectLst>
                <a:latin typeface="Arial Black"/>
              </a:rPr>
              <a:t>Shared Memory</a:t>
            </a:r>
          </a:p>
        </p:txBody>
      </p:sp>
    </p:spTree>
  </p:cSld>
  <p:clrMapOvr>
    <a:masterClrMapping/>
  </p:clrMapOvr>
  <p:transition spd="med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58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58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58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58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58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1" dur="500"/>
                                        <p:tgtEl>
                                          <p:spTgt spid="8581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8116" grpId="0" autoUpdateAnimBg="0"/>
      <p:bldP spid="85811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11878</TotalTime>
  <Words>3023</Words>
  <Application>Microsoft Office PowerPoint</Application>
  <PresentationFormat>On-screen Show (4:3)</PresentationFormat>
  <Paragraphs>425</Paragraphs>
  <Slides>40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8" baseType="lpstr">
      <vt:lpstr>Arial</vt:lpstr>
      <vt:lpstr>Arial Black</vt:lpstr>
      <vt:lpstr>Calibri</vt:lpstr>
      <vt:lpstr>Calibri Light</vt:lpstr>
      <vt:lpstr>Courier New</vt:lpstr>
      <vt:lpstr>Times New Roman</vt:lpstr>
      <vt:lpstr>Wingdings</vt:lpstr>
      <vt:lpstr>Office Theme</vt:lpstr>
      <vt:lpstr>PowerPoint Presentation</vt:lpstr>
      <vt:lpstr>What are pipes?</vt:lpstr>
      <vt:lpstr>PowerPoint Presentation</vt:lpstr>
      <vt:lpstr>Pipe is in the kernel space </vt:lpstr>
      <vt:lpstr>System calls related to pipe </vt:lpstr>
      <vt:lpstr>Pipe b/w child and Parent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Message queue</vt:lpstr>
      <vt:lpstr>Message queue</vt:lpstr>
      <vt:lpstr>PowerPoint Presentation</vt:lpstr>
      <vt:lpstr>System Calls related to Message Queue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abc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Vinod Jadhav</cp:lastModifiedBy>
  <cp:revision>1035</cp:revision>
  <dcterms:created xsi:type="dcterms:W3CDTF">2004-07-26T11:54:22Z</dcterms:created>
  <dcterms:modified xsi:type="dcterms:W3CDTF">2025-10-12T10:24:44Z</dcterms:modified>
</cp:coreProperties>
</file>